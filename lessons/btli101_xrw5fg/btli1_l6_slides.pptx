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session. Set the tone: today's lesson is about the structural answer to last week's hardship topic — we don't face hardship alone because we ARE the body. Total: ~60 min (PUKAW 8 · TUKLAS 15 · TALAKAY 12 · TUGON 15 · DALHIN 10). Memory verse: Romans 12:4-5. Character anchor: BROTHERLY LOVE (philadelphia · Pagmamahalan). Open in prayer asking for honest hearts.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Romans 12:4-5 slowly. Lock the framing: this is the lens for the whole lesson. We are not independent contractors of grace — we are MEMBERS of one body. Pause after 'bawat isa'y mga sangkap ng isa't isa' — let it 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PUKAW (~5 min of 8). Start with last week's L5 follow-up first — 'Kumusta ang Pangako Ko ninyo? Nakapanatili ba kayo sa Dios sa hirap?' — celebrate honest answers. Then transition to Connection Quiz. Give them 2 minutes to silently write names. Don't push for sharing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they've written the 4 names, drop the hypothetical: imagine them all GONE. Three words only. Call 2-3 volunteers. Don't analyze the words — just let them sit. This sets up the emotional weight for the rest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TUKLAS opening. This is the load-bearing thesis sentence. Read it slowly. Three 'shared' words: SHARED LIFE (Kapamilya/Kapuso), SHARED SUFFERINGS (Karamay), SHARED SANCTITY (Kabantayan). The 4-K maps to this Big Idea. Tell them: you can quote this all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Greek anchor. Don't make it academic. Three contrasts to drive home: NOT salu-salo, NOT tsismisan, NOT social club. IT IS shared participation in Christ's actual life. Use the uling-sa-kalan metaphor — a coal removed from the fire dies fast. So does a Christian removed from fellowship.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framework slide. Show all 4 at once so they see the architecture. Then say: 'Tatlong slides ang next — dalawang K bawat slide.' Don't elaborate yet — that's slides 8-9. This is preview.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Kapamilya first — Acts 2:42, the basis is Christ's blood, not bloodline. Tayo'y magkakapatid kahit anong background. Then Kapuso — Acts 4:32, iisang puso AT isipan. Hindi sapat ang ngiti lang; pareho dapat ng direksyon at values. Application: tanungin sa LCG mo kung pareho ba kayong nakatingin sa iisang Kaharian.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Karamay FIRST — 1 Cor 12:26. Co-suffering is the PRIMARY meaning. Material giving (Rom 12:13, 15:26) is one expression, not the whole thing. If isang sangkap ang nasaktan, ang BUONG katawan nakikiramay. Kabantayan next — Santiago 5:16. CRITICAL: pastorally surface this as kapatiran, NOT panghuhusga. Walang nailalantad nang walang awa. This is the safe-space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TALAKAY (~12 min). Tell story slowly. Three story beats: (1) plano nila — Albert una, Albrecht sumunod. (2) Pag-uwi ni Albrecht — Albert's hands ruined. (3) Praying Hands as tribute. Don't moralize while telling. Let the story do the work. Pause at the end for breathing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personal question — 'Sino ang Albert mo?' Two-part: who sacrificed for YOU? And who are you currently being an Albert FOR? Limit to 2 sharers max. Enforce safe-space rules: no rushing to fix, no comparison, no advice unless asked, confidentiality. Hebrews 13:1 anchors philadelphia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TUGON opening with Bonhoeffer from 'Life Together' (1939, written from prison via correspondence with seminarians). The point: physical presence — not Zoom, not Facebook — incomparable joy and strength. Filipino disciples already get this; this is just permission to lean in. Don't over-explain.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Concrete carry-out. Boxes 1-3 are the 'existing relationship' targets. 48-hour limit is the structural ability (Grenny — making it easy to do the right thing). Note: this is INWARD focus to existing relationships. EOLO bridge in next slide will turn it outward.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DALHIN (~10 min total). Three actions: (1) 7-Day Fellowship Watch — pindot lang ang day cell sa participant guide. Goal: one act of 4-K per day for 7 days. (2) EOLO bridge — emphasize NEW relationship, not existing. The Connection Quiz is for existing; EOLO is for outsiders. (3) Roma 12:4-5 memorize. Quote: 'Ang fellowship ay hindi nag-iisang gawain.'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Pangako Ko — Filipino disciple-making convention. Each participant says the 4-line pangako aloud in LCG. Witness affirms with 'Amen' or 'I will pray for you, kapatid.' Don't make it theatrical — short and serious. Connect back to L5's Pangako: 'Hindi ako tatakas' became 'Hindi ako mag-iisa.' Progression nakikita.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Closing. Preview L7 — Church Worship Service. Bridge: 'Koinonia in small group → corporate worship of the whole body.' Same body, bigger gathering. Close with Romans 12:4-5 recited together aloud. End in prayer of blessing — thank God for the kapatid sa kaliwa't kanan, ask for courage for the 48-hour EOLO outreach, dismiss in peace.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 i="0" spc="800">
                <a:solidFill>
                  <a:srgbClr val="F0C64A"/>
                </a:solidFill>
                <a:latin typeface="DM Sans"/>
              </a:rPr>
              <a:t>BTLI 1 · LESSON 6 · USAD-L6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7600" b="1" i="0">
                <a:solidFill>
                  <a:srgbClr val="FFFFFF"/>
                </a:solidFill>
                <a:latin typeface="Playfair Display"/>
              </a:rPr>
              <a:t>Christian</a:t>
            </a:r>
          </a:p>
          <a:p>
            <a:pPr algn="ctr"/>
            <a:r>
              <a:rPr sz="7600" b="1" i="0">
                <a:solidFill>
                  <a:srgbClr val="FFFFFF"/>
                </a:solidFill>
                <a:latin typeface="Playfair Display"/>
              </a:rPr>
              <a:t>Fellowship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471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400" b="0" i="1">
                <a:solidFill>
                  <a:srgbClr val="F0C64A"/>
                </a:solidFill>
                <a:latin typeface="Playfair Display"/>
              </a:rPr>
              <a:t>Pagmamahalan ng Magkakapatid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 spc="300">
                <a:solidFill>
                  <a:srgbClr val="FFFFFF"/>
                </a:solidFill>
                <a:latin typeface="DM Sans"/>
              </a:rPr>
              <a:t>Rosehill Christian Church  ·  MULTIPLY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46520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spc="200">
                <a:solidFill>
                  <a:srgbClr val="FFFFFF">
                    <a:alpha val="40000"/>
                  </a:srgbClr>
                </a:solidFill>
                <a:latin typeface="DM Sans"/>
              </a:rPr>
              <a:t>ROMANS 12:4-5 · USAD-L6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spc="300">
                <a:solidFill>
                  <a:srgbClr val="FFFFFF">
                    <a:alpha val="55000"/>
                  </a:srgbClr>
                </a:solidFill>
                <a:latin typeface="DM Sans"/>
              </a:rPr>
              <a:t>PUKAW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 spc="800">
                <a:solidFill>
                  <a:srgbClr val="F0C64A"/>
                </a:solidFill>
                <a:latin typeface="DM Sans"/>
              </a:rPr>
              <a:t>MEMORY VERSE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2926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800" b="0" i="1">
                <a:solidFill>
                  <a:srgbClr val="FFFFFF"/>
                </a:solidFill>
                <a:latin typeface="Playfair Display"/>
              </a:rPr>
              <a:t>"Kung paanong sa iisang katawan ay maraming sangkap tayo, at ang lahat ng sangkap ay hindi pare-pareho ang gawain, gayon din naman tayo na marami, ay iisang katawan kay Cristo, at bawat isa'y mga sangkap ng isa't isa."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9496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 spc="1000">
                <a:solidFill>
                  <a:srgbClr val="D4A838"/>
                </a:solidFill>
                <a:latin typeface="DM Sans"/>
              </a:rPr>
              <a:t>ROMA 12:4-5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spc="300">
                <a:solidFill>
                  <a:srgbClr val="2A5C40"/>
                </a:solidFill>
                <a:latin typeface="DM Sans"/>
              </a:rPr>
              <a:t>PUKAW · CONNECTION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4400" b="1" i="0">
                <a:solidFill>
                  <a:srgbClr val="1A1612"/>
                </a:solidFill>
                <a:latin typeface="Playfair Display"/>
              </a:rPr>
              <a:t>Sino ang Apat?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0" i="1">
                <a:solidFill>
                  <a:srgbClr val="1A1612"/>
                </a:solidFill>
                <a:latin typeface="DM Sans"/>
              </a:rPr>
              <a:t>Isulat ang pangalan sa bawat box: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60320"/>
            <a:ext cx="493776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D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788920"/>
            <a:ext cx="4572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 spc="200">
                <a:solidFill>
                  <a:srgbClr val="9A7820"/>
                </a:solidFill>
                <a:latin typeface="DM Sans"/>
              </a:rPr>
              <a:t>BOX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246120"/>
            <a:ext cx="457200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1A1612"/>
                </a:solidFill>
                <a:latin typeface="DM Sans"/>
              </a:rPr>
              <a:t>Nakatulong nang malaki sa spiritual growth mo.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2560320"/>
            <a:ext cx="493776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D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788920"/>
            <a:ext cx="4572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 spc="200">
                <a:solidFill>
                  <a:srgbClr val="9A7820"/>
                </a:solidFill>
                <a:latin typeface="DM Sans"/>
              </a:rPr>
              <a:t>BOX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246120"/>
            <a:ext cx="457200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1A1612"/>
                </a:solidFill>
                <a:latin typeface="DM Sans"/>
              </a:rPr>
              <a:t>Una mong tinatawagan kapag may problema ka.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572000"/>
            <a:ext cx="493776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D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800600"/>
            <a:ext cx="4572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 spc="200">
                <a:solidFill>
                  <a:srgbClr val="9A7820"/>
                </a:solidFill>
                <a:latin typeface="DM Sans"/>
              </a:rPr>
              <a:t>BOX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257800"/>
            <a:ext cx="457200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1A1612"/>
                </a:solidFill>
                <a:latin typeface="DM Sans"/>
              </a:rPr>
              <a:t>Pinakagusto mong kasama sa free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4572000"/>
            <a:ext cx="493776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D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800600"/>
            <a:ext cx="4572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 spc="200">
                <a:solidFill>
                  <a:srgbClr val="9A7820"/>
                </a:solidFill>
                <a:latin typeface="DM Sans"/>
              </a:rPr>
              <a:t>BOX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257800"/>
            <a:ext cx="457200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1A1612"/>
                </a:solidFill>
                <a:latin typeface="DM Sans"/>
              </a:rPr>
              <a:t>Taong naiimpluwensyahan mo o nakatingin sa'yo.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spc="300">
                <a:solidFill>
                  <a:srgbClr val="FFFFFF">
                    <a:alpha val="55000"/>
                  </a:srgbClr>
                </a:solidFill>
                <a:latin typeface="DM Sans"/>
              </a:rPr>
              <a:t>PUKAW · THREE WORDS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2011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400" b="0" i="1">
                <a:solidFill>
                  <a:srgbClr val="FFFFFF"/>
                </a:solidFill>
                <a:latin typeface="DM Sans"/>
              </a:rPr>
              <a:t>"Kunwari, gumising ka isang araw at biglang WALA na ang lahat ng mga taong ito sa buhay mo…"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4712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5200" b="1" i="0">
                <a:solidFill>
                  <a:srgbClr val="F0C64A"/>
                </a:solidFill>
                <a:latin typeface="Playfair Display"/>
              </a:rPr>
              <a:t>3 salita lang.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212080"/>
            <a:ext cx="112471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DM Sans"/>
              </a:rPr>
              <a:t>Ano ang mararamdaman mo?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A4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spc="300">
                <a:solidFill>
                  <a:srgbClr val="FFFFFF">
                    <a:alpha val="55000"/>
                  </a:srgbClr>
                </a:solidFill>
                <a:latin typeface="DM Sans"/>
              </a:rPr>
              <a:t>TUKLAS · BIG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 spc="1000">
                <a:solidFill>
                  <a:srgbClr val="F0C64A"/>
                </a:solidFill>
                <a:latin typeface="DM Sans"/>
              </a:rPr>
              <a:t>BIG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36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600" b="1" i="1">
                <a:solidFill>
                  <a:srgbClr val="FDF6E8"/>
                </a:solidFill>
                <a:latin typeface="Playfair Display"/>
              </a:rPr>
              <a:t>"Ang Christian fellowship ay hindi club membership —</a:t>
            </a:r>
          </a:p>
          <a:p>
            <a:pPr algn="ctr"/>
            <a:r>
              <a:rPr sz="3600" b="1" i="1">
                <a:solidFill>
                  <a:srgbClr val="FDF6E8"/>
                </a:solidFill>
                <a:latin typeface="Playfair Display"/>
              </a:rPr>
              <a:t>ito ay shared bloodline kay Cristo na nagdudulot ng</a:t>
            </a:r>
          </a:p>
          <a:p>
            <a:pPr algn="ctr"/>
            <a:r>
              <a:rPr sz="3600" b="1" i="1">
                <a:solidFill>
                  <a:srgbClr val="FDF6E8"/>
                </a:solidFill>
                <a:latin typeface="Playfair Display"/>
              </a:rPr>
              <a:t>shared life, shared sufferings, at shared sanctity."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spc="300">
                <a:solidFill>
                  <a:srgbClr val="FFFFFF">
                    <a:alpha val="55000"/>
                  </a:srgbClr>
                </a:solidFill>
                <a:latin typeface="DM Sans"/>
              </a:rPr>
              <a:t>TUKLAS · GREEK ANCHOR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 i="0" spc="800">
                <a:solidFill>
                  <a:srgbClr val="F0C64A"/>
                </a:solidFill>
                <a:latin typeface="DM Sans"/>
              </a:rPr>
              <a:t>GREEK WORD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0" b="1" i="0">
                <a:solidFill>
                  <a:srgbClr val="F0C64A"/>
                </a:solidFill>
                <a:latin typeface="Playfair Display"/>
              </a:rPr>
              <a:t>Koinonia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Playfair Display"/>
              </a:rPr>
              <a:t>deep sharing · partnership · mutual participation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41832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DM Sans"/>
              </a:rPr>
              <a:t>Hindi salu-salo. Hindi tsismisan. Ito ang qualidad ng relasyon sa loob ng katawan ni Cristo.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94960"/>
            <a:ext cx="94183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0" i="1">
                <a:solidFill>
                  <a:srgbClr val="F0C64A"/>
                </a:solidFill>
                <a:latin typeface="Playfair Display"/>
              </a:rPr>
              <a:t>Ang isang uling na hiwalay sa nagbabagang kalan — mabilis na mamamatay ang apoy.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spc="300">
                <a:solidFill>
                  <a:srgbClr val="2A5C40"/>
                </a:solidFill>
                <a:latin typeface="DM Sans"/>
              </a:rPr>
              <a:t>TUKLAS ·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4000" b="1" i="0">
                <a:solidFill>
                  <a:srgbClr val="1A1612"/>
                </a:solidFill>
                <a:latin typeface="Playfair Display"/>
              </a:rPr>
              <a:t>Apat na Antas ng Koinonia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0" i="1">
                <a:solidFill>
                  <a:srgbClr val="6A706A"/>
                </a:solidFill>
                <a:latin typeface="DM Sans"/>
              </a:rPr>
              <a:t>Ang 4-K ng biblical fellowship: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73152" cy="1874519"/>
          </a:xfrm>
          <a:prstGeom prst="rect">
            <a:avLst/>
          </a:prstGeom>
          <a:solidFill>
            <a:srgbClr val="2A5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87552" y="2286000"/>
            <a:ext cx="4864608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0D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46888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spc="200">
                <a:solidFill>
                  <a:srgbClr val="9A7820"/>
                </a:solidFill>
                <a:latin typeface="DM Sans"/>
              </a:rPr>
              <a:t>1 — FAMILY TIE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34640"/>
            <a:ext cx="45720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2A5C40"/>
                </a:solidFill>
                <a:latin typeface="Playfair Display"/>
              </a:rPr>
              <a:t>Kapamilya at Kapatid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429000"/>
            <a:ext cx="45720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0">
                <a:solidFill>
                  <a:srgbClr val="1A1612"/>
                </a:solidFill>
                <a:latin typeface="DM Sans"/>
              </a:rPr>
              <a:t>Iisang Ama, iisang Espiritu Santo, iisang dugo ni Cristo.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2286000"/>
            <a:ext cx="73152" cy="1874519"/>
          </a:xfrm>
          <a:prstGeom prst="rect">
            <a:avLst/>
          </a:prstGeom>
          <a:solidFill>
            <a:srgbClr val="2A5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28232" y="2286000"/>
            <a:ext cx="4864608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0D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46888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spc="200">
                <a:solidFill>
                  <a:srgbClr val="9A7820"/>
                </a:solidFill>
                <a:latin typeface="DM Sans"/>
              </a:rPr>
              <a:t>2 — UNITY OF HEART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834640"/>
            <a:ext cx="45720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2A5C40"/>
                </a:solidFill>
                <a:latin typeface="Playfair Display"/>
              </a:rPr>
              <a:t>Kapuso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429000"/>
            <a:ext cx="45720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0">
                <a:solidFill>
                  <a:srgbClr val="1A1612"/>
                </a:solidFill>
                <a:latin typeface="DM Sans"/>
              </a:rPr>
              <a:t>Iisang layunin, pananaw, at core values.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434840"/>
            <a:ext cx="73152" cy="1874519"/>
          </a:xfrm>
          <a:prstGeom prst="rect">
            <a:avLst/>
          </a:prstGeom>
          <a:solidFill>
            <a:srgbClr val="2A5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87552" y="4434840"/>
            <a:ext cx="4864608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0D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61772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spc="200">
                <a:solidFill>
                  <a:srgbClr val="9A7820"/>
                </a:solidFill>
                <a:latin typeface="DM Sans"/>
              </a:rPr>
              <a:t>3 — CO-SUFFERING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983479"/>
            <a:ext cx="45720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2A5C40"/>
                </a:solidFill>
                <a:latin typeface="Playfair Display"/>
              </a:rPr>
              <a:t>Karamay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577840"/>
            <a:ext cx="45720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0">
                <a:solidFill>
                  <a:srgbClr val="1A1612"/>
                </a:solidFill>
                <a:latin typeface="DM Sans"/>
              </a:rPr>
              <a:t>Pakikibahagi sa hirap muna, bago materyal.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4434840"/>
            <a:ext cx="73152" cy="1874519"/>
          </a:xfrm>
          <a:prstGeom prst="rect">
            <a:avLst/>
          </a:prstGeom>
          <a:solidFill>
            <a:srgbClr val="2A5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28232" y="4434840"/>
            <a:ext cx="4864608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0D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461772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spc="200">
                <a:solidFill>
                  <a:srgbClr val="9A7820"/>
                </a:solidFill>
                <a:latin typeface="DM Sans"/>
              </a:rPr>
              <a:t>4 — MUTUAL PROTECTION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983479"/>
            <a:ext cx="45720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2A5C40"/>
                </a:solidFill>
                <a:latin typeface="Playfair Display"/>
              </a:rPr>
              <a:t>Kabantayan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5577840"/>
            <a:ext cx="45720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0">
                <a:solidFill>
                  <a:srgbClr val="1A1612"/>
                </a:solidFill>
                <a:latin typeface="DM Sans"/>
              </a:rPr>
              <a:t>Biblical kumpisalan laban sa tukso.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spc="300">
                <a:solidFill>
                  <a:srgbClr val="FFFFFF">
                    <a:alpha val="55000"/>
                  </a:srgbClr>
                </a:solidFill>
                <a:latin typeface="DM Sans"/>
              </a:rPr>
              <a:t>TUKLAS · K1 + K2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73152" cy="3931920"/>
          </a:xfrm>
          <a:prstGeom prst="rect">
            <a:avLst/>
          </a:prstGeom>
          <a:solidFill>
            <a:srgbClr val="D4A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72" y="1828800"/>
            <a:ext cx="5138928" cy="3931920"/>
          </a:xfrm>
          <a:prstGeom prst="rect">
            <a:avLst/>
          </a:prstGeom>
          <a:solidFill>
            <a:srgbClr val="1A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57400"/>
            <a:ext cx="4937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spc="200">
                <a:solidFill>
                  <a:srgbClr val="F0C64A"/>
                </a:solidFill>
                <a:latin typeface="DM Sans"/>
              </a:rPr>
              <a:t>1 — KAPAMILYA AT KAPATID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49377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layfair Display"/>
              </a:rPr>
              <a:t>Family 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493776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DM Sans"/>
              </a:rPr>
              <a:t>Ipinanganak tayo sa iisang pamilya ng Dios sa pamamagitan ng dugo ni Cristo.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526280"/>
            <a:ext cx="493776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1">
                <a:solidFill>
                  <a:srgbClr val="F0C64A"/>
                </a:solidFill>
                <a:latin typeface="Playfair Display"/>
              </a:rPr>
              <a:t>"Sila'y nanatili sa itinuro ng mga apostol, sa pagsasama-sama bilang magkakapatid…"  — Gawa 2:42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828800"/>
            <a:ext cx="73152" cy="3931920"/>
          </a:xfrm>
          <a:prstGeom prst="rect">
            <a:avLst/>
          </a:prstGeom>
          <a:solidFill>
            <a:srgbClr val="D4A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36792" y="1828800"/>
            <a:ext cx="5138928" cy="3931920"/>
          </a:xfrm>
          <a:prstGeom prst="rect">
            <a:avLst/>
          </a:prstGeom>
          <a:solidFill>
            <a:srgbClr val="1A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2057400"/>
            <a:ext cx="4937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spc="200">
                <a:solidFill>
                  <a:srgbClr val="F0C64A"/>
                </a:solidFill>
                <a:latin typeface="DM Sans"/>
              </a:rPr>
              <a:t>2 — KAPUSO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468880"/>
            <a:ext cx="49377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layfair Display"/>
              </a:rPr>
              <a:t>Unity of Heart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3108960"/>
            <a:ext cx="493776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DM Sans"/>
              </a:rPr>
              <a:t>Hindi lang pagkakasundo — iisang puso, isipan, at direksyon.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4526280"/>
            <a:ext cx="493776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1">
                <a:solidFill>
                  <a:srgbClr val="F0C64A"/>
                </a:solidFill>
                <a:latin typeface="Playfair Display"/>
              </a:rPr>
              <a:t>"Nagkakaisa ang puso at isipan ng buong samahan ng mga nanampalataya…"  — Gawa 4:32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spc="300">
                <a:solidFill>
                  <a:srgbClr val="FFFFFF">
                    <a:alpha val="55000"/>
                  </a:srgbClr>
                </a:solidFill>
                <a:latin typeface="DM Sans"/>
              </a:rPr>
              <a:t>TUKLAS · K3 + K4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73152" cy="3931920"/>
          </a:xfrm>
          <a:prstGeom prst="rect">
            <a:avLst/>
          </a:prstGeom>
          <a:solidFill>
            <a:srgbClr val="D4A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72" y="1828800"/>
            <a:ext cx="5138928" cy="3931920"/>
          </a:xfrm>
          <a:prstGeom prst="rect">
            <a:avLst/>
          </a:prstGeom>
          <a:solidFill>
            <a:srgbClr val="1A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57400"/>
            <a:ext cx="4937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spc="200">
                <a:solidFill>
                  <a:srgbClr val="F0C64A"/>
                </a:solidFill>
                <a:latin typeface="DM Sans"/>
              </a:rPr>
              <a:t>3 — KARAMAY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49377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layfair Display"/>
              </a:rPr>
              <a:t>Co-Suffering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493776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DM Sans"/>
              </a:rPr>
              <a:t>Pakikibahagi sa hirap muna, bago materyal. Ang materyal ay tanda ng pakikiramay.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526280"/>
            <a:ext cx="493776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1">
                <a:solidFill>
                  <a:srgbClr val="F0C64A"/>
                </a:solidFill>
                <a:latin typeface="Playfair Display"/>
              </a:rPr>
              <a:t>"Kung ang isang sangkap ay magdusa, ang lahat ng mga sangkap ay nakikiramay."  — 1 Cor 12:26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828800"/>
            <a:ext cx="73152" cy="3931920"/>
          </a:xfrm>
          <a:prstGeom prst="rect">
            <a:avLst/>
          </a:prstGeom>
          <a:solidFill>
            <a:srgbClr val="D4A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36792" y="1828800"/>
            <a:ext cx="5138928" cy="3931920"/>
          </a:xfrm>
          <a:prstGeom prst="rect">
            <a:avLst/>
          </a:prstGeom>
          <a:solidFill>
            <a:srgbClr val="1A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2057400"/>
            <a:ext cx="4937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spc="200">
                <a:solidFill>
                  <a:srgbClr val="F0C64A"/>
                </a:solidFill>
                <a:latin typeface="DM Sans"/>
              </a:rPr>
              <a:t>4 — KABANTAYAN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468880"/>
            <a:ext cx="49377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layfair Display"/>
              </a:rPr>
              <a:t>Mutual Protection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3108960"/>
            <a:ext cx="493776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DM Sans"/>
              </a:rPr>
              <a:t>Biblical kumpisalan. Hindi panghuhusga; ito ay kapatiran na nagbabantay.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4526280"/>
            <a:ext cx="493776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1">
                <a:solidFill>
                  <a:srgbClr val="F0C64A"/>
                </a:solidFill>
                <a:latin typeface="Playfair Display"/>
              </a:rPr>
              <a:t>"Mangagpahayagan kayo sa isa't isa ng inyong mga kasalanan…"  — Santiago 5:16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A4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spc="300">
                <a:solidFill>
                  <a:srgbClr val="FFFFFF">
                    <a:alpha val="55000"/>
                  </a:srgbClr>
                </a:solidFill>
                <a:latin typeface="DM Sans"/>
              </a:rPr>
              <a:t>TALAKAY · KUWENTO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000" b="1" i="0">
                <a:solidFill>
                  <a:srgbClr val="F0C64A"/>
                </a:solidFill>
                <a:latin typeface="Playfair Display"/>
              </a:rPr>
              <a:t>Albrecht at Albert Dürer  ·  c.1500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 i="0">
                <a:solidFill>
                  <a:srgbClr val="FDF6E8"/>
                </a:solidFill>
                <a:latin typeface="DM Sans"/>
              </a:rPr>
              <a:t>Magkapatid na naghangad maging tanyag na artist. Walang pera. Naghatian sila ng plano: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327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 i="0">
                <a:solidFill>
                  <a:srgbClr val="FDF6E8"/>
                </a:solidFill>
                <a:latin typeface="DM Sans"/>
              </a:rPr>
              <a:t>Si Albert ang unang magtatrabaho sa minahan para tustusan si Albrecht — magpapalitan sila pagkatapos ng 4 na taon.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 i="0">
                <a:solidFill>
                  <a:srgbClr val="FDF6E8"/>
                </a:solidFill>
                <a:latin typeface="DM Sans"/>
              </a:rPr>
              <a:t>Pagbalik ni Albrecht — matagumpay na — nasira na ang mga kamay ni Albert. Hindi na siya makakahawak ng pinsel kailanman.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327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 i="0">
                <a:solidFill>
                  <a:srgbClr val="FDF6E8"/>
                </a:solidFill>
                <a:latin typeface="DM Sans"/>
              </a:rPr>
              <a:t>Bilang pagpupugay, ipininta ni Albrecht ang mga magaspang at sugatang kamay ng kapatid habang nakatupi sa panalangin: "Praying Hands" (c.1508).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spc="300">
                <a:solidFill>
                  <a:srgbClr val="2A5C40"/>
                </a:solidFill>
                <a:latin typeface="DM Sans"/>
              </a:rPr>
              <a:t>TALAKAY · GROUP SHARING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4800" b="1" i="0">
                <a:solidFill>
                  <a:srgbClr val="1A1612"/>
                </a:solidFill>
                <a:latin typeface="Playfair Display"/>
              </a:rPr>
              <a:t>Sino ang Albert mo?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0" i="1">
                <a:solidFill>
                  <a:srgbClr val="2A5C40"/>
                </a:solidFill>
                <a:latin typeface="Playfair Display"/>
              </a:rPr>
              <a:t>"Mamalagi nawa ang pagibig sa mga kapatid." — Heb 13:1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200400"/>
            <a:ext cx="9418320" cy="2560320"/>
          </a:xfrm>
          <a:prstGeom prst="roundRect">
            <a:avLst/>
          </a:prstGeom>
          <a:solidFill>
            <a:srgbClr val="FBF1D8"/>
          </a:solidFill>
          <a:ln w="9525">
            <a:solidFill>
              <a:srgbClr val="D4A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3200400"/>
            <a:ext cx="91440" cy="2560320"/>
          </a:xfrm>
          <a:prstGeom prst="rect">
            <a:avLst/>
          </a:prstGeom>
          <a:solidFill>
            <a:srgbClr val="D4A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3383280"/>
            <a:ext cx="8869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spc="400">
                <a:solidFill>
                  <a:srgbClr val="9A7820"/>
                </a:solidFill>
                <a:latin typeface="DM Sans"/>
              </a:rPr>
              <a:t>TANONG SA TALAKAYAN (MAX 2 SHARERS)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3840480"/>
            <a:ext cx="8869680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0" i="1">
                <a:solidFill>
                  <a:srgbClr val="1A1612"/>
                </a:solidFill>
                <a:latin typeface="Playfair Display"/>
              </a:rPr>
              <a:t>Sino sa LCG mo ang naging Albert para sa'yo — yung tumulong nang walang humihiling? Anong sakripisyo ang ginawa nila? At sino ka pa ng Albert sa kasalukuyan?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spc="300">
                <a:solidFill>
                  <a:srgbClr val="2A5C40"/>
                </a:solidFill>
                <a:latin typeface="DM Sans"/>
              </a:rPr>
              <a:t>TUGON · QUOTE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0" b="1" i="0">
                <a:solidFill>
                  <a:srgbClr val="2A5C40"/>
                </a:solidFill>
                <a:latin typeface="Playfair Display"/>
              </a:rPr>
              <a:t>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2011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000" b="0" i="1">
                <a:solidFill>
                  <a:srgbClr val="1A1612"/>
                </a:solidFill>
                <a:latin typeface="Playfair Display"/>
              </a:rPr>
              <a:t>The physical presence of other Christians is a source of incomparable joy and strength to the believer.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9496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 i="0" spc="500">
                <a:solidFill>
                  <a:srgbClr val="1A1612"/>
                </a:solidFill>
                <a:latin typeface="DM Sans"/>
              </a:rPr>
              <a:t>— DIETRICH BONHOEFFER  ·  LIFE TOGETHER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spc="300">
                <a:solidFill>
                  <a:srgbClr val="FFFFFF">
                    <a:alpha val="55000"/>
                  </a:srgbClr>
                </a:solidFill>
                <a:latin typeface="DM Sans"/>
              </a:rPr>
              <a:t>TUGON ·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Playfair Display"/>
              </a:rPr>
              <a:t>Ngayong Linggo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0" i="1">
                <a:solidFill>
                  <a:srgbClr val="F0C64A"/>
                </a:solidFill>
                <a:latin typeface="DM Sans"/>
              </a:rPr>
              <a:t>Balikan ang Boxes 1-3 ng iyong Connection Quiz. Yan ang Albert mo.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3383280"/>
            <a:ext cx="137160" cy="137160"/>
          </a:xfrm>
          <a:prstGeom prst="rect">
            <a:avLst/>
          </a:prstGeom>
          <a:solidFill>
            <a:srgbClr val="F0C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3200400"/>
            <a:ext cx="96012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DM Sans"/>
              </a:rPr>
              <a:t>I-draft ang isang Appreciation Message sa isa sa kanila.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4251960"/>
            <a:ext cx="137160" cy="137160"/>
          </a:xfrm>
          <a:prstGeom prst="rect">
            <a:avLst/>
          </a:prstGeom>
          <a:solidFill>
            <a:srgbClr val="F0C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4069080"/>
            <a:ext cx="96012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DM Sans"/>
              </a:rPr>
              <a:t>Ipadala via SMS o chat — hindi lalagpas sa 48 oras.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5120640"/>
            <a:ext cx="137160" cy="137160"/>
          </a:xfrm>
          <a:prstGeom prst="rect">
            <a:avLst/>
          </a:prstGeom>
          <a:solidFill>
            <a:srgbClr val="F0C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4937760"/>
            <a:ext cx="96012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DM Sans"/>
              </a:rPr>
              <a:t>Kapag may pagkakataon, manlibre ng kape o meryenda — ipagdiwang ang Koinonia.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spc="300">
                <a:solidFill>
                  <a:srgbClr val="2A5C40"/>
                </a:solidFill>
                <a:latin typeface="DM Sans"/>
              </a:rPr>
              <a:t>DALHIN · CARRY 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4000" b="1" i="0">
                <a:solidFill>
                  <a:srgbClr val="1A1612"/>
                </a:solidFill>
                <a:latin typeface="Playfair Display"/>
              </a:rPr>
              <a:t>Tatlong Bagay sa Linggong Ito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377440"/>
            <a:ext cx="164592" cy="164592"/>
          </a:xfrm>
          <a:prstGeom prst="rect">
            <a:avLst/>
          </a:prstGeom>
          <a:solidFill>
            <a:srgbClr val="2A5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2194560"/>
            <a:ext cx="10058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1A1612"/>
                </a:solidFill>
                <a:latin typeface="DM Sans"/>
              </a:rPr>
              <a:t>7-Day Fellowship 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651760"/>
            <a:ext cx="100584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1A1612"/>
                </a:solidFill>
                <a:latin typeface="DM Sans"/>
              </a:rPr>
              <a:t>Lunes-Linggo. Bawat araw, isang konkretong gawa ng 4-K — tagain kung alin.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566160"/>
            <a:ext cx="164592" cy="164592"/>
          </a:xfrm>
          <a:prstGeom prst="rect">
            <a:avLst/>
          </a:prstGeom>
          <a:solidFill>
            <a:srgbClr val="2A5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383280"/>
            <a:ext cx="10058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1A1612"/>
                </a:solidFill>
                <a:latin typeface="DM Sans"/>
              </a:rPr>
              <a:t>EOLO bridge · 48 oras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840480"/>
            <a:ext cx="100584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1A1612"/>
                </a:solidFill>
                <a:latin typeface="DM Sans"/>
              </a:rPr>
              <a:t>Mag-reach out sa isang taong WALA sa Boxes 1-4 — bagong outreach, hindi existing relasyon.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754880"/>
            <a:ext cx="164592" cy="164592"/>
          </a:xfrm>
          <a:prstGeom prst="rect">
            <a:avLst/>
          </a:prstGeom>
          <a:solidFill>
            <a:srgbClr val="2A5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4572000"/>
            <a:ext cx="10058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1A1612"/>
                </a:solidFill>
                <a:latin typeface="DM Sans"/>
              </a:rPr>
              <a:t>Kabisaduhin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5029200"/>
            <a:ext cx="100584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1A1612"/>
                </a:solidFill>
                <a:latin typeface="DM Sans"/>
              </a:rPr>
              <a:t>Roma 12:4-5 bago ang susunod na LCG.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 i="1">
                <a:solidFill>
                  <a:srgbClr val="9A7820"/>
                </a:solidFill>
                <a:latin typeface="Playfair Display"/>
              </a:rPr>
              <a:t>Ang fellowship ay hindi nag-iisang gawain. Pati ang pag-aaral nito ay para sa pamayanan.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spc="300">
                <a:solidFill>
                  <a:srgbClr val="FFFFFF">
                    <a:alpha val="55000"/>
                  </a:srgbClr>
                </a:solidFill>
                <a:latin typeface="DM Sans"/>
              </a:rPr>
              <a:t>DALHIN · PANGAKO KO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937760" y="868680"/>
            <a:ext cx="2286000" cy="457200"/>
          </a:xfrm>
          <a:prstGeom prst="roundRect">
            <a:avLst/>
          </a:prstGeom>
          <a:solidFill>
            <a:srgbClr val="D4A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0" y="886968"/>
            <a:ext cx="228600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 i="0" spc="800">
                <a:solidFill>
                  <a:srgbClr val="1A2E3F"/>
                </a:solidFill>
                <a:latin typeface="DM Sans"/>
              </a:rPr>
              <a:t>PANGAKO 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Playfair Display"/>
              </a:rPr>
              <a:t>Isang Pangako, Sasabihin sa LCG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1247120" cy="274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000" b="1" i="1">
                <a:solidFill>
                  <a:srgbClr val="F0C64A"/>
                </a:solidFill>
                <a:latin typeface="Playfair Display"/>
              </a:rPr>
              <a:t>"Hindi ako mag-iisa.</a:t>
            </a:r>
          </a:p>
          <a:p>
            <a:pPr algn="ctr"/>
            <a:r>
              <a:rPr sz="3000" b="1" i="1">
                <a:solidFill>
                  <a:srgbClr val="F0C64A"/>
                </a:solidFill>
                <a:latin typeface="Playfair Display"/>
              </a:rPr>
              <a:t>Hindi ako magtatago.</a:t>
            </a:r>
          </a:p>
          <a:p>
            <a:pPr algn="ctr"/>
            <a:r>
              <a:rPr sz="3000" b="1" i="1">
                <a:solidFill>
                  <a:srgbClr val="F0C64A"/>
                </a:solidFill>
                <a:latin typeface="Playfair Display"/>
              </a:rPr>
              <a:t>Magiging bahagi ako ng katawan ni Cristo —</a:t>
            </a:r>
          </a:p>
          <a:p>
            <a:pPr algn="ctr"/>
            <a:r>
              <a:rPr sz="3000" b="1" i="1">
                <a:solidFill>
                  <a:srgbClr val="F0C64A"/>
                </a:solidFill>
                <a:latin typeface="Playfair Display"/>
              </a:rPr>
              <a:t>aktibo, taos, at handang sumakripisyo para sa kapatid."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DM Sans"/>
              </a:rPr>
              <a:t>— Isasaksi ng kapatid.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spc="300">
                <a:solidFill>
                  <a:srgbClr val="FFFFFF">
                    <a:alpha val="55000"/>
                  </a:srgbClr>
                </a:solidFill>
                <a:latin typeface="DM Sans"/>
              </a:rPr>
              <a:t>SUSUNOD NA HAKBANG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 i="0" spc="800">
                <a:solidFill>
                  <a:srgbClr val="F0C64A"/>
                </a:solidFill>
                <a:latin typeface="DM Sans"/>
              </a:rPr>
              <a:t>L7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Playfair Display"/>
              </a:rPr>
              <a:t>Church Worship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327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  <a:latin typeface="DM Sans"/>
              </a:rPr>
              <a:t>"Hindi mo kailangang harapin nang mag-isa ang hirap — may community ka."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1247120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400" b="0" i="1">
                <a:solidFill>
                  <a:srgbClr val="FFFFFF"/>
                </a:solidFill>
                <a:latin typeface="Playfair Display"/>
              </a:rPr>
              <a:t>"Kung paanong sa iisang katawan ay maraming sangkap tayo… bawat isa'y mga sangkap ng isa't isa."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 i="0" spc="800">
                <a:solidFill>
                  <a:srgbClr val="D4A838"/>
                </a:solidFill>
                <a:latin typeface="DM Sans"/>
              </a:rPr>
              <a:t>— ROMA 12:4-5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46520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spc="200">
                <a:solidFill>
                  <a:srgbClr val="FFFFFF">
                    <a:alpha val="40000"/>
                  </a:srgbClr>
                </a:solidFill>
                <a:latin typeface="DM Sans"/>
              </a:rPr>
              <a:t>SALAMAT, KAPATID.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
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embeddedFontLst>
    <p:embeddedFont>
      <p:font typeface="Playfair Display"/>
      <p:regular r:id="rId30"/>
      <p:bold r:id="rId31"/>
      <p:italic r:id="rId32"/>
      <p:boldItalic r:id="rId33"/>
    </p:embeddedFont>
    <p:embeddedFont>
      <p:font typeface="DM Sans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38" roundtripDataSignature="AMtx7miOkodVTaOYOFmmzMK14Dn3oCldX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PlayfairDisplay-bold.fntdata"/><Relationship Id="rId30" Type="http://schemas.openxmlformats.org/officeDocument/2006/relationships/font" Target="fonts/PlayfairDisplay-regular.fntdata"/><Relationship Id="rId11" Type="http://schemas.openxmlformats.org/officeDocument/2006/relationships/slide" Target="slides/slide6.xml"/><Relationship Id="rId33" Type="http://schemas.openxmlformats.org/officeDocument/2006/relationships/font" Target="fonts/PlayfairDisplay-boldItalic.fntdata"/><Relationship Id="rId10" Type="http://schemas.openxmlformats.org/officeDocument/2006/relationships/slide" Target="slides/slide5.xml"/><Relationship Id="rId32" Type="http://schemas.openxmlformats.org/officeDocument/2006/relationships/font" Target="fonts/PlayfairDisplay-italic.fntdata"/><Relationship Id="rId13" Type="http://schemas.openxmlformats.org/officeDocument/2006/relationships/slide" Target="slides/slide8.xml"/><Relationship Id="rId35" Type="http://schemas.openxmlformats.org/officeDocument/2006/relationships/font" Target="fonts/DMSans-bold.fntdata"/><Relationship Id="rId12" Type="http://schemas.openxmlformats.org/officeDocument/2006/relationships/slide" Target="slides/slide7.xml"/><Relationship Id="rId34" Type="http://schemas.openxmlformats.org/officeDocument/2006/relationships/font" Target="fonts/DMSans-regular.fntdata"/><Relationship Id="rId15" Type="http://schemas.openxmlformats.org/officeDocument/2006/relationships/slide" Target="slides/slide10.xml"/><Relationship Id="rId37" Type="http://schemas.openxmlformats.org/officeDocument/2006/relationships/font" Target="fonts/DMSans-boldItalic.fntdata"/><Relationship Id="rId14" Type="http://schemas.openxmlformats.org/officeDocument/2006/relationships/slide" Target="slides/slide9.xml"/><Relationship Id="rId36" Type="http://schemas.openxmlformats.org/officeDocument/2006/relationships/font" Target="fonts/DMSans-italic.fntdata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38" Type="http://customschemas.google.com/relationships/presentationmetadata" Target="meta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Welcome session.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Set the tone: today's lesson is about the structural answer to last week's hardship topic — we don't face hardship alone because we ARE the body.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Total: ~60 min (PUKAW 8 · TUKLAS 15 · TALAKAY 12 · TUGON 15 · DALHIN 10).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Memory verse: Romans 12:4-5. Character anchor: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BROTHERLY LOVE (philadelphia · Pagmamahalan).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Open in prayer asking for honest hearts.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120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LAYUNIN NG ARALIN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b="0" i="0"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Maunawaan ng disciple na ang Christian life ay </a:t>
            </a:r>
            <a:r>
              <a:rPr b="0" i="0" lang="en-PH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hindi dinisenyo para sa isolation</a:t>
            </a:r>
            <a:r>
              <a:rPr b="0" i="0"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— nilikha tayo para sa </a:t>
            </a:r>
            <a:r>
              <a:rPr b="0" i="1"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koinonia</a:t>
            </a:r>
            <a:r>
              <a:rPr b="0" i="0"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 (deep sharing, partnership, mutual participation).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b="0" i="0"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Makilala ang </a:t>
            </a:r>
            <a:r>
              <a:rPr b="0" i="0" lang="en-PH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apat na antas ng biblical fellowship</a:t>
            </a:r>
            <a:r>
              <a:rPr b="0" i="0"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(4-K): </a:t>
            </a:r>
            <a:r>
              <a:rPr b="1" i="0"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Kapamilya at Kapatid · Kapuso · Karamay · Kabantayan</a:t>
            </a:r>
            <a:r>
              <a:rPr b="0" i="0"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b="0" i="0"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Mailipat ang disciple mula sa pagiging </a:t>
            </a:r>
            <a:r>
              <a:rPr b="0" i="0" lang="en-PH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pasibong tagapanood patungo sa aktibong kabantayan</a:t>
            </a:r>
            <a:r>
              <a:rPr b="0" i="0"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at karamay sa LCG.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b="0" i="0"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Ma-anchor sa </a:t>
            </a:r>
            <a:r>
              <a:rPr b="0" i="1" lang="en-PH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philadelphia</a:t>
            </a:r>
            <a:r>
              <a:rPr b="0" i="0" lang="en-PH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 bilang character habit</a:t>
            </a:r>
            <a:r>
              <a:rPr b="0" i="0"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— sakripisyong pangako sa espirituwal na paglago ng kapatid.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</a:rPr>
              <a:t>Bago ang lahat…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4" name="Google Shape;94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PUKAW ~3 min (target 3:00). Honor what they carried home from </a:t>
            </a:r>
            <a:r>
              <a:rPr lang="en-PH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Lesson 5 (Pagharap sa Hirap). </a:t>
            </a:r>
            <a:endParaRPr sz="120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ASK: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Kumusta ang Pangako Ko ninyo last week?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b="1" lang="en-PH" sz="850">
                <a:solidFill>
                  <a:srgbClr val="2A5C40"/>
                </a:solidFill>
                <a:latin typeface="DM Sans"/>
                <a:ea typeface="DM Sans"/>
                <a:cs typeface="DM Sans"/>
                <a:sym typeface="DM Sans"/>
              </a:rPr>
              <a:t>🙏 PANGAKO KO — Sasabihin nang malakas sa grupo</a:t>
            </a:r>
            <a:endParaRPr b="1" sz="850">
              <a:solidFill>
                <a:srgbClr val="2A5C4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-PH" sz="1000">
                <a:solidFill>
                  <a:srgbClr val="1A1612"/>
                </a:solidFill>
                <a:latin typeface="DM Sans"/>
                <a:ea typeface="DM Sans"/>
                <a:cs typeface="DM Sans"/>
                <a:sym typeface="DM Sans"/>
              </a:rPr>
              <a:t>"Sa darating na linggo, susubukan kong..."</a:t>
            </a:r>
            <a:endParaRPr sz="1200">
              <a:solidFill>
                <a:schemeClr val="dk1"/>
              </a:solidFill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Sino ang nakapanatili sa Dios sa gitna ng hirap?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95250" lvl="1" marL="6286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Kumusta ang 3-Trial Watch journal? </a:t>
            </a:r>
            <a:endParaRPr/>
          </a:p>
          <a:p>
            <a:pPr indent="-171450" lvl="1" marL="6286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b="0" i="0" lang="en-PH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r>
              <a:rPr b="1" i="0" lang="en-PH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3-Trial Watch — 7-day journal:</a:t>
            </a:r>
            <a:r>
              <a:rPr b="0" i="0" lang="en-PH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 Para sa bawat araw, pumili ng isa lang. Pangalanan: </a:t>
            </a:r>
            <a:r>
              <a:rPr b="0" i="1" lang="en-PH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Trial / Test / Temptation</a:t>
            </a:r>
            <a:r>
              <a:rPr b="0" i="0" lang="en-PH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/>
          </a:p>
          <a:p>
            <a:pPr indent="-171450" lvl="1" marL="6286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b="0" i="0" lang="en-PH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Anong response ang pinili mo (Manatili / Umasa / Sumunod / Magtiwala)? Anong verse o panalangin ang nakatulong?)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Celebrate every hand raised.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PH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ONE volunteer, 30 seconds. </a:t>
            </a:r>
            <a:endParaRPr sz="120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PASTORAL: someone with an empty journal is watching your face — "Kung wala kang na-check, welcome pa rin.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Ang journal ay tulong, hindi timbangan."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Then transition (~1 min inside this block):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"Sa hirap na pinag-usapan natin sa L5, </a:t>
            </a:r>
            <a:r>
              <a:rPr lang="en-PH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hindi tayo dinisenyong mag-isa.</a:t>
            </a: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Tingnan natin kung </a:t>
            </a:r>
            <a:r>
              <a:rPr lang="en-PH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sino ang kasama natin</a:t>
            </a: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."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</a:rPr>
              <a:t>But first, the bible…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95" name="Google Shape;95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Read Romans 12:4-5 slowly.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Lock the framing: this is the lens for the whole lesson.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We are not independent contractors of grace — </a:t>
            </a:r>
            <a:r>
              <a:rPr lang="en-PH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we are MEMBERS of one body.</a:t>
            </a: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Pause after </a:t>
            </a:r>
            <a:r>
              <a:rPr lang="en-PH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'bawat isa'y mga sangkap ng isa't isa'</a:t>
            </a: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— let it land.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</a:rPr>
              <a:t>Keep this in mind as we dive deeper into the idea of fellowship: 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PH" sz="1200">
                <a:solidFill>
                  <a:schemeClr val="dk1"/>
                </a:solidFill>
              </a:rPr>
              <a:t>each a part of the other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PH" sz="1200">
                <a:solidFill>
                  <a:schemeClr val="dk1"/>
                </a:solidFill>
              </a:rPr>
              <a:t>even one missing makes everything incomplete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PH" sz="1200">
                <a:solidFill>
                  <a:schemeClr val="dk1"/>
                </a:solidFill>
              </a:rPr>
              <a:t>even one suffering makes the whole thing suffer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PH" sz="1200">
                <a:solidFill>
                  <a:schemeClr val="dk1"/>
                </a:solidFill>
              </a:rPr>
              <a:t>The strong part can carry more load for the one weak part</a:t>
            </a:r>
            <a:endParaRPr sz="12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</a:rPr>
              <a:t>First, let me ask…</a:t>
            </a:r>
            <a:endParaRPr sz="12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5" name="Google Shape;115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PUKAW ~0.5 min (target 4:30). PARTICIPANT GUIDE QUESTION - silent 1-10 self-rating of current fellowship quality. 1 = nag-iisa, 10 = malalim na koinonia.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NO sharing</a:t>
            </a: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no hands - private baseline only.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Say it plainly: "Walang titingin sa sagot ng katabi.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Babalikan natin ito sa DALHIN para makita kung may gumalaw."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Advance quickly; the quiz is next.</a:t>
            </a:r>
            <a:endParaRPr/>
          </a:p>
        </p:txBody>
      </p:sp>
      <p:sp>
        <p:nvSpPr>
          <p:cNvPr id="116" name="Google Shape;116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5" name="Google Shape;125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120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FACILITATOR TIP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Kapag may participant na nahihirapan, sabihin: </a:t>
            </a:r>
            <a:r>
              <a:rPr b="0" i="1"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"Hindi kailangan ang pinakaperfect na sagot. Ang pinakaunang pangalan na pumasok sa isip mo, yan ang isulat."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Give them </a:t>
            </a:r>
            <a:r>
              <a:rPr lang="en-PH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2 minutes to silently write names</a:t>
            </a: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Magsulat ng </a:t>
            </a:r>
            <a:r>
              <a:rPr b="0" i="0" lang="en-PH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isang positibong katangian na ina-admire mo sa kanila</a:t>
            </a:r>
            <a:r>
              <a:rPr b="0" i="0"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Don't push for sharing yet.</a:t>
            </a:r>
            <a:endParaRPr/>
          </a:p>
        </p:txBody>
      </p:sp>
      <p:sp>
        <p:nvSpPr>
          <p:cNvPr id="126" name="Google Shape;126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8" name="Google Shape;148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After they've written the 4 names, drop the hypothetical:</a:t>
            </a:r>
            <a:r>
              <a:rPr lang="en-PH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 imagine them all GONE. </a:t>
            </a:r>
            <a:endParaRPr sz="120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Three words only.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Call 2-3 volunteers. </a:t>
            </a:r>
            <a:endParaRPr sz="120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Don't analyze the words — just let them sit.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sets up the emotional weight for the rest of the session.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120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COMMON ANSWERS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Karamihan magsasabi ng: </a:t>
            </a:r>
            <a:r>
              <a:rPr b="0" i="1"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"Malungkot, Kulang, Bagsak."</a:t>
            </a:r>
            <a:r>
              <a:rPr b="0" i="0"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 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Gamitin ito bilang tulay: </a:t>
            </a:r>
            <a:r>
              <a:rPr b="0" i="1"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"</a:t>
            </a:r>
            <a:r>
              <a:rPr b="0" i="1" lang="en-PH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Ito ang patunay na hindi tayo dinisenyo para mag-isa. </a:t>
            </a:r>
            <a:r>
              <a:rPr b="0" i="1"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Pero may tinatawag tayong </a:t>
            </a:r>
            <a:r>
              <a:rPr b="0" i="1" lang="en-PH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Christian fellowship</a:t>
            </a:r>
            <a:r>
              <a:rPr b="0" i="1"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— at </a:t>
            </a:r>
            <a:r>
              <a:rPr b="0" i="1" lang="en-PH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hindi siya kainan ng lomi </a:t>
            </a:r>
            <a:r>
              <a:rPr b="0" i="1"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pagkatapos ng church service. Alamin natin."</a:t>
            </a:r>
            <a:endParaRPr b="0" i="1"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</a:rPr>
              <a:t>Now for the load-bearing thesis…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49" name="Google Shape;149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0" name="Google Shape;160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TUKLAS opening. This is the load-bearing thesis sentence.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Read it slowly. Three 'shared' words: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ay"/>
              <a:buAutoNum type="arabicPeriod"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SHARED LIFE (Kapamilya/Kapuso),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ay"/>
              <a:buAutoNum type="arabicPeriod"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SHARED SUFFERINGS (Karamay),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ay"/>
              <a:buAutoNum type="arabicPeriod"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SHARED SANCTITY (Kabantayan).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ay"/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4-K maps to this Big Idea.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ay"/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Tell them: you can quote this all week.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ay"/>
              <a:buNone/>
            </a:pPr>
            <a:r>
              <a:rPr lang="en-PH" sz="1200">
                <a:solidFill>
                  <a:schemeClr val="dk1"/>
                </a:solidFill>
              </a:rPr>
              <a:t>Fellowship in the bible comes from Gr…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61" name="Google Shape;161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0" name="Google Shape;170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Greek anchor.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Don't make it academic.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Three contrasts to drive home: NOT salu-salo, NOT tsismisan, NOT social club.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IT IS </a:t>
            </a:r>
            <a:r>
              <a:rPr lang="en-PH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shared participation</a:t>
            </a: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in Christ's actual life.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the </a:t>
            </a:r>
            <a:r>
              <a:rPr lang="en-PH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uling-sa-kalan metaphor</a:t>
            </a: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— a coal removed from the fire dies fast.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 does a Christian removed from fellowship.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</a:rPr>
              <a:t>Ang apat na uri…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71" name="Google Shape;171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2" name="Google Shape;182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framework slide.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Show all 4 at once so they see the architecture.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Don't elaborate yet — that's slides 8-9.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preview. 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Timing note: keep to the pill on this slide; the cumulative clock is printed top-right and lands on 60:00 at slide 23.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discussion runs long, reclaim time from TUGON's draft block only as a last resort.</a:t>
            </a:r>
            <a:endParaRPr/>
          </a:p>
        </p:txBody>
      </p:sp>
      <p:sp>
        <p:nvSpPr>
          <p:cNvPr id="183" name="Google Shape;183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2" name="Google Shape;212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Walk through Kapamilya first — Acts 2:42, the basis is </a:t>
            </a:r>
            <a:r>
              <a:rPr lang="en-PH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Christ's blood, not bloodline</a:t>
            </a: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Tayo'y </a:t>
            </a:r>
            <a:r>
              <a:rPr lang="en-PH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magkakapatid kahit anong background</a:t>
            </a: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Then Kapuso — Acts 4:32, iisang puso AT isipan.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Hindi sapat ang ngiti lang; pareho dapat ng direksyon at values.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Application: tanungin sa LCG mo kung pareho ba kayong nakatingin sa iisang Kaharian.</a:t>
            </a:r>
            <a:endParaRPr/>
          </a:p>
        </p:txBody>
      </p:sp>
      <p:sp>
        <p:nvSpPr>
          <p:cNvPr id="213" name="Google Shape;213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2" name="Google Shape;232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Karamay FIRST — 1 Cor 12:26. Co-suffering is the PRIMARY meaning.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Material giving (Rom 12:13, 15:26) is one expression, not the whole thing.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isang sangkap ang nasaktan, ang BUONG katawan nakikiramay.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Kabantayan next — Santiago 5:16.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CRITICAL: pastorally surface this as kapatiran, NOT panghuhusga.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Walang nailalantad nang walang awa.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safe-space note.</a:t>
            </a:r>
            <a:endParaRPr/>
          </a:p>
        </p:txBody>
      </p:sp>
      <p:sp>
        <p:nvSpPr>
          <p:cNvPr id="233" name="Google Shape;233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2" name="Google Shape;252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TUKLAS ~2 min (target 23:00). PARTICIPANT GUIDE QUESTION closing the 4-K teaching.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Each participant writes which K is weakest in their Small Group or LCG - and why.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Push past the safe answer: "Huwag 'yung pinakamadaling sagutin - 'yung totoo."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Expect Kabantayan (mutual protection / biblical kumpisalan) to surface as the weak K in most groups; note it for the Pastor debrief - it feeds LCG health follow-up.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No sharing required on this one.</a:t>
            </a:r>
            <a:endParaRPr sz="120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rgbClr val="1A1612"/>
                </a:solidFill>
              </a:rPr>
              <a:t>Here’s a story of deep sharing…</a:t>
            </a:r>
            <a:endParaRPr sz="1200">
              <a:solidFill>
                <a:srgbClr val="1A1612"/>
              </a:solidFill>
            </a:endParaRPr>
          </a:p>
        </p:txBody>
      </p:sp>
      <p:sp>
        <p:nvSpPr>
          <p:cNvPr id="253" name="Google Shape;253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3" name="Google Shape;263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TALAKAY (~12 min).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Tell story slowly.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Three story beats: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4572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(1) plano nila — Albert una, Albrecht sumunod. 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4572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(2) Pag-uwi ni Albrecht — Albert's hands ruined. 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4572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(3) Praying Hands as tribute. 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Noong unang bahagi ng 1500s, ang magkapatid na </a:t>
            </a:r>
            <a:r>
              <a:rPr b="1" i="0"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Albrecht at Albert Dürer</a:t>
            </a:r>
            <a:r>
              <a:rPr b="0" i="0"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 ay parehong naghangad na maging tanyag na artist. Dahil sa kawalan ng pera, naghatian sila ng plano: si Albert ang unang magtatrabaho sa minahan para tustusan ang pag-aaral ni Albrecht, at magpapalitan sila pagkatapos ng 4 na taon.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Nang bumalik si Albrecht na isang matagumpay na pintor, ang mga kamay ni Albert ay </a:t>
            </a:r>
            <a:r>
              <a:rPr b="1" i="0"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permanenteng nasira</a:t>
            </a:r>
            <a:r>
              <a:rPr b="0" i="0"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 sa minahan — hindi na niya kayang humawak ng pinsel. Hindi na siya maaaring maging artist.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Bilang pagpupugay sa walang-katumbas na sakripisyo ng kapatid, ipininta ni Albrecht ang mga magaspang at sugatang kamay ni Albert habang nakatupi sa panalangin — ang tanyag na "</a:t>
            </a:r>
            <a:r>
              <a:rPr b="1" i="0"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Praying Hands</a:t>
            </a:r>
            <a:r>
              <a:rPr b="0" i="0"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" (c. 1508).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Don't moralize while telling.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Let the story do the work.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Pause at the end for breathing room.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</a:rPr>
              <a:t>This is love between biological blood brothers.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264" name="Google Shape;264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7" name="Google Shape;277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</a:rPr>
              <a:t>Biological or spiritual, God tells us this: Heb 13:1.</a:t>
            </a:r>
            <a:endParaRPr sz="12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personal question — </a:t>
            </a:r>
            <a:r>
              <a:rPr lang="en-PH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'Sino ang Albert mo?' </a:t>
            </a:r>
            <a:endParaRPr sz="120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Two-part: who sacrificed for YOU?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And </a:t>
            </a:r>
            <a:r>
              <a:rPr lang="en-PH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who are you currently being an Albert FOR? </a:t>
            </a:r>
            <a:endParaRPr sz="120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Limit to </a:t>
            </a:r>
            <a:r>
              <a:rPr lang="en-PH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2 sharers per table </a:t>
            </a: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max.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Enforce safe-space rules: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ay"/>
              <a:buAutoNum type="arabicPeriod"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 rushing to fix,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ay"/>
              <a:buAutoNum type="arabicPeriod"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 comparison,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ay"/>
              <a:buAutoNum type="arabicPeriod"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 advice unless asked,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ay"/>
              <a:buAutoNum type="arabicPeriod"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confidentiality.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Hebrews 13:1 anchors </a:t>
            </a:r>
            <a:r>
              <a:rPr lang="en-PH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philadelphia</a:t>
            </a: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explicitly.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</a:rPr>
              <a:t>Another question for you…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278" name="Google Shape;278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2" name="Google Shape;292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TALAKAY ~3 min (target 35:00).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PARTICIPANT GUIDE QUESTION - the lesson question from the Durer story.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After the max-2-sharers moment on the previous slide, everyone writes: what does the story teach about sacrifice and mutual support in the life of the church?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Land the connection to Hebrews 13:1 - "Mamalagi nawa ang pagibig sa mga kapatid" (philadelphia).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story is not about art; it is about a brother whose ruined hands became a prayer.</a:t>
            </a:r>
            <a:endParaRPr/>
          </a:p>
        </p:txBody>
      </p:sp>
      <p:sp>
        <p:nvSpPr>
          <p:cNvPr id="293" name="Google Shape;293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3" name="Google Shape;303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TUGON opening with Bonhoeffer from 'Life Together' (1939, written from prison via correspondence with seminarians).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point: </a:t>
            </a:r>
            <a:r>
              <a:rPr lang="en-PH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physical presence</a:t>
            </a: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— not Zoom, not Facebook — incomparable joy and strength.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Filipino disciples already get this; this is just permission to lean in.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Don't over-explain.</a:t>
            </a:r>
            <a:endParaRPr sz="120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</a:rPr>
              <a:t>Now you have an assignment…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304" name="Google Shape;304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4" name="Google Shape;31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Concrete carry-out</a:t>
            </a:r>
            <a:r>
              <a:rPr lang="en-PH" sz="1200">
                <a:solidFill>
                  <a:schemeClr val="dk1"/>
                </a:solidFill>
              </a:rPr>
              <a:t> instruction.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Boxes 1-3 are the 'existing relationship' targets.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48-hour limit is the structural </a:t>
            </a:r>
            <a:r>
              <a:rPr lang="en-PH" sz="1200">
                <a:solidFill>
                  <a:schemeClr val="dk1"/>
                </a:solidFill>
              </a:rPr>
              <a:t>motivation</a:t>
            </a: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(Grenny — making it easy to do the right thing).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Note: this is INWARD focus to existing relationships.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EOLO bridge in next slide will turn it outward.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</a:rPr>
              <a:t>Let’s do it…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315" name="Google Shape;31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0" name="Google Shape;330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TUGON ~8 min (target 46:00).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PARTICIPANT GUIDE QUESTION - the artifact of the night.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</a:rPr>
              <a:t>First, e</a:t>
            </a: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veryone </a:t>
            </a:r>
            <a:r>
              <a:rPr lang="en-PH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drafts an Appreciation Message</a:t>
            </a: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for ONE person from Boxes 1-</a:t>
            </a:r>
            <a:r>
              <a:rPr lang="en-PH" sz="1200">
                <a:solidFill>
                  <a:schemeClr val="dk1"/>
                </a:solidFill>
              </a:rPr>
              <a:t>3</a:t>
            </a: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of their Connection Quiz.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Quiet worship music under the whole block.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Interns: quiet presence, prompts for the stuck (</a:t>
            </a:r>
            <a:r>
              <a:rPr lang="en-PH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"Anong ginawa niya na hindi mo nasabihan ng salamat?"</a:t>
            </a: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), never dictation.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Specific beats generic: one remembered act, one sentence of thanks, one sentence of blessing.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Protect this block if time collapses - this is the One Movement That Matters.</a:t>
            </a:r>
            <a:endParaRPr sz="120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</a:rPr>
              <a:t>Next the method of sending…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331" name="Google Shape;331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0" name="Google Shape;340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TUGON ~4 min (target 50:00).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PARTICIPANT GUIDE QUESTION - commitment to deliver.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Name + delivery method, written in the guide.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Say the line: "Hindi tapos ang Tugon kapag naisulat lang.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Tapos ito kapag NAIPADALA." Text, chat, handwritten note, or face-to-face - due within the week; you will confirm at the next LCG.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Close the movement with Hebrews 13:1 read aloud once, slowly (~1 min inside this block).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i="1" lang="en-PH" sz="2700">
                <a:solidFill>
                  <a:srgbClr val="2A5C40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"Mamalagi nawa ang pagibig sa mga kapatid." — Heb 13:1</a:t>
            </a:r>
            <a:endParaRPr sz="17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341" name="Google Shape;341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1" name="Google Shape;351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DALHIN (~10 min total).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Three actions: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AutoNum type="arabicPeriod"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7-Day Fellowship Watch — pindot lang ang day cell sa participant guide.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1" marL="9144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AutoNum type="alphaLcPeriod"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Goal: one act of 4-K (Kapamilya/Kapatid, Kapuso, </a:t>
            </a:r>
            <a:r>
              <a:rPr lang="en-PH" sz="1200">
                <a:solidFill>
                  <a:schemeClr val="dk1"/>
                </a:solidFill>
              </a:rPr>
              <a:t>K</a:t>
            </a: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aramay, Kabantayan) per day for 7 days.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AutoNum type="arabicPeriod"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EOLO bridge — emphasize NEW relationship, not existing.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1" marL="9144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AutoNum type="alphaLcPeriod"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Connection Quiz is for existing; EOLO is for outsiders.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AutoNum type="arabicPeriod"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Roma 12:4-5 memorize. Quote: 'Ang fellowship ay hindi nag-iisang gawain.'</a:t>
            </a:r>
            <a:endParaRPr/>
          </a:p>
        </p:txBody>
      </p:sp>
      <p:sp>
        <p:nvSpPr>
          <p:cNvPr id="352" name="Google Shape;352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0" name="Google Shape;370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DALHIN ~2 min (target 56:00). PARTICIPANT GUIDE QUESTION - the closing 1-10 snapshot, compared against the opening one. "Tingnan ang una mong sagot sa PUKAW.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May gumalaw ba?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Bakit? " No shame if the number held - the lesson is a beginning, not a verdict.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delta feeds their own reflection, not a scoreboard; </a:t>
            </a:r>
            <a:r>
              <a:rPr lang="en-PH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nobody reports numbers aloud.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371" name="Google Shape;371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2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1" name="Google Shape;381;p2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Pangako Ko — Filipino disciple-making convention.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Each participant says the 4-line pangako aloud in LCG.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Witness affirms with 'Amen' or 'I will pray for you, kapatid.'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Don't make it theatrical — short and serious.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Connect back to L5's Pangako: 'Hindi ako tatakas' became 'Hindi ako mag-iisa.'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Progression nakikita.</a:t>
            </a:r>
            <a:endParaRPr/>
          </a:p>
        </p:txBody>
      </p:sp>
      <p:sp>
        <p:nvSpPr>
          <p:cNvPr id="382" name="Google Shape;382;p2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2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4" name="Google Shape;394;p2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Closing. Preview L7 — Church Worship Service.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Bridge: 'Koinonia in small group → corporate worship of the whole body.'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Same body, bigger gathering.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Close with Romans 12:4-5 recited together aloud.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End in prayer of blessing — thank God for the kapatid sa kaliwa't kanan, ask for courage for the 48-hour EOLO outreach, dismiss in peace.</a:t>
            </a:r>
            <a:endParaRPr/>
          </a:p>
        </p:txBody>
      </p:sp>
      <p:sp>
        <p:nvSpPr>
          <p:cNvPr id="395" name="Google Shape;395;p2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fb2f0c5768_0_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8" name="Google Shape;408;g3fb2f0c5768_0_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409" name="Google Shape;409;g3fb2f0c5768_0_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PH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6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6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PH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PH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8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8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PH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9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9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PH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30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30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30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30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PH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PH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2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2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32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PH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3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3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3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PH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4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PH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5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5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PH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PH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2E3F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 txBox="1"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1300" u="none" cap="none" strike="noStrike">
                <a:solidFill>
                  <a:srgbClr val="F0C64A"/>
                </a:solidFill>
                <a:latin typeface="DM Sans"/>
                <a:ea typeface="DM Sans"/>
                <a:cs typeface="DM Sans"/>
                <a:sym typeface="DM Sans"/>
              </a:rPr>
              <a:t>BTLI 1 · LESSON 6 · USAD-L6</a:t>
            </a:r>
            <a:endParaRPr/>
          </a:p>
        </p:txBody>
      </p:sp>
      <p:sp>
        <p:nvSpPr>
          <p:cNvPr id="86" name="Google Shape;86;p1"/>
          <p:cNvSpPr txBox="1"/>
          <p:nvPr/>
        </p:nvSpPr>
        <p:spPr>
          <a:xfrm>
            <a:off x="457200" y="2103120"/>
            <a:ext cx="1124712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7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Christian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7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Fellowship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457200" y="4406344"/>
            <a:ext cx="11247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PH" sz="2400" u="none" cap="none" strike="noStrike">
                <a:solidFill>
                  <a:srgbClr val="F0C64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Pagmamahalan ng Magkakapatid</a:t>
            </a:r>
            <a:endParaRPr b="0" i="1" sz="2400" u="none" cap="none" strike="noStrike">
              <a:solidFill>
                <a:srgbClr val="F0C64A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457200" y="5852160"/>
            <a:ext cx="11247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11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MULTIPLY · DISCIPLE-MAKING PIPELINE</a:t>
            </a:r>
            <a:endParaRPr/>
          </a:p>
        </p:txBody>
      </p:sp>
      <p:sp>
        <p:nvSpPr>
          <p:cNvPr id="89" name="Google Shape;89;p1"/>
          <p:cNvSpPr txBox="1"/>
          <p:nvPr/>
        </p:nvSpPr>
        <p:spPr>
          <a:xfrm>
            <a:off x="7772400" y="6446520"/>
            <a:ext cx="3246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9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ROMANS 12:4-5 · USAD-L6</a:t>
            </a:r>
            <a:endParaRPr/>
          </a:p>
        </p:txBody>
      </p:sp>
      <p:sp>
        <p:nvSpPr>
          <p:cNvPr id="90" name="Google Shape;90;p1"/>
          <p:cNvSpPr/>
          <p:nvPr/>
        </p:nvSpPr>
        <p:spPr>
          <a:xfrm>
            <a:off x="8759952" y="137160"/>
            <a:ext cx="3200400" cy="548640"/>
          </a:xfrm>
          <a:prstGeom prst="roundRect">
            <a:avLst>
              <a:gd fmla="val 16667" name="adj"/>
            </a:avLst>
          </a:prstGeom>
          <a:solidFill>
            <a:srgbClr val="D4AF3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2000" u="none" cap="none" strike="noStrike">
                <a:solidFill>
                  <a:srgbClr val="141628"/>
                </a:solidFill>
                <a:latin typeface="Calibri"/>
                <a:ea typeface="Calibri"/>
                <a:cs typeface="Calibri"/>
                <a:sym typeface="Calibri"/>
              </a:rPr>
              <a:t>⏱ 60-min lesson</a:t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1000" u="none" cap="none" strike="noStrike">
                <a:solidFill>
                  <a:srgbClr val="B0A98F"/>
                </a:solidFill>
                <a:latin typeface="DM Sans"/>
                <a:ea typeface="DM Sans"/>
                <a:cs typeface="DM Sans"/>
                <a:sym typeface="DM Sans"/>
              </a:rPr>
              <a:t>1 / 23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4832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/>
          <p:cNvSpPr txBox="1"/>
          <p:nvPr/>
        </p:nvSpPr>
        <p:spPr>
          <a:xfrm>
            <a:off x="365760" y="27432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1100" u="none" cap="none" strike="noStrike">
                <a:solidFill>
                  <a:srgbClr val="FDF6E8"/>
                </a:solidFill>
                <a:latin typeface="DM Sans"/>
                <a:ea typeface="DM Sans"/>
                <a:cs typeface="DM Sans"/>
                <a:sym typeface="DM Sans"/>
              </a:rPr>
              <a:t>PUKAW · L5 CALLBACK</a:t>
            </a:r>
            <a:endParaRPr/>
          </a:p>
        </p:txBody>
      </p:sp>
      <p:sp>
        <p:nvSpPr>
          <p:cNvPr id="98" name="Google Shape;98;p2"/>
          <p:cNvSpPr txBox="1"/>
          <p:nvPr/>
        </p:nvSpPr>
        <p:spPr>
          <a:xfrm>
            <a:off x="457200" y="1554480"/>
            <a:ext cx="11247120" cy="14773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4800" u="none" cap="none" strike="noStrike">
                <a:solidFill>
                  <a:srgbClr val="FDF6E8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Kumusta ang Pangako Ko natin</a:t>
            </a:r>
            <a:br>
              <a:rPr b="1" i="0" lang="en-PH" sz="4800" u="none" cap="none" strike="noStrike">
                <a:solidFill>
                  <a:srgbClr val="FDF6E8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</a:br>
            <a:r>
              <a:rPr b="1" i="0" lang="en-PH" sz="4800" u="none" cap="none" strike="noStrike">
                <a:solidFill>
                  <a:srgbClr val="FDF6E8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noong Lesson 5?</a:t>
            </a:r>
            <a:endParaRPr/>
          </a:p>
        </p:txBody>
      </p:sp>
      <p:sp>
        <p:nvSpPr>
          <p:cNvPr id="99" name="Google Shape;99;p2"/>
          <p:cNvSpPr txBox="1"/>
          <p:nvPr/>
        </p:nvSpPr>
        <p:spPr>
          <a:xfrm>
            <a:off x="822960" y="3657600"/>
            <a:ext cx="10543032" cy="8617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FDF6E8"/>
              </a:buClr>
              <a:buSzPts val="2800"/>
              <a:buFont typeface="Arial"/>
              <a:buChar char="•"/>
            </a:pPr>
            <a:r>
              <a:rPr b="0" i="0" lang="en-PH" sz="2800" u="none" cap="none" strike="noStrike">
                <a:solidFill>
                  <a:srgbClr val="FDF6E8"/>
                </a:solidFill>
                <a:latin typeface="DM Sans"/>
                <a:ea typeface="DM Sans"/>
                <a:cs typeface="DM Sans"/>
                <a:sym typeface="DM Sans"/>
              </a:rPr>
              <a:t>Sino ang nakapanatili sa Dios sa gitna ng hirap? </a:t>
            </a:r>
            <a:endParaRPr b="0" i="0" sz="2800" u="none" cap="none" strike="noStrike">
              <a:solidFill>
                <a:srgbClr val="FDF6E8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FDF6E8"/>
              </a:buClr>
              <a:buSzPts val="2800"/>
              <a:buFont typeface="Arial"/>
              <a:buChar char="•"/>
            </a:pPr>
            <a:r>
              <a:rPr b="0" i="0" lang="en-PH" sz="2800" u="none" cap="none" strike="noStrike">
                <a:solidFill>
                  <a:srgbClr val="FDF6E8"/>
                </a:solidFill>
                <a:latin typeface="DM Sans"/>
                <a:ea typeface="DM Sans"/>
                <a:cs typeface="DM Sans"/>
                <a:sym typeface="DM Sans"/>
              </a:rPr>
              <a:t>Kumusta ang 3-Trial Watch journal? </a:t>
            </a:r>
            <a:endParaRPr b="0" i="0" sz="2800" u="none" cap="none" strike="noStrike">
              <a:solidFill>
                <a:srgbClr val="FDF6E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0" name="Google Shape;100;p2"/>
          <p:cNvSpPr/>
          <p:nvPr/>
        </p:nvSpPr>
        <p:spPr>
          <a:xfrm>
            <a:off x="8759952" y="137160"/>
            <a:ext cx="3200400" cy="548640"/>
          </a:xfrm>
          <a:prstGeom prst="roundRect">
            <a:avLst>
              <a:gd fmla="val 16667" name="adj"/>
            </a:avLst>
          </a:prstGeom>
          <a:solidFill>
            <a:srgbClr val="D4AF3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2000" u="none" cap="none" strike="noStrike">
                <a:solidFill>
                  <a:srgbClr val="141628"/>
                </a:solidFill>
                <a:latin typeface="Calibri"/>
                <a:ea typeface="Calibri"/>
                <a:cs typeface="Calibri"/>
                <a:sym typeface="Calibri"/>
              </a:rPr>
              <a:t>⏱ 3 min · ⌛3:00</a:t>
            </a:r>
            <a:endParaRPr/>
          </a:p>
        </p:txBody>
      </p:sp>
      <p:sp>
        <p:nvSpPr>
          <p:cNvPr id="101" name="Google Shape;101;p2"/>
          <p:cNvSpPr txBox="1"/>
          <p:nvPr/>
        </p:nvSpPr>
        <p:spPr>
          <a:xfrm>
            <a:off x="11592385" y="6492240"/>
            <a:ext cx="477695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1400" u="none" cap="none" strike="noStrike">
                <a:solidFill>
                  <a:srgbClr val="B0A98F"/>
                </a:solidFill>
                <a:latin typeface="DM Sans"/>
                <a:ea typeface="DM Sans"/>
                <a:cs typeface="DM Sans"/>
                <a:sym typeface="DM Sans"/>
              </a:rPr>
              <a:t>2 / 23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4830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/>
        </p:nvSpPr>
        <p:spPr>
          <a:xfrm>
            <a:off x="365760" y="27432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11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PUKAW</a:t>
            </a:r>
            <a:endParaRPr/>
          </a:p>
        </p:txBody>
      </p:sp>
      <p:sp>
        <p:nvSpPr>
          <p:cNvPr id="108" name="Google Shape;108;p3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1400">
                <a:solidFill>
                  <a:srgbClr val="F0C64A"/>
                </a:solidFill>
                <a:latin typeface="DM Sans"/>
                <a:ea typeface="DM Sans"/>
                <a:cs typeface="DM Sans"/>
                <a:sym typeface="DM Sans"/>
              </a:rPr>
              <a:t>MEMORY VERSE</a:t>
            </a:r>
            <a:endParaRPr/>
          </a:p>
        </p:txBody>
      </p:sp>
      <p:sp>
        <p:nvSpPr>
          <p:cNvPr id="109" name="Google Shape;109;p3"/>
          <p:cNvSpPr txBox="1"/>
          <p:nvPr/>
        </p:nvSpPr>
        <p:spPr>
          <a:xfrm>
            <a:off x="731520" y="2194560"/>
            <a:ext cx="10698480" cy="28623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PH" sz="360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"Kung paanong sa iisang katawan ay maraming sangkap tayo, at ang lahat ng sangkap ay hindi pare-pareho ang gawain, gayon din naman tayo na marami, ay iisang katawan kay Cristo, at bawat isa'y mga sangkap ng isa't isa."</a:t>
            </a:r>
            <a:endParaRPr/>
          </a:p>
        </p:txBody>
      </p:sp>
      <p:sp>
        <p:nvSpPr>
          <p:cNvPr id="110" name="Google Shape;110;p3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1400">
                <a:solidFill>
                  <a:srgbClr val="D4A838"/>
                </a:solidFill>
                <a:latin typeface="DM Sans"/>
                <a:ea typeface="DM Sans"/>
                <a:cs typeface="DM Sans"/>
                <a:sym typeface="DM Sans"/>
              </a:rPr>
              <a:t>ROMA 12:4-5</a:t>
            </a:r>
            <a:endParaRPr/>
          </a:p>
        </p:txBody>
      </p:sp>
      <p:sp>
        <p:nvSpPr>
          <p:cNvPr id="111" name="Google Shape;111;p3"/>
          <p:cNvSpPr/>
          <p:nvPr/>
        </p:nvSpPr>
        <p:spPr>
          <a:xfrm>
            <a:off x="8759952" y="137160"/>
            <a:ext cx="3200400" cy="548640"/>
          </a:xfrm>
          <a:prstGeom prst="roundRect">
            <a:avLst>
              <a:gd fmla="val 16667" name="adj"/>
            </a:avLst>
          </a:prstGeom>
          <a:solidFill>
            <a:srgbClr val="D4AF3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2000">
                <a:solidFill>
                  <a:srgbClr val="141628"/>
                </a:solidFill>
                <a:latin typeface="Calibri"/>
                <a:ea typeface="Calibri"/>
                <a:cs typeface="Calibri"/>
                <a:sym typeface="Calibri"/>
              </a:rPr>
              <a:t>⏱ 1 min · ⌛4:00</a:t>
            </a:r>
            <a:endParaRPr/>
          </a:p>
        </p:txBody>
      </p:sp>
      <p:sp>
        <p:nvSpPr>
          <p:cNvPr id="112" name="Google Shape;112;p3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000">
                <a:solidFill>
                  <a:srgbClr val="B0A98F"/>
                </a:solidFill>
                <a:latin typeface="DM Sans"/>
                <a:ea typeface="DM Sans"/>
                <a:cs typeface="DM Sans"/>
                <a:sym typeface="DM Sans"/>
              </a:rPr>
              <a:t>3 / 23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B2E3F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4"/>
          <p:cNvSpPr txBox="1"/>
          <p:nvPr/>
        </p:nvSpPr>
        <p:spPr>
          <a:xfrm>
            <a:off x="365760" y="27432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1100">
                <a:solidFill>
                  <a:srgbClr val="F0C64A"/>
                </a:solidFill>
                <a:latin typeface="DM Sans"/>
                <a:ea typeface="DM Sans"/>
                <a:cs typeface="DM Sans"/>
                <a:sym typeface="DM Sans"/>
              </a:rPr>
              <a:t>PUKAW · SNAPSHOT · TANONG</a:t>
            </a:r>
            <a:endParaRPr/>
          </a:p>
        </p:txBody>
      </p:sp>
      <p:sp>
        <p:nvSpPr>
          <p:cNvPr id="119" name="Google Shape;119;p4"/>
          <p:cNvSpPr/>
          <p:nvPr/>
        </p:nvSpPr>
        <p:spPr>
          <a:xfrm>
            <a:off x="4590288" y="960120"/>
            <a:ext cx="3017520" cy="384048"/>
          </a:xfrm>
          <a:prstGeom prst="roundRect">
            <a:avLst>
              <a:gd fmla="val 16667" name="adj"/>
            </a:avLst>
          </a:prstGeom>
          <a:solidFill>
            <a:srgbClr val="D4A83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1300">
                <a:solidFill>
                  <a:srgbClr val="141628"/>
                </a:solidFill>
                <a:latin typeface="DM Sans"/>
                <a:ea typeface="DM Sans"/>
                <a:cs typeface="DM Sans"/>
                <a:sym typeface="DM Sans"/>
              </a:rPr>
              <a:t>📋 Participant Guide Question</a:t>
            </a:r>
            <a:endParaRPr/>
          </a:p>
        </p:txBody>
      </p:sp>
      <p:sp>
        <p:nvSpPr>
          <p:cNvPr id="120" name="Google Shape;120;p4"/>
          <p:cNvSpPr txBox="1"/>
          <p:nvPr/>
        </p:nvSpPr>
        <p:spPr>
          <a:xfrm>
            <a:off x="822960" y="2767727"/>
            <a:ext cx="10543032" cy="12311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4000">
                <a:solidFill>
                  <a:srgbClr val="FDF6E8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Snapshot bago ang aralin: gaano ka-quality ang fellowship mo ngayon, 1 hanggang 10?</a:t>
            </a:r>
            <a:endParaRPr/>
          </a:p>
        </p:txBody>
      </p:sp>
      <p:sp>
        <p:nvSpPr>
          <p:cNvPr id="121" name="Google Shape;121;p4"/>
          <p:cNvSpPr/>
          <p:nvPr/>
        </p:nvSpPr>
        <p:spPr>
          <a:xfrm>
            <a:off x="8759952" y="137160"/>
            <a:ext cx="3200400" cy="548640"/>
          </a:xfrm>
          <a:prstGeom prst="roundRect">
            <a:avLst>
              <a:gd fmla="val 16667" name="adj"/>
            </a:avLst>
          </a:prstGeom>
          <a:solidFill>
            <a:srgbClr val="D4AF3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2000">
                <a:solidFill>
                  <a:srgbClr val="141628"/>
                </a:solidFill>
                <a:latin typeface="Calibri"/>
                <a:ea typeface="Calibri"/>
                <a:cs typeface="Calibri"/>
                <a:sym typeface="Calibri"/>
              </a:rPr>
              <a:t>⏱ 0.5 min · ⌛4:30</a:t>
            </a:r>
            <a:endParaRPr/>
          </a:p>
        </p:txBody>
      </p:sp>
      <p:sp>
        <p:nvSpPr>
          <p:cNvPr id="122" name="Google Shape;122;p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000">
                <a:solidFill>
                  <a:srgbClr val="B0A98F"/>
                </a:solidFill>
                <a:latin typeface="DM Sans"/>
                <a:ea typeface="DM Sans"/>
                <a:cs typeface="DM Sans"/>
                <a:sym typeface="DM Sans"/>
              </a:rPr>
              <a:t>4 / 23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6E8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5"/>
          <p:cNvSpPr txBox="1"/>
          <p:nvPr/>
        </p:nvSpPr>
        <p:spPr>
          <a:xfrm>
            <a:off x="365760" y="27432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1100">
                <a:solidFill>
                  <a:srgbClr val="2A5C40"/>
                </a:solidFill>
                <a:latin typeface="DM Sans"/>
                <a:ea typeface="DM Sans"/>
                <a:cs typeface="DM Sans"/>
                <a:sym typeface="DM Sans"/>
              </a:rPr>
              <a:t>PUKAW · CONNECTION QUIZ</a:t>
            </a:r>
            <a:endParaRPr/>
          </a:p>
        </p:txBody>
      </p:sp>
      <p:sp>
        <p:nvSpPr>
          <p:cNvPr id="129" name="Google Shape;129;p5"/>
          <p:cNvSpPr txBox="1"/>
          <p:nvPr/>
        </p:nvSpPr>
        <p:spPr>
          <a:xfrm>
            <a:off x="457200" y="1073424"/>
            <a:ext cx="112471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4400">
                <a:solidFill>
                  <a:srgbClr val="1A1612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Sino ang Apat?</a:t>
            </a:r>
            <a:endParaRPr/>
          </a:p>
        </p:txBody>
      </p:sp>
      <p:sp>
        <p:nvSpPr>
          <p:cNvPr id="130" name="Google Shape;130;p5"/>
          <p:cNvSpPr txBox="1"/>
          <p:nvPr/>
        </p:nvSpPr>
        <p:spPr>
          <a:xfrm>
            <a:off x="457200" y="1987824"/>
            <a:ext cx="1124712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PH" sz="2000">
                <a:solidFill>
                  <a:srgbClr val="1A1612"/>
                </a:solidFill>
                <a:latin typeface="DM Sans"/>
                <a:ea typeface="DM Sans"/>
                <a:cs typeface="DM Sans"/>
                <a:sym typeface="DM Sans"/>
              </a:rPr>
              <a:t>Isulat ang pangalan sa bawat box:</a:t>
            </a:r>
            <a:endParaRPr/>
          </a:p>
        </p:txBody>
      </p:sp>
      <p:sp>
        <p:nvSpPr>
          <p:cNvPr id="131" name="Google Shape;131;p5"/>
          <p:cNvSpPr/>
          <p:nvPr/>
        </p:nvSpPr>
        <p:spPr>
          <a:xfrm>
            <a:off x="914400" y="2560320"/>
            <a:ext cx="4937760" cy="17373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0D4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5"/>
          <p:cNvSpPr txBox="1"/>
          <p:nvPr/>
        </p:nvSpPr>
        <p:spPr>
          <a:xfrm>
            <a:off x="1143000" y="2788920"/>
            <a:ext cx="45720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2200">
                <a:solidFill>
                  <a:srgbClr val="9A7820"/>
                </a:solidFill>
                <a:latin typeface="DM Sans"/>
                <a:ea typeface="DM Sans"/>
                <a:cs typeface="DM Sans"/>
                <a:sym typeface="DM Sans"/>
              </a:rPr>
              <a:t>BOX 1</a:t>
            </a:r>
            <a:endParaRPr sz="2200"/>
          </a:p>
        </p:txBody>
      </p:sp>
      <p:sp>
        <p:nvSpPr>
          <p:cNvPr id="133" name="Google Shape;133;p5"/>
          <p:cNvSpPr txBox="1"/>
          <p:nvPr/>
        </p:nvSpPr>
        <p:spPr>
          <a:xfrm>
            <a:off x="1143000" y="3246120"/>
            <a:ext cx="45720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2400">
                <a:solidFill>
                  <a:srgbClr val="1A1612"/>
                </a:solidFill>
                <a:latin typeface="DM Sans"/>
                <a:ea typeface="DM Sans"/>
                <a:cs typeface="DM Sans"/>
                <a:sym typeface="DM Sans"/>
              </a:rPr>
              <a:t>Nakatulong nang malaki sa spiritual growth mo.</a:t>
            </a:r>
            <a:endParaRPr/>
          </a:p>
        </p:txBody>
      </p:sp>
      <p:sp>
        <p:nvSpPr>
          <p:cNvPr id="134" name="Google Shape;134;p5"/>
          <p:cNvSpPr/>
          <p:nvPr/>
        </p:nvSpPr>
        <p:spPr>
          <a:xfrm>
            <a:off x="6355080" y="2560320"/>
            <a:ext cx="4937760" cy="17373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0D4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5"/>
          <p:cNvSpPr txBox="1"/>
          <p:nvPr/>
        </p:nvSpPr>
        <p:spPr>
          <a:xfrm>
            <a:off x="6583680" y="2788920"/>
            <a:ext cx="45720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2200">
                <a:solidFill>
                  <a:srgbClr val="9A7820"/>
                </a:solidFill>
                <a:latin typeface="DM Sans"/>
                <a:ea typeface="DM Sans"/>
                <a:cs typeface="DM Sans"/>
                <a:sym typeface="DM Sans"/>
              </a:rPr>
              <a:t>BOX 2</a:t>
            </a:r>
            <a:endParaRPr sz="2200"/>
          </a:p>
        </p:txBody>
      </p:sp>
      <p:sp>
        <p:nvSpPr>
          <p:cNvPr id="136" name="Google Shape;136;p5"/>
          <p:cNvSpPr txBox="1"/>
          <p:nvPr/>
        </p:nvSpPr>
        <p:spPr>
          <a:xfrm>
            <a:off x="6583680" y="3246120"/>
            <a:ext cx="45720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2400">
                <a:solidFill>
                  <a:srgbClr val="1A1612"/>
                </a:solidFill>
                <a:latin typeface="DM Sans"/>
                <a:ea typeface="DM Sans"/>
                <a:cs typeface="DM Sans"/>
                <a:sym typeface="DM Sans"/>
              </a:rPr>
              <a:t>Una mong tinatawagan kapag may problema ka.</a:t>
            </a:r>
            <a:endParaRPr/>
          </a:p>
        </p:txBody>
      </p:sp>
      <p:sp>
        <p:nvSpPr>
          <p:cNvPr id="137" name="Google Shape;137;p5"/>
          <p:cNvSpPr/>
          <p:nvPr/>
        </p:nvSpPr>
        <p:spPr>
          <a:xfrm>
            <a:off x="914400" y="4572000"/>
            <a:ext cx="4937760" cy="17373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0D4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5"/>
          <p:cNvSpPr txBox="1"/>
          <p:nvPr/>
        </p:nvSpPr>
        <p:spPr>
          <a:xfrm>
            <a:off x="1143000" y="4800600"/>
            <a:ext cx="45720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2200">
                <a:solidFill>
                  <a:srgbClr val="9A7820"/>
                </a:solidFill>
                <a:latin typeface="DM Sans"/>
                <a:ea typeface="DM Sans"/>
                <a:cs typeface="DM Sans"/>
                <a:sym typeface="DM Sans"/>
              </a:rPr>
              <a:t>BOX 3</a:t>
            </a:r>
            <a:endParaRPr sz="2200"/>
          </a:p>
        </p:txBody>
      </p:sp>
      <p:sp>
        <p:nvSpPr>
          <p:cNvPr id="139" name="Google Shape;139;p5"/>
          <p:cNvSpPr txBox="1"/>
          <p:nvPr/>
        </p:nvSpPr>
        <p:spPr>
          <a:xfrm>
            <a:off x="1143000" y="5257800"/>
            <a:ext cx="45720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2400">
                <a:solidFill>
                  <a:srgbClr val="1A1612"/>
                </a:solidFill>
                <a:latin typeface="DM Sans"/>
                <a:ea typeface="DM Sans"/>
                <a:cs typeface="DM Sans"/>
                <a:sym typeface="DM Sans"/>
              </a:rPr>
              <a:t>Pinakagusto mong kasama sa free time.</a:t>
            </a:r>
            <a:endParaRPr/>
          </a:p>
        </p:txBody>
      </p:sp>
      <p:sp>
        <p:nvSpPr>
          <p:cNvPr id="140" name="Google Shape;140;p5"/>
          <p:cNvSpPr/>
          <p:nvPr/>
        </p:nvSpPr>
        <p:spPr>
          <a:xfrm>
            <a:off x="6355080" y="4572000"/>
            <a:ext cx="4937760" cy="17373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0D4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5"/>
          <p:cNvSpPr txBox="1"/>
          <p:nvPr/>
        </p:nvSpPr>
        <p:spPr>
          <a:xfrm>
            <a:off x="6583680" y="4800600"/>
            <a:ext cx="45720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2200">
                <a:solidFill>
                  <a:srgbClr val="9A7820"/>
                </a:solidFill>
                <a:latin typeface="DM Sans"/>
                <a:ea typeface="DM Sans"/>
                <a:cs typeface="DM Sans"/>
                <a:sym typeface="DM Sans"/>
              </a:rPr>
              <a:t>BOX 4</a:t>
            </a:r>
            <a:endParaRPr sz="2200"/>
          </a:p>
        </p:txBody>
      </p:sp>
      <p:sp>
        <p:nvSpPr>
          <p:cNvPr id="142" name="Google Shape;142;p5"/>
          <p:cNvSpPr txBox="1"/>
          <p:nvPr/>
        </p:nvSpPr>
        <p:spPr>
          <a:xfrm>
            <a:off x="6583680" y="5257800"/>
            <a:ext cx="45720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2400">
                <a:solidFill>
                  <a:srgbClr val="1A1612"/>
                </a:solidFill>
                <a:latin typeface="DM Sans"/>
                <a:ea typeface="DM Sans"/>
                <a:cs typeface="DM Sans"/>
                <a:sym typeface="DM Sans"/>
              </a:rPr>
              <a:t>Taong naiimpluwensyahan mo o nakatingin sa'yo.</a:t>
            </a:r>
            <a:endParaRPr/>
          </a:p>
        </p:txBody>
      </p:sp>
      <p:sp>
        <p:nvSpPr>
          <p:cNvPr id="143" name="Google Shape;143;p5"/>
          <p:cNvSpPr/>
          <p:nvPr/>
        </p:nvSpPr>
        <p:spPr>
          <a:xfrm>
            <a:off x="8759952" y="137160"/>
            <a:ext cx="3200400" cy="548640"/>
          </a:xfrm>
          <a:prstGeom prst="roundRect">
            <a:avLst>
              <a:gd fmla="val 16667" name="adj"/>
            </a:avLst>
          </a:prstGeom>
          <a:solidFill>
            <a:srgbClr val="D4AF3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2000">
                <a:solidFill>
                  <a:srgbClr val="141628"/>
                </a:solidFill>
                <a:latin typeface="Calibri"/>
                <a:ea typeface="Calibri"/>
                <a:cs typeface="Calibri"/>
                <a:sym typeface="Calibri"/>
              </a:rPr>
              <a:t>⏱ 2.5 min · ⌛7:00</a:t>
            </a:r>
            <a:endParaRPr/>
          </a:p>
        </p:txBody>
      </p:sp>
      <p:sp>
        <p:nvSpPr>
          <p:cNvPr id="144" name="Google Shape;144;p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000">
                <a:solidFill>
                  <a:srgbClr val="B0A98F"/>
                </a:solidFill>
                <a:latin typeface="DM Sans"/>
                <a:ea typeface="DM Sans"/>
                <a:cs typeface="DM Sans"/>
                <a:sym typeface="DM Sans"/>
              </a:rPr>
              <a:t>5 / 23</a:t>
            </a:r>
            <a:endParaRPr/>
          </a:p>
        </p:txBody>
      </p:sp>
      <p:sp>
        <p:nvSpPr>
          <p:cNvPr id="145" name="Google Shape;145;p5"/>
          <p:cNvSpPr/>
          <p:nvPr/>
        </p:nvSpPr>
        <p:spPr>
          <a:xfrm>
            <a:off x="4590288" y="658368"/>
            <a:ext cx="3017520" cy="347472"/>
          </a:xfrm>
          <a:prstGeom prst="roundRect">
            <a:avLst>
              <a:gd fmla="val 16667" name="adj"/>
            </a:avLst>
          </a:prstGeom>
          <a:solidFill>
            <a:srgbClr val="D4A83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1300">
                <a:solidFill>
                  <a:srgbClr val="141628"/>
                </a:solidFill>
                <a:latin typeface="DM Sans"/>
                <a:ea typeface="DM Sans"/>
                <a:cs typeface="DM Sans"/>
                <a:sym typeface="DM Sans"/>
              </a:rPr>
              <a:t>📋 Participant Guide Question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2E3F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6"/>
          <p:cNvSpPr txBox="1"/>
          <p:nvPr/>
        </p:nvSpPr>
        <p:spPr>
          <a:xfrm>
            <a:off x="365760" y="27432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11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PUKAW · THREE WORDS</a:t>
            </a:r>
            <a:endParaRPr/>
          </a:p>
        </p:txBody>
      </p:sp>
      <p:sp>
        <p:nvSpPr>
          <p:cNvPr id="152" name="Google Shape;152;p6"/>
          <p:cNvSpPr txBox="1"/>
          <p:nvPr/>
        </p:nvSpPr>
        <p:spPr>
          <a:xfrm>
            <a:off x="914400" y="1371600"/>
            <a:ext cx="103326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PH" sz="33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"Kunwari, gumising ka isang araw at biglang WALA na ang lahat ng mga taong ito sa buhay mo…"</a:t>
            </a:r>
            <a:endParaRPr sz="2300"/>
          </a:p>
        </p:txBody>
      </p:sp>
      <p:sp>
        <p:nvSpPr>
          <p:cNvPr id="153" name="Google Shape;153;p6"/>
          <p:cNvSpPr txBox="1"/>
          <p:nvPr/>
        </p:nvSpPr>
        <p:spPr>
          <a:xfrm>
            <a:off x="457200" y="4082527"/>
            <a:ext cx="11247000" cy="8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5200">
                <a:solidFill>
                  <a:srgbClr val="F0C64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3 salita lang.</a:t>
            </a:r>
            <a:endParaRPr/>
          </a:p>
        </p:txBody>
      </p:sp>
      <p:sp>
        <p:nvSpPr>
          <p:cNvPr id="154" name="Google Shape;154;p6"/>
          <p:cNvSpPr txBox="1"/>
          <p:nvPr/>
        </p:nvSpPr>
        <p:spPr>
          <a:xfrm>
            <a:off x="457200" y="3063873"/>
            <a:ext cx="11247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28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Ano ang mararamdaman mo?</a:t>
            </a:r>
            <a:endParaRPr sz="2200"/>
          </a:p>
        </p:txBody>
      </p:sp>
      <p:sp>
        <p:nvSpPr>
          <p:cNvPr id="155" name="Google Shape;155;p6"/>
          <p:cNvSpPr/>
          <p:nvPr/>
        </p:nvSpPr>
        <p:spPr>
          <a:xfrm>
            <a:off x="8759952" y="137160"/>
            <a:ext cx="3200400" cy="548640"/>
          </a:xfrm>
          <a:prstGeom prst="roundRect">
            <a:avLst>
              <a:gd fmla="val 16667" name="adj"/>
            </a:avLst>
          </a:prstGeom>
          <a:solidFill>
            <a:srgbClr val="D4AF3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2000">
                <a:solidFill>
                  <a:srgbClr val="141628"/>
                </a:solidFill>
                <a:latin typeface="Calibri"/>
                <a:ea typeface="Calibri"/>
                <a:cs typeface="Calibri"/>
                <a:sym typeface="Calibri"/>
              </a:rPr>
              <a:t>⏱ 1 min · ⌛8:00</a:t>
            </a:r>
            <a:endParaRPr/>
          </a:p>
        </p:txBody>
      </p:sp>
      <p:sp>
        <p:nvSpPr>
          <p:cNvPr id="156" name="Google Shape;156;p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000">
                <a:solidFill>
                  <a:srgbClr val="B0A98F"/>
                </a:solidFill>
                <a:latin typeface="DM Sans"/>
                <a:ea typeface="DM Sans"/>
                <a:cs typeface="DM Sans"/>
                <a:sym typeface="DM Sans"/>
              </a:rPr>
              <a:t>6 / 23</a:t>
            </a:r>
            <a:endParaRPr/>
          </a:p>
        </p:txBody>
      </p:sp>
      <p:sp>
        <p:nvSpPr>
          <p:cNvPr id="157" name="Google Shape;157;p6"/>
          <p:cNvSpPr/>
          <p:nvPr/>
        </p:nvSpPr>
        <p:spPr>
          <a:xfrm>
            <a:off x="4590288" y="658368"/>
            <a:ext cx="3017520" cy="347472"/>
          </a:xfrm>
          <a:prstGeom prst="roundRect">
            <a:avLst>
              <a:gd fmla="val 16667" name="adj"/>
            </a:avLst>
          </a:prstGeom>
          <a:solidFill>
            <a:srgbClr val="D4A83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1300">
                <a:solidFill>
                  <a:srgbClr val="141628"/>
                </a:solidFill>
                <a:latin typeface="DM Sans"/>
                <a:ea typeface="DM Sans"/>
                <a:cs typeface="DM Sans"/>
                <a:sym typeface="DM Sans"/>
              </a:rPr>
              <a:t>📋 Participant Guide Question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5A4818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7"/>
          <p:cNvSpPr txBox="1"/>
          <p:nvPr/>
        </p:nvSpPr>
        <p:spPr>
          <a:xfrm>
            <a:off x="365760" y="27432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11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TUKLAS · BIG IDEA</a:t>
            </a:r>
            <a:endParaRPr/>
          </a:p>
        </p:txBody>
      </p:sp>
      <p:sp>
        <p:nvSpPr>
          <p:cNvPr id="164" name="Google Shape;164;p7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1400">
                <a:solidFill>
                  <a:srgbClr val="F0C64A"/>
                </a:solidFill>
                <a:latin typeface="DM Sans"/>
                <a:ea typeface="DM Sans"/>
                <a:cs typeface="DM Sans"/>
                <a:sym typeface="DM Sans"/>
              </a:rPr>
              <a:t>BIG IDEA</a:t>
            </a:r>
            <a:endParaRPr/>
          </a:p>
        </p:txBody>
      </p:sp>
      <p:sp>
        <p:nvSpPr>
          <p:cNvPr id="165" name="Google Shape;165;p7"/>
          <p:cNvSpPr txBox="1"/>
          <p:nvPr/>
        </p:nvSpPr>
        <p:spPr>
          <a:xfrm>
            <a:off x="457200" y="1828800"/>
            <a:ext cx="11247000" cy="237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PH" sz="3700">
                <a:solidFill>
                  <a:srgbClr val="FDF6E8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"Ang Christian fellowship ay hindi club membership —</a:t>
            </a:r>
            <a:endParaRPr sz="15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PH" sz="3700">
                <a:solidFill>
                  <a:srgbClr val="FDF6E8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ito ay shared bloodline kay Cristo na nagdudulot ng</a:t>
            </a:r>
            <a:endParaRPr sz="15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PH" sz="3700">
                <a:solidFill>
                  <a:srgbClr val="FFFF00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shared</a:t>
            </a:r>
            <a:r>
              <a:rPr b="1" i="1" lang="en-PH" sz="3700">
                <a:solidFill>
                  <a:srgbClr val="FDF6E8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 life, </a:t>
            </a:r>
            <a:r>
              <a:rPr b="1" i="1" lang="en-PH" sz="3700">
                <a:solidFill>
                  <a:srgbClr val="FFFF00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shared</a:t>
            </a:r>
            <a:r>
              <a:rPr b="1" i="1" lang="en-PH" sz="3700">
                <a:solidFill>
                  <a:srgbClr val="FDF6E8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 sufferings, at </a:t>
            </a:r>
            <a:r>
              <a:rPr b="1" i="1" lang="en-PH" sz="3700">
                <a:solidFill>
                  <a:srgbClr val="FFFF00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shared</a:t>
            </a:r>
            <a:r>
              <a:rPr b="1" i="1" lang="en-PH" sz="3700">
                <a:solidFill>
                  <a:srgbClr val="FDF6E8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 sanctity."</a:t>
            </a:r>
            <a:endParaRPr sz="1500"/>
          </a:p>
        </p:txBody>
      </p:sp>
      <p:sp>
        <p:nvSpPr>
          <p:cNvPr id="166" name="Google Shape;166;p7"/>
          <p:cNvSpPr/>
          <p:nvPr/>
        </p:nvSpPr>
        <p:spPr>
          <a:xfrm>
            <a:off x="8759952" y="137160"/>
            <a:ext cx="3200400" cy="548640"/>
          </a:xfrm>
          <a:prstGeom prst="roundRect">
            <a:avLst>
              <a:gd fmla="val 16667" name="adj"/>
            </a:avLst>
          </a:prstGeom>
          <a:solidFill>
            <a:srgbClr val="D4AF3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2000">
                <a:solidFill>
                  <a:srgbClr val="141628"/>
                </a:solidFill>
                <a:latin typeface="Calibri"/>
                <a:ea typeface="Calibri"/>
                <a:cs typeface="Calibri"/>
                <a:sym typeface="Calibri"/>
              </a:rPr>
              <a:t>⏱ 1.5 min · ⌛9:30</a:t>
            </a:r>
            <a:endParaRPr/>
          </a:p>
        </p:txBody>
      </p:sp>
      <p:sp>
        <p:nvSpPr>
          <p:cNvPr id="167" name="Google Shape;167;p7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000">
                <a:solidFill>
                  <a:srgbClr val="B0A98F"/>
                </a:solidFill>
                <a:latin typeface="DM Sans"/>
                <a:ea typeface="DM Sans"/>
                <a:cs typeface="DM Sans"/>
                <a:sym typeface="DM Sans"/>
              </a:rPr>
              <a:t>7 / 23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2E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8"/>
          <p:cNvSpPr txBox="1"/>
          <p:nvPr/>
        </p:nvSpPr>
        <p:spPr>
          <a:xfrm>
            <a:off x="365760" y="27432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11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TUKLAS · GREEK ANCHOR</a:t>
            </a:r>
            <a:endParaRPr/>
          </a:p>
        </p:txBody>
      </p:sp>
      <p:sp>
        <p:nvSpPr>
          <p:cNvPr id="174" name="Google Shape;174;p8"/>
          <p:cNvSpPr txBox="1"/>
          <p:nvPr/>
        </p:nvSpPr>
        <p:spPr>
          <a:xfrm>
            <a:off x="457200" y="822960"/>
            <a:ext cx="112470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2300">
                <a:solidFill>
                  <a:srgbClr val="F0C64A"/>
                </a:solidFill>
                <a:latin typeface="DM Sans"/>
                <a:ea typeface="DM Sans"/>
                <a:cs typeface="DM Sans"/>
                <a:sym typeface="DM Sans"/>
              </a:rPr>
              <a:t>GREEK WORD</a:t>
            </a:r>
            <a:endParaRPr sz="2400"/>
          </a:p>
        </p:txBody>
      </p:sp>
      <p:sp>
        <p:nvSpPr>
          <p:cNvPr id="175" name="Google Shape;175;p8"/>
          <p:cNvSpPr txBox="1"/>
          <p:nvPr/>
        </p:nvSpPr>
        <p:spPr>
          <a:xfrm>
            <a:off x="457200" y="1371600"/>
            <a:ext cx="1124712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10000">
                <a:solidFill>
                  <a:srgbClr val="F0C64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Koinonia</a:t>
            </a:r>
            <a:endParaRPr/>
          </a:p>
        </p:txBody>
      </p:sp>
      <p:sp>
        <p:nvSpPr>
          <p:cNvPr id="176" name="Google Shape;176;p8"/>
          <p:cNvSpPr txBox="1"/>
          <p:nvPr/>
        </p:nvSpPr>
        <p:spPr>
          <a:xfrm>
            <a:off x="457200" y="3303768"/>
            <a:ext cx="11247120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PH" sz="280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deep sharing · partnership · mutual participation</a:t>
            </a:r>
            <a:endParaRPr/>
          </a:p>
        </p:txBody>
      </p:sp>
      <p:sp>
        <p:nvSpPr>
          <p:cNvPr id="177" name="Google Shape;177;p8"/>
          <p:cNvSpPr txBox="1"/>
          <p:nvPr/>
        </p:nvSpPr>
        <p:spPr>
          <a:xfrm>
            <a:off x="1371600" y="4114800"/>
            <a:ext cx="9418320" cy="954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28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Hindi salu-salo. Hindi tsismisan. Ito ang qualidad ng relasyon sa loob ng katawan ni Cristo.</a:t>
            </a:r>
            <a:endParaRPr/>
          </a:p>
        </p:txBody>
      </p:sp>
      <p:sp>
        <p:nvSpPr>
          <p:cNvPr id="178" name="Google Shape;178;p8"/>
          <p:cNvSpPr/>
          <p:nvPr/>
        </p:nvSpPr>
        <p:spPr>
          <a:xfrm>
            <a:off x="8759952" y="137160"/>
            <a:ext cx="3200400" cy="548640"/>
          </a:xfrm>
          <a:prstGeom prst="roundRect">
            <a:avLst>
              <a:gd fmla="val 16667" name="adj"/>
            </a:avLst>
          </a:prstGeom>
          <a:solidFill>
            <a:srgbClr val="D4AF3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2000">
                <a:solidFill>
                  <a:srgbClr val="141628"/>
                </a:solidFill>
                <a:latin typeface="Calibri"/>
                <a:ea typeface="Calibri"/>
                <a:cs typeface="Calibri"/>
                <a:sym typeface="Calibri"/>
              </a:rPr>
              <a:t>⏱ 2.5 min · ⌛12:00</a:t>
            </a:r>
            <a:endParaRPr/>
          </a:p>
        </p:txBody>
      </p:sp>
      <p:sp>
        <p:nvSpPr>
          <p:cNvPr id="179" name="Google Shape;179;p8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000">
                <a:solidFill>
                  <a:srgbClr val="B0A98F"/>
                </a:solidFill>
                <a:latin typeface="DM Sans"/>
                <a:ea typeface="DM Sans"/>
                <a:cs typeface="DM Sans"/>
                <a:sym typeface="DM Sans"/>
              </a:rPr>
              <a:t>8 / 23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6E8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9"/>
          <p:cNvSpPr txBox="1"/>
          <p:nvPr/>
        </p:nvSpPr>
        <p:spPr>
          <a:xfrm>
            <a:off x="365760" y="27432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1100">
                <a:solidFill>
                  <a:srgbClr val="2A5C40"/>
                </a:solidFill>
                <a:latin typeface="DM Sans"/>
                <a:ea typeface="DM Sans"/>
                <a:cs typeface="DM Sans"/>
                <a:sym typeface="DM Sans"/>
              </a:rPr>
              <a:t>TUKLAS · FRAMEWORK</a:t>
            </a:r>
            <a:endParaRPr/>
          </a:p>
        </p:txBody>
      </p:sp>
      <p:sp>
        <p:nvSpPr>
          <p:cNvPr id="186" name="Google Shape;186;p9"/>
          <p:cNvSpPr txBox="1"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4000">
                <a:solidFill>
                  <a:srgbClr val="1A1612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Apat na Antas ng Koinonia</a:t>
            </a:r>
            <a:endParaRPr/>
          </a:p>
        </p:txBody>
      </p:sp>
      <p:sp>
        <p:nvSpPr>
          <p:cNvPr id="187" name="Google Shape;187;p9"/>
          <p:cNvSpPr txBox="1"/>
          <p:nvPr/>
        </p:nvSpPr>
        <p:spPr>
          <a:xfrm>
            <a:off x="457200" y="1691640"/>
            <a:ext cx="112470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PH" sz="2200">
                <a:solidFill>
                  <a:srgbClr val="6A706A"/>
                </a:solidFill>
                <a:latin typeface="DM Sans"/>
                <a:ea typeface="DM Sans"/>
                <a:cs typeface="DM Sans"/>
                <a:sym typeface="DM Sans"/>
              </a:rPr>
              <a:t>Ang 4-K ng biblical fellowship:</a:t>
            </a:r>
            <a:endParaRPr sz="2000"/>
          </a:p>
        </p:txBody>
      </p:sp>
      <p:sp>
        <p:nvSpPr>
          <p:cNvPr id="188" name="Google Shape;188;p9"/>
          <p:cNvSpPr/>
          <p:nvPr/>
        </p:nvSpPr>
        <p:spPr>
          <a:xfrm>
            <a:off x="914400" y="2286000"/>
            <a:ext cx="73152" cy="1874519"/>
          </a:xfrm>
          <a:prstGeom prst="rect">
            <a:avLst/>
          </a:prstGeom>
          <a:solidFill>
            <a:srgbClr val="2A5C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9"/>
          <p:cNvSpPr/>
          <p:nvPr/>
        </p:nvSpPr>
        <p:spPr>
          <a:xfrm>
            <a:off x="987550" y="2286000"/>
            <a:ext cx="4864500" cy="1974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0D4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9"/>
          <p:cNvSpPr txBox="1"/>
          <p:nvPr/>
        </p:nvSpPr>
        <p:spPr>
          <a:xfrm>
            <a:off x="1188720" y="2468880"/>
            <a:ext cx="45720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2200">
                <a:solidFill>
                  <a:srgbClr val="9A7820"/>
                </a:solidFill>
                <a:latin typeface="DM Sans"/>
                <a:ea typeface="DM Sans"/>
                <a:cs typeface="DM Sans"/>
                <a:sym typeface="DM Sans"/>
              </a:rPr>
              <a:t>1 — FAMILY TIE</a:t>
            </a:r>
            <a:endParaRPr sz="2000"/>
          </a:p>
        </p:txBody>
      </p:sp>
      <p:sp>
        <p:nvSpPr>
          <p:cNvPr id="191" name="Google Shape;191;p9"/>
          <p:cNvSpPr txBox="1"/>
          <p:nvPr/>
        </p:nvSpPr>
        <p:spPr>
          <a:xfrm>
            <a:off x="1188720" y="2834640"/>
            <a:ext cx="45720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3000">
                <a:solidFill>
                  <a:srgbClr val="2A5C40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Kapamilya at Kapatid</a:t>
            </a:r>
            <a:endParaRPr sz="2000"/>
          </a:p>
        </p:txBody>
      </p:sp>
      <p:sp>
        <p:nvSpPr>
          <p:cNvPr id="192" name="Google Shape;192;p9"/>
          <p:cNvSpPr txBox="1"/>
          <p:nvPr/>
        </p:nvSpPr>
        <p:spPr>
          <a:xfrm>
            <a:off x="1188720" y="3429000"/>
            <a:ext cx="45720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2400">
                <a:solidFill>
                  <a:srgbClr val="1A1612"/>
                </a:solidFill>
                <a:latin typeface="DM Sans"/>
                <a:ea typeface="DM Sans"/>
                <a:cs typeface="DM Sans"/>
                <a:sym typeface="DM Sans"/>
              </a:rPr>
              <a:t>Iisang Ama, iisang Espiritu Santo, iisang dugo ni Cristo.</a:t>
            </a:r>
            <a:endParaRPr sz="2000"/>
          </a:p>
        </p:txBody>
      </p:sp>
      <p:sp>
        <p:nvSpPr>
          <p:cNvPr id="193" name="Google Shape;193;p9"/>
          <p:cNvSpPr/>
          <p:nvPr/>
        </p:nvSpPr>
        <p:spPr>
          <a:xfrm>
            <a:off x="6355080" y="2286000"/>
            <a:ext cx="73152" cy="1874519"/>
          </a:xfrm>
          <a:prstGeom prst="rect">
            <a:avLst/>
          </a:prstGeom>
          <a:solidFill>
            <a:srgbClr val="2A5C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9"/>
          <p:cNvSpPr/>
          <p:nvPr/>
        </p:nvSpPr>
        <p:spPr>
          <a:xfrm>
            <a:off x="6428225" y="2286000"/>
            <a:ext cx="4864500" cy="1974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0D4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9"/>
          <p:cNvSpPr txBox="1"/>
          <p:nvPr/>
        </p:nvSpPr>
        <p:spPr>
          <a:xfrm>
            <a:off x="6629400" y="2468880"/>
            <a:ext cx="45720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2200">
                <a:solidFill>
                  <a:srgbClr val="9A7820"/>
                </a:solidFill>
                <a:latin typeface="DM Sans"/>
                <a:ea typeface="DM Sans"/>
                <a:cs typeface="DM Sans"/>
                <a:sym typeface="DM Sans"/>
              </a:rPr>
              <a:t>2 — UNITY OF HEART</a:t>
            </a:r>
            <a:endParaRPr sz="2000"/>
          </a:p>
        </p:txBody>
      </p:sp>
      <p:sp>
        <p:nvSpPr>
          <p:cNvPr id="196" name="Google Shape;196;p9"/>
          <p:cNvSpPr txBox="1"/>
          <p:nvPr/>
        </p:nvSpPr>
        <p:spPr>
          <a:xfrm>
            <a:off x="6629400" y="2834640"/>
            <a:ext cx="45720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3000">
                <a:solidFill>
                  <a:srgbClr val="2A5C40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Kapuso</a:t>
            </a:r>
            <a:endParaRPr sz="2000"/>
          </a:p>
        </p:txBody>
      </p:sp>
      <p:sp>
        <p:nvSpPr>
          <p:cNvPr id="197" name="Google Shape;197;p9"/>
          <p:cNvSpPr txBox="1"/>
          <p:nvPr/>
        </p:nvSpPr>
        <p:spPr>
          <a:xfrm>
            <a:off x="6629400" y="3429000"/>
            <a:ext cx="45720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2400">
                <a:solidFill>
                  <a:srgbClr val="1A1612"/>
                </a:solidFill>
                <a:latin typeface="DM Sans"/>
                <a:ea typeface="DM Sans"/>
                <a:cs typeface="DM Sans"/>
                <a:sym typeface="DM Sans"/>
              </a:rPr>
              <a:t>Iisang layunin, pananaw, at core values.</a:t>
            </a:r>
            <a:endParaRPr sz="2000"/>
          </a:p>
        </p:txBody>
      </p:sp>
      <p:sp>
        <p:nvSpPr>
          <p:cNvPr id="198" name="Google Shape;198;p9"/>
          <p:cNvSpPr/>
          <p:nvPr/>
        </p:nvSpPr>
        <p:spPr>
          <a:xfrm>
            <a:off x="914400" y="4434840"/>
            <a:ext cx="73152" cy="1874519"/>
          </a:xfrm>
          <a:prstGeom prst="rect">
            <a:avLst/>
          </a:prstGeom>
          <a:solidFill>
            <a:srgbClr val="2A5C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9"/>
          <p:cNvSpPr/>
          <p:nvPr/>
        </p:nvSpPr>
        <p:spPr>
          <a:xfrm>
            <a:off x="987550" y="4434851"/>
            <a:ext cx="4864500" cy="1974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0D4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9"/>
          <p:cNvSpPr txBox="1"/>
          <p:nvPr/>
        </p:nvSpPr>
        <p:spPr>
          <a:xfrm>
            <a:off x="1188720" y="4617720"/>
            <a:ext cx="45720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2200">
                <a:solidFill>
                  <a:srgbClr val="9A7820"/>
                </a:solidFill>
                <a:latin typeface="DM Sans"/>
                <a:ea typeface="DM Sans"/>
                <a:cs typeface="DM Sans"/>
                <a:sym typeface="DM Sans"/>
              </a:rPr>
              <a:t>3 — CO-SUFFERING</a:t>
            </a:r>
            <a:endParaRPr sz="2000"/>
          </a:p>
        </p:txBody>
      </p:sp>
      <p:sp>
        <p:nvSpPr>
          <p:cNvPr id="201" name="Google Shape;201;p9"/>
          <p:cNvSpPr txBox="1"/>
          <p:nvPr/>
        </p:nvSpPr>
        <p:spPr>
          <a:xfrm>
            <a:off x="1188720" y="4983479"/>
            <a:ext cx="45720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3000">
                <a:solidFill>
                  <a:srgbClr val="2A5C40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Karamay</a:t>
            </a:r>
            <a:endParaRPr sz="2000"/>
          </a:p>
        </p:txBody>
      </p:sp>
      <p:sp>
        <p:nvSpPr>
          <p:cNvPr id="202" name="Google Shape;202;p9"/>
          <p:cNvSpPr txBox="1"/>
          <p:nvPr/>
        </p:nvSpPr>
        <p:spPr>
          <a:xfrm>
            <a:off x="1188720" y="5577840"/>
            <a:ext cx="45720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2400">
                <a:solidFill>
                  <a:srgbClr val="1A1612"/>
                </a:solidFill>
                <a:latin typeface="DM Sans"/>
                <a:ea typeface="DM Sans"/>
                <a:cs typeface="DM Sans"/>
                <a:sym typeface="DM Sans"/>
              </a:rPr>
              <a:t>Pakikibahagi sa hirap muna, bago materyal.</a:t>
            </a:r>
            <a:endParaRPr sz="2000"/>
          </a:p>
        </p:txBody>
      </p:sp>
      <p:sp>
        <p:nvSpPr>
          <p:cNvPr id="203" name="Google Shape;203;p9"/>
          <p:cNvSpPr/>
          <p:nvPr/>
        </p:nvSpPr>
        <p:spPr>
          <a:xfrm>
            <a:off x="6355080" y="4434840"/>
            <a:ext cx="73152" cy="1874519"/>
          </a:xfrm>
          <a:prstGeom prst="rect">
            <a:avLst/>
          </a:prstGeom>
          <a:solidFill>
            <a:srgbClr val="2A5C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9"/>
          <p:cNvSpPr/>
          <p:nvPr/>
        </p:nvSpPr>
        <p:spPr>
          <a:xfrm>
            <a:off x="6428225" y="4434851"/>
            <a:ext cx="4864500" cy="1974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0D4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9"/>
          <p:cNvSpPr txBox="1"/>
          <p:nvPr/>
        </p:nvSpPr>
        <p:spPr>
          <a:xfrm>
            <a:off x="6629400" y="4617720"/>
            <a:ext cx="45720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2200">
                <a:solidFill>
                  <a:srgbClr val="9A7820"/>
                </a:solidFill>
                <a:latin typeface="DM Sans"/>
                <a:ea typeface="DM Sans"/>
                <a:cs typeface="DM Sans"/>
                <a:sym typeface="DM Sans"/>
              </a:rPr>
              <a:t>4 — MUTUAL PROTECTION</a:t>
            </a:r>
            <a:endParaRPr sz="2000"/>
          </a:p>
        </p:txBody>
      </p:sp>
      <p:sp>
        <p:nvSpPr>
          <p:cNvPr id="206" name="Google Shape;206;p9"/>
          <p:cNvSpPr txBox="1"/>
          <p:nvPr/>
        </p:nvSpPr>
        <p:spPr>
          <a:xfrm>
            <a:off x="6629400" y="4983479"/>
            <a:ext cx="45720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3000">
                <a:solidFill>
                  <a:srgbClr val="2A5C40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Kabantayan</a:t>
            </a:r>
            <a:endParaRPr sz="2000"/>
          </a:p>
        </p:txBody>
      </p:sp>
      <p:sp>
        <p:nvSpPr>
          <p:cNvPr id="207" name="Google Shape;207;p9"/>
          <p:cNvSpPr txBox="1"/>
          <p:nvPr/>
        </p:nvSpPr>
        <p:spPr>
          <a:xfrm>
            <a:off x="6629400" y="5577840"/>
            <a:ext cx="45720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2400">
                <a:solidFill>
                  <a:srgbClr val="1A1612"/>
                </a:solidFill>
                <a:latin typeface="DM Sans"/>
                <a:ea typeface="DM Sans"/>
                <a:cs typeface="DM Sans"/>
                <a:sym typeface="DM Sans"/>
              </a:rPr>
              <a:t>Biblical kumpisalan laban sa tukso.</a:t>
            </a:r>
            <a:endParaRPr sz="2000"/>
          </a:p>
        </p:txBody>
      </p:sp>
      <p:sp>
        <p:nvSpPr>
          <p:cNvPr id="208" name="Google Shape;208;p9"/>
          <p:cNvSpPr/>
          <p:nvPr/>
        </p:nvSpPr>
        <p:spPr>
          <a:xfrm>
            <a:off x="8759952" y="137160"/>
            <a:ext cx="3200400" cy="548640"/>
          </a:xfrm>
          <a:prstGeom prst="roundRect">
            <a:avLst>
              <a:gd fmla="val 16667" name="adj"/>
            </a:avLst>
          </a:prstGeom>
          <a:solidFill>
            <a:srgbClr val="D4AF3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2000">
                <a:solidFill>
                  <a:srgbClr val="141628"/>
                </a:solidFill>
                <a:latin typeface="Calibri"/>
                <a:ea typeface="Calibri"/>
                <a:cs typeface="Calibri"/>
                <a:sym typeface="Calibri"/>
              </a:rPr>
              <a:t>⏱ 2 min · ⌛14:00</a:t>
            </a:r>
            <a:endParaRPr/>
          </a:p>
        </p:txBody>
      </p:sp>
      <p:sp>
        <p:nvSpPr>
          <p:cNvPr id="209" name="Google Shape;209;p9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000">
                <a:solidFill>
                  <a:srgbClr val="B0A98F"/>
                </a:solidFill>
                <a:latin typeface="DM Sans"/>
                <a:ea typeface="DM Sans"/>
                <a:cs typeface="DM Sans"/>
                <a:sym typeface="DM Sans"/>
              </a:rPr>
              <a:t>9 / 23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4830"/>
        </a:solidFill>
      </p:bgPr>
    </p:bg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0"/>
          <p:cNvSpPr txBox="1"/>
          <p:nvPr/>
        </p:nvSpPr>
        <p:spPr>
          <a:xfrm>
            <a:off x="365760" y="27432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11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TUKLAS · K1 + K2</a:t>
            </a:r>
            <a:endParaRPr/>
          </a:p>
        </p:txBody>
      </p:sp>
      <p:sp>
        <p:nvSpPr>
          <p:cNvPr id="216" name="Google Shape;216;p10"/>
          <p:cNvSpPr/>
          <p:nvPr/>
        </p:nvSpPr>
        <p:spPr>
          <a:xfrm>
            <a:off x="731520" y="1828800"/>
            <a:ext cx="73152" cy="3931920"/>
          </a:xfrm>
          <a:prstGeom prst="rect">
            <a:avLst/>
          </a:prstGeom>
          <a:solidFill>
            <a:srgbClr val="D4A8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0"/>
          <p:cNvSpPr/>
          <p:nvPr/>
        </p:nvSpPr>
        <p:spPr>
          <a:xfrm>
            <a:off x="804672" y="1828800"/>
            <a:ext cx="5138928" cy="3931920"/>
          </a:xfrm>
          <a:prstGeom prst="rect">
            <a:avLst/>
          </a:prstGeom>
          <a:solidFill>
            <a:srgbClr val="1A3A2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0"/>
          <p:cNvSpPr txBox="1"/>
          <p:nvPr/>
        </p:nvSpPr>
        <p:spPr>
          <a:xfrm>
            <a:off x="1005840" y="2057400"/>
            <a:ext cx="4937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2000">
                <a:solidFill>
                  <a:srgbClr val="F0C64A"/>
                </a:solidFill>
                <a:latin typeface="DM Sans"/>
                <a:ea typeface="DM Sans"/>
                <a:cs typeface="DM Sans"/>
                <a:sym typeface="DM Sans"/>
              </a:rPr>
              <a:t>1 — KAPAMILYA AT KAPATID</a:t>
            </a:r>
            <a:endParaRPr sz="1800"/>
          </a:p>
        </p:txBody>
      </p:sp>
      <p:sp>
        <p:nvSpPr>
          <p:cNvPr id="219" name="Google Shape;219;p10"/>
          <p:cNvSpPr txBox="1"/>
          <p:nvPr/>
        </p:nvSpPr>
        <p:spPr>
          <a:xfrm>
            <a:off x="1005840" y="2468880"/>
            <a:ext cx="4937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260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Family Tie</a:t>
            </a:r>
            <a:endParaRPr sz="1800"/>
          </a:p>
        </p:txBody>
      </p:sp>
      <p:sp>
        <p:nvSpPr>
          <p:cNvPr id="220" name="Google Shape;220;p10"/>
          <p:cNvSpPr txBox="1"/>
          <p:nvPr/>
        </p:nvSpPr>
        <p:spPr>
          <a:xfrm>
            <a:off x="1005840" y="3108960"/>
            <a:ext cx="49377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24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Ipinanganak tayo sa iisang pamilya ng Dios sa pamamagitan ng dugo ni Cristo.</a:t>
            </a:r>
            <a:endParaRPr sz="1800"/>
          </a:p>
        </p:txBody>
      </p:sp>
      <p:sp>
        <p:nvSpPr>
          <p:cNvPr id="221" name="Google Shape;221;p10"/>
          <p:cNvSpPr txBox="1"/>
          <p:nvPr/>
        </p:nvSpPr>
        <p:spPr>
          <a:xfrm>
            <a:off x="1005840" y="4526280"/>
            <a:ext cx="49377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PH" sz="2200">
                <a:solidFill>
                  <a:srgbClr val="F0C64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"Sila'y nanatili sa itinuro ng mga apostol, sa pagsasama-sama bilang magkakapatid…"  — Gawa 2:42</a:t>
            </a:r>
            <a:endParaRPr sz="1800"/>
          </a:p>
        </p:txBody>
      </p:sp>
      <p:sp>
        <p:nvSpPr>
          <p:cNvPr id="222" name="Google Shape;222;p10"/>
          <p:cNvSpPr/>
          <p:nvPr/>
        </p:nvSpPr>
        <p:spPr>
          <a:xfrm>
            <a:off x="6263640" y="1828800"/>
            <a:ext cx="73152" cy="3931920"/>
          </a:xfrm>
          <a:prstGeom prst="rect">
            <a:avLst/>
          </a:prstGeom>
          <a:solidFill>
            <a:srgbClr val="D4A8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0"/>
          <p:cNvSpPr/>
          <p:nvPr/>
        </p:nvSpPr>
        <p:spPr>
          <a:xfrm>
            <a:off x="6336792" y="1828800"/>
            <a:ext cx="5138928" cy="3931920"/>
          </a:xfrm>
          <a:prstGeom prst="rect">
            <a:avLst/>
          </a:prstGeom>
          <a:solidFill>
            <a:srgbClr val="1A3A2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0"/>
          <p:cNvSpPr txBox="1"/>
          <p:nvPr/>
        </p:nvSpPr>
        <p:spPr>
          <a:xfrm>
            <a:off x="6537959" y="2057400"/>
            <a:ext cx="4937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2000">
                <a:solidFill>
                  <a:srgbClr val="F0C64A"/>
                </a:solidFill>
                <a:latin typeface="DM Sans"/>
                <a:ea typeface="DM Sans"/>
                <a:cs typeface="DM Sans"/>
                <a:sym typeface="DM Sans"/>
              </a:rPr>
              <a:t>2 — KAPUSO</a:t>
            </a:r>
            <a:endParaRPr sz="1800"/>
          </a:p>
        </p:txBody>
      </p:sp>
      <p:sp>
        <p:nvSpPr>
          <p:cNvPr id="225" name="Google Shape;225;p10"/>
          <p:cNvSpPr txBox="1"/>
          <p:nvPr/>
        </p:nvSpPr>
        <p:spPr>
          <a:xfrm>
            <a:off x="6537959" y="2468880"/>
            <a:ext cx="4937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260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Unity of Heart</a:t>
            </a:r>
            <a:endParaRPr sz="1800"/>
          </a:p>
        </p:txBody>
      </p:sp>
      <p:sp>
        <p:nvSpPr>
          <p:cNvPr id="226" name="Google Shape;226;p10"/>
          <p:cNvSpPr txBox="1"/>
          <p:nvPr/>
        </p:nvSpPr>
        <p:spPr>
          <a:xfrm>
            <a:off x="6537959" y="3108960"/>
            <a:ext cx="49377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24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Hindi lang pagkakasundo — iisang puso, isipan, at direksyon.</a:t>
            </a:r>
            <a:endParaRPr sz="1800"/>
          </a:p>
        </p:txBody>
      </p:sp>
      <p:sp>
        <p:nvSpPr>
          <p:cNvPr id="227" name="Google Shape;227;p10"/>
          <p:cNvSpPr txBox="1"/>
          <p:nvPr/>
        </p:nvSpPr>
        <p:spPr>
          <a:xfrm>
            <a:off x="6537959" y="4526280"/>
            <a:ext cx="49377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PH" sz="2200">
                <a:solidFill>
                  <a:srgbClr val="F0C64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"Nagkakaisa ang puso at isipan ng buong samahan ng mga nanampalataya…"  — Gawa 4:32</a:t>
            </a:r>
            <a:endParaRPr sz="1800"/>
          </a:p>
        </p:txBody>
      </p:sp>
      <p:sp>
        <p:nvSpPr>
          <p:cNvPr id="228" name="Google Shape;228;p10"/>
          <p:cNvSpPr/>
          <p:nvPr/>
        </p:nvSpPr>
        <p:spPr>
          <a:xfrm>
            <a:off x="8759952" y="137160"/>
            <a:ext cx="3200400" cy="548640"/>
          </a:xfrm>
          <a:prstGeom prst="roundRect">
            <a:avLst>
              <a:gd fmla="val 16667" name="adj"/>
            </a:avLst>
          </a:prstGeom>
          <a:solidFill>
            <a:srgbClr val="D4AF3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2000">
                <a:solidFill>
                  <a:srgbClr val="141628"/>
                </a:solidFill>
                <a:latin typeface="Calibri"/>
                <a:ea typeface="Calibri"/>
                <a:cs typeface="Calibri"/>
                <a:sym typeface="Calibri"/>
              </a:rPr>
              <a:t>⏱ 3 min · ⌛17:00</a:t>
            </a:r>
            <a:endParaRPr/>
          </a:p>
        </p:txBody>
      </p:sp>
      <p:sp>
        <p:nvSpPr>
          <p:cNvPr id="229" name="Google Shape;229;p10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000">
                <a:solidFill>
                  <a:srgbClr val="B0A98F"/>
                </a:solidFill>
                <a:latin typeface="DM Sans"/>
                <a:ea typeface="DM Sans"/>
                <a:cs typeface="DM Sans"/>
                <a:sym typeface="DM Sans"/>
              </a:rPr>
              <a:t>10 / 23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4830"/>
        </a:solidFill>
      </p:bgPr>
    </p:bg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1"/>
          <p:cNvSpPr txBox="1"/>
          <p:nvPr/>
        </p:nvSpPr>
        <p:spPr>
          <a:xfrm>
            <a:off x="365760" y="27432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11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TUKLAS · K3 + K4</a:t>
            </a:r>
            <a:endParaRPr/>
          </a:p>
        </p:txBody>
      </p:sp>
      <p:sp>
        <p:nvSpPr>
          <p:cNvPr id="236" name="Google Shape;236;p11"/>
          <p:cNvSpPr/>
          <p:nvPr/>
        </p:nvSpPr>
        <p:spPr>
          <a:xfrm>
            <a:off x="731520" y="1828800"/>
            <a:ext cx="73152" cy="3931920"/>
          </a:xfrm>
          <a:prstGeom prst="rect">
            <a:avLst/>
          </a:prstGeom>
          <a:solidFill>
            <a:srgbClr val="D4A8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1"/>
          <p:cNvSpPr/>
          <p:nvPr/>
        </p:nvSpPr>
        <p:spPr>
          <a:xfrm>
            <a:off x="804672" y="1828800"/>
            <a:ext cx="5138928" cy="3931920"/>
          </a:xfrm>
          <a:prstGeom prst="rect">
            <a:avLst/>
          </a:prstGeom>
          <a:solidFill>
            <a:srgbClr val="1A3A2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1"/>
          <p:cNvSpPr txBox="1"/>
          <p:nvPr/>
        </p:nvSpPr>
        <p:spPr>
          <a:xfrm>
            <a:off x="1005840" y="2057400"/>
            <a:ext cx="4937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2000">
                <a:solidFill>
                  <a:srgbClr val="F0C64A"/>
                </a:solidFill>
                <a:latin typeface="DM Sans"/>
                <a:ea typeface="DM Sans"/>
                <a:cs typeface="DM Sans"/>
                <a:sym typeface="DM Sans"/>
              </a:rPr>
              <a:t>3 — KARAMAY</a:t>
            </a:r>
            <a:endParaRPr sz="1800"/>
          </a:p>
        </p:txBody>
      </p:sp>
      <p:sp>
        <p:nvSpPr>
          <p:cNvPr id="239" name="Google Shape;239;p11"/>
          <p:cNvSpPr txBox="1"/>
          <p:nvPr/>
        </p:nvSpPr>
        <p:spPr>
          <a:xfrm>
            <a:off x="1005840" y="2468880"/>
            <a:ext cx="4937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260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Co-Suffering</a:t>
            </a:r>
            <a:endParaRPr sz="1800"/>
          </a:p>
        </p:txBody>
      </p:sp>
      <p:sp>
        <p:nvSpPr>
          <p:cNvPr id="240" name="Google Shape;240;p11"/>
          <p:cNvSpPr txBox="1"/>
          <p:nvPr/>
        </p:nvSpPr>
        <p:spPr>
          <a:xfrm>
            <a:off x="1005840" y="3108960"/>
            <a:ext cx="49377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24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Pakikibahagi sa hirap muna, bago materyal. Ang materyal ay tanda ng pakikiramay.</a:t>
            </a:r>
            <a:endParaRPr sz="1800"/>
          </a:p>
        </p:txBody>
      </p:sp>
      <p:sp>
        <p:nvSpPr>
          <p:cNvPr id="241" name="Google Shape;241;p11"/>
          <p:cNvSpPr txBox="1"/>
          <p:nvPr/>
        </p:nvSpPr>
        <p:spPr>
          <a:xfrm>
            <a:off x="1005840" y="4526280"/>
            <a:ext cx="49377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PH" sz="2200">
                <a:solidFill>
                  <a:srgbClr val="F0C64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"Kung ang isang sangkap ay magdusa, ang lahat ng mga sangkap ay nakikiramay."  — 1 Cor 12:26</a:t>
            </a:r>
            <a:endParaRPr sz="1800"/>
          </a:p>
        </p:txBody>
      </p:sp>
      <p:sp>
        <p:nvSpPr>
          <p:cNvPr id="242" name="Google Shape;242;p11"/>
          <p:cNvSpPr/>
          <p:nvPr/>
        </p:nvSpPr>
        <p:spPr>
          <a:xfrm>
            <a:off x="6263640" y="1828800"/>
            <a:ext cx="73152" cy="3931920"/>
          </a:xfrm>
          <a:prstGeom prst="rect">
            <a:avLst/>
          </a:prstGeom>
          <a:solidFill>
            <a:srgbClr val="D4A8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1"/>
          <p:cNvSpPr/>
          <p:nvPr/>
        </p:nvSpPr>
        <p:spPr>
          <a:xfrm>
            <a:off x="6336792" y="1828800"/>
            <a:ext cx="5138928" cy="3931920"/>
          </a:xfrm>
          <a:prstGeom prst="rect">
            <a:avLst/>
          </a:prstGeom>
          <a:solidFill>
            <a:srgbClr val="1A3A2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1"/>
          <p:cNvSpPr txBox="1"/>
          <p:nvPr/>
        </p:nvSpPr>
        <p:spPr>
          <a:xfrm>
            <a:off x="6537959" y="2057400"/>
            <a:ext cx="4937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2000">
                <a:solidFill>
                  <a:srgbClr val="F0C64A"/>
                </a:solidFill>
                <a:latin typeface="DM Sans"/>
                <a:ea typeface="DM Sans"/>
                <a:cs typeface="DM Sans"/>
                <a:sym typeface="DM Sans"/>
              </a:rPr>
              <a:t>4 — KABANTAYAN</a:t>
            </a:r>
            <a:endParaRPr sz="1800"/>
          </a:p>
        </p:txBody>
      </p:sp>
      <p:sp>
        <p:nvSpPr>
          <p:cNvPr id="245" name="Google Shape;245;p11"/>
          <p:cNvSpPr txBox="1"/>
          <p:nvPr/>
        </p:nvSpPr>
        <p:spPr>
          <a:xfrm>
            <a:off x="6537959" y="2468880"/>
            <a:ext cx="4937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260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Mutual Protection</a:t>
            </a:r>
            <a:endParaRPr sz="1800"/>
          </a:p>
        </p:txBody>
      </p:sp>
      <p:sp>
        <p:nvSpPr>
          <p:cNvPr id="246" name="Google Shape;246;p11"/>
          <p:cNvSpPr txBox="1"/>
          <p:nvPr/>
        </p:nvSpPr>
        <p:spPr>
          <a:xfrm>
            <a:off x="6537959" y="3108960"/>
            <a:ext cx="49377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24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Biblical kumpisalan. Hindi panghuhusga; ito ay kapatiran na nagbabantay.</a:t>
            </a:r>
            <a:endParaRPr sz="1800"/>
          </a:p>
        </p:txBody>
      </p:sp>
      <p:sp>
        <p:nvSpPr>
          <p:cNvPr id="247" name="Google Shape;247;p11"/>
          <p:cNvSpPr txBox="1"/>
          <p:nvPr/>
        </p:nvSpPr>
        <p:spPr>
          <a:xfrm>
            <a:off x="6537959" y="4526280"/>
            <a:ext cx="49377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PH" sz="2200">
                <a:solidFill>
                  <a:srgbClr val="F0C64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"Mangagpahayagan kayo sa isa't isa ng inyong mga kasalanan…"  — Santiago 5:16</a:t>
            </a:r>
            <a:endParaRPr sz="1800"/>
          </a:p>
        </p:txBody>
      </p:sp>
      <p:sp>
        <p:nvSpPr>
          <p:cNvPr id="248" name="Google Shape;248;p11"/>
          <p:cNvSpPr/>
          <p:nvPr/>
        </p:nvSpPr>
        <p:spPr>
          <a:xfrm>
            <a:off x="8759952" y="137160"/>
            <a:ext cx="3200400" cy="548640"/>
          </a:xfrm>
          <a:prstGeom prst="roundRect">
            <a:avLst>
              <a:gd fmla="val 16667" name="adj"/>
            </a:avLst>
          </a:prstGeom>
          <a:solidFill>
            <a:srgbClr val="D4AF3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2000">
                <a:solidFill>
                  <a:srgbClr val="141628"/>
                </a:solidFill>
                <a:latin typeface="Calibri"/>
                <a:ea typeface="Calibri"/>
                <a:cs typeface="Calibri"/>
                <a:sym typeface="Calibri"/>
              </a:rPr>
              <a:t>⏱ 4 min · ⌛21:00</a:t>
            </a:r>
            <a:endParaRPr/>
          </a:p>
        </p:txBody>
      </p:sp>
      <p:sp>
        <p:nvSpPr>
          <p:cNvPr id="249" name="Google Shape;249;p11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000">
                <a:solidFill>
                  <a:srgbClr val="B0A98F"/>
                </a:solidFill>
                <a:latin typeface="DM Sans"/>
                <a:ea typeface="DM Sans"/>
                <a:cs typeface="DM Sans"/>
                <a:sym typeface="DM Sans"/>
              </a:rPr>
              <a:t>11 / 23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B2E3F"/>
        </a:solidFill>
      </p:bgPr>
    </p:bg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2"/>
          <p:cNvSpPr txBox="1"/>
          <p:nvPr/>
        </p:nvSpPr>
        <p:spPr>
          <a:xfrm>
            <a:off x="365760" y="27432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1100">
                <a:solidFill>
                  <a:srgbClr val="F0C64A"/>
                </a:solidFill>
                <a:latin typeface="DM Sans"/>
                <a:ea typeface="DM Sans"/>
                <a:cs typeface="DM Sans"/>
                <a:sym typeface="DM Sans"/>
              </a:rPr>
              <a:t>TUKLAS · ANG 4-K · TANONG</a:t>
            </a:r>
            <a:endParaRPr/>
          </a:p>
        </p:txBody>
      </p:sp>
      <p:sp>
        <p:nvSpPr>
          <p:cNvPr id="256" name="Google Shape;256;p12"/>
          <p:cNvSpPr/>
          <p:nvPr/>
        </p:nvSpPr>
        <p:spPr>
          <a:xfrm>
            <a:off x="4590288" y="960120"/>
            <a:ext cx="3017520" cy="384048"/>
          </a:xfrm>
          <a:prstGeom prst="roundRect">
            <a:avLst>
              <a:gd fmla="val 16667" name="adj"/>
            </a:avLst>
          </a:prstGeom>
          <a:solidFill>
            <a:srgbClr val="D4A83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1300">
                <a:solidFill>
                  <a:srgbClr val="141628"/>
                </a:solidFill>
                <a:latin typeface="DM Sans"/>
                <a:ea typeface="DM Sans"/>
                <a:cs typeface="DM Sans"/>
                <a:sym typeface="DM Sans"/>
              </a:rPr>
              <a:t>📋 Participant Guide Question</a:t>
            </a:r>
            <a:endParaRPr/>
          </a:p>
        </p:txBody>
      </p:sp>
      <p:sp>
        <p:nvSpPr>
          <p:cNvPr id="257" name="Google Shape;257;p12"/>
          <p:cNvSpPr txBox="1"/>
          <p:nvPr/>
        </p:nvSpPr>
        <p:spPr>
          <a:xfrm>
            <a:off x="822960" y="2552284"/>
            <a:ext cx="10543032" cy="166199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3600">
                <a:solidFill>
                  <a:srgbClr val="FDF6E8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Sa 4-K breakdown na ito — alin ang kasalukuyang pinakamahina o pinaka-kulang sa Small Group o LCG mo? Bakit?</a:t>
            </a:r>
            <a:endParaRPr/>
          </a:p>
        </p:txBody>
      </p:sp>
      <p:sp>
        <p:nvSpPr>
          <p:cNvPr id="258" name="Google Shape;258;p12"/>
          <p:cNvSpPr txBox="1"/>
          <p:nvPr/>
        </p:nvSpPr>
        <p:spPr>
          <a:xfrm>
            <a:off x="50" y="5486400"/>
            <a:ext cx="121920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PH" sz="2200">
                <a:solidFill>
                  <a:srgbClr val="D4A838"/>
                </a:solidFill>
                <a:latin typeface="DM Sans"/>
                <a:ea typeface="DM Sans"/>
                <a:cs typeface="DM Sans"/>
                <a:sym typeface="DM Sans"/>
              </a:rPr>
              <a:t>Kapamilya · Kapuso · Karamay · Kabantayan — isulat ang sagot sa Participant Guide.</a:t>
            </a:r>
            <a:endParaRPr sz="1600"/>
          </a:p>
        </p:txBody>
      </p:sp>
      <p:sp>
        <p:nvSpPr>
          <p:cNvPr id="259" name="Google Shape;259;p12"/>
          <p:cNvSpPr/>
          <p:nvPr/>
        </p:nvSpPr>
        <p:spPr>
          <a:xfrm>
            <a:off x="8759952" y="137160"/>
            <a:ext cx="3200400" cy="548640"/>
          </a:xfrm>
          <a:prstGeom prst="roundRect">
            <a:avLst>
              <a:gd fmla="val 16667" name="adj"/>
            </a:avLst>
          </a:prstGeom>
          <a:solidFill>
            <a:srgbClr val="D4AF3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2000">
                <a:solidFill>
                  <a:srgbClr val="141628"/>
                </a:solidFill>
                <a:latin typeface="Calibri"/>
                <a:ea typeface="Calibri"/>
                <a:cs typeface="Calibri"/>
                <a:sym typeface="Calibri"/>
              </a:rPr>
              <a:t>⏱ 2 min · ⌛23:00</a:t>
            </a:r>
            <a:endParaRPr/>
          </a:p>
        </p:txBody>
      </p:sp>
      <p:sp>
        <p:nvSpPr>
          <p:cNvPr id="260" name="Google Shape;260;p12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000">
                <a:solidFill>
                  <a:srgbClr val="B0A98F"/>
                </a:solidFill>
                <a:latin typeface="DM Sans"/>
                <a:ea typeface="DM Sans"/>
                <a:cs typeface="DM Sans"/>
                <a:sym typeface="DM Sans"/>
              </a:rPr>
              <a:t>12 / 23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5A4818"/>
        </a:solidFill>
      </p:bgPr>
    </p:bg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3"/>
          <p:cNvSpPr txBox="1"/>
          <p:nvPr/>
        </p:nvSpPr>
        <p:spPr>
          <a:xfrm>
            <a:off x="365760" y="27432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11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TALAKAY · KUWENTO</a:t>
            </a:r>
            <a:endParaRPr/>
          </a:p>
        </p:txBody>
      </p:sp>
      <p:sp>
        <p:nvSpPr>
          <p:cNvPr id="267" name="Google Shape;267;p13"/>
          <p:cNvSpPr txBox="1"/>
          <p:nvPr/>
        </p:nvSpPr>
        <p:spPr>
          <a:xfrm>
            <a:off x="457200" y="82296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3000">
                <a:solidFill>
                  <a:srgbClr val="F0C64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Albrecht at Albert Dürer  ·  c.1500</a:t>
            </a:r>
            <a:endParaRPr/>
          </a:p>
        </p:txBody>
      </p:sp>
      <p:sp>
        <p:nvSpPr>
          <p:cNvPr id="268" name="Google Shape;268;p13"/>
          <p:cNvSpPr txBox="1"/>
          <p:nvPr/>
        </p:nvSpPr>
        <p:spPr>
          <a:xfrm>
            <a:off x="3949148" y="1786393"/>
            <a:ext cx="7297972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2400">
                <a:solidFill>
                  <a:srgbClr val="FDF6E8"/>
                </a:solidFill>
                <a:latin typeface="DM Sans"/>
                <a:ea typeface="DM Sans"/>
                <a:cs typeface="DM Sans"/>
                <a:sym typeface="DM Sans"/>
              </a:rPr>
              <a:t>Magkapatid na naghangad maging tanyag na artist. Walang pera. Naghatian sila ng plano:</a:t>
            </a:r>
            <a:endParaRPr/>
          </a:p>
        </p:txBody>
      </p:sp>
      <p:sp>
        <p:nvSpPr>
          <p:cNvPr id="269" name="Google Shape;269;p13"/>
          <p:cNvSpPr txBox="1"/>
          <p:nvPr/>
        </p:nvSpPr>
        <p:spPr>
          <a:xfrm>
            <a:off x="3949148" y="2713871"/>
            <a:ext cx="7191955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2400">
                <a:solidFill>
                  <a:srgbClr val="FDF6E8"/>
                </a:solidFill>
                <a:latin typeface="DM Sans"/>
                <a:ea typeface="DM Sans"/>
                <a:cs typeface="DM Sans"/>
                <a:sym typeface="DM Sans"/>
              </a:rPr>
              <a:t>Si Albert ang unang magtatrabaho sa minahan para tustusan si Albrecht — magpapalitan sila pagkatapos ng 4 na taon.</a:t>
            </a:r>
            <a:endParaRPr/>
          </a:p>
        </p:txBody>
      </p:sp>
      <p:sp>
        <p:nvSpPr>
          <p:cNvPr id="270" name="Google Shape;270;p13"/>
          <p:cNvSpPr txBox="1"/>
          <p:nvPr/>
        </p:nvSpPr>
        <p:spPr>
          <a:xfrm>
            <a:off x="3949148" y="3944421"/>
            <a:ext cx="7218460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2400">
                <a:solidFill>
                  <a:srgbClr val="FDF6E8"/>
                </a:solidFill>
                <a:latin typeface="DM Sans"/>
                <a:ea typeface="DM Sans"/>
                <a:cs typeface="DM Sans"/>
                <a:sym typeface="DM Sans"/>
              </a:rPr>
              <a:t>Pagbalik ni Albrecht — matagumpay na — nasira na ang mga kamay ni Albert. Hindi na siya makakahawak ng pinsel kailanman.</a:t>
            </a:r>
            <a:endParaRPr/>
          </a:p>
        </p:txBody>
      </p:sp>
      <p:sp>
        <p:nvSpPr>
          <p:cNvPr id="271" name="Google Shape;271;p13"/>
          <p:cNvSpPr txBox="1"/>
          <p:nvPr/>
        </p:nvSpPr>
        <p:spPr>
          <a:xfrm>
            <a:off x="3949148" y="5108715"/>
            <a:ext cx="7191956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2400">
                <a:solidFill>
                  <a:srgbClr val="FDF6E8"/>
                </a:solidFill>
                <a:latin typeface="DM Sans"/>
                <a:ea typeface="DM Sans"/>
                <a:cs typeface="DM Sans"/>
                <a:sym typeface="DM Sans"/>
              </a:rPr>
              <a:t>Bilang pagpupugay, ipininta ni Albrecht ang mga magaspang at sugatang kamay ng kapatid habang nakatupi sa panalangin: "Praying Hands" (c.1508).</a:t>
            </a:r>
            <a:endParaRPr/>
          </a:p>
        </p:txBody>
      </p:sp>
      <p:sp>
        <p:nvSpPr>
          <p:cNvPr id="272" name="Google Shape;272;p13"/>
          <p:cNvSpPr/>
          <p:nvPr/>
        </p:nvSpPr>
        <p:spPr>
          <a:xfrm>
            <a:off x="8759952" y="137160"/>
            <a:ext cx="3200400" cy="548640"/>
          </a:xfrm>
          <a:prstGeom prst="roundRect">
            <a:avLst>
              <a:gd fmla="val 16667" name="adj"/>
            </a:avLst>
          </a:prstGeom>
          <a:solidFill>
            <a:srgbClr val="D4AF3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2000">
                <a:solidFill>
                  <a:srgbClr val="141628"/>
                </a:solidFill>
                <a:latin typeface="Calibri"/>
                <a:ea typeface="Calibri"/>
                <a:cs typeface="Calibri"/>
                <a:sym typeface="Calibri"/>
              </a:rPr>
              <a:t>⏱ 5 min · ⌛28:00</a:t>
            </a:r>
            <a:endParaRPr/>
          </a:p>
        </p:txBody>
      </p:sp>
      <p:sp>
        <p:nvSpPr>
          <p:cNvPr id="273" name="Google Shape;273;p13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000">
                <a:solidFill>
                  <a:srgbClr val="B0A98F"/>
                </a:solidFill>
                <a:latin typeface="DM Sans"/>
                <a:ea typeface="DM Sans"/>
                <a:cs typeface="DM Sans"/>
                <a:sym typeface="DM Sans"/>
              </a:rPr>
              <a:t>13 / 23</a:t>
            </a:r>
            <a:endParaRPr/>
          </a:p>
        </p:txBody>
      </p:sp>
      <p:pic>
        <p:nvPicPr>
          <p:cNvPr id="274" name="Google Shape;27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783080"/>
            <a:ext cx="3307613" cy="4846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6E8"/>
        </a:solid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4"/>
          <p:cNvSpPr txBox="1"/>
          <p:nvPr/>
        </p:nvSpPr>
        <p:spPr>
          <a:xfrm>
            <a:off x="365760" y="27432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1100">
                <a:solidFill>
                  <a:srgbClr val="2A5C40"/>
                </a:solidFill>
                <a:latin typeface="DM Sans"/>
                <a:ea typeface="DM Sans"/>
                <a:cs typeface="DM Sans"/>
                <a:sym typeface="DM Sans"/>
              </a:rPr>
              <a:t>TALAKAY · GROUP SHARING</a:t>
            </a:r>
            <a:endParaRPr/>
          </a:p>
        </p:txBody>
      </p:sp>
      <p:sp>
        <p:nvSpPr>
          <p:cNvPr id="281" name="Google Shape;281;p14"/>
          <p:cNvSpPr txBox="1"/>
          <p:nvPr/>
        </p:nvSpPr>
        <p:spPr>
          <a:xfrm>
            <a:off x="457200" y="1073424"/>
            <a:ext cx="112471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4800">
                <a:solidFill>
                  <a:srgbClr val="1A1612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Sino ang Albert mo?</a:t>
            </a:r>
            <a:endParaRPr/>
          </a:p>
        </p:txBody>
      </p:sp>
      <p:sp>
        <p:nvSpPr>
          <p:cNvPr id="282" name="Google Shape;282;p14"/>
          <p:cNvSpPr txBox="1"/>
          <p:nvPr/>
        </p:nvSpPr>
        <p:spPr>
          <a:xfrm>
            <a:off x="457200" y="2079264"/>
            <a:ext cx="11247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PH" sz="2700">
                <a:solidFill>
                  <a:srgbClr val="2A5C40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"Mamalagi nawa ang pagibig sa mga kapatid." — Heb 13:1</a:t>
            </a:r>
            <a:endParaRPr sz="1700"/>
          </a:p>
        </p:txBody>
      </p:sp>
      <p:sp>
        <p:nvSpPr>
          <p:cNvPr id="283" name="Google Shape;283;p14"/>
          <p:cNvSpPr/>
          <p:nvPr/>
        </p:nvSpPr>
        <p:spPr>
          <a:xfrm>
            <a:off x="1371600" y="3200400"/>
            <a:ext cx="9418320" cy="2560320"/>
          </a:xfrm>
          <a:prstGeom prst="roundRect">
            <a:avLst>
              <a:gd fmla="val 16667" name="adj"/>
            </a:avLst>
          </a:prstGeom>
          <a:solidFill>
            <a:srgbClr val="FBF1D8"/>
          </a:solidFill>
          <a:ln cap="flat" cmpd="sng" w="9525">
            <a:solidFill>
              <a:srgbClr val="D4A83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4"/>
          <p:cNvSpPr/>
          <p:nvPr/>
        </p:nvSpPr>
        <p:spPr>
          <a:xfrm>
            <a:off x="1013791" y="3200400"/>
            <a:ext cx="91440" cy="2560320"/>
          </a:xfrm>
          <a:prstGeom prst="rect">
            <a:avLst/>
          </a:prstGeom>
          <a:solidFill>
            <a:srgbClr val="D4A8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4"/>
          <p:cNvSpPr txBox="1"/>
          <p:nvPr/>
        </p:nvSpPr>
        <p:spPr>
          <a:xfrm>
            <a:off x="1691640" y="3383280"/>
            <a:ext cx="88698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1700">
                <a:solidFill>
                  <a:srgbClr val="9A7820"/>
                </a:solidFill>
                <a:latin typeface="DM Sans"/>
                <a:ea typeface="DM Sans"/>
                <a:cs typeface="DM Sans"/>
                <a:sym typeface="DM Sans"/>
              </a:rPr>
              <a:t>TANONG SA TALAKAYAN (MAX 2 SHARERS)</a:t>
            </a:r>
            <a:endParaRPr sz="1700"/>
          </a:p>
        </p:txBody>
      </p:sp>
      <p:sp>
        <p:nvSpPr>
          <p:cNvPr id="286" name="Google Shape;286;p14"/>
          <p:cNvSpPr txBox="1"/>
          <p:nvPr/>
        </p:nvSpPr>
        <p:spPr>
          <a:xfrm>
            <a:off x="1691640" y="3840480"/>
            <a:ext cx="8869800" cy="13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PH" sz="2700">
                <a:solidFill>
                  <a:srgbClr val="1A1612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Sino sa LCG mo ang naging Albert para sa'yo — yung tumulong nang walang humihiling? Anong sakripisyo ang ginawa nila? At para kanino Albert sa kasalukuyan?</a:t>
            </a:r>
            <a:endParaRPr sz="1700"/>
          </a:p>
        </p:txBody>
      </p:sp>
      <p:sp>
        <p:nvSpPr>
          <p:cNvPr id="287" name="Google Shape;287;p14"/>
          <p:cNvSpPr/>
          <p:nvPr/>
        </p:nvSpPr>
        <p:spPr>
          <a:xfrm>
            <a:off x="8759952" y="137160"/>
            <a:ext cx="3200400" cy="548640"/>
          </a:xfrm>
          <a:prstGeom prst="roundRect">
            <a:avLst>
              <a:gd fmla="val 16667" name="adj"/>
            </a:avLst>
          </a:prstGeom>
          <a:solidFill>
            <a:srgbClr val="D4AF3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2000">
                <a:solidFill>
                  <a:srgbClr val="141628"/>
                </a:solidFill>
                <a:latin typeface="Calibri"/>
                <a:ea typeface="Calibri"/>
                <a:cs typeface="Calibri"/>
                <a:sym typeface="Calibri"/>
              </a:rPr>
              <a:t>⏱ 4 min · ⌛32:00</a:t>
            </a:r>
            <a:endParaRPr/>
          </a:p>
        </p:txBody>
      </p:sp>
      <p:sp>
        <p:nvSpPr>
          <p:cNvPr id="288" name="Google Shape;288;p1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000">
                <a:solidFill>
                  <a:srgbClr val="B0A98F"/>
                </a:solidFill>
                <a:latin typeface="DM Sans"/>
                <a:ea typeface="DM Sans"/>
                <a:cs typeface="DM Sans"/>
                <a:sym typeface="DM Sans"/>
              </a:rPr>
              <a:t>14 / 23</a:t>
            </a:r>
            <a:endParaRPr/>
          </a:p>
        </p:txBody>
      </p:sp>
      <p:sp>
        <p:nvSpPr>
          <p:cNvPr id="289" name="Google Shape;289;p14"/>
          <p:cNvSpPr/>
          <p:nvPr/>
        </p:nvSpPr>
        <p:spPr>
          <a:xfrm>
            <a:off x="4590288" y="658368"/>
            <a:ext cx="3017520" cy="347472"/>
          </a:xfrm>
          <a:prstGeom prst="roundRect">
            <a:avLst>
              <a:gd fmla="val 16667" name="adj"/>
            </a:avLst>
          </a:prstGeom>
          <a:solidFill>
            <a:srgbClr val="D4A83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1300">
                <a:solidFill>
                  <a:srgbClr val="141628"/>
                </a:solidFill>
                <a:latin typeface="DM Sans"/>
                <a:ea typeface="DM Sans"/>
                <a:cs typeface="DM Sans"/>
                <a:sym typeface="DM Sans"/>
              </a:rPr>
              <a:t>📋 Participant Guide Question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B2E3F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15"/>
          <p:cNvSpPr txBox="1"/>
          <p:nvPr/>
        </p:nvSpPr>
        <p:spPr>
          <a:xfrm>
            <a:off x="365760" y="27432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1100">
                <a:solidFill>
                  <a:srgbClr val="F0C64A"/>
                </a:solidFill>
                <a:latin typeface="DM Sans"/>
                <a:ea typeface="DM Sans"/>
                <a:cs typeface="DM Sans"/>
                <a:sym typeface="DM Sans"/>
              </a:rPr>
              <a:t>TALAKAY · TANONG</a:t>
            </a:r>
            <a:endParaRPr/>
          </a:p>
        </p:txBody>
      </p:sp>
      <p:sp>
        <p:nvSpPr>
          <p:cNvPr id="296" name="Google Shape;296;p15"/>
          <p:cNvSpPr/>
          <p:nvPr/>
        </p:nvSpPr>
        <p:spPr>
          <a:xfrm>
            <a:off x="4590288" y="960120"/>
            <a:ext cx="3017520" cy="384048"/>
          </a:xfrm>
          <a:prstGeom prst="roundRect">
            <a:avLst>
              <a:gd fmla="val 16667" name="adj"/>
            </a:avLst>
          </a:prstGeom>
          <a:solidFill>
            <a:srgbClr val="D4A83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1300">
                <a:solidFill>
                  <a:srgbClr val="141628"/>
                </a:solidFill>
                <a:latin typeface="DM Sans"/>
                <a:ea typeface="DM Sans"/>
                <a:cs typeface="DM Sans"/>
                <a:sym typeface="DM Sans"/>
              </a:rPr>
              <a:t>📋 Participant Guide Question</a:t>
            </a:r>
            <a:endParaRPr/>
          </a:p>
        </p:txBody>
      </p:sp>
      <p:sp>
        <p:nvSpPr>
          <p:cNvPr id="297" name="Google Shape;297;p15"/>
          <p:cNvSpPr txBox="1"/>
          <p:nvPr/>
        </p:nvSpPr>
        <p:spPr>
          <a:xfrm>
            <a:off x="822960" y="2275285"/>
            <a:ext cx="10543032" cy="221599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3600">
                <a:solidFill>
                  <a:srgbClr val="FDF6E8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Anong aral tungkol sa sakripisyo at pagtutulungan ang makikita natin sa kuwento nina Albrecht at Albert kaugnay ng buhay sa iglesya?</a:t>
            </a:r>
            <a:endParaRPr/>
          </a:p>
        </p:txBody>
      </p:sp>
      <p:sp>
        <p:nvSpPr>
          <p:cNvPr id="298" name="Google Shape;298;p15"/>
          <p:cNvSpPr txBox="1"/>
          <p:nvPr/>
        </p:nvSpPr>
        <p:spPr>
          <a:xfrm>
            <a:off x="822960" y="5486400"/>
            <a:ext cx="105429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PH" sz="2300">
                <a:solidFill>
                  <a:srgbClr val="D4A838"/>
                </a:solidFill>
                <a:latin typeface="DM Sans"/>
                <a:ea typeface="DM Sans"/>
                <a:cs typeface="DM Sans"/>
                <a:sym typeface="DM Sans"/>
              </a:rPr>
              <a:t>Isulat sa Participant Guide pagkatapos ng table talk.</a:t>
            </a:r>
            <a:endParaRPr sz="1700"/>
          </a:p>
        </p:txBody>
      </p:sp>
      <p:sp>
        <p:nvSpPr>
          <p:cNvPr id="299" name="Google Shape;299;p15"/>
          <p:cNvSpPr/>
          <p:nvPr/>
        </p:nvSpPr>
        <p:spPr>
          <a:xfrm>
            <a:off x="8759952" y="137160"/>
            <a:ext cx="3200400" cy="548640"/>
          </a:xfrm>
          <a:prstGeom prst="roundRect">
            <a:avLst>
              <a:gd fmla="val 16667" name="adj"/>
            </a:avLst>
          </a:prstGeom>
          <a:solidFill>
            <a:srgbClr val="D4AF3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2000">
                <a:solidFill>
                  <a:srgbClr val="141628"/>
                </a:solidFill>
                <a:latin typeface="Calibri"/>
                <a:ea typeface="Calibri"/>
                <a:cs typeface="Calibri"/>
                <a:sym typeface="Calibri"/>
              </a:rPr>
              <a:t>⏱ 3 min · ⌛35:00</a:t>
            </a:r>
            <a:endParaRPr/>
          </a:p>
        </p:txBody>
      </p:sp>
      <p:sp>
        <p:nvSpPr>
          <p:cNvPr id="300" name="Google Shape;300;p1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000">
                <a:solidFill>
                  <a:srgbClr val="B0A98F"/>
                </a:solidFill>
                <a:latin typeface="DM Sans"/>
                <a:ea typeface="DM Sans"/>
                <a:cs typeface="DM Sans"/>
                <a:sym typeface="DM Sans"/>
              </a:rPr>
              <a:t>15 / 23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6E8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6"/>
          <p:cNvSpPr txBox="1"/>
          <p:nvPr/>
        </p:nvSpPr>
        <p:spPr>
          <a:xfrm>
            <a:off x="365760" y="27432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1100">
                <a:solidFill>
                  <a:srgbClr val="2A5C40"/>
                </a:solidFill>
                <a:latin typeface="DM Sans"/>
                <a:ea typeface="DM Sans"/>
                <a:cs typeface="DM Sans"/>
                <a:sym typeface="DM Sans"/>
              </a:rPr>
              <a:t>TUGON · QUOTE</a:t>
            </a:r>
            <a:endParaRPr/>
          </a:p>
        </p:txBody>
      </p:sp>
      <p:sp>
        <p:nvSpPr>
          <p:cNvPr id="307" name="Google Shape;307;p16"/>
          <p:cNvSpPr txBox="1"/>
          <p:nvPr/>
        </p:nvSpPr>
        <p:spPr>
          <a:xfrm>
            <a:off x="457200" y="822960"/>
            <a:ext cx="112471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12000">
                <a:solidFill>
                  <a:srgbClr val="2A5C40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"</a:t>
            </a:r>
            <a:endParaRPr/>
          </a:p>
        </p:txBody>
      </p:sp>
      <p:sp>
        <p:nvSpPr>
          <p:cNvPr id="308" name="Google Shape;308;p16"/>
          <p:cNvSpPr txBox="1"/>
          <p:nvPr/>
        </p:nvSpPr>
        <p:spPr>
          <a:xfrm>
            <a:off x="914400" y="2095052"/>
            <a:ext cx="10332600" cy="193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PH" sz="4000">
                <a:solidFill>
                  <a:srgbClr val="1A1612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The </a:t>
            </a:r>
            <a:r>
              <a:rPr b="0" i="1" lang="en-PH" sz="4000">
                <a:solidFill>
                  <a:srgbClr val="FF0000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physical presence</a:t>
            </a:r>
            <a:r>
              <a:rPr b="0" i="1" lang="en-PH" sz="4000">
                <a:solidFill>
                  <a:srgbClr val="1A1612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 of other Christians is a source of incomparable joy and strength to the believer.</a:t>
            </a:r>
            <a:endParaRPr sz="1800"/>
          </a:p>
        </p:txBody>
      </p:sp>
      <p:sp>
        <p:nvSpPr>
          <p:cNvPr id="309" name="Google Shape;309;p16"/>
          <p:cNvSpPr txBox="1"/>
          <p:nvPr/>
        </p:nvSpPr>
        <p:spPr>
          <a:xfrm>
            <a:off x="457200" y="4628478"/>
            <a:ext cx="11247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2000">
                <a:solidFill>
                  <a:srgbClr val="1A1612"/>
                </a:solidFill>
                <a:latin typeface="DM Sans"/>
                <a:ea typeface="DM Sans"/>
                <a:cs typeface="DM Sans"/>
                <a:sym typeface="DM Sans"/>
              </a:rPr>
              <a:t>— DIETRICH BONHOEFFER  ·  LIFE TOGETHER</a:t>
            </a:r>
            <a:endParaRPr sz="1800"/>
          </a:p>
        </p:txBody>
      </p:sp>
      <p:sp>
        <p:nvSpPr>
          <p:cNvPr id="310" name="Google Shape;310;p16"/>
          <p:cNvSpPr/>
          <p:nvPr/>
        </p:nvSpPr>
        <p:spPr>
          <a:xfrm>
            <a:off x="8759952" y="137160"/>
            <a:ext cx="3200400" cy="548640"/>
          </a:xfrm>
          <a:prstGeom prst="roundRect">
            <a:avLst>
              <a:gd fmla="val 16667" name="adj"/>
            </a:avLst>
          </a:prstGeom>
          <a:solidFill>
            <a:srgbClr val="D4AF3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2000">
                <a:solidFill>
                  <a:srgbClr val="141628"/>
                </a:solidFill>
                <a:latin typeface="Calibri"/>
                <a:ea typeface="Calibri"/>
                <a:cs typeface="Calibri"/>
                <a:sym typeface="Calibri"/>
              </a:rPr>
              <a:t>⏱ 1 min · ⌛36:00</a:t>
            </a:r>
            <a:endParaRPr/>
          </a:p>
        </p:txBody>
      </p:sp>
      <p:sp>
        <p:nvSpPr>
          <p:cNvPr id="311" name="Google Shape;311;p1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000">
                <a:solidFill>
                  <a:srgbClr val="B0A98F"/>
                </a:solidFill>
                <a:latin typeface="DM Sans"/>
                <a:ea typeface="DM Sans"/>
                <a:cs typeface="DM Sans"/>
                <a:sym typeface="DM Sans"/>
              </a:rPr>
              <a:t>16 / 23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2E3F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7"/>
          <p:cNvSpPr txBox="1"/>
          <p:nvPr/>
        </p:nvSpPr>
        <p:spPr>
          <a:xfrm>
            <a:off x="365760" y="27432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11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TUGON · APPLICATION</a:t>
            </a:r>
            <a:endParaRPr/>
          </a:p>
        </p:txBody>
      </p:sp>
      <p:sp>
        <p:nvSpPr>
          <p:cNvPr id="318" name="Google Shape;318;p17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440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Ngayong Linggo</a:t>
            </a:r>
            <a:endParaRPr/>
          </a:p>
        </p:txBody>
      </p:sp>
      <p:sp>
        <p:nvSpPr>
          <p:cNvPr id="319" name="Google Shape;319;p17"/>
          <p:cNvSpPr txBox="1"/>
          <p:nvPr/>
        </p:nvSpPr>
        <p:spPr>
          <a:xfrm>
            <a:off x="914400" y="1920240"/>
            <a:ext cx="103326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PH" sz="2800">
                <a:solidFill>
                  <a:srgbClr val="F0C64A"/>
                </a:solidFill>
                <a:latin typeface="DM Sans"/>
                <a:ea typeface="DM Sans"/>
                <a:cs typeface="DM Sans"/>
                <a:sym typeface="DM Sans"/>
              </a:rPr>
              <a:t>Balikan ang Boxes 1-</a:t>
            </a:r>
            <a:r>
              <a:rPr i="1" lang="en-PH" sz="2800">
                <a:solidFill>
                  <a:srgbClr val="F0C64A"/>
                </a:solidFill>
                <a:latin typeface="DM Sans"/>
                <a:ea typeface="DM Sans"/>
                <a:cs typeface="DM Sans"/>
                <a:sym typeface="DM Sans"/>
              </a:rPr>
              <a:t>3</a:t>
            </a:r>
            <a:r>
              <a:rPr b="0" i="1" lang="en-PH" sz="2800">
                <a:solidFill>
                  <a:srgbClr val="F0C64A"/>
                </a:solidFill>
                <a:latin typeface="DM Sans"/>
                <a:ea typeface="DM Sans"/>
                <a:cs typeface="DM Sans"/>
                <a:sym typeface="DM Sans"/>
              </a:rPr>
              <a:t> ng iyong Connection Quiz. Yan ang Albert mo.</a:t>
            </a:r>
            <a:endParaRPr/>
          </a:p>
        </p:txBody>
      </p:sp>
      <p:sp>
        <p:nvSpPr>
          <p:cNvPr id="320" name="Google Shape;320;p17"/>
          <p:cNvSpPr/>
          <p:nvPr/>
        </p:nvSpPr>
        <p:spPr>
          <a:xfrm>
            <a:off x="1463040" y="3383280"/>
            <a:ext cx="137160" cy="137160"/>
          </a:xfrm>
          <a:prstGeom prst="rect">
            <a:avLst/>
          </a:prstGeom>
          <a:solidFill>
            <a:srgbClr val="F0C6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7"/>
          <p:cNvSpPr txBox="1"/>
          <p:nvPr/>
        </p:nvSpPr>
        <p:spPr>
          <a:xfrm>
            <a:off x="1737360" y="3200400"/>
            <a:ext cx="960120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24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I-draft ang isang Appreciation Message sa isa sa kanila.</a:t>
            </a:r>
            <a:endParaRPr/>
          </a:p>
        </p:txBody>
      </p:sp>
      <p:sp>
        <p:nvSpPr>
          <p:cNvPr id="322" name="Google Shape;322;p17"/>
          <p:cNvSpPr/>
          <p:nvPr/>
        </p:nvSpPr>
        <p:spPr>
          <a:xfrm>
            <a:off x="1463040" y="4251960"/>
            <a:ext cx="137160" cy="137160"/>
          </a:xfrm>
          <a:prstGeom prst="rect">
            <a:avLst/>
          </a:prstGeom>
          <a:solidFill>
            <a:srgbClr val="F0C6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7"/>
          <p:cNvSpPr txBox="1"/>
          <p:nvPr/>
        </p:nvSpPr>
        <p:spPr>
          <a:xfrm>
            <a:off x="1737360" y="4069080"/>
            <a:ext cx="960120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24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Ipadala via SMS o chat — hindi lalagpas sa 48 oras.</a:t>
            </a:r>
            <a:endParaRPr/>
          </a:p>
        </p:txBody>
      </p:sp>
      <p:sp>
        <p:nvSpPr>
          <p:cNvPr id="324" name="Google Shape;324;p17"/>
          <p:cNvSpPr/>
          <p:nvPr/>
        </p:nvSpPr>
        <p:spPr>
          <a:xfrm>
            <a:off x="1463040" y="5120640"/>
            <a:ext cx="137160" cy="137160"/>
          </a:xfrm>
          <a:prstGeom prst="rect">
            <a:avLst/>
          </a:prstGeom>
          <a:solidFill>
            <a:srgbClr val="F0C6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7"/>
          <p:cNvSpPr txBox="1"/>
          <p:nvPr/>
        </p:nvSpPr>
        <p:spPr>
          <a:xfrm>
            <a:off x="1737360" y="4937760"/>
            <a:ext cx="9601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24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Kapag may pagkakataon, manlibre ng kape o meryenda — ipagdiwang ang Koinonia.</a:t>
            </a:r>
            <a:endParaRPr/>
          </a:p>
        </p:txBody>
      </p:sp>
      <p:sp>
        <p:nvSpPr>
          <p:cNvPr id="326" name="Google Shape;326;p17"/>
          <p:cNvSpPr/>
          <p:nvPr/>
        </p:nvSpPr>
        <p:spPr>
          <a:xfrm>
            <a:off x="8759952" y="137160"/>
            <a:ext cx="3200400" cy="548640"/>
          </a:xfrm>
          <a:prstGeom prst="roundRect">
            <a:avLst>
              <a:gd fmla="val 16667" name="adj"/>
            </a:avLst>
          </a:prstGeom>
          <a:solidFill>
            <a:srgbClr val="D4AF3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2000">
                <a:solidFill>
                  <a:srgbClr val="141628"/>
                </a:solidFill>
                <a:latin typeface="Calibri"/>
                <a:ea typeface="Calibri"/>
                <a:cs typeface="Calibri"/>
                <a:sym typeface="Calibri"/>
              </a:rPr>
              <a:t>⏱ 2 min · ⌛38:00</a:t>
            </a:r>
            <a:endParaRPr/>
          </a:p>
        </p:txBody>
      </p:sp>
      <p:sp>
        <p:nvSpPr>
          <p:cNvPr id="327" name="Google Shape;327;p17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000">
                <a:solidFill>
                  <a:srgbClr val="B0A98F"/>
                </a:solidFill>
                <a:latin typeface="DM Sans"/>
                <a:ea typeface="DM Sans"/>
                <a:cs typeface="DM Sans"/>
                <a:sym typeface="DM Sans"/>
              </a:rPr>
              <a:t>17 / 23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B2E3F"/>
        </a:solidFill>
      </p:bgPr>
    </p:bg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18"/>
          <p:cNvSpPr txBox="1"/>
          <p:nvPr/>
        </p:nvSpPr>
        <p:spPr>
          <a:xfrm>
            <a:off x="365760" y="27432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1100">
                <a:solidFill>
                  <a:srgbClr val="F0C64A"/>
                </a:solidFill>
                <a:latin typeface="DM Sans"/>
                <a:ea typeface="DM Sans"/>
                <a:cs typeface="DM Sans"/>
                <a:sym typeface="DM Sans"/>
              </a:rPr>
              <a:t>TUGON · APPRECIATION MESSAGE · TANONG</a:t>
            </a:r>
            <a:endParaRPr/>
          </a:p>
        </p:txBody>
      </p:sp>
      <p:sp>
        <p:nvSpPr>
          <p:cNvPr id="334" name="Google Shape;334;p18"/>
          <p:cNvSpPr/>
          <p:nvPr/>
        </p:nvSpPr>
        <p:spPr>
          <a:xfrm>
            <a:off x="4590288" y="960120"/>
            <a:ext cx="3017520" cy="384048"/>
          </a:xfrm>
          <a:prstGeom prst="roundRect">
            <a:avLst>
              <a:gd fmla="val 16667" name="adj"/>
            </a:avLst>
          </a:prstGeom>
          <a:solidFill>
            <a:srgbClr val="D4A83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1300">
                <a:solidFill>
                  <a:srgbClr val="141628"/>
                </a:solidFill>
                <a:latin typeface="DM Sans"/>
                <a:ea typeface="DM Sans"/>
                <a:cs typeface="DM Sans"/>
                <a:sym typeface="DM Sans"/>
              </a:rPr>
              <a:t>📋 Participant Guide Question</a:t>
            </a:r>
            <a:endParaRPr/>
          </a:p>
        </p:txBody>
      </p:sp>
      <p:sp>
        <p:nvSpPr>
          <p:cNvPr id="335" name="Google Shape;335;p18"/>
          <p:cNvSpPr txBox="1"/>
          <p:nvPr/>
        </p:nvSpPr>
        <p:spPr>
          <a:xfrm>
            <a:off x="822960" y="2552284"/>
            <a:ext cx="10542900" cy="166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3600">
                <a:solidFill>
                  <a:srgbClr val="FDF6E8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Isulat ang draft ng iyong Appreciation Message para sa isang tao mula sa Boxes 1-3 ng iyong Connection Quiz.</a:t>
            </a:r>
            <a:endParaRPr/>
          </a:p>
        </p:txBody>
      </p:sp>
      <p:sp>
        <p:nvSpPr>
          <p:cNvPr id="336" name="Google Shape;336;p18"/>
          <p:cNvSpPr/>
          <p:nvPr/>
        </p:nvSpPr>
        <p:spPr>
          <a:xfrm>
            <a:off x="8759952" y="137160"/>
            <a:ext cx="3200400" cy="548640"/>
          </a:xfrm>
          <a:prstGeom prst="roundRect">
            <a:avLst>
              <a:gd fmla="val 16667" name="adj"/>
            </a:avLst>
          </a:prstGeom>
          <a:solidFill>
            <a:srgbClr val="D4AF3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2000">
                <a:solidFill>
                  <a:srgbClr val="141628"/>
                </a:solidFill>
                <a:latin typeface="Calibri"/>
                <a:ea typeface="Calibri"/>
                <a:cs typeface="Calibri"/>
                <a:sym typeface="Calibri"/>
              </a:rPr>
              <a:t>⏱ 8 min · ⌛46:00</a:t>
            </a:r>
            <a:endParaRPr/>
          </a:p>
        </p:txBody>
      </p:sp>
      <p:sp>
        <p:nvSpPr>
          <p:cNvPr id="337" name="Google Shape;337;p18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000">
                <a:solidFill>
                  <a:srgbClr val="B0A98F"/>
                </a:solidFill>
                <a:latin typeface="DM Sans"/>
                <a:ea typeface="DM Sans"/>
                <a:cs typeface="DM Sans"/>
                <a:sym typeface="DM Sans"/>
              </a:rPr>
              <a:t>18 / 23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B2E3F"/>
        </a:solidFill>
      </p:bgPr>
    </p:bg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19"/>
          <p:cNvSpPr txBox="1"/>
          <p:nvPr/>
        </p:nvSpPr>
        <p:spPr>
          <a:xfrm>
            <a:off x="365760" y="27432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1100">
                <a:solidFill>
                  <a:srgbClr val="F0C64A"/>
                </a:solidFill>
                <a:latin typeface="DM Sans"/>
                <a:ea typeface="DM Sans"/>
                <a:cs typeface="DM Sans"/>
                <a:sym typeface="DM Sans"/>
              </a:rPr>
              <a:t>TUGON · TANONG</a:t>
            </a:r>
            <a:endParaRPr/>
          </a:p>
        </p:txBody>
      </p:sp>
      <p:sp>
        <p:nvSpPr>
          <p:cNvPr id="344" name="Google Shape;344;p19"/>
          <p:cNvSpPr/>
          <p:nvPr/>
        </p:nvSpPr>
        <p:spPr>
          <a:xfrm>
            <a:off x="4590288" y="960120"/>
            <a:ext cx="3017520" cy="384048"/>
          </a:xfrm>
          <a:prstGeom prst="roundRect">
            <a:avLst>
              <a:gd fmla="val 16667" name="adj"/>
            </a:avLst>
          </a:prstGeom>
          <a:solidFill>
            <a:srgbClr val="D4A83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1300">
                <a:solidFill>
                  <a:srgbClr val="141628"/>
                </a:solidFill>
                <a:latin typeface="DM Sans"/>
                <a:ea typeface="DM Sans"/>
                <a:cs typeface="DM Sans"/>
                <a:sym typeface="DM Sans"/>
              </a:rPr>
              <a:t>📋 Participant Guide Question</a:t>
            </a:r>
            <a:endParaRPr/>
          </a:p>
        </p:txBody>
      </p:sp>
      <p:sp>
        <p:nvSpPr>
          <p:cNvPr id="345" name="Google Shape;345;p19"/>
          <p:cNvSpPr txBox="1"/>
          <p:nvPr/>
        </p:nvSpPr>
        <p:spPr>
          <a:xfrm>
            <a:off x="822960" y="2459951"/>
            <a:ext cx="10543032" cy="184665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4000">
                <a:solidFill>
                  <a:srgbClr val="FDF6E8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Kanino mo ito ipapadala ngayong linggo? Isulat ang pangalan at ang paraan ng paghahatid.</a:t>
            </a:r>
            <a:endParaRPr/>
          </a:p>
        </p:txBody>
      </p:sp>
      <p:sp>
        <p:nvSpPr>
          <p:cNvPr id="346" name="Google Shape;346;p19"/>
          <p:cNvSpPr txBox="1"/>
          <p:nvPr/>
        </p:nvSpPr>
        <p:spPr>
          <a:xfrm>
            <a:off x="822960" y="5155096"/>
            <a:ext cx="105429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PH" sz="2300">
                <a:solidFill>
                  <a:srgbClr val="D4A838"/>
                </a:solidFill>
                <a:latin typeface="DM Sans"/>
                <a:ea typeface="DM Sans"/>
                <a:cs typeface="DM Sans"/>
                <a:sym typeface="DM Sans"/>
              </a:rPr>
              <a:t>Text, chat, sulat-kamay, o harapan — hindi tapos ang Tugon kapag naisulat lang; tapos ito kapag NAIPADALA.</a:t>
            </a:r>
            <a:endParaRPr sz="1700"/>
          </a:p>
        </p:txBody>
      </p:sp>
      <p:sp>
        <p:nvSpPr>
          <p:cNvPr id="347" name="Google Shape;347;p19"/>
          <p:cNvSpPr/>
          <p:nvPr/>
        </p:nvSpPr>
        <p:spPr>
          <a:xfrm>
            <a:off x="8759952" y="137160"/>
            <a:ext cx="3200400" cy="548640"/>
          </a:xfrm>
          <a:prstGeom prst="roundRect">
            <a:avLst>
              <a:gd fmla="val 16667" name="adj"/>
            </a:avLst>
          </a:prstGeom>
          <a:solidFill>
            <a:srgbClr val="D4AF3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2000">
                <a:solidFill>
                  <a:srgbClr val="141628"/>
                </a:solidFill>
                <a:latin typeface="Calibri"/>
                <a:ea typeface="Calibri"/>
                <a:cs typeface="Calibri"/>
                <a:sym typeface="Calibri"/>
              </a:rPr>
              <a:t>⏱ 4 min · ⌛50:00</a:t>
            </a:r>
            <a:endParaRPr/>
          </a:p>
        </p:txBody>
      </p:sp>
      <p:sp>
        <p:nvSpPr>
          <p:cNvPr id="348" name="Google Shape;348;p19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000">
                <a:solidFill>
                  <a:srgbClr val="B0A98F"/>
                </a:solidFill>
                <a:latin typeface="DM Sans"/>
                <a:ea typeface="DM Sans"/>
                <a:cs typeface="DM Sans"/>
                <a:sym typeface="DM Sans"/>
              </a:rPr>
              <a:t>19 / 23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6E8"/>
        </a:solidFill>
      </p:bgPr>
    </p:bg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20"/>
          <p:cNvSpPr txBox="1"/>
          <p:nvPr/>
        </p:nvSpPr>
        <p:spPr>
          <a:xfrm>
            <a:off x="365760" y="27432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1100">
                <a:solidFill>
                  <a:srgbClr val="2A5C40"/>
                </a:solidFill>
                <a:latin typeface="DM Sans"/>
                <a:ea typeface="DM Sans"/>
                <a:cs typeface="DM Sans"/>
                <a:sym typeface="DM Sans"/>
              </a:rPr>
              <a:t>DALHIN · CARRY HOME</a:t>
            </a:r>
            <a:endParaRPr/>
          </a:p>
        </p:txBody>
      </p:sp>
      <p:sp>
        <p:nvSpPr>
          <p:cNvPr id="355" name="Google Shape;355;p20"/>
          <p:cNvSpPr txBox="1"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4000">
                <a:solidFill>
                  <a:srgbClr val="1A1612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Tatlong Bagay sa Linggong Ito</a:t>
            </a:r>
            <a:endParaRPr/>
          </a:p>
        </p:txBody>
      </p:sp>
      <p:sp>
        <p:nvSpPr>
          <p:cNvPr id="356" name="Google Shape;356;p20"/>
          <p:cNvSpPr/>
          <p:nvPr/>
        </p:nvSpPr>
        <p:spPr>
          <a:xfrm>
            <a:off x="914400" y="2377440"/>
            <a:ext cx="164592" cy="164592"/>
          </a:xfrm>
          <a:prstGeom prst="rect">
            <a:avLst/>
          </a:prstGeom>
          <a:solidFill>
            <a:srgbClr val="2A5C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0"/>
          <p:cNvSpPr txBox="1"/>
          <p:nvPr/>
        </p:nvSpPr>
        <p:spPr>
          <a:xfrm>
            <a:off x="1234440" y="2194560"/>
            <a:ext cx="10058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2700">
                <a:solidFill>
                  <a:srgbClr val="1A1612"/>
                </a:solidFill>
                <a:latin typeface="DM Sans"/>
                <a:ea typeface="DM Sans"/>
                <a:cs typeface="DM Sans"/>
                <a:sym typeface="DM Sans"/>
              </a:rPr>
              <a:t>7-Day Fellowship Watch</a:t>
            </a:r>
            <a:endParaRPr sz="1700"/>
          </a:p>
        </p:txBody>
      </p:sp>
      <p:sp>
        <p:nvSpPr>
          <p:cNvPr id="358" name="Google Shape;358;p20"/>
          <p:cNvSpPr txBox="1"/>
          <p:nvPr/>
        </p:nvSpPr>
        <p:spPr>
          <a:xfrm>
            <a:off x="1234440" y="2651760"/>
            <a:ext cx="100584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2300">
                <a:solidFill>
                  <a:srgbClr val="1A1612"/>
                </a:solidFill>
                <a:latin typeface="DM Sans"/>
                <a:ea typeface="DM Sans"/>
                <a:cs typeface="DM Sans"/>
                <a:sym typeface="DM Sans"/>
              </a:rPr>
              <a:t>Lunes-Linggo. Bawat araw, isang konkretong gawa ng 4-K — sabihin kung alin.</a:t>
            </a:r>
            <a:endParaRPr sz="1700"/>
          </a:p>
        </p:txBody>
      </p:sp>
      <p:sp>
        <p:nvSpPr>
          <p:cNvPr id="359" name="Google Shape;359;p20"/>
          <p:cNvSpPr/>
          <p:nvPr/>
        </p:nvSpPr>
        <p:spPr>
          <a:xfrm>
            <a:off x="914400" y="3687184"/>
            <a:ext cx="164700" cy="164700"/>
          </a:xfrm>
          <a:prstGeom prst="rect">
            <a:avLst/>
          </a:prstGeom>
          <a:solidFill>
            <a:srgbClr val="2A5C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20"/>
          <p:cNvSpPr txBox="1"/>
          <p:nvPr/>
        </p:nvSpPr>
        <p:spPr>
          <a:xfrm>
            <a:off x="1234440" y="3504304"/>
            <a:ext cx="10058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2700">
                <a:solidFill>
                  <a:srgbClr val="1A1612"/>
                </a:solidFill>
                <a:latin typeface="DM Sans"/>
                <a:ea typeface="DM Sans"/>
                <a:cs typeface="DM Sans"/>
                <a:sym typeface="DM Sans"/>
              </a:rPr>
              <a:t>EOLO bridge · 48 oras</a:t>
            </a:r>
            <a:endParaRPr sz="1700"/>
          </a:p>
        </p:txBody>
      </p:sp>
      <p:sp>
        <p:nvSpPr>
          <p:cNvPr id="361" name="Google Shape;361;p20"/>
          <p:cNvSpPr txBox="1"/>
          <p:nvPr/>
        </p:nvSpPr>
        <p:spPr>
          <a:xfrm>
            <a:off x="1234440" y="3961504"/>
            <a:ext cx="100584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2300">
                <a:solidFill>
                  <a:srgbClr val="1A1612"/>
                </a:solidFill>
                <a:latin typeface="DM Sans"/>
                <a:ea typeface="DM Sans"/>
                <a:cs typeface="DM Sans"/>
                <a:sym typeface="DM Sans"/>
              </a:rPr>
              <a:t>Mag-reach out sa isang taong WALA sa Boxes 1-4 — bagong outreach, hindi existing relasyon.</a:t>
            </a:r>
            <a:endParaRPr sz="1700"/>
          </a:p>
        </p:txBody>
      </p:sp>
      <p:sp>
        <p:nvSpPr>
          <p:cNvPr id="362" name="Google Shape;362;p20"/>
          <p:cNvSpPr/>
          <p:nvPr/>
        </p:nvSpPr>
        <p:spPr>
          <a:xfrm>
            <a:off x="914400" y="4996927"/>
            <a:ext cx="164700" cy="164700"/>
          </a:xfrm>
          <a:prstGeom prst="rect">
            <a:avLst/>
          </a:prstGeom>
          <a:solidFill>
            <a:srgbClr val="2A5C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20"/>
          <p:cNvSpPr txBox="1"/>
          <p:nvPr/>
        </p:nvSpPr>
        <p:spPr>
          <a:xfrm>
            <a:off x="1234440" y="4814047"/>
            <a:ext cx="10058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2700">
                <a:solidFill>
                  <a:srgbClr val="1A1612"/>
                </a:solidFill>
                <a:latin typeface="DM Sans"/>
                <a:ea typeface="DM Sans"/>
                <a:cs typeface="DM Sans"/>
                <a:sym typeface="DM Sans"/>
              </a:rPr>
              <a:t>Kabisaduhin</a:t>
            </a:r>
            <a:endParaRPr sz="1700"/>
          </a:p>
        </p:txBody>
      </p:sp>
      <p:sp>
        <p:nvSpPr>
          <p:cNvPr id="364" name="Google Shape;364;p20"/>
          <p:cNvSpPr txBox="1"/>
          <p:nvPr/>
        </p:nvSpPr>
        <p:spPr>
          <a:xfrm>
            <a:off x="1234440" y="5271247"/>
            <a:ext cx="100584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PH" sz="2300">
                <a:solidFill>
                  <a:srgbClr val="1A1612"/>
                </a:solidFill>
                <a:latin typeface="DM Sans"/>
                <a:ea typeface="DM Sans"/>
                <a:cs typeface="DM Sans"/>
                <a:sym typeface="DM Sans"/>
              </a:rPr>
              <a:t>Roma 12:4-5 bago ang susunod na LCG.</a:t>
            </a:r>
            <a:endParaRPr sz="1700"/>
          </a:p>
        </p:txBody>
      </p:sp>
      <p:sp>
        <p:nvSpPr>
          <p:cNvPr id="365" name="Google Shape;365;p20"/>
          <p:cNvSpPr txBox="1"/>
          <p:nvPr/>
        </p:nvSpPr>
        <p:spPr>
          <a:xfrm>
            <a:off x="457200" y="5943600"/>
            <a:ext cx="112470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PH" sz="2300">
                <a:solidFill>
                  <a:srgbClr val="9A7820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Ang fellowship ay hindi nag-iisang gawain. Pati ang pag-aaral nito ay para sa pamayanan.</a:t>
            </a:r>
            <a:endParaRPr sz="1700"/>
          </a:p>
        </p:txBody>
      </p:sp>
      <p:sp>
        <p:nvSpPr>
          <p:cNvPr id="366" name="Google Shape;366;p20"/>
          <p:cNvSpPr/>
          <p:nvPr/>
        </p:nvSpPr>
        <p:spPr>
          <a:xfrm>
            <a:off x="8759952" y="137160"/>
            <a:ext cx="3200400" cy="548640"/>
          </a:xfrm>
          <a:prstGeom prst="roundRect">
            <a:avLst>
              <a:gd fmla="val 16667" name="adj"/>
            </a:avLst>
          </a:prstGeom>
          <a:solidFill>
            <a:srgbClr val="D4AF3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2000">
                <a:solidFill>
                  <a:srgbClr val="141628"/>
                </a:solidFill>
                <a:latin typeface="Calibri"/>
                <a:ea typeface="Calibri"/>
                <a:cs typeface="Calibri"/>
                <a:sym typeface="Calibri"/>
              </a:rPr>
              <a:t>⏱ 4 min · ⌛54:00</a:t>
            </a:r>
            <a:endParaRPr/>
          </a:p>
        </p:txBody>
      </p:sp>
      <p:sp>
        <p:nvSpPr>
          <p:cNvPr id="367" name="Google Shape;367;p20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000">
                <a:solidFill>
                  <a:srgbClr val="B0A98F"/>
                </a:solidFill>
                <a:latin typeface="DM Sans"/>
                <a:ea typeface="DM Sans"/>
                <a:cs typeface="DM Sans"/>
                <a:sym typeface="DM Sans"/>
              </a:rPr>
              <a:t>20 / 23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B2E3F"/>
        </a:solid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1"/>
          <p:cNvSpPr txBox="1"/>
          <p:nvPr/>
        </p:nvSpPr>
        <p:spPr>
          <a:xfrm>
            <a:off x="365760" y="27432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1100">
                <a:solidFill>
                  <a:srgbClr val="F0C64A"/>
                </a:solidFill>
                <a:latin typeface="DM Sans"/>
                <a:ea typeface="DM Sans"/>
                <a:cs typeface="DM Sans"/>
                <a:sym typeface="DM Sans"/>
              </a:rPr>
              <a:t>DALHIN · SNAPSHOT · TANONG</a:t>
            </a:r>
            <a:endParaRPr/>
          </a:p>
        </p:txBody>
      </p:sp>
      <p:sp>
        <p:nvSpPr>
          <p:cNvPr id="374" name="Google Shape;374;p21"/>
          <p:cNvSpPr/>
          <p:nvPr/>
        </p:nvSpPr>
        <p:spPr>
          <a:xfrm>
            <a:off x="4590288" y="960120"/>
            <a:ext cx="3017520" cy="384048"/>
          </a:xfrm>
          <a:prstGeom prst="roundRect">
            <a:avLst>
              <a:gd fmla="val 16667" name="adj"/>
            </a:avLst>
          </a:prstGeom>
          <a:solidFill>
            <a:srgbClr val="D4A83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1300">
                <a:solidFill>
                  <a:srgbClr val="141628"/>
                </a:solidFill>
                <a:latin typeface="DM Sans"/>
                <a:ea typeface="DM Sans"/>
                <a:cs typeface="DM Sans"/>
                <a:sym typeface="DM Sans"/>
              </a:rPr>
              <a:t>📋 Participant Guide Question</a:t>
            </a:r>
            <a:endParaRPr/>
          </a:p>
        </p:txBody>
      </p:sp>
      <p:sp>
        <p:nvSpPr>
          <p:cNvPr id="375" name="Google Shape;375;p21"/>
          <p:cNvSpPr txBox="1"/>
          <p:nvPr/>
        </p:nvSpPr>
        <p:spPr>
          <a:xfrm>
            <a:off x="822960" y="2459951"/>
            <a:ext cx="10543032" cy="184665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4000">
                <a:solidFill>
                  <a:srgbClr val="FDF6E8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Snapshot pagkatapos ng aralin: 1 hanggang 10 — gaano ka-quality ang fellowship mo ngayon?</a:t>
            </a:r>
            <a:endParaRPr/>
          </a:p>
        </p:txBody>
      </p:sp>
      <p:sp>
        <p:nvSpPr>
          <p:cNvPr id="376" name="Google Shape;376;p21"/>
          <p:cNvSpPr txBox="1"/>
          <p:nvPr/>
        </p:nvSpPr>
        <p:spPr>
          <a:xfrm>
            <a:off x="822960" y="5486400"/>
            <a:ext cx="10543032" cy="61555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PH" sz="2000">
                <a:solidFill>
                  <a:srgbClr val="D4A838"/>
                </a:solidFill>
                <a:latin typeface="DM Sans"/>
                <a:ea typeface="DM Sans"/>
                <a:cs typeface="DM Sans"/>
                <a:sym typeface="DM Sans"/>
              </a:rPr>
              <a:t>I-compare sa sagot mo sa simula ng PUKAW. Walang shame kung pareho — ang aralin ay simula, hindi katapusan.</a:t>
            </a:r>
            <a:endParaRPr/>
          </a:p>
        </p:txBody>
      </p:sp>
      <p:sp>
        <p:nvSpPr>
          <p:cNvPr id="377" name="Google Shape;377;p21"/>
          <p:cNvSpPr/>
          <p:nvPr/>
        </p:nvSpPr>
        <p:spPr>
          <a:xfrm>
            <a:off x="8759952" y="137160"/>
            <a:ext cx="3200400" cy="548640"/>
          </a:xfrm>
          <a:prstGeom prst="roundRect">
            <a:avLst>
              <a:gd fmla="val 16667" name="adj"/>
            </a:avLst>
          </a:prstGeom>
          <a:solidFill>
            <a:srgbClr val="D4AF3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2000">
                <a:solidFill>
                  <a:srgbClr val="141628"/>
                </a:solidFill>
                <a:latin typeface="Calibri"/>
                <a:ea typeface="Calibri"/>
                <a:cs typeface="Calibri"/>
                <a:sym typeface="Calibri"/>
              </a:rPr>
              <a:t>⏱ 2 min · ⌛56:00</a:t>
            </a:r>
            <a:endParaRPr/>
          </a:p>
        </p:txBody>
      </p:sp>
      <p:sp>
        <p:nvSpPr>
          <p:cNvPr id="378" name="Google Shape;378;p21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000">
                <a:solidFill>
                  <a:srgbClr val="B0A98F"/>
                </a:solidFill>
                <a:latin typeface="DM Sans"/>
                <a:ea typeface="DM Sans"/>
                <a:cs typeface="DM Sans"/>
                <a:sym typeface="DM Sans"/>
              </a:rPr>
              <a:t>21 / 23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2E3F"/>
        </a:solidFill>
      </p:bgPr>
    </p:bg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22"/>
          <p:cNvSpPr txBox="1"/>
          <p:nvPr/>
        </p:nvSpPr>
        <p:spPr>
          <a:xfrm>
            <a:off x="365760" y="27432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11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DALHIN · PANGAKO KO</a:t>
            </a:r>
            <a:endParaRPr/>
          </a:p>
        </p:txBody>
      </p:sp>
      <p:sp>
        <p:nvSpPr>
          <p:cNvPr id="385" name="Google Shape;385;p22"/>
          <p:cNvSpPr/>
          <p:nvPr/>
        </p:nvSpPr>
        <p:spPr>
          <a:xfrm>
            <a:off x="4937760" y="868680"/>
            <a:ext cx="2286000" cy="457200"/>
          </a:xfrm>
          <a:prstGeom prst="roundRect">
            <a:avLst>
              <a:gd fmla="val 16667" name="adj"/>
            </a:avLst>
          </a:prstGeom>
          <a:solidFill>
            <a:srgbClr val="D4A8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22"/>
          <p:cNvSpPr txBox="1"/>
          <p:nvPr/>
        </p:nvSpPr>
        <p:spPr>
          <a:xfrm>
            <a:off x="4937760" y="886968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1300">
                <a:solidFill>
                  <a:srgbClr val="1A2E3F"/>
                </a:solidFill>
                <a:latin typeface="DM Sans"/>
                <a:ea typeface="DM Sans"/>
                <a:cs typeface="DM Sans"/>
                <a:sym typeface="DM Sans"/>
              </a:rPr>
              <a:t>PANGAKO KO</a:t>
            </a:r>
            <a:endParaRPr/>
          </a:p>
        </p:txBody>
      </p:sp>
      <p:sp>
        <p:nvSpPr>
          <p:cNvPr id="387" name="Google Shape;387;p22"/>
          <p:cNvSpPr txBox="1"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320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Isang Pangako, Sasabihin sa LCG</a:t>
            </a:r>
            <a:endParaRPr/>
          </a:p>
        </p:txBody>
      </p:sp>
      <p:sp>
        <p:nvSpPr>
          <p:cNvPr id="388" name="Google Shape;388;p22"/>
          <p:cNvSpPr txBox="1"/>
          <p:nvPr/>
        </p:nvSpPr>
        <p:spPr>
          <a:xfrm>
            <a:off x="457200" y="2743200"/>
            <a:ext cx="1124712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PH" sz="3000">
                <a:solidFill>
                  <a:srgbClr val="F0C64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"Hindi ako mag-iisa.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PH" sz="3000">
                <a:solidFill>
                  <a:srgbClr val="F0C64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Hindi ako magtatago.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PH" sz="3000">
                <a:solidFill>
                  <a:srgbClr val="F0C64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Magiging bahagi ako ng katawan ni Cristo —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PH" sz="3000">
                <a:solidFill>
                  <a:srgbClr val="F0C64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aktibo, taos, at handang sumakripisyo para sa kapatid."</a:t>
            </a:r>
            <a:endParaRPr/>
          </a:p>
        </p:txBody>
      </p:sp>
      <p:sp>
        <p:nvSpPr>
          <p:cNvPr id="389" name="Google Shape;389;p22"/>
          <p:cNvSpPr txBox="1"/>
          <p:nvPr/>
        </p:nvSpPr>
        <p:spPr>
          <a:xfrm>
            <a:off x="457200" y="5760720"/>
            <a:ext cx="112470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PH" sz="23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— Isasaksi ng kapatid.</a:t>
            </a:r>
            <a:endParaRPr sz="1900"/>
          </a:p>
        </p:txBody>
      </p:sp>
      <p:sp>
        <p:nvSpPr>
          <p:cNvPr id="390" name="Google Shape;390;p22"/>
          <p:cNvSpPr/>
          <p:nvPr/>
        </p:nvSpPr>
        <p:spPr>
          <a:xfrm>
            <a:off x="8759952" y="137160"/>
            <a:ext cx="3200400" cy="548640"/>
          </a:xfrm>
          <a:prstGeom prst="roundRect">
            <a:avLst>
              <a:gd fmla="val 16667" name="adj"/>
            </a:avLst>
          </a:prstGeom>
          <a:solidFill>
            <a:srgbClr val="D4AF3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2000">
                <a:solidFill>
                  <a:srgbClr val="141628"/>
                </a:solidFill>
                <a:latin typeface="Calibri"/>
                <a:ea typeface="Calibri"/>
                <a:cs typeface="Calibri"/>
                <a:sym typeface="Calibri"/>
              </a:rPr>
              <a:t>⏱ 3 min · ⌛59:00</a:t>
            </a:r>
            <a:endParaRPr/>
          </a:p>
        </p:txBody>
      </p:sp>
      <p:sp>
        <p:nvSpPr>
          <p:cNvPr id="391" name="Google Shape;391;p22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000">
                <a:solidFill>
                  <a:srgbClr val="B0A98F"/>
                </a:solidFill>
                <a:latin typeface="DM Sans"/>
                <a:ea typeface="DM Sans"/>
                <a:cs typeface="DM Sans"/>
                <a:sym typeface="DM Sans"/>
              </a:rPr>
              <a:t>22 / 23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4830"/>
        </a:solid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23"/>
          <p:cNvSpPr txBox="1"/>
          <p:nvPr/>
        </p:nvSpPr>
        <p:spPr>
          <a:xfrm>
            <a:off x="365760" y="27432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11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SUSUNOD NA HAKBANG</a:t>
            </a:r>
            <a:endParaRPr/>
          </a:p>
        </p:txBody>
      </p:sp>
      <p:sp>
        <p:nvSpPr>
          <p:cNvPr id="398" name="Google Shape;398;p2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1300">
                <a:solidFill>
                  <a:srgbClr val="F0C64A"/>
                </a:solidFill>
                <a:latin typeface="DM Sans"/>
                <a:ea typeface="DM Sans"/>
                <a:cs typeface="DM Sans"/>
                <a:sym typeface="DM Sans"/>
              </a:rPr>
              <a:t>L7 PREVIEW</a:t>
            </a:r>
            <a:endParaRPr/>
          </a:p>
        </p:txBody>
      </p:sp>
      <p:sp>
        <p:nvSpPr>
          <p:cNvPr id="399" name="Google Shape;399;p23"/>
          <p:cNvSpPr txBox="1"/>
          <p:nvPr/>
        </p:nvSpPr>
        <p:spPr>
          <a:xfrm>
            <a:off x="457200" y="1463040"/>
            <a:ext cx="11247000" cy="7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450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Church Worship Service</a:t>
            </a:r>
            <a:endParaRPr sz="1900"/>
          </a:p>
        </p:txBody>
      </p:sp>
      <p:sp>
        <p:nvSpPr>
          <p:cNvPr id="400" name="Google Shape;400;p23"/>
          <p:cNvSpPr txBox="1"/>
          <p:nvPr/>
        </p:nvSpPr>
        <p:spPr>
          <a:xfrm>
            <a:off x="914400" y="2468880"/>
            <a:ext cx="103326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PH" sz="23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"Hindi mo kailangang harapin nang mag-isa ang hirap — may community ka."</a:t>
            </a:r>
            <a:endParaRPr sz="1900"/>
          </a:p>
        </p:txBody>
      </p:sp>
      <p:sp>
        <p:nvSpPr>
          <p:cNvPr id="401" name="Google Shape;401;p23"/>
          <p:cNvSpPr txBox="1"/>
          <p:nvPr/>
        </p:nvSpPr>
        <p:spPr>
          <a:xfrm>
            <a:off x="457200" y="3657600"/>
            <a:ext cx="11247000" cy="9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PH" sz="290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"Kung paanong sa iisang katawan ay maraming sangkap tayo… bawat isa'y mga sangkap ng isa't isa."</a:t>
            </a:r>
            <a:endParaRPr sz="1900"/>
          </a:p>
        </p:txBody>
      </p:sp>
      <p:sp>
        <p:nvSpPr>
          <p:cNvPr id="402" name="Google Shape;402;p23"/>
          <p:cNvSpPr txBox="1"/>
          <p:nvPr/>
        </p:nvSpPr>
        <p:spPr>
          <a:xfrm>
            <a:off x="457200" y="5577840"/>
            <a:ext cx="11247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1800">
                <a:solidFill>
                  <a:srgbClr val="D4A838"/>
                </a:solidFill>
                <a:latin typeface="DM Sans"/>
                <a:ea typeface="DM Sans"/>
                <a:cs typeface="DM Sans"/>
                <a:sym typeface="DM Sans"/>
              </a:rPr>
              <a:t>— ROMA 12:4-5</a:t>
            </a:r>
            <a:endParaRPr sz="1900"/>
          </a:p>
        </p:txBody>
      </p:sp>
      <p:sp>
        <p:nvSpPr>
          <p:cNvPr id="403" name="Google Shape;403;p23"/>
          <p:cNvSpPr txBox="1"/>
          <p:nvPr/>
        </p:nvSpPr>
        <p:spPr>
          <a:xfrm>
            <a:off x="7772400" y="6446520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9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SALAMAT, KAPATID.</a:t>
            </a:r>
            <a:endParaRPr/>
          </a:p>
        </p:txBody>
      </p:sp>
      <p:sp>
        <p:nvSpPr>
          <p:cNvPr id="404" name="Google Shape;404;p23"/>
          <p:cNvSpPr/>
          <p:nvPr/>
        </p:nvSpPr>
        <p:spPr>
          <a:xfrm>
            <a:off x="8759952" y="137160"/>
            <a:ext cx="3200400" cy="548640"/>
          </a:xfrm>
          <a:prstGeom prst="roundRect">
            <a:avLst>
              <a:gd fmla="val 16667" name="adj"/>
            </a:avLst>
          </a:prstGeom>
          <a:solidFill>
            <a:srgbClr val="D4AF3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2000">
                <a:solidFill>
                  <a:srgbClr val="141628"/>
                </a:solidFill>
                <a:latin typeface="Calibri"/>
                <a:ea typeface="Calibri"/>
                <a:cs typeface="Calibri"/>
                <a:sym typeface="Calibri"/>
              </a:rPr>
              <a:t>⏱ 1 min · ⌛60:00</a:t>
            </a:r>
            <a:endParaRPr/>
          </a:p>
        </p:txBody>
      </p:sp>
      <p:sp>
        <p:nvSpPr>
          <p:cNvPr id="405" name="Google Shape;405;p23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000">
                <a:solidFill>
                  <a:srgbClr val="B0A98F"/>
                </a:solidFill>
                <a:latin typeface="DM Sans"/>
                <a:ea typeface="DM Sans"/>
                <a:cs typeface="DM Sans"/>
                <a:sym typeface="DM Sans"/>
              </a:rPr>
              <a:t>23 / 23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4830"/>
        </a:solidFill>
      </p:bgPr>
    </p:bg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3fb2f0c5768_0_1"/>
          <p:cNvSpPr txBox="1"/>
          <p:nvPr/>
        </p:nvSpPr>
        <p:spPr>
          <a:xfrm>
            <a:off x="365760" y="274320"/>
            <a:ext cx="6400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11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PUKAW</a:t>
            </a:r>
            <a:endParaRPr/>
          </a:p>
        </p:txBody>
      </p:sp>
      <p:sp>
        <p:nvSpPr>
          <p:cNvPr id="412" name="Google Shape;412;g3fb2f0c5768_0_1"/>
          <p:cNvSpPr txBox="1"/>
          <p:nvPr/>
        </p:nvSpPr>
        <p:spPr>
          <a:xfrm>
            <a:off x="457200" y="1280160"/>
            <a:ext cx="11247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1400">
                <a:solidFill>
                  <a:srgbClr val="F0C64A"/>
                </a:solidFill>
                <a:latin typeface="DM Sans"/>
                <a:ea typeface="DM Sans"/>
                <a:cs typeface="DM Sans"/>
                <a:sym typeface="DM Sans"/>
              </a:rPr>
              <a:t>MEMORY VERSE</a:t>
            </a:r>
            <a:endParaRPr/>
          </a:p>
        </p:txBody>
      </p:sp>
      <p:sp>
        <p:nvSpPr>
          <p:cNvPr id="413" name="Google Shape;413;g3fb2f0c5768_0_1"/>
          <p:cNvSpPr txBox="1"/>
          <p:nvPr/>
        </p:nvSpPr>
        <p:spPr>
          <a:xfrm>
            <a:off x="731520" y="2194560"/>
            <a:ext cx="10698600" cy="286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PH" sz="360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"Kung paanong sa iisang katawan ay maraming sangkap tayo, at ang lahat ng sangkap ay hindi pare-pareho ang gawain, gayon din naman tayo na marami, ay iisang katawan kay Cristo, at bawat isa'y mga sangkap ng isa't isa."</a:t>
            </a:r>
            <a:endParaRPr/>
          </a:p>
        </p:txBody>
      </p:sp>
      <p:sp>
        <p:nvSpPr>
          <p:cNvPr id="414" name="Google Shape;414;g3fb2f0c5768_0_1"/>
          <p:cNvSpPr txBox="1"/>
          <p:nvPr/>
        </p:nvSpPr>
        <p:spPr>
          <a:xfrm>
            <a:off x="457200" y="5394960"/>
            <a:ext cx="11247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PH" sz="1400">
                <a:solidFill>
                  <a:srgbClr val="D4A838"/>
                </a:solidFill>
                <a:latin typeface="DM Sans"/>
                <a:ea typeface="DM Sans"/>
                <a:cs typeface="DM Sans"/>
                <a:sym typeface="DM Sans"/>
              </a:rPr>
              <a:t>ROMA 12:4-5</a:t>
            </a:r>
            <a:endParaRPr/>
          </a:p>
        </p:txBody>
      </p:sp>
      <p:sp>
        <p:nvSpPr>
          <p:cNvPr id="415" name="Google Shape;415;g3fb2f0c5768_0_1"/>
          <p:cNvSpPr/>
          <p:nvPr/>
        </p:nvSpPr>
        <p:spPr>
          <a:xfrm>
            <a:off x="8759952" y="137160"/>
            <a:ext cx="3200400" cy="548700"/>
          </a:xfrm>
          <a:prstGeom prst="roundRect">
            <a:avLst>
              <a:gd fmla="val 16667" name="adj"/>
            </a:avLst>
          </a:prstGeom>
          <a:solidFill>
            <a:srgbClr val="D4AF3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PH" sz="2000">
                <a:solidFill>
                  <a:srgbClr val="141628"/>
                </a:solidFill>
                <a:latin typeface="Calibri"/>
                <a:ea typeface="Calibri"/>
                <a:cs typeface="Calibri"/>
                <a:sym typeface="Calibri"/>
              </a:rPr>
              <a:t>⏱ 1 min · ⌛4:00</a:t>
            </a:r>
            <a:endParaRPr/>
          </a:p>
        </p:txBody>
      </p:sp>
      <p:sp>
        <p:nvSpPr>
          <p:cNvPr id="416" name="Google Shape;416;g3fb2f0c5768_0_1"/>
          <p:cNvSpPr txBox="1"/>
          <p:nvPr/>
        </p:nvSpPr>
        <p:spPr>
          <a:xfrm>
            <a:off x="11247120" y="6492240"/>
            <a:ext cx="822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PH" sz="1000">
                <a:solidFill>
                  <a:srgbClr val="B0A98F"/>
                </a:solidFill>
                <a:latin typeface="DM Sans"/>
                <a:ea typeface="DM Sans"/>
                <a:cs typeface="DM Sans"/>
                <a:sym typeface="DM Sans"/>
              </a:rPr>
              <a:t>3 / 23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
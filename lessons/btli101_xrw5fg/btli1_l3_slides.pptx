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5" r:id="rId19"/>
    <p:sldId id="272" r:id="rId20"/>
    <p:sldId id="273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2088" autoAdjust="0"/>
  </p:normalViewPr>
  <p:slideViewPr>
    <p:cSldViewPr snapToGrid="0" snapToObjects="1">
      <p:cViewPr varScale="1">
        <p:scale>
          <a:sx n="68" d="100"/>
          <a:sy n="68" d="100"/>
        </p:scale>
        <p:origin x="1810" y="6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3857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L3 is heavier than L1/L2 — set tone immediately. This is "the what now" lesson after a month of L1 prayer + L2 Bible meditation. The character anchor is Joy because Romans 12:1 grounds surrender in mercy received, not gritted-teeth restraint. Pause before clicking forward — let Pagsuko 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STAND. Eye contact. 30-day S.O.A.P.S callback. Celebrate anyone past Day 14 publicly — name them. </a:t>
            </a:r>
          </a:p>
          <a:p>
            <a:r>
              <a:rPr lang="en-US" sz="2200" dirty="0"/>
              <a:t>This is the bridge from L2 (faithfulness) into L3 (joyful surrender). </a:t>
            </a:r>
          </a:p>
          <a:p>
            <a:r>
              <a:rPr lang="en-US" sz="2200" dirty="0"/>
              <a:t>After a month of hearing God, the only honest response is yielding.</a:t>
            </a:r>
          </a:p>
          <a:p>
            <a:r>
              <a:rPr lang="en-PH" sz="2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PASTORAL NOTE:</a:t>
            </a:r>
          </a:p>
          <a:p>
            <a:r>
              <a:rPr lang="en-PH" sz="2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L1 was talking to God. L2 was listening to God. </a:t>
            </a:r>
            <a:r>
              <a:rPr lang="en-PH" sz="2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L3 is the question both lessons lead to: "what now?"</a:t>
            </a:r>
            <a:r>
              <a:rPr lang="en-PH" sz="2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callback isn't decoration — it's the bridge. After hearing God for a month, the only honest response is the one Romans 12:1 names — surrender as </a:t>
            </a:r>
            <a:r>
              <a:rPr lang="en-PH" sz="2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responsive love to mercy received</a:t>
            </a:r>
            <a:r>
              <a:rPr lang="en-PH" sz="2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Tone shift. Dark slide. SLOW DOWN here. Read "Mokusatsu" aloud, slowly. The single word that will unfold into 200,000 dead. Do not rush. Do not joke. Hold the gravity.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Tell the story slowly. After "Hiroshima. Nagasaki." — pause. </a:t>
            </a:r>
          </a:p>
          <a:p>
            <a:r>
              <a:rPr lang="en-US" sz="2200" dirty="0"/>
              <a:t>Let the audience absorb. </a:t>
            </a:r>
          </a:p>
          <a:p>
            <a:r>
              <a:rPr lang="en-US" sz="2200" dirty="0"/>
              <a:t>After "200,000+" — pause again, 5 seconds of silence. </a:t>
            </a:r>
          </a:p>
          <a:p>
            <a:r>
              <a:rPr lang="en-US" sz="2200" dirty="0"/>
              <a:t>Do NOT show graphic images of the bombings. </a:t>
            </a:r>
          </a:p>
          <a:p>
            <a:r>
              <a:rPr lang="en-US" sz="2200" dirty="0"/>
              <a:t>The text alone carries the weight. </a:t>
            </a:r>
          </a:p>
          <a:p>
            <a:r>
              <a:rPr lang="en-US" sz="2200" dirty="0"/>
              <a:t>Then pivot to the question on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The pivot question. </a:t>
            </a:r>
          </a:p>
          <a:p>
            <a:r>
              <a:rPr lang="en-US" sz="2200" dirty="0"/>
              <a:t>Let it sit. </a:t>
            </a:r>
          </a:p>
          <a:p>
            <a:r>
              <a:rPr lang="en-US" sz="2200" dirty="0"/>
              <a:t>Pax write initial reaction in booklet. ~2 minutes silent reflection. </a:t>
            </a:r>
          </a:p>
          <a:p>
            <a:r>
              <a:rPr lang="en-US" sz="2200" dirty="0"/>
              <a:t>Then 1-2 voluntary shares.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L3. Read slowly. The parallel — Kaniyang/ating — is intentional. God yielded to us first (Phil 2 self-emptying); now we yield to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The English "surrender" carries baggage — feels like defeat. </a:t>
            </a:r>
          </a:p>
          <a:p>
            <a:r>
              <a:rPr lang="en-US" sz="2200" dirty="0"/>
              <a:t>The better word: CONSECRATION. "</a:t>
            </a:r>
            <a:r>
              <a:rPr lang="en-US" sz="2200" dirty="0" err="1"/>
              <a:t>Itinatalaga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 ang </a:t>
            </a:r>
            <a:r>
              <a:rPr lang="en-US" sz="2200" dirty="0" err="1"/>
              <a:t>iyong</a:t>
            </a:r>
            <a:r>
              <a:rPr lang="en-US" sz="2200" dirty="0"/>
              <a:t> </a:t>
            </a:r>
            <a:r>
              <a:rPr lang="en-US" sz="2200" dirty="0" err="1"/>
              <a:t>buong</a:t>
            </a:r>
            <a:r>
              <a:rPr lang="en-US" sz="2200" dirty="0"/>
              <a:t> </a:t>
            </a:r>
            <a:r>
              <a:rPr lang="en-US" sz="2200" dirty="0" err="1"/>
              <a:t>buhay</a:t>
            </a:r>
            <a:r>
              <a:rPr lang="en-US" sz="2200" dirty="0"/>
              <a:t> para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paglilingkod</a:t>
            </a:r>
            <a:r>
              <a:rPr lang="en-US" sz="2200" dirty="0"/>
              <a:t> at </a:t>
            </a:r>
            <a:r>
              <a:rPr lang="en-US" sz="2200" dirty="0" err="1"/>
              <a:t>pagsamba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Dios. Sa Kaniya ka lang — ABSOLUTELY, COMPLETELY, EXCLUSIVELY."</a:t>
            </a:r>
          </a:p>
          <a:p>
            <a:endParaRPr lang="en-US" sz="2200" dirty="0"/>
          </a:p>
          <a:p>
            <a:r>
              <a:rPr lang="en-US" sz="2200" dirty="0"/>
              <a:t>Why is consecration the better word? </a:t>
            </a:r>
          </a:p>
          <a:p>
            <a:r>
              <a:rPr lang="en-US" sz="2200" dirty="0"/>
              <a:t>Because surrender suggests force; consecration suggests setting apart. </a:t>
            </a:r>
          </a:p>
          <a:p>
            <a:r>
              <a:rPr lang="en-US" sz="2200" dirty="0"/>
              <a:t>The Lord is not occupying conquered territory. </a:t>
            </a:r>
          </a:p>
          <a:p>
            <a:r>
              <a:rPr lang="en-US" sz="2200" dirty="0"/>
              <a:t>He is welcoming home what was always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aloud. </a:t>
            </a:r>
          </a:p>
          <a:p>
            <a:r>
              <a:rPr lang="en-US" dirty="0"/>
              <a:t>The phrase "binili na kayo sa isang halaga" — emphasize. </a:t>
            </a:r>
          </a:p>
          <a:p>
            <a:r>
              <a:rPr lang="en-US" dirty="0"/>
              <a:t>The price has been paid. </a:t>
            </a:r>
          </a:p>
          <a:p>
            <a:r>
              <a:rPr lang="en-US" dirty="0"/>
              <a:t>Surrender is not adding a price; it is acknowledging the price already paid.</a:t>
            </a:r>
          </a:p>
          <a:p>
            <a:endParaRPr lang="en-US" dirty="0"/>
          </a:p>
          <a:p>
            <a:r>
              <a:rPr lang="en-US" dirty="0"/>
              <a:t>Roma 14:7-8</a:t>
            </a:r>
          </a:p>
          <a:p>
            <a:r>
              <a:rPr lang="en-US" dirty="0"/>
              <a:t>"Walang </a:t>
            </a:r>
            <a:r>
              <a:rPr lang="en-US" dirty="0" err="1"/>
              <a:t>sinuman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atin</a:t>
            </a:r>
            <a:r>
              <a:rPr lang="en-US" dirty="0"/>
              <a:t> ang </a:t>
            </a:r>
            <a:r>
              <a:rPr lang="en-US" dirty="0" err="1"/>
              <a:t>nabubuhay</a:t>
            </a:r>
            <a:r>
              <a:rPr lang="en-US" dirty="0"/>
              <a:t> o </a:t>
            </a:r>
            <a:r>
              <a:rPr lang="en-US" dirty="0" err="1"/>
              <a:t>namamatay</a:t>
            </a:r>
            <a:r>
              <a:rPr lang="en-US" dirty="0"/>
              <a:t> para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sarili</a:t>
            </a:r>
            <a:r>
              <a:rPr lang="en-US" dirty="0"/>
              <a:t> </a:t>
            </a:r>
            <a:r>
              <a:rPr lang="en-US" dirty="0" err="1"/>
              <a:t>lamang</a:t>
            </a:r>
            <a:r>
              <a:rPr lang="en-US" dirty="0"/>
              <a:t>... Kaya </a:t>
            </a:r>
            <a:r>
              <a:rPr lang="en-US" dirty="0" err="1"/>
              <a:t>nga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mabuhay o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mamatay</a:t>
            </a:r>
            <a:r>
              <a:rPr lang="en-US" dirty="0"/>
              <a:t>, </a:t>
            </a:r>
            <a:r>
              <a:rPr lang="en-US" dirty="0" err="1"/>
              <a:t>tayo'y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Panginoon</a:t>
            </a:r>
            <a:r>
              <a:rPr lang="en-US" dirty="0"/>
              <a:t>.“</a:t>
            </a:r>
          </a:p>
          <a:p>
            <a:endParaRPr lang="en-US" dirty="0"/>
          </a:p>
          <a:p>
            <a:r>
              <a:rPr lang="en-US" dirty="0"/>
              <a:t>Pastoral framing: "</a:t>
            </a:r>
            <a:r>
              <a:rPr lang="en-US" dirty="0" err="1"/>
              <a:t>Karapat-dapat</a:t>
            </a:r>
            <a:r>
              <a:rPr lang="en-US" dirty="0"/>
              <a:t> lang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sumuko</a:t>
            </a:r>
            <a:r>
              <a:rPr lang="en-US" dirty="0"/>
              <a:t> tayo </a:t>
            </a:r>
            <a:r>
              <a:rPr lang="en-US" dirty="0" err="1"/>
              <a:t>sa</a:t>
            </a:r>
            <a:r>
              <a:rPr lang="en-US" dirty="0"/>
              <a:t> Kaniya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nagligtas</a:t>
            </a:r>
            <a:r>
              <a:rPr lang="en-US" dirty="0"/>
              <a:t>, </a:t>
            </a:r>
            <a:r>
              <a:rPr lang="en-US" dirty="0" err="1"/>
              <a:t>nagpalaya</a:t>
            </a:r>
            <a:r>
              <a:rPr lang="en-US" dirty="0"/>
              <a:t>, at </a:t>
            </a:r>
            <a:r>
              <a:rPr lang="en-US" dirty="0" err="1"/>
              <a:t>nagmamahal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atin</a:t>
            </a:r>
            <a:r>
              <a:rPr lang="en-US" dirty="0"/>
              <a:t>. </a:t>
            </a:r>
            <a:r>
              <a:rPr lang="en-US" dirty="0" err="1"/>
              <a:t>Sumuko</a:t>
            </a:r>
            <a:r>
              <a:rPr lang="en-US" dirty="0"/>
              <a:t> tayo </a:t>
            </a:r>
            <a:r>
              <a:rPr lang="en-US" dirty="0" err="1"/>
              <a:t>dahil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</a:t>
            </a:r>
            <a:r>
              <a:rPr lang="en-US" dirty="0" err="1"/>
              <a:t>minsan</a:t>
            </a:r>
            <a:r>
              <a:rPr lang="en-US" dirty="0"/>
              <a:t> ay 'di Niya tayo </a:t>
            </a:r>
            <a:r>
              <a:rPr lang="en-US" dirty="0" err="1"/>
              <a:t>sinukuan</a:t>
            </a:r>
            <a:r>
              <a:rPr lang="en-US" dirty="0"/>
              <a:t>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The sharp question: "Hindi </a:t>
            </a:r>
            <a:r>
              <a:rPr lang="en-US" sz="2200" dirty="0" err="1"/>
              <a:t>mo</a:t>
            </a:r>
            <a:r>
              <a:rPr lang="en-US" sz="2200" dirty="0"/>
              <a:t> </a:t>
            </a:r>
            <a:r>
              <a:rPr lang="en-US" sz="2200" dirty="0" err="1"/>
              <a:t>puwedeng</a:t>
            </a:r>
            <a:r>
              <a:rPr lang="en-US" sz="2200" dirty="0"/>
              <a:t> </a:t>
            </a:r>
            <a:r>
              <a:rPr lang="en-US" sz="2200" dirty="0" err="1"/>
              <a:t>sabihin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ikaw</a:t>
            </a:r>
            <a:r>
              <a:rPr lang="en-US" sz="2200" dirty="0"/>
              <a:t> ay </a:t>
            </a:r>
            <a:r>
              <a:rPr lang="en-US" sz="2200" dirty="0" err="1"/>
              <a:t>sumusuko</a:t>
            </a:r>
            <a:r>
              <a:rPr lang="en-US" sz="2200" dirty="0"/>
              <a:t> ng </a:t>
            </a:r>
            <a:r>
              <a:rPr lang="en-US" sz="2200" dirty="0" err="1"/>
              <a:t>hindi</a:t>
            </a:r>
            <a:r>
              <a:rPr lang="en-US" sz="2200" dirty="0"/>
              <a:t> ka </a:t>
            </a:r>
            <a:r>
              <a:rPr lang="en-US" sz="2200" dirty="0" err="1"/>
              <a:t>sumusunod</a:t>
            </a:r>
            <a:r>
              <a:rPr lang="en-US" sz="2200" dirty="0"/>
              <a:t>. </a:t>
            </a:r>
          </a:p>
          <a:p>
            <a:r>
              <a:rPr lang="en-US" sz="2200" dirty="0"/>
              <a:t>It's either </a:t>
            </a:r>
            <a:r>
              <a:rPr lang="en-US" sz="2200" dirty="0" err="1"/>
              <a:t>sumusunod</a:t>
            </a:r>
            <a:r>
              <a:rPr lang="en-US" sz="2200" dirty="0"/>
              <a:t> o </a:t>
            </a:r>
            <a:r>
              <a:rPr lang="en-US" sz="2200" dirty="0" err="1"/>
              <a:t>sumusuway</a:t>
            </a:r>
            <a:r>
              <a:rPr lang="en-US" sz="2200" dirty="0"/>
              <a:t>. </a:t>
            </a:r>
          </a:p>
          <a:p>
            <a:r>
              <a:rPr lang="en-US" sz="2200" dirty="0" err="1"/>
              <a:t>Tumatalima</a:t>
            </a:r>
            <a:r>
              <a:rPr lang="en-US" sz="2200" dirty="0"/>
              <a:t> o </a:t>
            </a:r>
            <a:r>
              <a:rPr lang="en-US" sz="2200" dirty="0" err="1"/>
              <a:t>tumatalikod</a:t>
            </a:r>
            <a:r>
              <a:rPr lang="en-US" sz="2200" dirty="0"/>
              <a:t>. </a:t>
            </a:r>
          </a:p>
          <a:p>
            <a:r>
              <a:rPr lang="en-US" sz="2200" dirty="0"/>
              <a:t>Alin ka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dalawa</a:t>
            </a:r>
            <a:r>
              <a:rPr lang="en-US" sz="2200" dirty="0"/>
              <a:t>?"</a:t>
            </a:r>
          </a:p>
          <a:p>
            <a:endParaRPr lang="en-US" sz="2200" dirty="0"/>
          </a:p>
          <a:p>
            <a:r>
              <a:rPr lang="en-US" sz="2200" dirty="0"/>
              <a:t>🎯 Pastoral Note — Why Joy is the Character Anchor</a:t>
            </a:r>
          </a:p>
          <a:p>
            <a:r>
              <a:rPr lang="en-US" sz="2200" dirty="0"/>
              <a:t>Surrender without joy becomes legalism. </a:t>
            </a:r>
          </a:p>
          <a:p>
            <a:r>
              <a:rPr lang="en-US" sz="2200" dirty="0"/>
              <a:t>Surrender with joy is what Romans 12:1 actually teaches — "</a:t>
            </a:r>
            <a:r>
              <a:rPr lang="en-US" sz="2200" dirty="0" err="1"/>
              <a:t>alang-alang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masaganang</a:t>
            </a:r>
            <a:r>
              <a:rPr lang="en-US" sz="2200" dirty="0"/>
              <a:t> </a:t>
            </a:r>
            <a:r>
              <a:rPr lang="en-US" sz="2200" dirty="0" err="1"/>
              <a:t>habag</a:t>
            </a:r>
            <a:r>
              <a:rPr lang="en-US" sz="2200" dirty="0"/>
              <a:t>" means BECAUSE of mercy received, not IN ORDER TO RECEIVE mercy. </a:t>
            </a:r>
          </a:p>
          <a:p>
            <a:r>
              <a:rPr lang="en-US" sz="2200" dirty="0"/>
              <a:t>The disciple surrenders joyfully because they're already loved. </a:t>
            </a:r>
          </a:p>
          <a:p>
            <a:r>
              <a:rPr lang="en-US" sz="2200" dirty="0"/>
              <a:t>Make this distinction explicit if a participant frames surrender as duty.</a:t>
            </a:r>
          </a:p>
          <a:p>
            <a:r>
              <a:rPr lang="en-US" sz="2200" dirty="0"/>
              <a:t>The binary question. </a:t>
            </a:r>
          </a:p>
          <a:p>
            <a:r>
              <a:rPr lang="en-US" sz="2200" dirty="0"/>
              <a:t>There is no third option. </a:t>
            </a:r>
          </a:p>
          <a:p>
            <a:r>
              <a:rPr lang="en-US" sz="2200" dirty="0"/>
              <a:t>Participant may try to say "I am working on it" — that's pagsuway with a strategy. </a:t>
            </a:r>
          </a:p>
          <a:p>
            <a:r>
              <a:rPr lang="en-US" sz="2200" dirty="0"/>
              <a:t>The disciple sumusunod even when imperfectly. </a:t>
            </a:r>
          </a:p>
          <a:p>
            <a:r>
              <a:rPr lang="en-US" sz="2200" dirty="0"/>
              <a:t>The non-disciple sumusuway and calls it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sz="2200" dirty="0"/>
              <a:t>Pastoral framing of Q1: The world equates surrender with weakness because the world's value system is "</a:t>
            </a:r>
            <a:r>
              <a:rPr lang="en-US" sz="2200" dirty="0" err="1"/>
              <a:t>langong-lango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paghamig</a:t>
            </a:r>
            <a:r>
              <a:rPr lang="en-US" sz="2200" dirty="0"/>
              <a:t> ng </a:t>
            </a:r>
            <a:r>
              <a:rPr lang="en-US" sz="2200" dirty="0" err="1"/>
              <a:t>pansariling</a:t>
            </a:r>
            <a:r>
              <a:rPr lang="en-US" sz="2200" dirty="0"/>
              <a:t> </a:t>
            </a:r>
            <a:r>
              <a:rPr lang="en-US" sz="2200" dirty="0" err="1"/>
              <a:t>karapatan</a:t>
            </a:r>
            <a:r>
              <a:rPr lang="en-US" sz="2200" dirty="0"/>
              <a:t> at </a:t>
            </a:r>
            <a:r>
              <a:rPr lang="en-US" sz="2200" dirty="0" err="1"/>
              <a:t>kalayaan</a:t>
            </a:r>
            <a:r>
              <a:rPr lang="en-US" sz="2200" dirty="0"/>
              <a:t>" — drunk on personal rights and freedom. </a:t>
            </a:r>
          </a:p>
          <a:p>
            <a:r>
              <a:rPr lang="en-US" sz="2200" dirty="0"/>
              <a:t>In that logic, surrender = loss of agency. </a:t>
            </a:r>
          </a:p>
          <a:p>
            <a:r>
              <a:rPr lang="en-US" sz="2200" dirty="0"/>
              <a:t>The gospel turns that on its head: the surrendered life is the only truly free life. </a:t>
            </a:r>
          </a:p>
          <a:p>
            <a:r>
              <a:rPr lang="en-US" sz="2200" dirty="0"/>
              <a:t>Quote Augustine if useful: "You have made us for yourself, O Lord, and our hearts are restless until they rest in You."</a:t>
            </a:r>
            <a:endParaRPr lang="en-PH" sz="2200" dirty="0"/>
          </a:p>
        </p:txBody>
      </p:sp>
    </p:spTree>
    <p:extLst>
      <p:ext uri="{BB962C8B-B14F-4D97-AF65-F5344CB8AC3E}">
        <p14:creationId xmlns:p14="http://schemas.microsoft.com/office/powerpoint/2010/main" val="28402379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TANONG (dedicated slide). Tables of 4-6, ~3 min: </a:t>
            </a:r>
          </a:p>
          <a:p>
            <a:r>
              <a:rPr lang="en-US" sz="2200" dirty="0"/>
              <a:t>Bakit negatibo ang perception ng mundo sa pagsuko/pagpapasakop? </a:t>
            </a:r>
          </a:p>
          <a:p>
            <a:r>
              <a:rPr lang="en-US" sz="2200" dirty="0"/>
              <a:t>Surface honest answers, then 1-2 whole-room shares. (The Moody challenge is the NEXT slide.)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Moody quote is bait — the kind of disciple who thinks surrender is limitation reads this and the trap springs. </a:t>
            </a:r>
          </a:p>
          <a:p>
            <a:r>
              <a:rPr lang="en-US" sz="2200" dirty="0"/>
              <a:t>The alternative — your own grip — is the limitation. </a:t>
            </a:r>
          </a:p>
          <a:p>
            <a:r>
              <a:rPr lang="en-US" sz="2200" dirty="0"/>
              <a:t>Yielding opens to a wider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Read aloud once. Note the three highlighted phrases — they are the three sangkap. </a:t>
            </a:r>
          </a:p>
          <a:p>
            <a:r>
              <a:rPr lang="en-US" sz="2200" dirty="0"/>
              <a:t>Foundation (mercy received) → Response (offer self) → Outflow (worship-as-life).</a:t>
            </a:r>
          </a:p>
          <a:p>
            <a:endParaRPr lang="en-US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/>
              <a:t>Walk through one sangkap at a time. Pause between each. ~2 min per sangkap for silent writing in the participant booklet. Interns model at tables. </a:t>
            </a:r>
          </a:p>
          <a:p>
            <a:r>
              <a:rPr lang="en-US" sz="2200" dirty="0"/>
              <a:t>Watch for "everything-but-this" pax who can name in abstract but not in specific.</a:t>
            </a:r>
          </a:p>
          <a:p>
            <a:endParaRPr lang="en-US" sz="2200" dirty="0"/>
          </a:p>
          <a:p>
            <a:r>
              <a:rPr lang="en-US" sz="2200" dirty="0" err="1"/>
              <a:t>Masaganang</a:t>
            </a:r>
            <a:r>
              <a:rPr lang="en-US" sz="2200" dirty="0"/>
              <a:t> Habag ng Dios</a:t>
            </a:r>
          </a:p>
          <a:p>
            <a:r>
              <a:rPr lang="en-US" sz="2200" dirty="0"/>
              <a:t>"</a:t>
            </a:r>
            <a:r>
              <a:rPr lang="en-US" sz="2200" dirty="0" err="1"/>
              <a:t>alang-alang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masaganang</a:t>
            </a:r>
            <a:r>
              <a:rPr lang="en-US" sz="2200" dirty="0"/>
              <a:t> </a:t>
            </a:r>
            <a:r>
              <a:rPr lang="en-US" sz="2200" dirty="0" err="1"/>
              <a:t>habag</a:t>
            </a:r>
            <a:r>
              <a:rPr lang="en-US" sz="2200" dirty="0"/>
              <a:t> ng </a:t>
            </a:r>
            <a:r>
              <a:rPr lang="en-US" sz="2200" dirty="0" err="1"/>
              <a:t>Diyos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atin</a:t>
            </a:r>
            <a:r>
              <a:rPr lang="en-US" sz="2200" dirty="0"/>
              <a:t>..."</a:t>
            </a:r>
          </a:p>
          <a:p>
            <a:r>
              <a:rPr lang="en-US" sz="2200" dirty="0"/>
              <a:t>The foundation — mercy already received. </a:t>
            </a:r>
          </a:p>
          <a:p>
            <a:r>
              <a:rPr lang="en-US" sz="2200" dirty="0"/>
              <a:t>Apostle Paul addresses believers, not unbelievers (Rom 5:10 + 8:7 — the unbeliever cannot consecrate because their mind is set on the flesh). </a:t>
            </a:r>
          </a:p>
          <a:p>
            <a:r>
              <a:rPr lang="en-US" sz="2200" dirty="0"/>
              <a:t>Surrender is the response of someone who has already received mercy.</a:t>
            </a:r>
          </a:p>
          <a:p>
            <a:endParaRPr lang="en-US" sz="2200" dirty="0"/>
          </a:p>
          <a:p>
            <a:r>
              <a:rPr lang="en-US" sz="2200" dirty="0"/>
              <a:t>Pax prompt: "Anong specific mercy ng Dios ang </a:t>
            </a:r>
            <a:r>
              <a:rPr lang="en-US" sz="2200" dirty="0" err="1"/>
              <a:t>naranasan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 </a:t>
            </a:r>
            <a:r>
              <a:rPr lang="en-US" sz="2200" dirty="0" err="1"/>
              <a:t>ngayong</a:t>
            </a:r>
            <a:r>
              <a:rPr lang="en-US" sz="2200" dirty="0"/>
              <a:t> </a:t>
            </a:r>
            <a:r>
              <a:rPr lang="en-US" sz="2200" dirty="0" err="1"/>
              <a:t>taon</a:t>
            </a:r>
            <a:r>
              <a:rPr lang="en-US" sz="2200" dirty="0"/>
              <a:t>? Hindi generic. </a:t>
            </a:r>
            <a:r>
              <a:rPr lang="en-US" sz="2200" dirty="0" err="1"/>
              <a:t>Pangalanan</a:t>
            </a:r>
            <a:r>
              <a:rPr lang="en-US" sz="2200" dirty="0"/>
              <a:t>."</a:t>
            </a:r>
          </a:p>
          <a:p>
            <a:endParaRPr lang="en-US" sz="2200" dirty="0"/>
          </a:p>
          <a:p>
            <a:r>
              <a:rPr lang="en-US" sz="2200" b="1" dirty="0"/>
              <a:t>NOTE:</a:t>
            </a:r>
          </a:p>
          <a:p>
            <a:r>
              <a:rPr lang="en-US" sz="2200" dirty="0"/>
              <a:t>If a pax struggles: ask "</a:t>
            </a:r>
            <a:r>
              <a:rPr lang="en-US" sz="2200" dirty="0" err="1"/>
              <a:t>sino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pamilya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 ay </a:t>
            </a:r>
            <a:r>
              <a:rPr lang="en-US" sz="2200" dirty="0" err="1"/>
              <a:t>buhay</a:t>
            </a:r>
            <a:r>
              <a:rPr lang="en-US" sz="2200" dirty="0"/>
              <a:t> pa </a:t>
            </a:r>
            <a:r>
              <a:rPr lang="en-US" sz="2200" dirty="0" err="1"/>
              <a:t>ngayon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hindi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 </a:t>
            </a:r>
            <a:r>
              <a:rPr lang="en-US" sz="2200" dirty="0" err="1"/>
              <a:t>inakalang</a:t>
            </a:r>
            <a:r>
              <a:rPr lang="en-US" sz="2200" dirty="0"/>
              <a:t> </a:t>
            </a:r>
            <a:r>
              <a:rPr lang="en-US" sz="2200" dirty="0" err="1"/>
              <a:t>aabot</a:t>
            </a:r>
            <a:r>
              <a:rPr lang="en-US" sz="2200" dirty="0"/>
              <a:t> ng </a:t>
            </a:r>
            <a:r>
              <a:rPr lang="en-US" sz="2200" dirty="0" err="1"/>
              <a:t>ganitong</a:t>
            </a:r>
            <a:r>
              <a:rPr lang="en-US" sz="2200" dirty="0"/>
              <a:t> </a:t>
            </a:r>
            <a:r>
              <a:rPr lang="en-US" sz="2200" dirty="0" err="1"/>
              <a:t>taon</a:t>
            </a:r>
            <a:r>
              <a:rPr lang="en-US" sz="2200" dirty="0"/>
              <a:t>?" </a:t>
            </a:r>
          </a:p>
          <a:p>
            <a:r>
              <a:rPr lang="en-US" sz="2200" dirty="0"/>
              <a:t>Start where they are.</a:t>
            </a:r>
          </a:p>
          <a:p>
            <a:r>
              <a:rPr lang="en-US" sz="2200" dirty="0"/>
              <a:t>---------------</a:t>
            </a:r>
          </a:p>
          <a:p>
            <a:r>
              <a:rPr lang="en-US" sz="2200" dirty="0"/>
              <a:t>Malayang Handog ng Tao</a:t>
            </a:r>
          </a:p>
          <a:p>
            <a:r>
              <a:rPr lang="en-US" sz="2200" dirty="0"/>
              <a:t>"</a:t>
            </a:r>
            <a:r>
              <a:rPr lang="en-US" sz="2200" dirty="0" err="1"/>
              <a:t>ialay</a:t>
            </a:r>
            <a:r>
              <a:rPr lang="en-US" sz="2200" dirty="0"/>
              <a:t> </a:t>
            </a:r>
            <a:r>
              <a:rPr lang="en-US" sz="2200" dirty="0" err="1"/>
              <a:t>ninyo</a:t>
            </a:r>
            <a:r>
              <a:rPr lang="en-US" sz="2200" dirty="0"/>
              <a:t> ang </a:t>
            </a:r>
            <a:r>
              <a:rPr lang="en-US" sz="2200" dirty="0" err="1"/>
              <a:t>inyong</a:t>
            </a:r>
            <a:r>
              <a:rPr lang="en-US" sz="2200" dirty="0"/>
              <a:t> </a:t>
            </a:r>
            <a:r>
              <a:rPr lang="en-US" sz="2200" dirty="0" err="1"/>
              <a:t>sarili</a:t>
            </a:r>
            <a:r>
              <a:rPr lang="en-US" sz="2200" dirty="0"/>
              <a:t> </a:t>
            </a:r>
            <a:r>
              <a:rPr lang="en-US" sz="2200" dirty="0" err="1"/>
              <a:t>bilang</a:t>
            </a:r>
            <a:r>
              <a:rPr lang="en-US" sz="2200" dirty="0"/>
              <a:t> </a:t>
            </a:r>
            <a:r>
              <a:rPr lang="en-US" sz="2200" dirty="0" err="1"/>
              <a:t>isang</a:t>
            </a:r>
            <a:r>
              <a:rPr lang="en-US" sz="2200" dirty="0"/>
              <a:t> </a:t>
            </a:r>
            <a:r>
              <a:rPr lang="en-US" sz="2200" dirty="0" err="1"/>
              <a:t>handog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buháy</a:t>
            </a:r>
            <a:r>
              <a:rPr lang="en-US" sz="2200" dirty="0"/>
              <a:t>..."</a:t>
            </a:r>
          </a:p>
          <a:p>
            <a:r>
              <a:rPr lang="en-US" sz="2200" dirty="0"/>
              <a:t>The response — free-will offering. </a:t>
            </a:r>
          </a:p>
          <a:p>
            <a:r>
              <a:rPr lang="en-US" sz="2200" dirty="0"/>
              <a:t>Not coerced (Paul uses "</a:t>
            </a:r>
            <a:r>
              <a:rPr lang="en-US" sz="2200" dirty="0" err="1"/>
              <a:t>nakikiusap</a:t>
            </a:r>
            <a:r>
              <a:rPr lang="en-US" sz="2200" dirty="0"/>
              <a:t>" — appealing, not commanding). </a:t>
            </a:r>
          </a:p>
          <a:p>
            <a:r>
              <a:rPr lang="en-US" sz="2200" dirty="0"/>
              <a:t>Not 50-50. </a:t>
            </a:r>
          </a:p>
          <a:p>
            <a:r>
              <a:rPr lang="en-US" sz="2200" dirty="0"/>
              <a:t>The OT sacrifices were dead; this is the New Testament version where the sacrifice lives. </a:t>
            </a:r>
          </a:p>
          <a:p>
            <a:r>
              <a:rPr lang="en-US" sz="2200" dirty="0"/>
              <a:t>2 Cor 5:14 — "ang </a:t>
            </a:r>
            <a:r>
              <a:rPr lang="en-US" sz="2200" dirty="0" err="1"/>
              <a:t>pag-ibig</a:t>
            </a:r>
            <a:r>
              <a:rPr lang="en-US" sz="2200" dirty="0"/>
              <a:t> </a:t>
            </a:r>
            <a:r>
              <a:rPr lang="en-US" sz="2200" dirty="0" err="1"/>
              <a:t>ni</a:t>
            </a:r>
            <a:r>
              <a:rPr lang="en-US" sz="2200" dirty="0"/>
              <a:t> Cristo ay </a:t>
            </a:r>
            <a:r>
              <a:rPr lang="en-US" sz="2200" dirty="0" err="1"/>
              <a:t>pumipilit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amin" — Christ's love is the pressure, not external rule.</a:t>
            </a:r>
          </a:p>
          <a:p>
            <a:endParaRPr lang="en-US" sz="2200" dirty="0"/>
          </a:p>
          <a:p>
            <a:r>
              <a:rPr lang="en-US" sz="2200" b="1" dirty="0"/>
              <a:t>NOTE:</a:t>
            </a:r>
          </a:p>
          <a:p>
            <a:r>
              <a:rPr lang="en-US" sz="2200" dirty="0"/>
              <a:t>Pax prompt: "Anong specific </a:t>
            </a:r>
            <a:r>
              <a:rPr lang="en-US" sz="2200" dirty="0" err="1"/>
              <a:t>bahagi</a:t>
            </a:r>
            <a:r>
              <a:rPr lang="en-US" sz="2200" dirty="0"/>
              <a:t> ng </a:t>
            </a:r>
            <a:r>
              <a:rPr lang="en-US" sz="2200" dirty="0" err="1"/>
              <a:t>buhay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 </a:t>
            </a:r>
            <a:r>
              <a:rPr lang="en-US" sz="2200" dirty="0" err="1"/>
              <a:t>ngayon</a:t>
            </a:r>
            <a:r>
              <a:rPr lang="en-US" sz="2200" dirty="0"/>
              <a:t> ang </a:t>
            </a:r>
            <a:r>
              <a:rPr lang="en-US" sz="2200" dirty="0" err="1"/>
              <a:t>inihahandog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? </a:t>
            </a:r>
            <a:r>
              <a:rPr lang="en-US" sz="2200" dirty="0" err="1"/>
              <a:t>Pangalanan</a:t>
            </a:r>
            <a:r>
              <a:rPr lang="en-US" sz="2200" dirty="0"/>
              <a:t> ang isa. Hindi 'lahat' — </a:t>
            </a:r>
            <a:r>
              <a:rPr lang="en-US" sz="2200" dirty="0" err="1"/>
              <a:t>pumili</a:t>
            </a:r>
            <a:r>
              <a:rPr lang="en-US" sz="2200" dirty="0"/>
              <a:t> ng isa kung </a:t>
            </a:r>
            <a:r>
              <a:rPr lang="en-US" sz="2200" dirty="0" err="1"/>
              <a:t>saan</a:t>
            </a:r>
            <a:r>
              <a:rPr lang="en-US" sz="2200" dirty="0"/>
              <a:t> ka may </a:t>
            </a:r>
            <a:r>
              <a:rPr lang="en-US" sz="2200" dirty="0" err="1"/>
              <a:t>hawak</a:t>
            </a:r>
            <a:r>
              <a:rPr lang="en-US" sz="2200" dirty="0"/>
              <a:t> pa."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200" dirty="0"/>
              <a:t>Watch for "everything-but-this" pax — those who name surrender abstractly but won't name a specific area. Gentle prompt: "Sa lahat ng bagay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buhay</a:t>
            </a:r>
            <a:r>
              <a:rPr lang="en-US" sz="2200" dirty="0"/>
              <a:t> </a:t>
            </a:r>
            <a:r>
              <a:rPr lang="en-US" sz="2200" dirty="0" err="1"/>
              <a:t>mo</a:t>
            </a:r>
            <a:r>
              <a:rPr lang="en-US" sz="2200" dirty="0"/>
              <a:t>, </a:t>
            </a:r>
            <a:r>
              <a:rPr lang="en-US" sz="2200" dirty="0" err="1"/>
              <a:t>alin</a:t>
            </a:r>
            <a:r>
              <a:rPr lang="en-US" sz="2200" dirty="0"/>
              <a:t> ang </a:t>
            </a:r>
            <a:r>
              <a:rPr lang="en-US" sz="2200" dirty="0" err="1"/>
              <a:t>pinaka-mahirap</a:t>
            </a:r>
            <a:r>
              <a:rPr lang="en-US" sz="2200" dirty="0"/>
              <a:t> </a:t>
            </a:r>
            <a:r>
              <a:rPr lang="en-US" sz="2200" dirty="0" err="1"/>
              <a:t>isuko</a:t>
            </a:r>
            <a:r>
              <a:rPr lang="en-US" sz="2200" dirty="0"/>
              <a:t>?"</a:t>
            </a:r>
          </a:p>
          <a:p>
            <a:r>
              <a:rPr lang="en-US" sz="2200" dirty="0"/>
              <a:t>----------------</a:t>
            </a:r>
          </a:p>
          <a:p>
            <a:r>
              <a:rPr lang="en-US" sz="2200" dirty="0" err="1"/>
              <a:t>Malugod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Pagsamba</a:t>
            </a:r>
            <a:r>
              <a:rPr lang="en-US" sz="2200" dirty="0"/>
              <a:t> at </a:t>
            </a:r>
            <a:r>
              <a:rPr lang="en-US" sz="2200" dirty="0" err="1"/>
              <a:t>Paglilingkod</a:t>
            </a:r>
            <a:endParaRPr lang="en-US" sz="2200" dirty="0"/>
          </a:p>
          <a:p>
            <a:r>
              <a:rPr lang="en-US" sz="2200" dirty="0"/>
              <a:t>"banal at </a:t>
            </a:r>
            <a:r>
              <a:rPr lang="en-US" sz="2200" dirty="0" err="1"/>
              <a:t>kalugud-lugod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Diyos</a:t>
            </a:r>
            <a:r>
              <a:rPr lang="en-US" sz="2200" dirty="0"/>
              <a:t>. Ito ang </a:t>
            </a:r>
            <a:r>
              <a:rPr lang="en-US" sz="2200" dirty="0" err="1"/>
              <a:t>karapat-dapat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pagsamba</a:t>
            </a:r>
            <a:r>
              <a:rPr lang="en-US" sz="2200" dirty="0"/>
              <a:t> </a:t>
            </a:r>
            <a:r>
              <a:rPr lang="en-US" sz="2200" dirty="0" err="1"/>
              <a:t>ninyo</a:t>
            </a:r>
            <a:r>
              <a:rPr lang="en-US" sz="2200" dirty="0"/>
              <a:t>..."</a:t>
            </a:r>
          </a:p>
          <a:p>
            <a:r>
              <a:rPr lang="en-US" sz="2200" dirty="0"/>
              <a:t>The outflow — Monday-Saturday becomes worship. </a:t>
            </a:r>
          </a:p>
          <a:p>
            <a:r>
              <a:rPr lang="en-US" sz="2200" dirty="0"/>
              <a:t>Worship is not just slow songs and Sunday service. </a:t>
            </a:r>
          </a:p>
          <a:p>
            <a:r>
              <a:rPr lang="en-US" sz="2200" dirty="0"/>
              <a:t>Worship is the whole life given. "Kayo </a:t>
            </a:r>
            <a:r>
              <a:rPr lang="en-US" sz="2200" dirty="0" err="1"/>
              <a:t>nga</a:t>
            </a:r>
            <a:r>
              <a:rPr lang="en-US" sz="2200" dirty="0"/>
              <a:t>, kung </a:t>
            </a:r>
            <a:r>
              <a:rPr lang="en-US" sz="2200" dirty="0" err="1"/>
              <a:t>kayo'y</a:t>
            </a:r>
            <a:r>
              <a:rPr lang="en-US" sz="2200" dirty="0"/>
              <a:t> </a:t>
            </a:r>
            <a:r>
              <a:rPr lang="en-US" sz="2200" dirty="0" err="1"/>
              <a:t>kumakain</a:t>
            </a:r>
            <a:r>
              <a:rPr lang="en-US" sz="2200" dirty="0"/>
              <a:t> o </a:t>
            </a:r>
            <a:r>
              <a:rPr lang="en-US" sz="2200" dirty="0" err="1"/>
              <a:t>umiinom</a:t>
            </a:r>
            <a:r>
              <a:rPr lang="en-US" sz="2200" dirty="0"/>
              <a:t>, o </a:t>
            </a:r>
            <a:r>
              <a:rPr lang="en-US" sz="2200" dirty="0" err="1"/>
              <a:t>anuman</a:t>
            </a:r>
            <a:r>
              <a:rPr lang="en-US" sz="2200" dirty="0"/>
              <a:t> ang </a:t>
            </a:r>
            <a:r>
              <a:rPr lang="en-US" sz="2200" dirty="0" err="1"/>
              <a:t>ginagawa</a:t>
            </a:r>
            <a:r>
              <a:rPr lang="en-US" sz="2200" dirty="0"/>
              <a:t> </a:t>
            </a:r>
            <a:r>
              <a:rPr lang="en-US" sz="2200" dirty="0" err="1"/>
              <a:t>ninyo</a:t>
            </a:r>
            <a:r>
              <a:rPr lang="en-US" sz="2200" dirty="0"/>
              <a:t>, </a:t>
            </a:r>
            <a:r>
              <a:rPr lang="en-US" sz="2200" dirty="0" err="1"/>
              <a:t>gawin</a:t>
            </a:r>
            <a:r>
              <a:rPr lang="en-US" sz="2200" dirty="0"/>
              <a:t> </a:t>
            </a:r>
            <a:r>
              <a:rPr lang="en-US" sz="2200" dirty="0" err="1"/>
              <a:t>ninyo</a:t>
            </a:r>
            <a:r>
              <a:rPr lang="en-US" sz="2200" dirty="0"/>
              <a:t> ang lahat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ikararangal</a:t>
            </a:r>
            <a:r>
              <a:rPr lang="en-US" sz="2200" dirty="0"/>
              <a:t> ng </a:t>
            </a:r>
            <a:r>
              <a:rPr lang="en-US" sz="2200" dirty="0" err="1"/>
              <a:t>Diyos</a:t>
            </a:r>
            <a:r>
              <a:rPr lang="en-US" sz="2200" dirty="0"/>
              <a:t>" (1 Cor 10:31).</a:t>
            </a:r>
          </a:p>
          <a:p>
            <a:endParaRPr lang="en-US" sz="2200" dirty="0"/>
          </a:p>
          <a:p>
            <a:r>
              <a:rPr lang="en-US" sz="2200" b="1" dirty="0"/>
              <a:t>NOTE:</a:t>
            </a:r>
          </a:p>
          <a:p>
            <a:r>
              <a:rPr lang="en-US" sz="2200" dirty="0"/>
              <a:t>Pax prompt: "Paano </a:t>
            </a:r>
            <a:r>
              <a:rPr lang="en-US" sz="2200" dirty="0" err="1"/>
              <a:t>magiging</a:t>
            </a:r>
            <a:r>
              <a:rPr lang="en-US" sz="2200" dirty="0"/>
              <a:t> worship ang Monday-Saturday </a:t>
            </a:r>
            <a:r>
              <a:rPr lang="en-US" sz="2200" dirty="0" err="1"/>
              <a:t>mo</a:t>
            </a:r>
            <a:r>
              <a:rPr lang="en-US" sz="2200" dirty="0"/>
              <a:t> </a:t>
            </a:r>
            <a:r>
              <a:rPr lang="en-US" sz="2200" dirty="0" err="1"/>
              <a:t>ngayong</a:t>
            </a:r>
            <a:r>
              <a:rPr lang="en-US" sz="2200" dirty="0"/>
              <a:t> </a:t>
            </a:r>
            <a:r>
              <a:rPr lang="en-US" sz="2200" dirty="0" err="1"/>
              <a:t>linggo</a:t>
            </a:r>
            <a:r>
              <a:rPr lang="en-US" sz="2200" dirty="0"/>
              <a:t>? </a:t>
            </a:r>
          </a:p>
          <a:p>
            <a:r>
              <a:rPr lang="en-US" sz="2200" dirty="0"/>
              <a:t>Hindi </a:t>
            </a:r>
            <a:r>
              <a:rPr lang="en-US" sz="2200" dirty="0" err="1"/>
              <a:t>sa</a:t>
            </a:r>
            <a:r>
              <a:rPr lang="en-US" sz="2200" dirty="0"/>
              <a:t> Sunday lang. </a:t>
            </a:r>
          </a:p>
          <a:p>
            <a:r>
              <a:rPr lang="en-US" sz="2200" dirty="0"/>
              <a:t>Isa lang. </a:t>
            </a:r>
          </a:p>
          <a:p>
            <a:r>
              <a:rPr lang="en-US" sz="2200" dirty="0"/>
              <a:t>Specific."</a:t>
            </a:r>
          </a:p>
          <a:p>
            <a:endParaRPr lang="en-US" sz="2200" dirty="0"/>
          </a:p>
          <a:p>
            <a:r>
              <a:rPr lang="en-US" sz="2200" b="1" dirty="0"/>
              <a:t>Connection to EOLO: </a:t>
            </a:r>
            <a:r>
              <a:rPr lang="en-US" sz="2200" dirty="0"/>
              <a:t>Worship made visible to the watching world is the most evangelistic life. </a:t>
            </a:r>
          </a:p>
          <a:p>
            <a:r>
              <a:rPr lang="en-US" sz="2200" dirty="0"/>
              <a:t>This is the bridge to DALHIN.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story aloud. </a:t>
            </a:r>
          </a:p>
          <a:p>
            <a:r>
              <a:rPr lang="en-US" dirty="0"/>
              <a:t>Then transition to slide 15 — the ritual. </a:t>
            </a:r>
          </a:p>
          <a:p>
            <a:r>
              <a:rPr lang="en-US" dirty="0"/>
              <a:t>Hand out blank papers and pens BEFORE clicking forward.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Play quiet instrumental music. Pax write a short prayer (optional) and sign. HOLD 90 SECONDS OF SILENCE after most have signed. Do not rush. Tissues at every table — silently. The Holy Spirit is the one doing the work; your job is to not get in the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 together. Or play YouTube Bk8sQDgKf08. </a:t>
            </a:r>
          </a:p>
          <a:p>
            <a:r>
              <a:rPr lang="en-US" dirty="0"/>
              <a:t>Let the climax line "O the joy of full salvation!" ring. </a:t>
            </a:r>
          </a:p>
          <a:p>
            <a:r>
              <a:rPr lang="en-US" dirty="0"/>
              <a:t>This is where Joy character anchor lands. </a:t>
            </a:r>
          </a:p>
          <a:p>
            <a:r>
              <a:rPr lang="en-US" dirty="0"/>
              <a:t>Surrender → joy is the gospel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bridge from internal posture to external witness. L3 is internal. EOLO becomes WHO WATCHES YOUR MONDAY-SATURDAY. Not extroverted activity — visible life. 60-sec silent reflection. No share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Romans 12:1 + hymn climax line. One-line prayer. Tease L4 = Personal Holiness — pagkatapos mong sumuko (L3), anong klaseng buhay ang tinawag mong ialay?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bb2kQI87L8&amp;list=RDibb2kQI87L8&amp;start_radio=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BTLI 1 · LESSON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Pagsuko</a:t>
            </a:r>
            <a:endParaRPr lang="en-US" sz="92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09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Unconditional Surrender · Consecration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0" y="42976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E8941A">
              <a:alpha val="18000"/>
            </a:srgbClr>
          </a:solidFill>
          <a:ln w="9525">
            <a:solidFill>
              <a:srgbClr val="E894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2743200" y="4297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Galak / Joy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429768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E8941A">
              <a:alpha val="18000"/>
            </a:srgbClr>
          </a:solidFill>
          <a:ln w="9525">
            <a:solidFill>
              <a:srgbClr val="E894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4480560" y="4297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3 Sangkap + Signed Paper</a:t>
            </a:r>
            <a:endParaRPr lang="en-US" sz="11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55-min lesson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CALLBACK TO L2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A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Bago tayo mag-umpisa...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Kumusta ang 30-day S.O.A.P.S?</a:t>
            </a:r>
            <a:endParaRPr lang="en-US" sz="3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Sino dito ay nag-pick ng John?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A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Ilang chapters na kayo? Sino dito ay umabot ng Day 14?</a:t>
            </a:r>
            <a:endParaRPr lang="en-US" sz="14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⌛2:00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A TRAGIC MISTRANSLATION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Mokusatsu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Isang salita lang...</a:t>
            </a:r>
            <a:endParaRPr lang="en-US" sz="2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Daang libong buhay.</a:t>
            </a:r>
            <a:endParaRPr lang="en-US" sz="2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1 min · ⌛3:00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ANG KUWENTO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868680"/>
            <a:ext cx="73152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Hiniling ng </a:t>
            </a: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Allied forces </a:t>
            </a: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(Truman) ang </a:t>
            </a: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unconditional surrender </a:t>
            </a: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Japan.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Tinanong ng reporters si PM Suzuki — isang salita lang: </a:t>
            </a:r>
            <a:r>
              <a:rPr lang="en-US" sz="1400" i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mokusatsu</a:t>
            </a: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Maaaring </a:t>
            </a:r>
            <a:r>
              <a:rPr lang="en-US" sz="1400" i="1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comment muna"</a:t>
            </a: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o </a:t>
            </a:r>
            <a:r>
              <a:rPr lang="en-US" sz="1400" i="1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disregard."</a:t>
            </a: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Pinili ng translators ang second.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ctr">
              <a:lnSpc>
                <a:spcPct val="155000"/>
              </a:lnSpc>
              <a:buNone/>
            </a:pP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Hiroshima. Nagasaki.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200,000+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world's most tragic case of mistranslation"</a:t>
            </a:r>
            <a:endParaRPr lang="en-US" sz="13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3 min · ⌛6:00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MULTIPLY"/>
          <p:cNvSpPr txBox="1"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MULTIPLY · DISCIPLE-MAKING PIPELINE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 i="0">
                <a:solidFill>
                  <a:srgbClr val="808080"/>
                </a:solidFill>
                <a:latin typeface="Calibri"/>
              </a:rPr>
              <a:t>5 / 20</a:t>
            </a:r>
          </a:p>
        </p:txBody>
      </p:sp>
      <p:sp>
        <p:nvSpPr>
          <p:cNvPr id="5" name="Header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C97A1A"/>
                </a:solidFill>
                <a:latin typeface="Calibri"/>
              </a:rPr>
              <a:t>⚡ PUKAW · TANONG</a:t>
            </a:r>
          </a:p>
        </p:txBody>
      </p:sp>
      <p:sp>
        <p:nvSpPr>
          <p:cNvPr id="6" name="PGBadge"/>
          <p:cNvSpPr/>
          <p:nvPr/>
        </p:nvSpPr>
        <p:spPr>
          <a:xfrm>
            <a:off x="2788920" y="1024128"/>
            <a:ext cx="3566160" cy="329184"/>
          </a:xfrm>
          <a:prstGeom prst="roundRect">
            <a:avLst/>
          </a:prstGeom>
          <a:solidFill>
            <a:srgbClr val="D4A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141628"/>
                </a:solidFill>
                <a:latin typeface="Calibri"/>
              </a:rPr>
              <a:t>📋 Participant Guide Question</a:t>
            </a:r>
          </a:p>
        </p:txBody>
      </p:sp>
      <p:sp>
        <p:nvSpPr>
          <p:cNvPr id="7" name="Question"/>
          <p:cNvSpPr txBox="1"/>
          <p:nvPr/>
        </p:nvSpPr>
        <p:spPr>
          <a:xfrm>
            <a:off x="731520" y="1783080"/>
            <a:ext cx="7680960" cy="2194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000" b="1" i="0">
                <a:solidFill>
                  <a:srgbClr val="1B2A4A"/>
                </a:solidFill>
                <a:latin typeface="Calibri"/>
              </a:rPr>
              <a:t>Ano ang pakahulugan mo sa salitang "unconditional surrender"?</a:t>
            </a:r>
          </a:p>
        </p:txBody>
      </p:sp>
      <p:sp>
        <p:nvSpPr>
          <p:cNvPr id="8" name="AnswerMode"/>
          <p:cNvSpPr txBox="1"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50" b="0" i="1">
                <a:solidFill>
                  <a:srgbClr val="B8882A"/>
                </a:solidFill>
                <a:latin typeface="Calibri"/>
              </a:rPr>
              <a:t>Isulat sa Participant Guide — tapos 1–2 boluntaryong share.</a:t>
            </a:r>
          </a:p>
        </p:txBody>
      </p:sp>
      <p:sp>
        <p:nvSpPr>
          <p:cNvPr id="9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3 min · ⌛9:00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BIG IDEA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PANGUNAHING KATOTOHANAN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"Kung gusto nating pag-usapan ang </a:t>
            </a:r>
            <a:r>
              <a:rPr lang="en-US" sz="3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Kaniyang pagsukob</a:t>
            </a: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dapat handa rin tayong talakayin ang </a:t>
            </a:r>
            <a:r>
              <a:rPr lang="en-US" sz="3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ating pagsuko</a:t>
            </a: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</a:t>
            </a:r>
            <a:endParaRPr lang="en-US" sz="3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⌛11:00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ANG SALITA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MALINAW KAYSA SURRENDER 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2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Consecration</a:t>
            </a:r>
            <a:endParaRPr lang="en-US" sz="82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"Itinatalaga mo ang iyong buong buhay</a:t>
            </a:r>
            <a:endParaRPr lang="en-US" sz="18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sa paglilingkod at pagsamba sa Dios."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kern="0" spc="30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ABSOLUTELY</a:t>
            </a:r>
            <a:r>
              <a:rPr lang="en-US" sz="1700" kern="0" spc="30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·   </a:t>
            </a:r>
            <a:r>
              <a:rPr lang="en-US" sz="1700" b="1" kern="0" spc="30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COMPLETELY</a:t>
            </a:r>
            <a:r>
              <a:rPr lang="en-US" sz="1700" kern="0" spc="30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·   </a:t>
            </a:r>
            <a:r>
              <a:rPr lang="en-US" sz="1700" b="1" kern="0" spc="30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EXCLUSIVELY</a:t>
            </a:r>
            <a:endParaRPr lang="en-US" sz="17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⌛13:00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ANCHOR VERSE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TAYO PAG-AARI NG SARILI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Corinthians 6:19-20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"Hindi ninyo pag-aari ang inyong katawan; sapagkat </a:t>
            </a: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binili na kayo sa isang halaga.</a:t>
            </a: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Kaya't gamitin ninyo ang inyong katawan upang maparangalan ang Diyos."</a:t>
            </a:r>
            <a:endParaRPr lang="en-US" sz="2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⌛15:00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LUCAS 6:46-47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"Bakit ninyo ako tinatawag na 'Panginoon,' gayong hindi naman ninyo tinutupad ang sinasabi ko?"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2103120"/>
            <a:ext cx="320040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 KA?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Pagsunod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251960" y="2103120"/>
            <a:ext cx="640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892040" y="2103120"/>
            <a:ext cx="320040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/>
          <p:nvPr/>
        </p:nvSpPr>
        <p:spPr>
          <a:xfrm>
            <a:off x="489204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Pagsuway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A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"Hindi mo puwedeng sabihin na sumusuko ka ng hindi sumusunod."</a:t>
            </a:r>
            <a:endParaRPr lang="en-US" sz="14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⌛17:00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MULTIPLY"/>
          <p:cNvSpPr txBox="1"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MULTIPLY · DISCIPLE-MAKING PIPELINE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 i="0">
                <a:solidFill>
                  <a:srgbClr val="808080"/>
                </a:solidFill>
                <a:latin typeface="Calibri"/>
              </a:rPr>
              <a:t>10 / 20</a:t>
            </a:r>
          </a:p>
        </p:txBody>
      </p:sp>
      <p:sp>
        <p:nvSpPr>
          <p:cNvPr id="5" name="Header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C97A1A"/>
                </a:solidFill>
                <a:latin typeface="Calibri"/>
              </a:rPr>
              <a:t>📖 TUKLAS · TANONG</a:t>
            </a:r>
          </a:p>
        </p:txBody>
      </p:sp>
      <p:sp>
        <p:nvSpPr>
          <p:cNvPr id="6" name="PGBadge"/>
          <p:cNvSpPr/>
          <p:nvPr/>
        </p:nvSpPr>
        <p:spPr>
          <a:xfrm>
            <a:off x="2788920" y="1024128"/>
            <a:ext cx="3566160" cy="329184"/>
          </a:xfrm>
          <a:prstGeom prst="roundRect">
            <a:avLst/>
          </a:prstGeom>
          <a:solidFill>
            <a:srgbClr val="D4A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141628"/>
                </a:solidFill>
                <a:latin typeface="Calibri"/>
              </a:rPr>
              <a:t>📋 Participant Guide Question</a:t>
            </a:r>
          </a:p>
        </p:txBody>
      </p:sp>
      <p:sp>
        <p:nvSpPr>
          <p:cNvPr id="7" name="Question"/>
          <p:cNvSpPr txBox="1"/>
          <p:nvPr/>
        </p:nvSpPr>
        <p:spPr>
          <a:xfrm>
            <a:off x="731520" y="1783080"/>
            <a:ext cx="7680960" cy="2194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000" b="1" i="0">
                <a:solidFill>
                  <a:srgbClr val="1B2A4A"/>
                </a:solidFill>
                <a:latin typeface="Calibri"/>
              </a:rPr>
              <a:t>Ano ang pangunahing dahilan kung bakit hirap ang isang mananampalataya na sumuko sa Panginoon?</a:t>
            </a:r>
          </a:p>
        </p:txBody>
      </p:sp>
      <p:sp>
        <p:nvSpPr>
          <p:cNvPr id="8" name="AnswerMode"/>
          <p:cNvSpPr txBox="1"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50" b="0" i="1">
                <a:solidFill>
                  <a:srgbClr val="B8882A"/>
                </a:solidFill>
                <a:latin typeface="Calibri"/>
              </a:rPr>
              <a:t>Tahimik na isulat sa Participant Guide — 90 segundo.</a:t>
            </a:r>
          </a:p>
        </p:txBody>
      </p:sp>
      <p:sp>
        <p:nvSpPr>
          <p:cNvPr id="9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3 min · ⌛20:00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C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MULTIPLY"/>
          <p:cNvSpPr txBox="1"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MULTIPLY · DISCIPLE-MAKING PIPELINE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 i="0">
                <a:solidFill>
                  <a:srgbClr val="808080"/>
                </a:solidFill>
                <a:latin typeface="Calibri"/>
              </a:rPr>
              <a:t>11 / 20</a:t>
            </a:r>
          </a:p>
        </p:txBody>
      </p:sp>
      <p:sp>
        <p:nvSpPr>
          <p:cNvPr id="5" name="Header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D4A84A"/>
                </a:solidFill>
                <a:latin typeface="Calibri"/>
              </a:rPr>
              <a:t>💡 TALAKAY · TANONG</a:t>
            </a:r>
          </a:p>
        </p:txBody>
      </p:sp>
      <p:sp>
        <p:nvSpPr>
          <p:cNvPr id="6" name="PGBadge"/>
          <p:cNvSpPr/>
          <p:nvPr/>
        </p:nvSpPr>
        <p:spPr>
          <a:xfrm>
            <a:off x="2788920" y="1024128"/>
            <a:ext cx="3566160" cy="329184"/>
          </a:xfrm>
          <a:prstGeom prst="roundRect">
            <a:avLst/>
          </a:prstGeom>
          <a:solidFill>
            <a:srgbClr val="D4A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141628"/>
                </a:solidFill>
                <a:latin typeface="Calibri"/>
              </a:rPr>
              <a:t>📋 Participant Guide Question</a:t>
            </a:r>
          </a:p>
        </p:txBody>
      </p:sp>
      <p:sp>
        <p:nvSpPr>
          <p:cNvPr id="7" name="Question"/>
          <p:cNvSpPr txBox="1"/>
          <p:nvPr/>
        </p:nvSpPr>
        <p:spPr>
          <a:xfrm>
            <a:off x="731520" y="1783080"/>
            <a:ext cx="7680960" cy="2194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000" b="1" i="0">
                <a:solidFill>
                  <a:srgbClr val="FEFCF8"/>
                </a:solidFill>
                <a:latin typeface="Calibri"/>
              </a:rPr>
              <a:t>Bakit kaya negatibo ang perception ng mundo sa salitang "pagsuko at pagpapasakop"?</a:t>
            </a:r>
          </a:p>
        </p:txBody>
      </p:sp>
      <p:sp>
        <p:nvSpPr>
          <p:cNvPr id="8" name="AnswerMode"/>
          <p:cNvSpPr txBox="1"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50" b="0" i="1">
                <a:solidFill>
                  <a:srgbClr val="D4A84A"/>
                </a:solidFill>
                <a:latin typeface="Calibri"/>
              </a:rPr>
              <a:t>Sa tables — pag-usapan. Tapos 1–2 boluntaryong share.</a:t>
            </a:r>
          </a:p>
        </p:txBody>
      </p:sp>
      <p:sp>
        <p:nvSpPr>
          <p:cNvPr id="9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3 min · ⌛23:00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TALAKAY · THE CHALLENGE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"Isuko mo sa Dios ang iyong buhay;
</a:t>
            </a:r>
            <a:r>
              <a:rPr lang="en-US" sz="3000" i="1" dirty="0">
                <a:solidFill>
                  <a:srgbClr val="D4A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marami Siyang magagawa riyan</a:t>
            </a:r>
            <a:endParaRPr lang="en-US" sz="30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kesa sa'yo."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D.L. MOODY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Naniniwala ka ba? Bakit o bakit hindi?</a:t>
            </a:r>
            <a:endParaRPr lang="en-US" sz="14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3 min · ⌛26:00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MEMORY VERSE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SCRIPTURE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7863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"Kaya nga, mga kapatid, </a:t>
            </a: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alang-alang sa masaganang habag ng Diyos sa atin,</a:t>
            </a: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ako'y nakikiusap sa inyo na </a:t>
            </a: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ialay ninyo ang inyong sarili bilang isang handog na buháy,</a:t>
            </a: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banal at </a:t>
            </a: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kalugud-lugod sa Diyos. Ito ang karapat-dapat na pagsamba.</a:t>
            </a: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18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⌛28:00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ANG TUNAY NA PAGSUKO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Sangkap ng Pagsuko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Hatiin natin ang Romans 12:1 sa tatlong bahagi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5486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Masaganang Habag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 Dios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"alang-alang sa masaganang habag..."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Pundasyon</a:t>
            </a: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mercy already received.</a:t>
            </a: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specific mercy ang naranasan mo?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/>
          <p:nvPr/>
        </p:nvSpPr>
        <p:spPr>
          <a:xfrm>
            <a:off x="32918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33832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Malayang Handog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 Tao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"ialay ninyo ang inyong sarili..."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107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</a:t>
            </a: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hindi 50-50. Buong-buo.</a:t>
            </a: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specific bahagi ang inihahandog mo?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0350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/>
          <p:nvPr/>
        </p:nvSpPr>
        <p:spPr>
          <a:xfrm>
            <a:off x="60350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61264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Malugod na Pagsamba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Paglilingkod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"kalugud-lugod sa Diyos..."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539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</a:t>
            </a: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buong buhay = worship.</a:t>
            </a: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Paano magiging worship ang Mon-Sat mo?</a:t>
            </a:r>
            <a:endParaRPr lang="en-US" sz="10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9 min · ⌛37:00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ANG KUWENTO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4A3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Minsan may isang batang babae na nagtanong sa kanyang Sunday School teacher kung ano ba ang ibig sabihin ng pagsuko.</a:t>
            </a:r>
            <a:r>
              <a:rPr lang="en-US" sz="16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16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16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4A3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Kumuha ang teacher ng </a:t>
            </a:r>
            <a:r>
              <a:rPr lang="en-US" sz="16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blangkong papel.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2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"Kapag pinirmahan at ibinigay mo
ang papel ng iyong buhay sa Dios,
at hinayaan mo Siyang magsulat
ng gusto Niyang isulat dito —
</a:t>
            </a:r>
            <a:r>
              <a:rPr lang="en-US" sz="2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iyan ang pagsuko."</a:t>
            </a:r>
            <a:endParaRPr lang="en-US" sz="2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⌛39:00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TUGON · ANG PAGSUKO KO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PUMIRMA SA IYONG BLANGKONG PAPEL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03120" y="1280160"/>
            <a:ext cx="49377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240280" y="1417320"/>
            <a:ext cx="46634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5C8A8"/>
            </a:solidFill>
            <a:prstDash val="dash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2377440" y="173736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"Lord, ito ang aking buhay.</a:t>
            </a:r>
            <a:endParaRPr lang="en-US" sz="17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Iyo na po — hayaan Mong</a:t>
            </a:r>
            <a:endParaRPr lang="en-US" sz="17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Ikaw na ang magsulat sa pahinang ito."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3520440"/>
            <a:ext cx="2194560" cy="0"/>
          </a:xfrm>
          <a:prstGeom prst="line">
            <a:avLst/>
          </a:prstGeom>
          <a:noFill/>
          <a:ln w="19050">
            <a:solidFill>
              <a:srgbClr val="C97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2377440" y="3611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7A6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PIRMA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4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Fold the paper. Place in your Bible at </a:t>
            </a:r>
            <a:r>
              <a:rPr lang="en-US" sz="1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12:1.</a:t>
            </a:r>
            <a:r>
              <a:rPr lang="en-US" sz="1200" i="1" dirty="0">
                <a:solidFill>
                  <a:srgbClr val="5A4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Look at it weekly.</a:t>
            </a:r>
            <a:endParaRPr lang="en-US" sz="1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8 min · ⌛47:00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DALHIN · CLOSING HYMN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/>
              </a:rPr>
              <a:t>I Surrender All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4A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Judson Van DeVenter · 1896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surrender all,</a:t>
            </a: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 surrender all,</a:t>
            </a:r>
            <a:endParaRPr lang="en-US" sz="2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to Thee, my blessed Savior,</a:t>
            </a:r>
            <a:endParaRPr lang="en-US" sz="2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surrender all.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the joy of full salvation!</a:t>
            </a:r>
            <a:endParaRPr lang="en-US" sz="30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4 min · ⌛51:00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C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MULTIPLY"/>
          <p:cNvSpPr txBox="1"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MULTIPLY · DISCIPLE-MAKING PIPELINE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900" b="0" i="0">
                <a:solidFill>
                  <a:srgbClr val="808080"/>
                </a:solidFill>
                <a:latin typeface="Calibri"/>
              </a:rPr>
              <a:t>18 / 20</a:t>
            </a:r>
          </a:p>
        </p:txBody>
      </p:sp>
      <p:sp>
        <p:nvSpPr>
          <p:cNvPr id="5" name="Header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D4A84A"/>
                </a:solidFill>
                <a:latin typeface="Calibri"/>
              </a:rPr>
              <a:t>🎵 DALHIN · TANONG</a:t>
            </a:r>
          </a:p>
        </p:txBody>
      </p:sp>
      <p:sp>
        <p:nvSpPr>
          <p:cNvPr id="6" name="PGBadge"/>
          <p:cNvSpPr/>
          <p:nvPr/>
        </p:nvSpPr>
        <p:spPr>
          <a:xfrm>
            <a:off x="2788920" y="1024128"/>
            <a:ext cx="3566160" cy="329184"/>
          </a:xfrm>
          <a:prstGeom prst="roundRect">
            <a:avLst/>
          </a:prstGeom>
          <a:solidFill>
            <a:srgbClr val="D4A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141628"/>
                </a:solidFill>
                <a:latin typeface="Calibri"/>
              </a:rPr>
              <a:t>📋 Participant Guide Question</a:t>
            </a:r>
          </a:p>
        </p:txBody>
      </p:sp>
      <p:sp>
        <p:nvSpPr>
          <p:cNvPr id="7" name="Question"/>
          <p:cNvSpPr txBox="1"/>
          <p:nvPr/>
        </p:nvSpPr>
        <p:spPr>
          <a:xfrm>
            <a:off x="731520" y="1783080"/>
            <a:ext cx="7680960" cy="2194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000" b="1" i="0">
                <a:solidFill>
                  <a:srgbClr val="FEFCF8"/>
                </a:solidFill>
                <a:latin typeface="Calibri"/>
              </a:rPr>
              <a:t>Anong linya ng himno ang pinakatumama sa'yo? Bakit?</a:t>
            </a:r>
          </a:p>
        </p:txBody>
      </p:sp>
      <p:sp>
        <p:nvSpPr>
          <p:cNvPr id="8" name="AnswerMode"/>
          <p:cNvSpPr txBox="1"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50" b="0" i="1">
                <a:solidFill>
                  <a:srgbClr val="D4A84A"/>
                </a:solidFill>
                <a:latin typeface="Calibri"/>
              </a:rPr>
              <a:t>I-underline sa Participant Guide — tapos 1–2 boluntaryong share.</a:t>
            </a:r>
          </a:p>
        </p:txBody>
      </p:sp>
      <p:sp>
        <p:nvSpPr>
          <p:cNvPr id="9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2 min · ⌛53:00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DALHIN · EOLO BRIDGE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WATCHING EYES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surrendered life is the </a:t>
            </a: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evangelistic life.</a:t>
            </a:r>
            <a:endParaRPr lang="en-US" sz="2200" dirty="0"/>
          </a:p>
          <a:p>
            <a:pPr marL="0" indent="0" algn="ctr">
              <a:lnSpc>
                <a:spcPct val="150000"/>
              </a:lnSpc>
              <a:buNone/>
            </a:pPr>
            <a:endParaRPr lang="en-US" sz="2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 EOLO person mo ay nakatingin sa </a:t>
            </a:r>
            <a:endParaRPr lang="en-US" sz="2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Monday-Saturday</a:t>
            </a: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mo,</a:t>
            </a:r>
            <a:endParaRPr lang="en-US" sz="2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hindi sa Sunday lang."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Sinong EOLO person ang malamang nag-oobserve ng buhay mo this week?</a:t>
            </a:r>
            <a:endParaRPr lang="en-US" sz="12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Anong surrendered action ang makikita niya?</a:t>
            </a:r>
            <a:endParaRPr lang="en-US" sz="12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1 min · ⌛54:00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DALHIN · MEMORIZE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5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LOOB NG 2 LINGGO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"...alang-alang sa masaganang habag ng Diyos sa atin,</a:t>
            </a:r>
            <a:endParaRPr lang="en-US" sz="18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ialay ninyo ang inyong sarili bilang isang handog na buháy..."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the joy of full salvation!</a:t>
            </a:r>
            <a:endParaRPr lang="en-US" sz="2800" dirty="0"/>
          </a:p>
        </p:txBody>
      </p:sp>
      <p:sp>
        <p:nvSpPr>
          <p:cNvPr id="90" name="TimerPill"/>
          <p:cNvSpPr/>
          <p:nvPr/>
        </p:nvSpPr>
        <p:spPr>
          <a:xfrm>
            <a:off x="7205472" y="118872"/>
            <a:ext cx="1828800" cy="36576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 b="1">
                <a:solidFill>
                  <a:srgbClr val="141628"/>
                </a:solidFill>
                <a:latin typeface="Calibri"/>
              </a:rPr>
              <a:t>⏱ 1 min · ⌛55:00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2596</Words>
  <Application>Microsoft Office PowerPoint</Application>
  <PresentationFormat>On-screen Show (16:9)</PresentationFormat>
  <Paragraphs>318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MULTIPLY · Disciple-Making Pipeline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MULTIPLY · BTLI 1 · L3 · Pagsuko</dc:title>
  <dc:subject>Pagsuko · Unconditional Surrender · Consecration</dc:subject>
  <dc:creator>MULTIPLY · Disciple-Making Pipeline</dc:creator>
  <cp:lastModifiedBy>af30421@365mso.com</cp:lastModifiedBy>
  <cp:revision>6</cp:revision>
  <dcterms:created xsi:type="dcterms:W3CDTF">2026-05-15T09:47:11Z</dcterms:created>
  <dcterms:modified xsi:type="dcterms:W3CDTF">2026-07-18T22:56:42Z</dcterms:modified>
</cp:coreProperties>
</file>
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25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6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L3 is heavier than L1/L2 — set tone immediately. This is "the what now" lesson after a month of L1 prayer + L2 Bible meditation. The character anchor is Joy because Romans 12:1 grounds surrender in mercy received, not gritted-teeth restraint. Pause before clicking forward — let Pagsuko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STAND. Eye contact. 30-day S.O.A.P.S callback. Celebrate anyone past Day 14 publicly — name them. This is the bridge from L2 (faithfulness) into L3 (joyful surrender). After a month of hearing God, the only honest response is yielding.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shift. Dark slide. SLOW DOWN here. Read "Mokusatsu" aloud, slowly. The single word that will unfold into 200,000 dead. Do not rush. Do not joke. Hold the gravity.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 slowly. After "Hiroshima. Nagasaki." — pause. Let the audience absorb. After "200,000+" — pause again, 5 seconds of silence. Do NOT show graphic images of the bombings. The text alone carries the weight. Then pivot to the question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question. Let it sit. Pax write initial reaction in booklet. ~2 minutes silent reflection. Then 1-2 voluntary shares.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of L3. Read slowly. The parallel — Kaniyang/ating — is intentional. God yielded to us first (Phil 2 self-emptying); now we yield to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Surrender carries baggage — feels like defeat. Consecration is the better word — setting apart, welcoming home. The Lord is not occupying conquered territory. He is welcoming home what was always 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aloud. The phrase "binili na kayo sa isang halaga" — emphasize. The price has been paid. Surrender is not adding a price; it is acknowledging the price already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binary question. There is no third option. Pax may try to say "I am working on it" — that's pagsuway with a strategy. The disciple sumusunod even when imperfectly. The non-disciple sumusuway and calls it humility.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TANONG (dedicated slide). Tables of 4-6, ~3 min: Bakit negatibo ang perception ng mundo sa pagsuko/pagpapasakop? Surface honest answers, then 1-2 whole-room shares. (The Moody challenge is the NEXT slide.)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Moody quote is bait — the kind of disciple who thinks surrender is limitation reads this and the trap springs. The alternative — your own grip — is the limitation. Yielding opens to a wider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 once. Note the three highlighted phrases — they are the three sangkap. Foundation (mercy received) → Response (offer self) → Outflow (worship-as-life).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sangkap at a time. Pause between each. ~2 min per sangkap for silent writing in the participant booklet. Interns model at tables. Watch for "everything-but-this" pax who can name in abstract but not in 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down. Read the story aloud. Then transition to slide 15 — the ritual. Hand out blank papers and pens BEFORE clicking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EMOTIONAL CLIMAX. Play quiet instrumental music. Pax write a short prayer (optional) and sign. HOLD 90 SECONDS OF SILENCE after most have signed. Do not rush. Tissues at every table — silently. The Holy Spirit is the one doing the work; your job is to not get in the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 together. Or play YouTube Bk8sQDgKf08. Let the climax line "O the joy of full salvation!" ring. This is where Joy character anchor lands. Surrender → joy is the gospel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from internal posture to external witness. L3 is internal. EOLO becomes WHO WATCHES YOUR MONDAY-SATURDAY. Not extroverted activity — visible life. 60-sec silent reflection. No share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Romans 12:1 + hymn climax line. One-line prayer. Tease L4 = Personal Holiness — pagkatapos mong sumuko (L3), anong klaseng buhay ang tinawag mong ialay?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BTLI 1 · LESSON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Pagsuko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09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Unconditional Surrender · Consecration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4297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941A">
              <a:alpha val="18000"/>
            </a:srgbClr>
          </a:solidFill>
          <a:ln w="9525">
            <a:solidFill>
              <a:srgbClr val="E89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Galak / Joy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42976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8941A">
              <a:alpha val="18000"/>
            </a:srgbClr>
          </a:solidFill>
          <a:ln w="9525">
            <a:solidFill>
              <a:srgbClr val="E89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3 Sangkap + Signed Paper</a:t>
            </a:r>
            <a:endParaRPr lang="en-US" sz="11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55-min lesson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CALLBACK TO 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Bago tayo mag-umpisa...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Kumusta ang 30-day S.O.A.P.S?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 dito ay nag-pick ng John?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Ilang chapters na kayo? Sino dito ay umabot ng Day 14?</a:t>
            </a:r>
            <a:endParaRPr lang="en-US" sz="14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⌛2:00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A TRAGIC MISTRANSLATION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Mokusatsu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A89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Isang salita lang...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A89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Daang libong buhay.</a:t>
            </a:r>
            <a:endParaRPr lang="en-US" sz="22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1 min · ⌛3:00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ANG KUWENTO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Hiniling ng </a:t>
            </a:r>
            <a:pPr algn="ctr" indent="0" marL="0">
              <a:lnSpc>
                <a:spcPct val="155000"/>
              </a:lnSpc>
              <a:buNone/>
            </a:pPr>
            <a:r>
              <a:rPr lang="en-US" sz="1400" b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forces </a:t>
            </a:r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(Truman) ang </a:t>
            </a:r>
            <a:pPr algn="ctr" indent="0" marL="0">
              <a:lnSpc>
                <a:spcPct val="155000"/>
              </a:lnSpc>
              <a:buNone/>
            </a:pPr>
            <a:r>
              <a:rPr lang="en-US" sz="1400" b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surrender </a:t>
            </a:r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Japan.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Tinanong ng reporters si PM Suzuki — isang salita lang: </a:t>
            </a:r>
            <a:pPr algn="ctr"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mokusatsu</a:t>
            </a:r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Maaaring </a:t>
            </a:r>
            <a:pPr algn="ctr"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comment muna"</a:t>
            </a:r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o </a:t>
            </a:r>
            <a:pPr algn="ctr"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disregard."</a:t>
            </a:r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D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Pinili ng translators ang second.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b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Hiroshima. Nagasaki.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200,000+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9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world's most tragic case of mistranslation"</a:t>
            </a:r>
            <a:endParaRPr lang="en-US" sz="13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3 min · ⌛6:00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ULTIPLY"/>
          <p:cNvSpPr txBox="1"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808080"/>
                </a:solidFill>
                <a:latin typeface="Calibri"/>
              </a:rPr>
              <a:t>MULTIPLY · DISCIPLE-MAKING PIPELINE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5 / 20</a:t>
            </a:r>
          </a:p>
        </p:txBody>
      </p:sp>
      <p:sp>
        <p:nvSpPr>
          <p:cNvPr id="5" name="Header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C97A1A"/>
                </a:solidFill>
                <a:latin typeface="Calibri"/>
              </a:rPr>
              <a:t>⚡ PUKAW · TANONG</a:t>
            </a:r>
          </a:p>
        </p:txBody>
      </p:sp>
      <p:sp>
        <p:nvSpPr>
          <p:cNvPr id="6" name="PGBadge"/>
          <p:cNvSpPr/>
          <p:nvPr/>
        </p:nvSpPr>
        <p:spPr>
          <a:xfrm>
            <a:off x="2788920" y="1024128"/>
            <a:ext cx="3566160" cy="329184"/>
          </a:xfrm>
          <a:prstGeom prst="roundRect">
            <a:avLst/>
          </a:prstGeom>
          <a:solidFill>
            <a:srgbClr val="D4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141628"/>
                </a:solidFill>
                <a:latin typeface="Calibri"/>
              </a:rPr>
              <a:t>📋 Participant Guide Question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731520" y="1783080"/>
            <a:ext cx="7680960" cy="2194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libri"/>
              </a:rPr>
              <a:t>Ano ang pakahulugan mo sa salitang "unconditional surrender"?</a:t>
            </a:r>
          </a:p>
        </p:txBody>
      </p:sp>
      <p:sp>
        <p:nvSpPr>
          <p:cNvPr id="8" name="AnswerMode"/>
          <p:cNvSpPr txBox="1"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0" i="1">
                <a:solidFill>
                  <a:srgbClr val="B8882A"/>
                </a:solidFill>
                <a:latin typeface="Calibri"/>
              </a:rPr>
              <a:t>Isulat sa Participant Guide — tapos 1–2 boluntaryong share.</a:t>
            </a:r>
          </a:p>
        </p:txBody>
      </p:sp>
      <p:sp>
        <p:nvSpPr>
          <p:cNvPr id="9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3 min · ⌛9:00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BIG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PANGUNAHING KATOTOHANAN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"Kung gusto nating pag-usapan ang </a:t>
            </a:r>
            <a:pPr algn="ctr" indent="0" marL="0">
              <a:lnSpc>
                <a:spcPct val="135000"/>
              </a:lnSpc>
              <a:buNone/>
            </a:pPr>
            <a:r>
              <a:rPr lang="en-US" sz="3200" b="1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Kaniyang pagsukob</a:t>
            </a:r>
            <a:pPr algn="ctr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dapat handa rin tayong talakayin ang </a:t>
            </a:r>
            <a:pPr algn="ctr" indent="0" marL="0">
              <a:lnSpc>
                <a:spcPct val="135000"/>
              </a:lnSpc>
              <a:buNone/>
            </a:pPr>
            <a:r>
              <a:rPr lang="en-US" sz="3200" b="1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ating pagsuko</a:t>
            </a:r>
            <a:pPr algn="ctr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."</a:t>
            </a:r>
            <a:endParaRPr lang="en-US" sz="32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⌛11:00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ANG SALITA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MALINAW KAYSA SURRENDER 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Consecration</a:t>
            </a:r>
            <a:endParaRPr lang="en-US" sz="8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"Itinatalaga mo ang iyong buong buhay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sa paglilingkod at pagsamba sa Dios."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ABSOLUTELY</a:t>
            </a:r>
            <a:pPr algn="ctr" indent="0" marL="0">
              <a:buNone/>
            </a:pPr>
            <a:r>
              <a:rPr lang="en-US" sz="1700" spc="300" kern="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pPr algn="ctr" indent="0" marL="0">
              <a:buNone/>
            </a:pPr>
            <a:r>
              <a:rPr lang="en-US" sz="1700" b="1" spc="300" kern="0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COMPLETELY</a:t>
            </a:r>
            <a:pPr algn="ctr" indent="0" marL="0">
              <a:buNone/>
            </a:pPr>
            <a:r>
              <a:rPr lang="en-US" sz="1700" spc="300" kern="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pPr algn="ctr" indent="0" marL="0">
              <a:buNone/>
            </a:pPr>
            <a:r>
              <a:rPr lang="en-US" sz="1700" b="1" spc="300" kern="0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EXCLUSIVELY</a:t>
            </a:r>
            <a:endParaRPr lang="en-US" sz="17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⌛13:00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ANCHOR VERSE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TAYO PAG-AARI NG SARILI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Corinthians 6:19-20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"Hindi ninyo pag-aari ang inyong katawan; sapagkat </a:t>
            </a:r>
            <a:pPr algn="ctr" indent="0" marL="0">
              <a:lnSpc>
                <a:spcPct val="145000"/>
              </a:lnSpc>
              <a:buNone/>
            </a:pPr>
            <a:r>
              <a:rPr lang="en-US" sz="22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binili na kayo sa isang halaga.</a:t>
            </a:r>
            <a:pPr algn="ctr" indent="0" marL="0">
              <a:lnSpc>
                <a:spcPct val="14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Kaya't gamitin ninyo ang inyong katawan upang maparangalan ang Diyos."</a:t>
            </a:r>
            <a:endParaRPr lang="en-US" sz="22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⌛15:00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LUCAS 6:46-47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"Bakit ninyo ako tinatawag na 'Panginoon,' gayong hindi naman ninyo tinutupad ang sinasabi ko?"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25400">
            <a:solidFill>
              <a:srgbClr val="C97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 KA?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Pagsunod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51960" y="2103120"/>
            <a:ext cx="640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892040" y="210312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25400">
            <a:solidFill>
              <a:srgbClr val="C9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Pagsuway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A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"Hindi mo puwedeng sabihin na sumusuko ka ng hindi sumusunod."</a:t>
            </a:r>
            <a:endParaRPr lang="en-US" sz="14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⌛17:00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ULTIPLY"/>
          <p:cNvSpPr txBox="1"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808080"/>
                </a:solidFill>
                <a:latin typeface="Calibri"/>
              </a:rPr>
              <a:t>MULTIPLY · DISCIPLE-MAKING PIPELINE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11 / 20</a:t>
            </a:r>
          </a:p>
        </p:txBody>
      </p:sp>
      <p:sp>
        <p:nvSpPr>
          <p:cNvPr id="5" name="Header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D4A84A"/>
                </a:solidFill>
                <a:latin typeface="Calibri"/>
              </a:rPr>
              <a:t>💡 TALAKAY · TANONG</a:t>
            </a:r>
          </a:p>
        </p:txBody>
      </p:sp>
      <p:sp>
        <p:nvSpPr>
          <p:cNvPr id="6" name="PGBadge"/>
          <p:cNvSpPr/>
          <p:nvPr/>
        </p:nvSpPr>
        <p:spPr>
          <a:xfrm>
            <a:off x="2788920" y="1024128"/>
            <a:ext cx="3566160" cy="329184"/>
          </a:xfrm>
          <a:prstGeom prst="roundRect">
            <a:avLst/>
          </a:prstGeom>
          <a:solidFill>
            <a:srgbClr val="D4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141628"/>
                </a:solidFill>
                <a:latin typeface="Calibri"/>
              </a:rPr>
              <a:t>📋 Participant Guide Question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731520" y="1783080"/>
            <a:ext cx="7680960" cy="2194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000" b="1" i="0">
                <a:solidFill>
                  <a:srgbClr val="FEFCF8"/>
                </a:solidFill>
                <a:latin typeface="Calibri"/>
              </a:rPr>
              <a:t>Bakit kaya negatibo ang perception ng mundo sa salitang "pagsuko at pagpapasakop"?</a:t>
            </a:r>
          </a:p>
        </p:txBody>
      </p:sp>
      <p:sp>
        <p:nvSpPr>
          <p:cNvPr id="8" name="AnswerMode"/>
          <p:cNvSpPr txBox="1"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0" i="1">
                <a:solidFill>
                  <a:srgbClr val="D4A84A"/>
                </a:solidFill>
                <a:latin typeface="Calibri"/>
              </a:rPr>
              <a:t>Sa tables — pag-usapan. Tapos 1–2 boluntaryong share.</a:t>
            </a:r>
          </a:p>
        </p:txBody>
      </p:sp>
      <p:sp>
        <p:nvSpPr>
          <p:cNvPr id="9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3 min · ⌛23:00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TALAKAY · 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"Isuko mo sa Dios ang iyong buhay;
</a:t>
            </a:r>
            <a:pPr algn="ctr" indent="0" marL="0">
              <a:lnSpc>
                <a:spcPct val="135000"/>
              </a:lnSpc>
              <a:buNone/>
            </a:pPr>
            <a:r>
              <a:rPr lang="en-US" sz="3000" i="1" dirty="0">
                <a:solidFill>
                  <a:srgbClr val="D4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marami Siyang magagawa riyan</a:t>
            </a:r>
            <a:pPr algn="ctr" indent="0" marL="0">
              <a:lnSpc>
                <a:spcPct val="135000"/>
              </a:lnSpc>
              <a:buNone/>
            </a:pPr>
            <a:endParaRPr lang="en-US" sz="3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kesa sa'yo."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D.L. MOODY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Naniniwala ka ba? Bakit o bakit hindi?</a:t>
            </a:r>
            <a:endParaRPr lang="en-US" sz="14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3 min · ⌛26:00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GAWIN · MEMORY VERSE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SCRIPTURE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 12:1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"Kaya nga, mga kapatid,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alang-alang sa masaganang habag ng Diyos sa atin,</a:t>
            </a:r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ako'y nakikiusap sa inyo na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ialay ninyo ang inyong sarili bilang isang handog na buháy,</a:t>
            </a:r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banal at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kalugud-lugod sa Diyos. Ito ang karapat-dapat na pagsamba.</a:t>
            </a:r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8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⌛28:00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GAWIN · ANG TUNAY NA PAGSUKO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Sangkap ng Pagsuko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Hatiin natin ang Romans 12:1 sa tatlong bahagi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2560320" cy="109728"/>
          </a:xfrm>
          <a:prstGeom prst="rect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Masaganang Habag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 Dios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"alang-alang sa masaganang habag..."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379476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Pundasyon</a:t>
            </a:r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mercy already received.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Anong specific mercy ang naranasan mo?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783080"/>
            <a:ext cx="2560320" cy="109728"/>
          </a:xfrm>
          <a:prstGeom prst="rect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Malayang Handog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 Tao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"ialay ninyo ang inyong sarili..."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0712" y="379476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Tugon</a:t>
            </a:r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hindi 50-50. Buong-buo.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Anong specific bahagi ang inihahandog mo?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78308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783080"/>
            <a:ext cx="2560320" cy="109728"/>
          </a:xfrm>
          <a:prstGeom prst="rect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12648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Malugod na Pagsamba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Paglilingkod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"kalugud-lugod sa Diyos..."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3912" y="379476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Bunga</a:t>
            </a:r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buong buhay = worship.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Paano magiging worship ang Mon-Sat mo?</a:t>
            </a:r>
            <a:endParaRPr lang="en-US" sz="10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9 min · ⌛37:00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GAWIN · ANG KUWENTO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Minsan may isang batang babae na nagtanong sa kanyang Sunday School teacher kung ano ba ang ibig sabihin ng pagsuko.</a:t>
            </a:r>
            <a:pPr algn="ctr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Kumuha ang teacher ng </a:t>
            </a:r>
            <a:pPr algn="ctr" indent="0" marL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blangkong papel.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"Kapag pinirmahan at ibinigay mo
ang papel ng iyong buhay sa Dios,
at hinayaan mo Siyang magsulat
ng gusto Niyang isulat dito —
</a:t>
            </a:r>
            <a:pPr algn="ctr" indent="0" marL="0">
              <a:lnSpc>
                <a:spcPct val="135000"/>
              </a:lnSpc>
              <a:buNone/>
            </a:pPr>
            <a:r>
              <a:rPr lang="en-US" sz="2200" b="1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iyan ang pagsuko."</a:t>
            </a:r>
            <a:endParaRPr lang="en-US" sz="22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⌛39:00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TUGON · ANG PAGSUKO KO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PUMIRMA SA IYONG BLANGKONG PAPEL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280160"/>
            <a:ext cx="49377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5400">
            <a:solidFill>
              <a:srgbClr val="C97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41732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C8A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377440" y="17373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7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"Lord, ito ang aking buhay.</a:t>
            </a:r>
            <a:endParaRPr lang="en-US" sz="17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7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Iyo na po — hayaan Mong</a:t>
            </a:r>
            <a:endParaRPr lang="en-US" sz="17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7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Ikaw na ang magsulat sa pahinang ito."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3520440"/>
            <a:ext cx="2194560" cy="0"/>
          </a:xfrm>
          <a:prstGeom prst="line">
            <a:avLst/>
          </a:prstGeom>
          <a:noFill/>
          <a:ln w="19050">
            <a:solidFill>
              <a:srgbClr val="C9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A6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4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the paper. Place in your Bible at </a:t>
            </a:r>
            <a:pPr algn="ctr" indent="0" marL="0">
              <a:buNone/>
            </a:pPr>
            <a:r>
              <a:rPr lang="en-US" sz="1200" b="1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 12:1.</a:t>
            </a:r>
            <a:pPr algn="ctr" indent="0" marL="0">
              <a:buNone/>
            </a:pPr>
            <a:r>
              <a:rPr lang="en-US" sz="1200" i="1" dirty="0">
                <a:solidFill>
                  <a:srgbClr val="5A4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Look at it weekly.</a:t>
            </a:r>
            <a:endParaRPr lang="en-US" sz="12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8 min · ⌛47:00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DALHIN · CLOSING HYMN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Surrender All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Judson Van DeVenter · 1896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2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surrender all,</a:t>
            </a:r>
            <a:pPr algn="ctr" indent="0" marL="0">
              <a:lnSpc>
                <a:spcPct val="14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surrender all,</a:t>
            </a:r>
            <a:endParaRPr lang="en-US" sz="2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to Thee, my blessed Savior,</a:t>
            </a:r>
            <a:endParaRPr lang="en-US" sz="2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2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surrender all.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the joy of full salvation!</a:t>
            </a:r>
            <a:endParaRPr lang="en-US" sz="30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4 min · ⌛51:00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DALHIN · EOLO BRIDGE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WATCHING EYES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surrendered life is the </a:t>
            </a:r>
            <a:pPr algn="ctr" indent="0" marL="0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evangelistic life.</a:t>
            </a:r>
            <a:pPr algn="ctr" indent="0" marL="0">
              <a:lnSpc>
                <a:spcPct val="15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EOLO person mo ay nakatingin sa 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F5D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Monday-Saturday</a:t>
            </a:r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mo,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 sa Sunday lang."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Sinong EOLO person ang malamang nag-oobserve ng buhay mo this week?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Anong surrendered action ang makikita niya?</a:t>
            </a:r>
            <a:endParaRPr lang="en-US" sz="12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1 min · ⌛54:00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DALHIN · MEMORIZE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LOOB NG 2 LINGGO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 12:1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"...alang-alang sa masaganang habag ng Diyos sa atin,</a:t>
            </a:r>
            <a:endParaRPr lang="en-US" sz="18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ialay ninyo ang inyong sarili bilang isang handog na buháy..."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C9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the joy of full salvation!</a:t>
            </a:r>
            <a:endParaRPr lang="en-US" sz="2800" dirty="0"/>
          </a:p>
        </p:txBody>
      </p:sp>
      <p:sp>
        <p:nvSpPr>
          <p:cNvPr id="90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1 min · ⌛55:00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ULTIPLY"/>
          <p:cNvSpPr txBox="1"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808080"/>
                </a:solidFill>
                <a:latin typeface="Calibri"/>
              </a:rPr>
              <a:t>MULTIPLY · DISCIPLE-MAKING PIPELINE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10 / 20</a:t>
            </a:r>
          </a:p>
        </p:txBody>
      </p:sp>
      <p:sp>
        <p:nvSpPr>
          <p:cNvPr id="5" name="Header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C97A1A"/>
                </a:solidFill>
                <a:latin typeface="Calibri"/>
              </a:rPr>
              <a:t>📖 TUKLAS · TANONG</a:t>
            </a:r>
          </a:p>
        </p:txBody>
      </p:sp>
      <p:sp>
        <p:nvSpPr>
          <p:cNvPr id="6" name="PGBadge"/>
          <p:cNvSpPr/>
          <p:nvPr/>
        </p:nvSpPr>
        <p:spPr>
          <a:xfrm>
            <a:off x="2788920" y="1024128"/>
            <a:ext cx="3566160" cy="329184"/>
          </a:xfrm>
          <a:prstGeom prst="roundRect">
            <a:avLst/>
          </a:prstGeom>
          <a:solidFill>
            <a:srgbClr val="D4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141628"/>
                </a:solidFill>
                <a:latin typeface="Calibri"/>
              </a:rPr>
              <a:t>📋 Participant Guide Question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731520" y="1783080"/>
            <a:ext cx="7680960" cy="2194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libri"/>
              </a:rPr>
              <a:t>Ano ang pangunahing dahilan kung bakit hirap ang isang mananampalataya na sumuko sa Panginoon?</a:t>
            </a:r>
          </a:p>
        </p:txBody>
      </p:sp>
      <p:sp>
        <p:nvSpPr>
          <p:cNvPr id="8" name="AnswerMode"/>
          <p:cNvSpPr txBox="1"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0" i="1">
                <a:solidFill>
                  <a:srgbClr val="B8882A"/>
                </a:solidFill>
                <a:latin typeface="Calibri"/>
              </a:rPr>
              <a:t>Tahimik na isulat sa Participant Guide — 90 segundo.</a:t>
            </a:r>
          </a:p>
        </p:txBody>
      </p:sp>
      <p:sp>
        <p:nvSpPr>
          <p:cNvPr id="9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3 min · ⌛20:00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ULTIPLY"/>
          <p:cNvSpPr txBox="1"/>
          <p:nvPr/>
        </p:nvSpPr>
        <p:spPr>
          <a:xfrm>
            <a:off x="365760" y="137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808080"/>
                </a:solidFill>
                <a:latin typeface="Calibri"/>
              </a:rPr>
              <a:t>MULTIPLY · DISCIPLE-MAKING PIPELINE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18 / 20</a:t>
            </a:r>
          </a:p>
        </p:txBody>
      </p:sp>
      <p:sp>
        <p:nvSpPr>
          <p:cNvPr id="5" name="Header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D4A84A"/>
                </a:solidFill>
                <a:latin typeface="Calibri"/>
              </a:rPr>
              <a:t>🎵 DALHIN · TANONG</a:t>
            </a:r>
          </a:p>
        </p:txBody>
      </p:sp>
      <p:sp>
        <p:nvSpPr>
          <p:cNvPr id="6" name="PGBadge"/>
          <p:cNvSpPr/>
          <p:nvPr/>
        </p:nvSpPr>
        <p:spPr>
          <a:xfrm>
            <a:off x="2788920" y="1024128"/>
            <a:ext cx="3566160" cy="329184"/>
          </a:xfrm>
          <a:prstGeom prst="roundRect">
            <a:avLst/>
          </a:prstGeom>
          <a:solidFill>
            <a:srgbClr val="D4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141628"/>
                </a:solidFill>
                <a:latin typeface="Calibri"/>
              </a:rPr>
              <a:t>📋 Participant Guide Question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731520" y="1783080"/>
            <a:ext cx="7680960" cy="2194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000" b="1" i="0">
                <a:solidFill>
                  <a:srgbClr val="FEFCF8"/>
                </a:solidFill>
                <a:latin typeface="Calibri"/>
              </a:rPr>
              <a:t>Anong linya ng himno ang pinakatumama sa'yo? Bakit?</a:t>
            </a:r>
          </a:p>
        </p:txBody>
      </p:sp>
      <p:sp>
        <p:nvSpPr>
          <p:cNvPr id="8" name="AnswerMode"/>
          <p:cNvSpPr txBox="1"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50" b="0" i="1">
                <a:solidFill>
                  <a:srgbClr val="D4A84A"/>
                </a:solidFill>
                <a:latin typeface="Calibri"/>
              </a:rPr>
              <a:t>I-underline sa Participant Guide — tapos 1–2 boluntaryong share.</a:t>
            </a:r>
          </a:p>
        </p:txBody>
      </p:sp>
      <p:sp>
        <p:nvSpPr>
          <p:cNvPr id="9" name="TimerPill"/>
          <p:cNvSpPr/>
          <p:nvPr/>
        </p:nvSpPr>
        <p:spPr>
          <a:xfrm>
            <a:off x="7205472" y="118872"/>
            <a:ext cx="182880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1">
                <a:solidFill>
                  <a:srgbClr val="141628"/>
                </a:solidFill>
                <a:latin typeface="Calibri"/>
              </a:rPr>
              <a:t>⏱ 2 min · ⌛53:00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MULTIPLY · Disciple-Making Pipeline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 · BTLI 1 · L3 · Pagsuko</dc:title>
  <dc:subject>Pagsuko · Unconditional Surrender · Consecration</dc:subject>
  <dc:creator>MULTIPLY · Disciple-Making Pipeline</dc:creator>
  <cp:lastModifiedBy>MULTIPLY · Disciple-Making Pipeline</cp:lastModifiedBy>
  <cp:revision>1</cp:revision>
  <dcterms:created xsi:type="dcterms:W3CDTF">2026-05-15T09:47:11Z</dcterms:created>
  <dcterms:modified xsi:type="dcterms:W3CDTF">2026-05-15T09:47:11Z</dcterms:modified>
</cp:coreProperties>
</file>
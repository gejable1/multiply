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648" y="67"/>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794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seconds. Welcome the room. Project this while participants find their seats. Don't speak over it. Let it land. When ready, transition: 'Magandang gabi, kapatid. Magsisimula tayo.' Move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lungfish video here (~2 min). After the video, DON'T explain it. Let the image carry the work. Move to slide 3 for the activity setup.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5 tables, Manila paper folded in 2 columns. Each table picks 3 items, fills both columns (4 min). Then gallery walk (3 min). Then the pivot — transition to slide 4. SMALL GROUP: same 2-column on shared Manila paper, round-robin. 1-on-1: skip this slide, use dialogue from facilitator 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pivot question slowly. Pause after it. Let it hang in the air. Then the bridge: "Hindi ka aksidente. Hindi ka spare part. May ginawa ang Diyos sa iyo bago ka pa ipinanganak. Ang tanong: alam mo na ba kung ano iyon? At kung alam mo na — pinamumuhay mo ba?" Transition to TUKLAS.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read in Tagalog, one participant reads in English. Slowly. The whole life of David — summarized in ONE sentence. 'Pinaglingkuran ang layunin ng Diyos sa kanyang sariling henerasyon.' Don't preach yet — the question comes on slide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aloud, both languages back-to-back. EMPHASIZE: the word 'workmanship' is the Greek 'poiema' — root of 'poem.' Masterpiece. Custom-designed. AND the good works were prepared BEFOREHAND, not improvised. Hindi spare part. Hindi sketch. Masterpiece na may inihandang gawa.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volunteer reads aloud, then everyone reads silently. The KEY: this is Jesus mid-Vine-and-Branches teaching (John 15:1-11). The 'things I have told you' = abiding in the vine. JOY made full = abiding in mission. Joy and mission are designed to feed each other.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12 min table discussion of all 3 questions. SMALL GROUP: round-robin one question each, then open discussion. 1-on-1: slow walk through all three. Each table writes their best answer to "Ang Misyon ng Diyos sa Akin ay ___" on Manila paper and posts on gallery wall.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ONLY. Don't over-teach. Project the framework, say each piece once with ONE personal example for each (brief!), then move on. The framework is a launching pad for the Mission Statement Sketch in GAWIN — not a sermon.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PASTORAL TONE. Some participants will love her music. Some saw her live. DO NOT CONDEMN. Speak with gravity and gentleness. Three paragraphs from facilitator file: (1) Her extraordinary voice — true strength. (2) Her gospel roots — true passion. (3) The drift — calling napalitan ng career, industry, addiction. The point: ANY OF US can have 2 of 3 and miss the 3rd without noticing. Including the people in this room. Including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4 minutes of REAL silence. No music. No facilitator filler. Walk slowly, calm presence. Then optional voluntary share (4 min, 2-3 honest shares). SMALL GROUP: 3 min silent writing + 4 min pair share with "Sabihin mo pa" listening rule. 1-on-1: slow walk through all three with reflect-back. The Spirit works in this silence. Trust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open participant page → TALAKAY section. Top 3 each column. 5 minutes only. Forces clarity. Encourage them to do the full 2-week version at home from multiplygroup.org/leadingyourself.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LESSON'S ARTIFACT. Every participant must leave with a first-draft mission statement filled in on the participant page. The participant page has live preview that assembles the full sentence as they type. 10 minutes — 3 minutes per blank, 1 minute review.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write the EOLO person's name + the specific way to live out their mission statement toward them. Then COHORT: table coach leads 60-second specific prayer per table. SMALL GROUP: group prays together by name. 1-on-1: mentor prays for both mentee and EOLO person.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track this on participant page (10-day grid). Even small. Especially small. Pwedeng natulungan lang ang katabi sa MRT. Pwedeng nakinig sa kapatid. Sa next lesson, first question: "Ilang araw ka nakapagsulat?" Walang shame — datos lang.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Look-Say-Cover-Check drill: (1) Everyone reads from screen twice together. (2) Screen goes blank, say from memory together. (3) Pairs say it to each other without looking. (4) Screenshot or distribute physical cards. The verse will be tested in opening of Lesson 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it on participant page. Specific is the only rule. Not vague ("magiging mas mabuting Kristiyano"). Specific ("magse-set ako ng 6am daily devotional time for 2 weeks"). Hold the room here — no rushing.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SACRED — DO NOT REDESIGN. Everyone stands. Memory verse together from memory — final time. You pray specifically — name 2-3 participants and their EOLO person and their first-draft mission. Then together, hands raised: "Disciples who make disciples." Dismissal by 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4"/>
        </a:solidFill>
        <a:effectLst/>
      </p:bgPr>
    </p:bg>
    <p:spTree>
      <p:nvGrpSpPr>
        <p:cNvPr id="1" name=""/>
        <p:cNvGrpSpPr/>
        <p:nvPr/>
      </p:nvGrpSpPr>
      <p:grpSpPr>
        <a:xfrm>
          <a:off x="0" y="0"/>
          <a:ext cx="0" cy="0"/>
          <a:chOff x="0" y="0"/>
          <a:chExt cx="0" cy="0"/>
        </a:xfrm>
      </p:grpSpPr>
      <p:sp>
        <p:nvSpPr>
          <p:cNvPr id="2" name="Shape 0"/>
          <p:cNvSpPr/>
          <p:nvPr/>
        </p:nvSpPr>
        <p:spPr>
          <a:xfrm>
            <a:off x="-1828800" y="914400"/>
            <a:ext cx="6400800" cy="6400800"/>
          </a:xfrm>
          <a:prstGeom prst="ellipse">
            <a:avLst/>
          </a:prstGeom>
          <a:solidFill>
            <a:srgbClr val="D4A84A">
              <a:alpha val="10000"/>
            </a:srgbClr>
          </a:solidFill>
          <a:ln w="12700">
            <a:solidFill>
              <a:srgbClr val="D4A84A">
                <a:alpha val="0"/>
              </a:srgbClr>
            </a:solidFill>
            <a:prstDash val="solid"/>
          </a:ln>
        </p:spPr>
        <p:txBody>
          <a:bodyPr/>
          <a:lstStyle/>
          <a:p>
            <a:endParaRPr lang="en-PH"/>
          </a:p>
        </p:txBody>
      </p:sp>
      <p:sp>
        <p:nvSpPr>
          <p:cNvPr id="3" name="Shape 1"/>
          <p:cNvSpPr/>
          <p:nvPr/>
        </p:nvSpPr>
        <p:spPr>
          <a:xfrm>
            <a:off x="7315200" y="3200400"/>
            <a:ext cx="6400800" cy="5486400"/>
          </a:xfrm>
          <a:prstGeom prst="ellipse">
            <a:avLst/>
          </a:prstGeom>
          <a:solidFill>
            <a:srgbClr val="2A3E6B">
              <a:alpha val="25000"/>
            </a:srgbClr>
          </a:solidFill>
          <a:ln w="12700">
            <a:solidFill>
              <a:srgbClr val="2A3E6B">
                <a:alpha val="0"/>
              </a:srgbClr>
            </a:solidFill>
            <a:prstDash val="solid"/>
          </a:ln>
        </p:spPr>
        <p:txBody>
          <a:bodyPr/>
          <a:lstStyle/>
          <a:p>
            <a:endParaRPr lang="en-PH"/>
          </a:p>
        </p:txBody>
      </p:sp>
      <p:sp>
        <p:nvSpPr>
          <p:cNvPr id="4" name="Text 2"/>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MULTIPLY · BTLI 1 · LESSON 11</a:t>
            </a:r>
            <a:endParaRPr lang="en-US" sz="1400" dirty="0"/>
          </a:p>
        </p:txBody>
      </p:sp>
      <p:sp>
        <p:nvSpPr>
          <p:cNvPr id="5" name="Text 3"/>
          <p:cNvSpPr/>
          <p:nvPr/>
        </p:nvSpPr>
        <p:spPr>
          <a:xfrm>
            <a:off x="457200" y="1280160"/>
            <a:ext cx="11274552" cy="3291840"/>
          </a:xfrm>
          <a:prstGeom prst="rect">
            <a:avLst/>
          </a:prstGeom>
          <a:noFill/>
          <a:ln/>
        </p:spPr>
        <p:txBody>
          <a:bodyPr wrap="square" rtlCol="0" anchor="ctr"/>
          <a:lstStyle/>
          <a:p>
            <a:pPr marL="0" indent="0" algn="ctr">
              <a:lnSpc>
                <a:spcPct val="95000"/>
              </a:lnSpc>
              <a:buNone/>
            </a:pPr>
            <a:r>
              <a:rPr lang="en-US" sz="9600" b="1" dirty="0">
                <a:solidFill>
                  <a:srgbClr val="F5EDD8"/>
                </a:solidFill>
                <a:latin typeface="Georgia" pitchFamily="34" charset="0"/>
                <a:ea typeface="Georgia" pitchFamily="34" charset="-122"/>
                <a:cs typeface="Georgia" pitchFamily="34" charset="-120"/>
              </a:rPr>
              <a:t>Buhay</a:t>
            </a:r>
            <a:endParaRPr lang="en-US" sz="9600" dirty="0"/>
          </a:p>
          <a:p>
            <a:pPr marL="0" indent="0" algn="ctr">
              <a:lnSpc>
                <a:spcPct val="95000"/>
              </a:lnSpc>
              <a:buNone/>
            </a:pPr>
            <a:r>
              <a:rPr lang="en-US" sz="9600" b="1" dirty="0">
                <a:solidFill>
                  <a:srgbClr val="F5EDD8"/>
                </a:solidFill>
                <a:latin typeface="Georgia" pitchFamily="34" charset="0"/>
                <a:ea typeface="Georgia" pitchFamily="34" charset="-122"/>
                <a:cs typeface="Georgia" pitchFamily="34" charset="-120"/>
              </a:rPr>
              <a:t>May Misyon</a:t>
            </a:r>
            <a:endParaRPr lang="en-US" sz="9600" dirty="0"/>
          </a:p>
        </p:txBody>
      </p:sp>
      <p:sp>
        <p:nvSpPr>
          <p:cNvPr id="6" name="Text 4"/>
          <p:cNvSpPr/>
          <p:nvPr/>
        </p:nvSpPr>
        <p:spPr>
          <a:xfrm>
            <a:off x="457200" y="4663440"/>
            <a:ext cx="11274552" cy="457200"/>
          </a:xfrm>
          <a:prstGeom prst="rect">
            <a:avLst/>
          </a:prstGeom>
          <a:noFill/>
          <a:ln/>
        </p:spPr>
        <p:txBody>
          <a:bodyPr wrap="square" rtlCol="0" anchor="ctr"/>
          <a:lstStyle/>
          <a:p>
            <a:pPr marL="0" indent="0" algn="ctr">
              <a:buNone/>
            </a:pPr>
            <a:r>
              <a:rPr lang="en-US" sz="2200" i="1" dirty="0">
                <a:solidFill>
                  <a:srgbClr val="F0C870"/>
                </a:solidFill>
                <a:latin typeface="Calibri" pitchFamily="34" charset="0"/>
                <a:ea typeface="Calibri" pitchFamily="34" charset="-122"/>
                <a:cs typeface="Calibri" pitchFamily="34" charset="-120"/>
              </a:rPr>
              <a:t>Living on God's Purpose</a:t>
            </a:r>
            <a:endParaRPr lang="en-US" sz="2200" dirty="0"/>
          </a:p>
        </p:txBody>
      </p:sp>
      <p:sp>
        <p:nvSpPr>
          <p:cNvPr id="7" name="Text 5"/>
          <p:cNvSpPr/>
          <p:nvPr/>
        </p:nvSpPr>
        <p:spPr>
          <a:xfrm>
            <a:off x="1828800" y="5212080"/>
            <a:ext cx="8531352" cy="914400"/>
          </a:xfrm>
          <a:prstGeom prst="rect">
            <a:avLst/>
          </a:prstGeom>
          <a:noFill/>
          <a:ln/>
        </p:spPr>
        <p:txBody>
          <a:bodyPr wrap="square" rtlCol="0" anchor="t"/>
          <a:lstStyle/>
          <a:p>
            <a:pPr marL="0" indent="0" algn="ctr">
              <a:buNone/>
            </a:pPr>
            <a:r>
              <a:rPr lang="en-US" sz="1600" dirty="0">
                <a:solidFill>
                  <a:srgbClr val="D6CFB8"/>
                </a:solidFill>
                <a:latin typeface="Calibri" pitchFamily="34" charset="0"/>
                <a:ea typeface="Calibri" pitchFamily="34" charset="-122"/>
                <a:cs typeface="Calibri" pitchFamily="34" charset="-120"/>
              </a:rPr>
              <a:t>A disciple becomes a multiplier when their strengths, passions, and calling align with God's purpose — sustained by joy rooted in faith.</a:t>
            </a:r>
            <a:endParaRPr lang="en-US" sz="1600" dirty="0"/>
          </a:p>
        </p:txBody>
      </p:sp>
      <p:sp>
        <p:nvSpPr>
          <p:cNvPr id="8" name="Text 6"/>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MULTIPLY LEADERSHIP PIPELINE · LESSON 11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PUKAW · 12 MIN</a:t>
            </a:r>
            <a:endParaRPr lang="en-US" sz="1400" dirty="0"/>
          </a:p>
        </p:txBody>
      </p:sp>
      <p:sp>
        <p:nvSpPr>
          <p:cNvPr id="3" name="Text 1"/>
          <p:cNvSpPr/>
          <p:nvPr/>
        </p:nvSpPr>
        <p:spPr>
          <a:xfrm>
            <a:off x="457200" y="1280160"/>
            <a:ext cx="11274552" cy="2377440"/>
          </a:xfrm>
          <a:prstGeom prst="rect">
            <a:avLst/>
          </a:prstGeom>
          <a:noFill/>
          <a:ln/>
        </p:spPr>
        <p:txBody>
          <a:bodyPr wrap="square" rtlCol="0" anchor="ctr"/>
          <a:lstStyle/>
          <a:p>
            <a:pPr marL="0" indent="0" algn="ctr">
              <a:lnSpc>
                <a:spcPct val="100000"/>
              </a:lnSpc>
              <a:buNone/>
            </a:pPr>
            <a:r>
              <a:rPr lang="en-US" sz="6800" b="1" dirty="0">
                <a:solidFill>
                  <a:srgbClr val="F5EDD8"/>
                </a:solidFill>
                <a:latin typeface="Georgia" pitchFamily="34" charset="0"/>
                <a:ea typeface="Georgia" pitchFamily="34" charset="-122"/>
                <a:cs typeface="Georgia" pitchFamily="34" charset="-120"/>
              </a:rPr>
              <a:t>Anong Akala Mo</a:t>
            </a:r>
            <a:endParaRPr lang="en-US" sz="6800" dirty="0"/>
          </a:p>
          <a:p>
            <a:pPr marL="0" indent="0" algn="ctr">
              <a:lnSpc>
                <a:spcPct val="100000"/>
              </a:lnSpc>
              <a:buNone/>
            </a:pPr>
            <a:r>
              <a:rPr lang="en-US" sz="6800" b="1" dirty="0">
                <a:solidFill>
                  <a:srgbClr val="F5EDD8"/>
                </a:solidFill>
                <a:latin typeface="Georgia" pitchFamily="34" charset="0"/>
                <a:ea typeface="Georgia" pitchFamily="34" charset="-122"/>
                <a:cs typeface="Georgia" pitchFamily="34" charset="-120"/>
              </a:rPr>
              <a:t>Walang Silbi?</a:t>
            </a:r>
            <a:endParaRPr lang="en-US" sz="6800" dirty="0"/>
          </a:p>
        </p:txBody>
      </p:sp>
      <p:sp>
        <p:nvSpPr>
          <p:cNvPr id="4" name="Text 2"/>
          <p:cNvSpPr/>
          <p:nvPr/>
        </p:nvSpPr>
        <p:spPr>
          <a:xfrm>
            <a:off x="457200" y="3931920"/>
            <a:ext cx="11274552" cy="457200"/>
          </a:xfrm>
          <a:prstGeom prst="rect">
            <a:avLst/>
          </a:prstGeom>
          <a:noFill/>
          <a:ln/>
        </p:spPr>
        <p:txBody>
          <a:bodyPr wrap="square" rtlCol="0" anchor="ctr"/>
          <a:lstStyle/>
          <a:p>
            <a:pPr marL="0" indent="0" algn="ctr">
              <a:buNone/>
            </a:pPr>
            <a:r>
              <a:rPr lang="en-US" sz="2000" i="1" dirty="0">
                <a:solidFill>
                  <a:srgbClr val="F0C870"/>
                </a:solidFill>
                <a:latin typeface="Calibri" pitchFamily="34" charset="0"/>
                <a:ea typeface="Calibri" pitchFamily="34" charset="-122"/>
                <a:cs typeface="Calibri" pitchFamily="34" charset="-120"/>
              </a:rPr>
              <a:t>The African Lungfish · NatGeo UK</a:t>
            </a:r>
            <a:endParaRPr lang="en-US" sz="2000" dirty="0"/>
          </a:p>
        </p:txBody>
      </p:sp>
      <p:sp>
        <p:nvSpPr>
          <p:cNvPr id="5" name="Text 3"/>
          <p:cNvSpPr/>
          <p:nvPr/>
        </p:nvSpPr>
        <p:spPr>
          <a:xfrm>
            <a:off x="1371600" y="4572000"/>
            <a:ext cx="9445752" cy="1371600"/>
          </a:xfrm>
          <a:prstGeom prst="rect">
            <a:avLst/>
          </a:prstGeom>
          <a:noFill/>
          <a:ln/>
        </p:spPr>
        <p:txBody>
          <a:bodyPr wrap="square" rtlCol="0" anchor="t"/>
          <a:lstStyle/>
          <a:p>
            <a:pPr marL="0" indent="0" algn="ctr">
              <a:buNone/>
            </a:pPr>
            <a:r>
              <a:rPr lang="en-US" sz="1700" dirty="0">
                <a:solidFill>
                  <a:srgbClr val="D6CFB8"/>
                </a:solidFill>
                <a:latin typeface="Calibri" pitchFamily="34" charset="0"/>
                <a:ea typeface="Calibri" pitchFamily="34" charset="-122"/>
                <a:cs typeface="Calibri" pitchFamily="34" charset="-120"/>
              </a:rPr>
              <a:t>It looks useless. It lives in mud. It breathes air.</a:t>
            </a:r>
            <a:endParaRPr lang="en-US" sz="1700" dirty="0"/>
          </a:p>
          <a:p>
            <a:pPr marL="0" indent="0" algn="ctr">
              <a:buNone/>
            </a:pPr>
            <a:r>
              <a:rPr lang="en-US" sz="1700" dirty="0">
                <a:solidFill>
                  <a:srgbClr val="D6CFB8"/>
                </a:solidFill>
                <a:latin typeface="Calibri" pitchFamily="34" charset="0"/>
                <a:ea typeface="Calibri" pitchFamily="34" charset="-122"/>
                <a:cs typeface="Calibri" pitchFamily="34" charset="-120"/>
              </a:rPr>
              <a:t>It survives droughts for up to four years.</a:t>
            </a:r>
            <a:endParaRPr lang="en-US" sz="1700" dirty="0"/>
          </a:p>
          <a:p>
            <a:pPr marL="0" indent="0" algn="ctr">
              <a:buNone/>
            </a:pPr>
            <a:r>
              <a:rPr lang="en-US" sz="1700" dirty="0">
                <a:solidFill>
                  <a:srgbClr val="D6CFB8"/>
                </a:solidFill>
                <a:latin typeface="Calibri" pitchFamily="34" charset="0"/>
                <a:ea typeface="Calibri" pitchFamily="34" charset="-122"/>
                <a:cs typeface="Calibri" pitchFamily="34" charset="-120"/>
              </a:rPr>
              <a:t>It is one of God's most surprising engineering feats.</a:t>
            </a:r>
            <a:endParaRPr lang="en-US" sz="1700" dirty="0"/>
          </a:p>
        </p:txBody>
      </p:sp>
      <p:sp>
        <p:nvSpPr>
          <p:cNvPr id="6" name="Text 4"/>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PUKAW · ENGAGE — CREATE FELT NEED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PUKAW · MANILA PAPER · 10 MIN</a:t>
            </a:r>
            <a:endParaRPr lang="en-US" sz="1400" dirty="0"/>
          </a:p>
        </p:txBody>
      </p:sp>
      <p:sp>
        <p:nvSpPr>
          <p:cNvPr id="3" name="Text 1"/>
          <p:cNvSpPr/>
          <p:nvPr/>
        </p:nvSpPr>
        <p:spPr>
          <a:xfrm>
            <a:off x="457200" y="1097280"/>
            <a:ext cx="11274552" cy="1645920"/>
          </a:xfrm>
          <a:prstGeom prst="rect">
            <a:avLst/>
          </a:prstGeom>
          <a:noFill/>
          <a:ln/>
        </p:spPr>
        <p:txBody>
          <a:bodyPr wrap="square" rtlCol="0" anchor="ctr"/>
          <a:lstStyle/>
          <a:p>
            <a:pPr marL="0" indent="0" algn="ctr">
              <a:buNone/>
            </a:pPr>
            <a:r>
              <a:rPr lang="en-US" sz="5600" b="1" dirty="0">
                <a:solidFill>
                  <a:srgbClr val="F5EDD8"/>
                </a:solidFill>
                <a:latin typeface="Georgia" pitchFamily="34" charset="0"/>
                <a:ea typeface="Georgia" pitchFamily="34" charset="-122"/>
                <a:cs typeface="Georgia" pitchFamily="34" charset="-120"/>
              </a:rPr>
              <a:t>Akala Ko vs</a:t>
            </a:r>
            <a:endParaRPr lang="en-US" sz="5600" dirty="0"/>
          </a:p>
          <a:p>
            <a:pPr marL="0" indent="0" algn="ctr">
              <a:buNone/>
            </a:pPr>
            <a:r>
              <a:rPr lang="en-US" sz="5600" b="1" dirty="0">
                <a:solidFill>
                  <a:srgbClr val="F5EDD8"/>
                </a:solidFill>
                <a:latin typeface="Georgia" pitchFamily="34" charset="0"/>
                <a:ea typeface="Georgia" pitchFamily="34" charset="-122"/>
                <a:cs typeface="Georgia" pitchFamily="34" charset="-120"/>
              </a:rPr>
              <a:t>Tunay Pala</a:t>
            </a:r>
            <a:endParaRPr lang="en-US" sz="5600" dirty="0"/>
          </a:p>
        </p:txBody>
      </p:sp>
      <p:sp>
        <p:nvSpPr>
          <p:cNvPr id="4" name="Shape 2"/>
          <p:cNvSpPr/>
          <p:nvPr/>
        </p:nvSpPr>
        <p:spPr>
          <a:xfrm>
            <a:off x="914400" y="3017520"/>
            <a:ext cx="4754880" cy="2377440"/>
          </a:xfrm>
          <a:prstGeom prst="roundRect">
            <a:avLst>
              <a:gd name="adj" fmla="val 5769"/>
            </a:avLst>
          </a:prstGeom>
          <a:solidFill>
            <a:srgbClr val="1B2A4A"/>
          </a:solidFill>
          <a:ln w="12700">
            <a:solidFill>
              <a:srgbClr val="3A3A2A"/>
            </a:solidFill>
            <a:prstDash val="solid"/>
          </a:ln>
        </p:spPr>
        <p:txBody>
          <a:bodyPr/>
          <a:lstStyle/>
          <a:p>
            <a:endParaRPr lang="en-PH"/>
          </a:p>
        </p:txBody>
      </p:sp>
      <p:sp>
        <p:nvSpPr>
          <p:cNvPr id="5" name="Text 3"/>
          <p:cNvSpPr/>
          <p:nvPr/>
        </p:nvSpPr>
        <p:spPr>
          <a:xfrm>
            <a:off x="914400" y="3154680"/>
            <a:ext cx="4754880" cy="822960"/>
          </a:xfrm>
          <a:prstGeom prst="rect">
            <a:avLst/>
          </a:prstGeom>
          <a:noFill/>
          <a:ln/>
        </p:spPr>
        <p:txBody>
          <a:bodyPr wrap="square" rtlCol="0" anchor="ctr"/>
          <a:lstStyle/>
          <a:p>
            <a:pPr marL="0" indent="0" algn="ctr">
              <a:buNone/>
            </a:pPr>
            <a:r>
              <a:rPr lang="en-US" sz="4600" b="1" dirty="0">
                <a:solidFill>
                  <a:srgbClr val="D4A84A"/>
                </a:solidFill>
                <a:latin typeface="Georgia" pitchFamily="34" charset="0"/>
                <a:ea typeface="Georgia" pitchFamily="34" charset="-122"/>
                <a:cs typeface="Georgia" pitchFamily="34" charset="-120"/>
              </a:rPr>
              <a:t>?</a:t>
            </a:r>
            <a:endParaRPr lang="en-US" sz="4600" dirty="0"/>
          </a:p>
        </p:txBody>
      </p:sp>
      <p:sp>
        <p:nvSpPr>
          <p:cNvPr id="6" name="Text 4"/>
          <p:cNvSpPr/>
          <p:nvPr/>
        </p:nvSpPr>
        <p:spPr>
          <a:xfrm>
            <a:off x="914400" y="4023360"/>
            <a:ext cx="4754880" cy="457200"/>
          </a:xfrm>
          <a:prstGeom prst="rect">
            <a:avLst/>
          </a:prstGeom>
          <a:noFill/>
          <a:ln/>
        </p:spPr>
        <p:txBody>
          <a:bodyPr wrap="square" rtlCol="0" anchor="ctr"/>
          <a:lstStyle/>
          <a:p>
            <a:pPr marL="0" indent="0" algn="ctr">
              <a:buNone/>
            </a:pPr>
            <a:r>
              <a:rPr lang="en-US" sz="2200" b="1" dirty="0">
                <a:solidFill>
                  <a:srgbClr val="F5EDD8"/>
                </a:solidFill>
                <a:latin typeface="Georgia" pitchFamily="34" charset="0"/>
                <a:ea typeface="Georgia" pitchFamily="34" charset="-122"/>
                <a:cs typeface="Georgia" pitchFamily="34" charset="-120"/>
              </a:rPr>
              <a:t>Akala Ko</a:t>
            </a:r>
            <a:endParaRPr lang="en-US" sz="2200" dirty="0"/>
          </a:p>
        </p:txBody>
      </p:sp>
      <p:sp>
        <p:nvSpPr>
          <p:cNvPr id="7" name="Text 5"/>
          <p:cNvSpPr/>
          <p:nvPr/>
        </p:nvSpPr>
        <p:spPr>
          <a:xfrm>
            <a:off x="1097280" y="4572000"/>
            <a:ext cx="4389120" cy="731520"/>
          </a:xfrm>
          <a:prstGeom prst="rect">
            <a:avLst/>
          </a:prstGeom>
          <a:noFill/>
          <a:ln/>
        </p:spPr>
        <p:txBody>
          <a:bodyPr wrap="square" rtlCol="0" anchor="t"/>
          <a:lstStyle/>
          <a:p>
            <a:pPr marL="0" indent="0" algn="ctr">
              <a:buNone/>
            </a:pPr>
            <a:r>
              <a:rPr lang="en-US" sz="1400" dirty="0">
                <a:solidFill>
                  <a:srgbClr val="D6CFB8"/>
                </a:solidFill>
                <a:latin typeface="Calibri" pitchFamily="34" charset="0"/>
                <a:ea typeface="Calibri" pitchFamily="34" charset="-122"/>
                <a:cs typeface="Calibri" pitchFamily="34" charset="-120"/>
              </a:rPr>
              <a:t>Anong akala ng marami</a:t>
            </a:r>
            <a:endParaRPr lang="en-US" sz="1400" dirty="0"/>
          </a:p>
          <a:p>
            <a:pPr marL="0" indent="0" algn="ctr">
              <a:buNone/>
            </a:pPr>
            <a:r>
              <a:rPr lang="en-US" sz="1400" dirty="0">
                <a:solidFill>
                  <a:srgbClr val="D6CFB8"/>
                </a:solidFill>
                <a:latin typeface="Calibri" pitchFamily="34" charset="0"/>
                <a:ea typeface="Calibri" pitchFamily="34" charset="-122"/>
                <a:cs typeface="Calibri" pitchFamily="34" charset="-120"/>
              </a:rPr>
              <a:t>ang gamit ng bagay na ito?</a:t>
            </a:r>
            <a:endParaRPr lang="en-US" sz="1400" dirty="0"/>
          </a:p>
        </p:txBody>
      </p:sp>
      <p:sp>
        <p:nvSpPr>
          <p:cNvPr id="8" name="Shape 6"/>
          <p:cNvSpPr/>
          <p:nvPr/>
        </p:nvSpPr>
        <p:spPr>
          <a:xfrm>
            <a:off x="6519672" y="3017520"/>
            <a:ext cx="4754880" cy="2377440"/>
          </a:xfrm>
          <a:prstGeom prst="roundRect">
            <a:avLst>
              <a:gd name="adj" fmla="val 5769"/>
            </a:avLst>
          </a:prstGeom>
          <a:solidFill>
            <a:srgbClr val="1F2C3A"/>
          </a:solidFill>
          <a:ln w="19050">
            <a:solidFill>
              <a:srgbClr val="D4A84A"/>
            </a:solidFill>
            <a:prstDash val="solid"/>
          </a:ln>
        </p:spPr>
        <p:txBody>
          <a:bodyPr/>
          <a:lstStyle/>
          <a:p>
            <a:endParaRPr lang="en-PH"/>
          </a:p>
        </p:txBody>
      </p:sp>
      <p:sp>
        <p:nvSpPr>
          <p:cNvPr id="9" name="Text 7"/>
          <p:cNvSpPr/>
          <p:nvPr/>
        </p:nvSpPr>
        <p:spPr>
          <a:xfrm>
            <a:off x="6519672" y="3154680"/>
            <a:ext cx="4754880" cy="822960"/>
          </a:xfrm>
          <a:prstGeom prst="rect">
            <a:avLst/>
          </a:prstGeom>
          <a:noFill/>
          <a:ln/>
        </p:spPr>
        <p:txBody>
          <a:bodyPr wrap="square" rtlCol="0" anchor="ctr"/>
          <a:lstStyle/>
          <a:p>
            <a:pPr marL="0" indent="0" algn="ctr">
              <a:buNone/>
            </a:pPr>
            <a:r>
              <a:rPr lang="en-US" sz="4600" b="1" dirty="0">
                <a:solidFill>
                  <a:srgbClr val="F0C870"/>
                </a:solidFill>
                <a:latin typeface="Georgia" pitchFamily="34" charset="0"/>
                <a:ea typeface="Georgia" pitchFamily="34" charset="-122"/>
                <a:cs typeface="Georgia" pitchFamily="34" charset="-120"/>
              </a:rPr>
              <a:t>!</a:t>
            </a:r>
            <a:endParaRPr lang="en-US" sz="4600" dirty="0"/>
          </a:p>
        </p:txBody>
      </p:sp>
      <p:sp>
        <p:nvSpPr>
          <p:cNvPr id="10" name="Text 8"/>
          <p:cNvSpPr/>
          <p:nvPr/>
        </p:nvSpPr>
        <p:spPr>
          <a:xfrm>
            <a:off x="6519672" y="4023360"/>
            <a:ext cx="4754880" cy="457200"/>
          </a:xfrm>
          <a:prstGeom prst="rect">
            <a:avLst/>
          </a:prstGeom>
          <a:noFill/>
          <a:ln/>
        </p:spPr>
        <p:txBody>
          <a:bodyPr wrap="square" rtlCol="0" anchor="ctr"/>
          <a:lstStyle/>
          <a:p>
            <a:pPr marL="0" indent="0" algn="ctr">
              <a:buNone/>
            </a:pPr>
            <a:r>
              <a:rPr lang="en-US" sz="2200" b="1" dirty="0">
                <a:solidFill>
                  <a:srgbClr val="F5EDD8"/>
                </a:solidFill>
                <a:latin typeface="Georgia" pitchFamily="34" charset="0"/>
                <a:ea typeface="Georgia" pitchFamily="34" charset="-122"/>
                <a:cs typeface="Georgia" pitchFamily="34" charset="-120"/>
              </a:rPr>
              <a:t>Tunay Pala</a:t>
            </a:r>
            <a:endParaRPr lang="en-US" sz="2200" dirty="0"/>
          </a:p>
        </p:txBody>
      </p:sp>
      <p:sp>
        <p:nvSpPr>
          <p:cNvPr id="11" name="Text 9"/>
          <p:cNvSpPr/>
          <p:nvPr/>
        </p:nvSpPr>
        <p:spPr>
          <a:xfrm>
            <a:off x="6702552" y="4572000"/>
            <a:ext cx="4389120" cy="731520"/>
          </a:xfrm>
          <a:prstGeom prst="rect">
            <a:avLst/>
          </a:prstGeom>
          <a:noFill/>
          <a:ln/>
        </p:spPr>
        <p:txBody>
          <a:bodyPr wrap="square" rtlCol="0" anchor="t"/>
          <a:lstStyle/>
          <a:p>
            <a:pPr marL="0" indent="0" algn="ctr">
              <a:buNone/>
            </a:pPr>
            <a:r>
              <a:rPr lang="en-US" sz="1400" dirty="0">
                <a:solidFill>
                  <a:srgbClr val="D6CFB8"/>
                </a:solidFill>
                <a:latin typeface="Calibri" pitchFamily="34" charset="0"/>
                <a:ea typeface="Calibri" pitchFamily="34" charset="-122"/>
                <a:cs typeface="Calibri" pitchFamily="34" charset="-120"/>
              </a:rPr>
              <a:t>Ano talaga ang</a:t>
            </a:r>
            <a:endParaRPr lang="en-US" sz="1400" dirty="0"/>
          </a:p>
          <a:p>
            <a:pPr marL="0" indent="0" algn="ctr">
              <a:buNone/>
            </a:pPr>
            <a:r>
              <a:rPr lang="en-US" sz="1400" dirty="0">
                <a:solidFill>
                  <a:srgbClr val="D6CFB8"/>
                </a:solidFill>
                <a:latin typeface="Calibri" pitchFamily="34" charset="0"/>
                <a:ea typeface="Calibri" pitchFamily="34" charset="-122"/>
                <a:cs typeface="Calibri" pitchFamily="34" charset="-120"/>
              </a:rPr>
              <a:t>tunay nitong purpose?</a:t>
            </a:r>
            <a:endParaRPr lang="en-US" sz="1400" dirty="0"/>
          </a:p>
        </p:txBody>
      </p:sp>
      <p:sp>
        <p:nvSpPr>
          <p:cNvPr id="12" name="Text 10"/>
          <p:cNvSpPr/>
          <p:nvPr/>
        </p:nvSpPr>
        <p:spPr>
          <a:xfrm>
            <a:off x="1371600" y="5760720"/>
            <a:ext cx="9445752" cy="457200"/>
          </a:xfrm>
          <a:prstGeom prst="rect">
            <a:avLst/>
          </a:prstGeom>
          <a:noFill/>
          <a:ln/>
        </p:spPr>
        <p:txBody>
          <a:bodyPr wrap="square" rtlCol="0" anchor="t"/>
          <a:lstStyle/>
          <a:p>
            <a:pPr marL="0" indent="0" algn="ctr">
              <a:buNone/>
            </a:pPr>
            <a:r>
              <a:rPr lang="en-US" sz="1400" i="1" dirty="0">
                <a:solidFill>
                  <a:srgbClr val="F0C870"/>
                </a:solidFill>
                <a:latin typeface="Calibri" pitchFamily="34" charset="0"/>
                <a:ea typeface="Calibri" pitchFamily="34" charset="-122"/>
                <a:cs typeface="Calibri" pitchFamily="34" charset="-120"/>
              </a:rPr>
              <a:t>Bottle-cap ridges · Jeans coin-pocket · Pen-cap holes · USB tabs · Plastic milk-jug indents</a:t>
            </a:r>
            <a:endParaRPr lang="en-US" sz="1400" dirty="0"/>
          </a:p>
        </p:txBody>
      </p:sp>
      <p:sp>
        <p:nvSpPr>
          <p:cNvPr id="13" name="Text 11"/>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EACH TABLE PICKS 3 ITEMS · GALLERY WALK AFTER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THE PIVOT</a:t>
            </a:r>
            <a:endParaRPr lang="en-US" sz="1400" dirty="0"/>
          </a:p>
        </p:txBody>
      </p:sp>
      <p:sp>
        <p:nvSpPr>
          <p:cNvPr id="3" name="Text 1"/>
          <p:cNvSpPr/>
          <p:nvPr/>
        </p:nvSpPr>
        <p:spPr>
          <a:xfrm>
            <a:off x="457200" y="1371600"/>
            <a:ext cx="11274552" cy="3200400"/>
          </a:xfrm>
          <a:prstGeom prst="rect">
            <a:avLst/>
          </a:prstGeom>
          <a:noFill/>
          <a:ln/>
        </p:spPr>
        <p:txBody>
          <a:bodyPr wrap="square" rtlCol="0" anchor="ctr"/>
          <a:lstStyle/>
          <a:p>
            <a:pPr marL="0" indent="0" algn="ctr">
              <a:lnSpc>
                <a:spcPct val="115000"/>
              </a:lnSpc>
              <a:buNone/>
            </a:pPr>
            <a:r>
              <a:rPr lang="en-US" sz="5600" b="1" dirty="0">
                <a:solidFill>
                  <a:srgbClr val="F5EDD8"/>
                </a:solidFill>
                <a:latin typeface="Georgia" pitchFamily="34" charset="0"/>
                <a:ea typeface="Georgia" pitchFamily="34" charset="-122"/>
                <a:cs typeface="Georgia" pitchFamily="34" charset="-120"/>
              </a:rPr>
              <a:t>Kung ang simpleng bagay
may layunin
</a:t>
            </a:r>
            <a:r>
              <a:rPr lang="en-US" sz="5600" b="1" i="1" dirty="0">
                <a:solidFill>
                  <a:srgbClr val="F0C870"/>
                </a:solidFill>
                <a:latin typeface="Georgia" pitchFamily="34" charset="0"/>
                <a:ea typeface="Georgia" pitchFamily="34" charset="-122"/>
                <a:cs typeface="Georgia" pitchFamily="34" charset="-120"/>
              </a:rPr>
              <a:t>na hindi natin alam—</a:t>
            </a:r>
            <a:endParaRPr lang="en-US" sz="5600" dirty="0"/>
          </a:p>
        </p:txBody>
      </p:sp>
      <p:sp>
        <p:nvSpPr>
          <p:cNvPr id="4" name="Text 2"/>
          <p:cNvSpPr/>
          <p:nvPr/>
        </p:nvSpPr>
        <p:spPr>
          <a:xfrm>
            <a:off x="457200" y="5029200"/>
            <a:ext cx="11274552" cy="914400"/>
          </a:xfrm>
          <a:prstGeom prst="rect">
            <a:avLst/>
          </a:prstGeom>
          <a:noFill/>
          <a:ln/>
        </p:spPr>
        <p:txBody>
          <a:bodyPr wrap="square" rtlCol="0" anchor="ctr"/>
          <a:lstStyle/>
          <a:p>
            <a:pPr marL="0" indent="0" algn="ctr">
              <a:buNone/>
            </a:pPr>
            <a:r>
              <a:rPr lang="en-US" sz="3200" i="1" dirty="0">
                <a:solidFill>
                  <a:srgbClr val="D4A84A"/>
                </a:solidFill>
                <a:latin typeface="Georgia" pitchFamily="34" charset="0"/>
                <a:ea typeface="Georgia" pitchFamily="34" charset="-122"/>
                <a:cs typeface="Georgia" pitchFamily="34" charset="-120"/>
              </a:rPr>
              <a:t>paano pa kaya ang buhay mo?</a:t>
            </a:r>
            <a:endParaRPr lang="en-US" sz="3200" dirty="0"/>
          </a:p>
        </p:txBody>
      </p:sp>
      <p:sp>
        <p:nvSpPr>
          <p:cNvPr id="5" name="Text 3"/>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BRIDGE TO TUKLAS · SCRIPTURE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TUKLAS · SCRIPTURE 1 OF 3</a:t>
            </a:r>
            <a:endParaRPr lang="en-US" sz="1400" dirty="0"/>
          </a:p>
        </p:txBody>
      </p:sp>
      <p:sp>
        <p:nvSpPr>
          <p:cNvPr id="3" name="Shape 1"/>
          <p:cNvSpPr/>
          <p:nvPr/>
        </p:nvSpPr>
        <p:spPr>
          <a:xfrm>
            <a:off x="1371600" y="1280160"/>
            <a:ext cx="9445752" cy="4572000"/>
          </a:xfrm>
          <a:prstGeom prst="roundRect">
            <a:avLst>
              <a:gd name="adj" fmla="val 4000"/>
            </a:avLst>
          </a:prstGeom>
          <a:solidFill>
            <a:srgbClr val="121C30"/>
          </a:solidFill>
          <a:ln w="12700">
            <a:solidFill>
              <a:srgbClr val="D4A84A"/>
            </a:solidFill>
            <a:prstDash val="solid"/>
          </a:ln>
        </p:spPr>
        <p:txBody>
          <a:bodyPr/>
          <a:lstStyle/>
          <a:p>
            <a:endParaRPr lang="en-PH"/>
          </a:p>
        </p:txBody>
      </p:sp>
      <p:sp>
        <p:nvSpPr>
          <p:cNvPr id="4" name="Text 2"/>
          <p:cNvSpPr/>
          <p:nvPr/>
        </p:nvSpPr>
        <p:spPr>
          <a:xfrm>
            <a:off x="1828800" y="1645920"/>
            <a:ext cx="8531352" cy="365760"/>
          </a:xfrm>
          <a:prstGeom prst="rect">
            <a:avLst/>
          </a:prstGeom>
          <a:noFill/>
          <a:ln/>
        </p:spPr>
        <p:txBody>
          <a:bodyPr wrap="square" rtlCol="0" anchor="ctr"/>
          <a:lstStyle/>
          <a:p>
            <a:pPr marL="0" indent="0" algn="ctr">
              <a:buNone/>
            </a:pPr>
            <a:r>
              <a:rPr lang="en-US" sz="1400" kern="0" spc="600" dirty="0">
                <a:solidFill>
                  <a:srgbClr val="D4A84A"/>
                </a:solidFill>
                <a:latin typeface="Impact" pitchFamily="34" charset="0"/>
                <a:ea typeface="Impact" pitchFamily="34" charset="-122"/>
                <a:cs typeface="Impact" pitchFamily="34" charset="-120"/>
              </a:rPr>
              <a:t>Acts 13:36</a:t>
            </a:r>
            <a:endParaRPr lang="en-US" sz="1400" dirty="0"/>
          </a:p>
        </p:txBody>
      </p:sp>
      <p:sp>
        <p:nvSpPr>
          <p:cNvPr id="5" name="Text 3"/>
          <p:cNvSpPr/>
          <p:nvPr/>
        </p:nvSpPr>
        <p:spPr>
          <a:xfrm>
            <a:off x="2011680" y="2240280"/>
            <a:ext cx="8165592" cy="2194560"/>
          </a:xfrm>
          <a:prstGeom prst="rect">
            <a:avLst/>
          </a:prstGeom>
          <a:noFill/>
          <a:ln/>
        </p:spPr>
        <p:txBody>
          <a:bodyPr wrap="square" rtlCol="0" anchor="ctr"/>
          <a:lstStyle/>
          <a:p>
            <a:pPr marL="0" indent="0" algn="ctr">
              <a:lnSpc>
                <a:spcPct val="130000"/>
              </a:lnSpc>
              <a:buNone/>
            </a:pPr>
            <a:r>
              <a:rPr lang="en-US" sz="2600" i="1" dirty="0">
                <a:solidFill>
                  <a:srgbClr val="F5EDD8"/>
                </a:solidFill>
                <a:latin typeface="Georgia" pitchFamily="34" charset="0"/>
                <a:ea typeface="Georgia" pitchFamily="34" charset="-122"/>
                <a:cs typeface="Georgia" pitchFamily="34" charset="-120"/>
              </a:rPr>
              <a:t>"Sapagkat si David, matapos niyang paglingkuran ang layunin ng Diyos sa kanyang sariling henerasyon, ay natulog..."</a:t>
            </a:r>
            <a:endParaRPr lang="en-US" sz="2600" dirty="0"/>
          </a:p>
        </p:txBody>
      </p:sp>
      <p:sp>
        <p:nvSpPr>
          <p:cNvPr id="6" name="Text 4"/>
          <p:cNvSpPr/>
          <p:nvPr/>
        </p:nvSpPr>
        <p:spPr>
          <a:xfrm>
            <a:off x="2011680" y="4572000"/>
            <a:ext cx="8165592" cy="1097280"/>
          </a:xfrm>
          <a:prstGeom prst="rect">
            <a:avLst/>
          </a:prstGeom>
          <a:noFill/>
          <a:ln/>
        </p:spPr>
        <p:txBody>
          <a:bodyPr wrap="square" rtlCol="0" anchor="ctr"/>
          <a:lstStyle/>
          <a:p>
            <a:pPr marL="0" indent="0" algn="ctr">
              <a:lnSpc>
                <a:spcPct val="130000"/>
              </a:lnSpc>
              <a:buNone/>
            </a:pPr>
            <a:r>
              <a:rPr lang="en-US" sz="1400" i="1" dirty="0">
                <a:solidFill>
                  <a:srgbClr val="7A7460"/>
                </a:solidFill>
                <a:latin typeface="Georgia" pitchFamily="34" charset="0"/>
                <a:ea typeface="Georgia" pitchFamily="34" charset="-122"/>
                <a:cs typeface="Georgia" pitchFamily="34" charset="-120"/>
              </a:rPr>
              <a:t>"For David, after he had served the purpose of God in his own generation, fell asleep... (ESV)"</a:t>
            </a:r>
            <a:endParaRPr lang="en-US" sz="1400" dirty="0"/>
          </a:p>
        </p:txBody>
      </p:sp>
      <p:sp>
        <p:nvSpPr>
          <p:cNvPr id="7" name="Text 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PRIMARY ANCHOR · MEMORY VERSE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TUKLAS · SCRIPTURE 2 OF 3</a:t>
            </a:r>
            <a:endParaRPr lang="en-US" sz="1400" dirty="0"/>
          </a:p>
        </p:txBody>
      </p:sp>
      <p:sp>
        <p:nvSpPr>
          <p:cNvPr id="3" name="Shape 1"/>
          <p:cNvSpPr/>
          <p:nvPr/>
        </p:nvSpPr>
        <p:spPr>
          <a:xfrm>
            <a:off x="1371600" y="1280160"/>
            <a:ext cx="9445752" cy="4572000"/>
          </a:xfrm>
          <a:prstGeom prst="roundRect">
            <a:avLst>
              <a:gd name="adj" fmla="val 4000"/>
            </a:avLst>
          </a:prstGeom>
          <a:solidFill>
            <a:srgbClr val="121C30"/>
          </a:solidFill>
          <a:ln w="12700">
            <a:solidFill>
              <a:srgbClr val="D4A84A"/>
            </a:solidFill>
            <a:prstDash val="solid"/>
          </a:ln>
        </p:spPr>
        <p:txBody>
          <a:bodyPr/>
          <a:lstStyle/>
          <a:p>
            <a:endParaRPr lang="en-PH"/>
          </a:p>
        </p:txBody>
      </p:sp>
      <p:sp>
        <p:nvSpPr>
          <p:cNvPr id="4" name="Text 2"/>
          <p:cNvSpPr/>
          <p:nvPr/>
        </p:nvSpPr>
        <p:spPr>
          <a:xfrm>
            <a:off x="1828800" y="1645920"/>
            <a:ext cx="8531352" cy="365760"/>
          </a:xfrm>
          <a:prstGeom prst="rect">
            <a:avLst/>
          </a:prstGeom>
          <a:noFill/>
          <a:ln/>
        </p:spPr>
        <p:txBody>
          <a:bodyPr wrap="square" rtlCol="0" anchor="ctr"/>
          <a:lstStyle/>
          <a:p>
            <a:pPr marL="0" indent="0" algn="ctr">
              <a:buNone/>
            </a:pPr>
            <a:r>
              <a:rPr lang="en-US" sz="1400" kern="0" spc="600" dirty="0">
                <a:solidFill>
                  <a:srgbClr val="D4A84A"/>
                </a:solidFill>
                <a:latin typeface="Impact" pitchFamily="34" charset="0"/>
                <a:ea typeface="Impact" pitchFamily="34" charset="-122"/>
                <a:cs typeface="Impact" pitchFamily="34" charset="-120"/>
              </a:rPr>
              <a:t>Ephesians 2:10 · The Poiema Verse</a:t>
            </a:r>
            <a:endParaRPr lang="en-US" sz="1400" dirty="0"/>
          </a:p>
        </p:txBody>
      </p:sp>
      <p:sp>
        <p:nvSpPr>
          <p:cNvPr id="5" name="Text 3"/>
          <p:cNvSpPr/>
          <p:nvPr/>
        </p:nvSpPr>
        <p:spPr>
          <a:xfrm>
            <a:off x="2011680" y="2240280"/>
            <a:ext cx="8165592" cy="2194560"/>
          </a:xfrm>
          <a:prstGeom prst="rect">
            <a:avLst/>
          </a:prstGeom>
          <a:noFill/>
          <a:ln/>
        </p:spPr>
        <p:txBody>
          <a:bodyPr wrap="square" rtlCol="0" anchor="ctr"/>
          <a:lstStyle/>
          <a:p>
            <a:pPr marL="0" indent="0" algn="ctr">
              <a:lnSpc>
                <a:spcPct val="130000"/>
              </a:lnSpc>
              <a:buNone/>
            </a:pPr>
            <a:r>
              <a:rPr lang="en-US" sz="2600" i="1" dirty="0">
                <a:solidFill>
                  <a:srgbClr val="F5EDD8"/>
                </a:solidFill>
                <a:latin typeface="Georgia" pitchFamily="34" charset="0"/>
                <a:ea typeface="Georgia" pitchFamily="34" charset="-122"/>
                <a:cs typeface="Georgia" pitchFamily="34" charset="-120"/>
              </a:rPr>
              <a:t>"Sapagkat tayo ay Kanyang gawa, nilikha kay Cristo Jesus para sa mabubuting gawa, na inihanda ng Diyos noon pa man upang sundin natin."</a:t>
            </a:r>
            <a:endParaRPr lang="en-US" sz="2600" dirty="0"/>
          </a:p>
        </p:txBody>
      </p:sp>
      <p:sp>
        <p:nvSpPr>
          <p:cNvPr id="6" name="Text 4"/>
          <p:cNvSpPr/>
          <p:nvPr/>
        </p:nvSpPr>
        <p:spPr>
          <a:xfrm>
            <a:off x="2011680" y="4572000"/>
            <a:ext cx="8165592" cy="1097280"/>
          </a:xfrm>
          <a:prstGeom prst="rect">
            <a:avLst/>
          </a:prstGeom>
          <a:noFill/>
          <a:ln/>
        </p:spPr>
        <p:txBody>
          <a:bodyPr wrap="square" rtlCol="0" anchor="ctr"/>
          <a:lstStyle/>
          <a:p>
            <a:pPr marL="0" indent="0" algn="ctr">
              <a:lnSpc>
                <a:spcPct val="130000"/>
              </a:lnSpc>
              <a:buNone/>
            </a:pPr>
            <a:r>
              <a:rPr lang="en-US" sz="1400" i="1" dirty="0">
                <a:solidFill>
                  <a:srgbClr val="7A7460"/>
                </a:solidFill>
                <a:latin typeface="Georgia" pitchFamily="34" charset="0"/>
                <a:ea typeface="Georgia" pitchFamily="34" charset="-122"/>
                <a:cs typeface="Georgia" pitchFamily="34" charset="-120"/>
              </a:rPr>
              <a:t>"For we are his workmanship, created in Christ Jesus for good works, which God prepared beforehand, that we should walk in them. (ESV)"</a:t>
            </a:r>
            <a:endParaRPr lang="en-US" sz="1400" dirty="0"/>
          </a:p>
        </p:txBody>
      </p:sp>
      <p:sp>
        <p:nvSpPr>
          <p:cNvPr id="7" name="Text 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POIEMA = MASTERPIECE · CUSTOM-DESIGNED · PRE-PREPARED WORKS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TUKLAS · SCRIPTURE 3 OF 3</a:t>
            </a:r>
            <a:endParaRPr lang="en-US" sz="1400" dirty="0"/>
          </a:p>
        </p:txBody>
      </p:sp>
      <p:sp>
        <p:nvSpPr>
          <p:cNvPr id="3" name="Shape 1"/>
          <p:cNvSpPr/>
          <p:nvPr/>
        </p:nvSpPr>
        <p:spPr>
          <a:xfrm>
            <a:off x="1371600" y="1280160"/>
            <a:ext cx="9445752" cy="4572000"/>
          </a:xfrm>
          <a:prstGeom prst="roundRect">
            <a:avLst>
              <a:gd name="adj" fmla="val 4000"/>
            </a:avLst>
          </a:prstGeom>
          <a:solidFill>
            <a:srgbClr val="121C30"/>
          </a:solidFill>
          <a:ln w="12700">
            <a:solidFill>
              <a:srgbClr val="D4A84A"/>
            </a:solidFill>
            <a:prstDash val="solid"/>
          </a:ln>
        </p:spPr>
        <p:txBody>
          <a:bodyPr/>
          <a:lstStyle/>
          <a:p>
            <a:endParaRPr lang="en-PH"/>
          </a:p>
        </p:txBody>
      </p:sp>
      <p:sp>
        <p:nvSpPr>
          <p:cNvPr id="4" name="Text 2"/>
          <p:cNvSpPr/>
          <p:nvPr/>
        </p:nvSpPr>
        <p:spPr>
          <a:xfrm>
            <a:off x="1828800" y="1645920"/>
            <a:ext cx="8531352" cy="365760"/>
          </a:xfrm>
          <a:prstGeom prst="rect">
            <a:avLst/>
          </a:prstGeom>
          <a:noFill/>
          <a:ln/>
        </p:spPr>
        <p:txBody>
          <a:bodyPr wrap="square" rtlCol="0" anchor="ctr"/>
          <a:lstStyle/>
          <a:p>
            <a:pPr marL="0" indent="0" algn="ctr">
              <a:buNone/>
            </a:pPr>
            <a:r>
              <a:rPr lang="en-US" sz="1400" kern="0" spc="600" dirty="0">
                <a:solidFill>
                  <a:srgbClr val="D4A84A"/>
                </a:solidFill>
                <a:latin typeface="Impact" pitchFamily="34" charset="0"/>
                <a:ea typeface="Impact" pitchFamily="34" charset="-122"/>
                <a:cs typeface="Impact" pitchFamily="34" charset="-120"/>
              </a:rPr>
              <a:t>John 15:11 · The Joy Anchor</a:t>
            </a:r>
            <a:endParaRPr lang="en-US" sz="1400" dirty="0"/>
          </a:p>
        </p:txBody>
      </p:sp>
      <p:sp>
        <p:nvSpPr>
          <p:cNvPr id="5" name="Text 3"/>
          <p:cNvSpPr/>
          <p:nvPr/>
        </p:nvSpPr>
        <p:spPr>
          <a:xfrm>
            <a:off x="2011680" y="2240280"/>
            <a:ext cx="8165592" cy="2194560"/>
          </a:xfrm>
          <a:prstGeom prst="rect">
            <a:avLst/>
          </a:prstGeom>
          <a:noFill/>
          <a:ln/>
        </p:spPr>
        <p:txBody>
          <a:bodyPr wrap="square" rtlCol="0" anchor="ctr"/>
          <a:lstStyle/>
          <a:p>
            <a:pPr marL="0" indent="0" algn="ctr">
              <a:lnSpc>
                <a:spcPct val="130000"/>
              </a:lnSpc>
              <a:buNone/>
            </a:pPr>
            <a:r>
              <a:rPr lang="en-US" sz="2600" i="1" dirty="0">
                <a:solidFill>
                  <a:srgbClr val="F5EDD8"/>
                </a:solidFill>
                <a:latin typeface="Georgia" pitchFamily="34" charset="0"/>
                <a:ea typeface="Georgia" pitchFamily="34" charset="-122"/>
                <a:cs typeface="Georgia" pitchFamily="34" charset="-120"/>
              </a:rPr>
              <a:t>"Ang mga bagay na ito ay sinabi Ko sa inyo, upang ang Aking kagalakan ay sumainyo, at ang inyong kagalakan ay maging ganap."</a:t>
            </a:r>
            <a:endParaRPr lang="en-US" sz="2600" dirty="0"/>
          </a:p>
        </p:txBody>
      </p:sp>
      <p:sp>
        <p:nvSpPr>
          <p:cNvPr id="6" name="Text 4"/>
          <p:cNvSpPr/>
          <p:nvPr/>
        </p:nvSpPr>
        <p:spPr>
          <a:xfrm>
            <a:off x="2011680" y="4572000"/>
            <a:ext cx="8165592" cy="1097280"/>
          </a:xfrm>
          <a:prstGeom prst="rect">
            <a:avLst/>
          </a:prstGeom>
          <a:noFill/>
          <a:ln/>
        </p:spPr>
        <p:txBody>
          <a:bodyPr wrap="square" rtlCol="0" anchor="ctr"/>
          <a:lstStyle/>
          <a:p>
            <a:pPr marL="0" indent="0" algn="ctr">
              <a:lnSpc>
                <a:spcPct val="130000"/>
              </a:lnSpc>
              <a:buNone/>
            </a:pPr>
            <a:r>
              <a:rPr lang="en-US" sz="1400" i="1" dirty="0">
                <a:solidFill>
                  <a:srgbClr val="7A7460"/>
                </a:solidFill>
                <a:latin typeface="Georgia" pitchFamily="34" charset="0"/>
                <a:ea typeface="Georgia" pitchFamily="34" charset="-122"/>
                <a:cs typeface="Georgia" pitchFamily="34" charset="-120"/>
              </a:rPr>
              <a:t>"These things I have spoken to you, that my joy may be in you, and that your joy may be full. (ESV)"</a:t>
            </a:r>
            <a:endParaRPr lang="en-US" sz="1400" dirty="0"/>
          </a:p>
        </p:txBody>
      </p:sp>
      <p:sp>
        <p:nvSpPr>
          <p:cNvPr id="7" name="Text 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JOY HINDI HAPPINESS · GANAP NA KAGALAKAN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TUKLAS · 3 QUESTIONS · 12 MIN</a:t>
            </a:r>
            <a:endParaRPr lang="en-US" sz="1400" dirty="0"/>
          </a:p>
        </p:txBody>
      </p:sp>
      <p:sp>
        <p:nvSpPr>
          <p:cNvPr id="3" name="Text 1"/>
          <p:cNvSpPr/>
          <p:nvPr/>
        </p:nvSpPr>
        <p:spPr>
          <a:xfrm>
            <a:off x="457200" y="914400"/>
            <a:ext cx="11274552" cy="822960"/>
          </a:xfrm>
          <a:prstGeom prst="rect">
            <a:avLst/>
          </a:prstGeom>
          <a:noFill/>
          <a:ln/>
        </p:spPr>
        <p:txBody>
          <a:bodyPr wrap="square" rtlCol="0" anchor="ctr"/>
          <a:lstStyle/>
          <a:p>
            <a:pPr marL="0" indent="0" algn="ctr">
              <a:buNone/>
            </a:pPr>
            <a:r>
              <a:rPr lang="en-US" sz="3600" b="1" dirty="0">
                <a:solidFill>
                  <a:srgbClr val="F5EDD8"/>
                </a:solidFill>
                <a:latin typeface="Georgia" pitchFamily="34" charset="0"/>
                <a:ea typeface="Georgia" pitchFamily="34" charset="-122"/>
                <a:cs typeface="Georgia" pitchFamily="34" charset="-120"/>
              </a:rPr>
              <a:t>Diskubre — Mga Tanong</a:t>
            </a:r>
            <a:endParaRPr lang="en-US" sz="3600" dirty="0"/>
          </a:p>
        </p:txBody>
      </p:sp>
      <p:sp>
        <p:nvSpPr>
          <p:cNvPr id="4" name="Shape 2"/>
          <p:cNvSpPr/>
          <p:nvPr/>
        </p:nvSpPr>
        <p:spPr>
          <a:xfrm>
            <a:off x="914400" y="2103120"/>
            <a:ext cx="73152" cy="1280160"/>
          </a:xfrm>
          <a:prstGeom prst="rect">
            <a:avLst/>
          </a:prstGeom>
          <a:solidFill>
            <a:srgbClr val="D4A84A"/>
          </a:solidFill>
          <a:ln w="12700">
            <a:solidFill>
              <a:srgbClr val="D4A84A"/>
            </a:solidFill>
            <a:prstDash val="solid"/>
          </a:ln>
        </p:spPr>
        <p:txBody>
          <a:bodyPr/>
          <a:lstStyle/>
          <a:p>
            <a:endParaRPr lang="en-PH"/>
          </a:p>
        </p:txBody>
      </p:sp>
      <p:sp>
        <p:nvSpPr>
          <p:cNvPr id="5" name="Shape 3"/>
          <p:cNvSpPr/>
          <p:nvPr/>
        </p:nvSpPr>
        <p:spPr>
          <a:xfrm>
            <a:off x="987552" y="2103120"/>
            <a:ext cx="10287000" cy="1280160"/>
          </a:xfrm>
          <a:prstGeom prst="rect">
            <a:avLst/>
          </a:prstGeom>
          <a:solidFill>
            <a:srgbClr val="121C30"/>
          </a:solidFill>
          <a:ln w="12700">
            <a:solidFill>
              <a:srgbClr val="3A3A2A"/>
            </a:solidFill>
            <a:prstDash val="solid"/>
          </a:ln>
        </p:spPr>
        <p:txBody>
          <a:bodyPr/>
          <a:lstStyle/>
          <a:p>
            <a:endParaRPr lang="en-PH"/>
          </a:p>
        </p:txBody>
      </p:sp>
      <p:sp>
        <p:nvSpPr>
          <p:cNvPr id="6" name="Text 4"/>
          <p:cNvSpPr/>
          <p:nvPr/>
        </p:nvSpPr>
        <p:spPr>
          <a:xfrm>
            <a:off x="1188720" y="2240280"/>
            <a:ext cx="9902952" cy="320040"/>
          </a:xfrm>
          <a:prstGeom prst="rect">
            <a:avLst/>
          </a:prstGeom>
          <a:noFill/>
          <a:ln/>
        </p:spPr>
        <p:txBody>
          <a:bodyPr wrap="square" rtlCol="0" anchor="ctr"/>
          <a:lstStyle/>
          <a:p>
            <a:pPr marL="0" indent="0" algn="l">
              <a:buNone/>
            </a:pPr>
            <a:r>
              <a:rPr lang="en-US" sz="1100" kern="0" spc="500" dirty="0">
                <a:solidFill>
                  <a:srgbClr val="D4A84A"/>
                </a:solidFill>
                <a:latin typeface="Impact" pitchFamily="34" charset="0"/>
                <a:ea typeface="Impact" pitchFamily="34" charset="-122"/>
                <a:cs typeface="Impact" pitchFamily="34" charset="-120"/>
              </a:rPr>
              <a:t>👁  OBSERVATION · ACTS 13:36</a:t>
            </a:r>
            <a:endParaRPr lang="en-US" sz="1100" dirty="0"/>
          </a:p>
        </p:txBody>
      </p:sp>
      <p:sp>
        <p:nvSpPr>
          <p:cNvPr id="7" name="Text 5"/>
          <p:cNvSpPr/>
          <p:nvPr/>
        </p:nvSpPr>
        <p:spPr>
          <a:xfrm>
            <a:off x="1188720" y="2560320"/>
            <a:ext cx="9902952" cy="685800"/>
          </a:xfrm>
          <a:prstGeom prst="rect">
            <a:avLst/>
          </a:prstGeom>
          <a:noFill/>
          <a:ln/>
        </p:spPr>
        <p:txBody>
          <a:bodyPr wrap="square" rtlCol="0" anchor="t"/>
          <a:lstStyle/>
          <a:p>
            <a:pPr marL="0" indent="0" algn="l">
              <a:lnSpc>
                <a:spcPct val="130000"/>
              </a:lnSpc>
              <a:buNone/>
            </a:pPr>
            <a:r>
              <a:rPr lang="en-US" sz="1800" i="1" dirty="0">
                <a:solidFill>
                  <a:srgbClr val="F5EDD8"/>
                </a:solidFill>
                <a:latin typeface="Georgia" pitchFamily="34" charset="0"/>
                <a:ea typeface="Georgia" pitchFamily="34" charset="-122"/>
                <a:cs typeface="Georgia" pitchFamily="34" charset="-120"/>
              </a:rPr>
              <a:t>Sa isang pangungusap lang, paano ibinuod ng Bibliya ang buong buhay ni David?</a:t>
            </a:r>
            <a:endParaRPr lang="en-US" sz="1800" dirty="0"/>
          </a:p>
        </p:txBody>
      </p:sp>
      <p:sp>
        <p:nvSpPr>
          <p:cNvPr id="8" name="Shape 6"/>
          <p:cNvSpPr/>
          <p:nvPr/>
        </p:nvSpPr>
        <p:spPr>
          <a:xfrm>
            <a:off x="914400" y="3566160"/>
            <a:ext cx="73152" cy="1280160"/>
          </a:xfrm>
          <a:prstGeom prst="rect">
            <a:avLst/>
          </a:prstGeom>
          <a:solidFill>
            <a:srgbClr val="D4A84A"/>
          </a:solidFill>
          <a:ln w="12700">
            <a:solidFill>
              <a:srgbClr val="D4A84A"/>
            </a:solidFill>
            <a:prstDash val="solid"/>
          </a:ln>
        </p:spPr>
        <p:txBody>
          <a:bodyPr/>
          <a:lstStyle/>
          <a:p>
            <a:endParaRPr lang="en-PH"/>
          </a:p>
        </p:txBody>
      </p:sp>
      <p:sp>
        <p:nvSpPr>
          <p:cNvPr id="9" name="Shape 7"/>
          <p:cNvSpPr/>
          <p:nvPr/>
        </p:nvSpPr>
        <p:spPr>
          <a:xfrm>
            <a:off x="987552" y="3566160"/>
            <a:ext cx="10287000" cy="1280160"/>
          </a:xfrm>
          <a:prstGeom prst="rect">
            <a:avLst/>
          </a:prstGeom>
          <a:solidFill>
            <a:srgbClr val="121C30"/>
          </a:solidFill>
          <a:ln w="12700">
            <a:solidFill>
              <a:srgbClr val="3A3A2A"/>
            </a:solidFill>
            <a:prstDash val="solid"/>
          </a:ln>
        </p:spPr>
        <p:txBody>
          <a:bodyPr/>
          <a:lstStyle/>
          <a:p>
            <a:endParaRPr lang="en-PH"/>
          </a:p>
        </p:txBody>
      </p:sp>
      <p:sp>
        <p:nvSpPr>
          <p:cNvPr id="10" name="Text 8"/>
          <p:cNvSpPr/>
          <p:nvPr/>
        </p:nvSpPr>
        <p:spPr>
          <a:xfrm>
            <a:off x="1188720" y="3703320"/>
            <a:ext cx="9902952" cy="320040"/>
          </a:xfrm>
          <a:prstGeom prst="rect">
            <a:avLst/>
          </a:prstGeom>
          <a:noFill/>
          <a:ln/>
        </p:spPr>
        <p:txBody>
          <a:bodyPr wrap="square" rtlCol="0" anchor="ctr"/>
          <a:lstStyle/>
          <a:p>
            <a:pPr marL="0" indent="0" algn="l">
              <a:buNone/>
            </a:pPr>
            <a:r>
              <a:rPr lang="en-US" sz="1100" kern="0" spc="500" dirty="0">
                <a:solidFill>
                  <a:srgbClr val="D4A84A"/>
                </a:solidFill>
                <a:latin typeface="Impact" pitchFamily="34" charset="0"/>
                <a:ea typeface="Impact" pitchFamily="34" charset="-122"/>
                <a:cs typeface="Impact" pitchFamily="34" charset="-120"/>
              </a:rPr>
              <a:t>💡  INTERPRETATION · EPH 2:10</a:t>
            </a:r>
            <a:endParaRPr lang="en-US" sz="1100" dirty="0"/>
          </a:p>
        </p:txBody>
      </p:sp>
      <p:sp>
        <p:nvSpPr>
          <p:cNvPr id="11" name="Text 9"/>
          <p:cNvSpPr/>
          <p:nvPr/>
        </p:nvSpPr>
        <p:spPr>
          <a:xfrm>
            <a:off x="1188720" y="4023360"/>
            <a:ext cx="9902952" cy="685800"/>
          </a:xfrm>
          <a:prstGeom prst="rect">
            <a:avLst/>
          </a:prstGeom>
          <a:noFill/>
          <a:ln/>
        </p:spPr>
        <p:txBody>
          <a:bodyPr wrap="square" rtlCol="0" anchor="t"/>
          <a:lstStyle/>
          <a:p>
            <a:pPr marL="0" indent="0" algn="l">
              <a:lnSpc>
                <a:spcPct val="130000"/>
              </a:lnSpc>
              <a:buNone/>
            </a:pPr>
            <a:r>
              <a:rPr lang="en-US" sz="1800" i="1" dirty="0">
                <a:solidFill>
                  <a:srgbClr val="F5EDD8"/>
                </a:solidFill>
                <a:latin typeface="Georgia" pitchFamily="34" charset="0"/>
                <a:ea typeface="Georgia" pitchFamily="34" charset="-122"/>
                <a:cs typeface="Georgia" pitchFamily="34" charset="-120"/>
              </a:rPr>
              <a:t>Kung tayo ay poiema — masterpiece — ano ang ipinapahiwatig nito tungkol sa kung paano ka tiningnan ng Diyos noong ginawa Niya?</a:t>
            </a:r>
            <a:endParaRPr lang="en-US" sz="1800" dirty="0"/>
          </a:p>
        </p:txBody>
      </p:sp>
      <p:sp>
        <p:nvSpPr>
          <p:cNvPr id="12" name="Shape 10"/>
          <p:cNvSpPr/>
          <p:nvPr/>
        </p:nvSpPr>
        <p:spPr>
          <a:xfrm>
            <a:off x="914400" y="5029200"/>
            <a:ext cx="73152" cy="1280160"/>
          </a:xfrm>
          <a:prstGeom prst="rect">
            <a:avLst/>
          </a:prstGeom>
          <a:solidFill>
            <a:srgbClr val="D4A84A"/>
          </a:solidFill>
          <a:ln w="12700">
            <a:solidFill>
              <a:srgbClr val="D4A84A"/>
            </a:solidFill>
            <a:prstDash val="solid"/>
          </a:ln>
        </p:spPr>
        <p:txBody>
          <a:bodyPr/>
          <a:lstStyle/>
          <a:p>
            <a:endParaRPr lang="en-PH"/>
          </a:p>
        </p:txBody>
      </p:sp>
      <p:sp>
        <p:nvSpPr>
          <p:cNvPr id="13" name="Shape 11"/>
          <p:cNvSpPr/>
          <p:nvPr/>
        </p:nvSpPr>
        <p:spPr>
          <a:xfrm>
            <a:off x="987552" y="5029200"/>
            <a:ext cx="10287000" cy="1280160"/>
          </a:xfrm>
          <a:prstGeom prst="rect">
            <a:avLst/>
          </a:prstGeom>
          <a:solidFill>
            <a:srgbClr val="121C30"/>
          </a:solidFill>
          <a:ln w="12700">
            <a:solidFill>
              <a:srgbClr val="3A3A2A"/>
            </a:solidFill>
            <a:prstDash val="solid"/>
          </a:ln>
        </p:spPr>
        <p:txBody>
          <a:bodyPr/>
          <a:lstStyle/>
          <a:p>
            <a:endParaRPr lang="en-PH"/>
          </a:p>
        </p:txBody>
      </p:sp>
      <p:sp>
        <p:nvSpPr>
          <p:cNvPr id="14" name="Text 12"/>
          <p:cNvSpPr/>
          <p:nvPr/>
        </p:nvSpPr>
        <p:spPr>
          <a:xfrm>
            <a:off x="1188720" y="5166360"/>
            <a:ext cx="9902952" cy="320040"/>
          </a:xfrm>
          <a:prstGeom prst="rect">
            <a:avLst/>
          </a:prstGeom>
          <a:noFill/>
          <a:ln/>
        </p:spPr>
        <p:txBody>
          <a:bodyPr wrap="square" rtlCol="0" anchor="ctr"/>
          <a:lstStyle/>
          <a:p>
            <a:pPr marL="0" indent="0" algn="l">
              <a:buNone/>
            </a:pPr>
            <a:r>
              <a:rPr lang="en-US" sz="1100" kern="0" spc="500" dirty="0">
                <a:solidFill>
                  <a:srgbClr val="D4A84A"/>
                </a:solidFill>
                <a:latin typeface="Impact" pitchFamily="34" charset="0"/>
                <a:ea typeface="Impact" pitchFamily="34" charset="-122"/>
                <a:cs typeface="Impact" pitchFamily="34" charset="-120"/>
              </a:rPr>
              <a:t>🙌  APPLICATION · JOHN 15:11</a:t>
            </a:r>
            <a:endParaRPr lang="en-US" sz="1100" dirty="0"/>
          </a:p>
        </p:txBody>
      </p:sp>
      <p:sp>
        <p:nvSpPr>
          <p:cNvPr id="15" name="Text 13"/>
          <p:cNvSpPr/>
          <p:nvPr/>
        </p:nvSpPr>
        <p:spPr>
          <a:xfrm>
            <a:off x="1188720" y="5486400"/>
            <a:ext cx="9902952" cy="685800"/>
          </a:xfrm>
          <a:prstGeom prst="rect">
            <a:avLst/>
          </a:prstGeom>
          <a:noFill/>
          <a:ln/>
        </p:spPr>
        <p:txBody>
          <a:bodyPr wrap="square" rtlCol="0" anchor="t"/>
          <a:lstStyle/>
          <a:p>
            <a:pPr marL="0" indent="0" algn="l">
              <a:lnSpc>
                <a:spcPct val="130000"/>
              </a:lnSpc>
              <a:buNone/>
            </a:pPr>
            <a:r>
              <a:rPr lang="en-US" sz="1800" i="1" dirty="0">
                <a:solidFill>
                  <a:srgbClr val="F5EDD8"/>
                </a:solidFill>
                <a:latin typeface="Georgia" pitchFamily="34" charset="0"/>
                <a:ea typeface="Georgia" pitchFamily="34" charset="-122"/>
                <a:cs typeface="Georgia" pitchFamily="34" charset="-120"/>
              </a:rPr>
              <a:t>Ano ang kaugnayan ng misyon at kagalakan? Bakit hindi sapat ang isa nang wala ang isa?</a:t>
            </a:r>
            <a:endParaRPr lang="en-US" sz="1800" dirty="0"/>
          </a:p>
        </p:txBody>
      </p:sp>
      <p:sp>
        <p:nvSpPr>
          <p:cNvPr id="16" name="Text 14"/>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TABLE DISCUSSION · GALLERY WALL AFTER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TALAKAY · THE FRAMEWORK · 6 MIN</a:t>
            </a:r>
            <a:endParaRPr lang="en-US" sz="1400" dirty="0"/>
          </a:p>
        </p:txBody>
      </p:sp>
      <p:sp>
        <p:nvSpPr>
          <p:cNvPr id="3" name="Text 1"/>
          <p:cNvSpPr/>
          <p:nvPr/>
        </p:nvSpPr>
        <p:spPr>
          <a:xfrm>
            <a:off x="457200" y="914400"/>
            <a:ext cx="11274552" cy="822960"/>
          </a:xfrm>
          <a:prstGeom prst="rect">
            <a:avLst/>
          </a:prstGeom>
          <a:noFill/>
          <a:ln/>
        </p:spPr>
        <p:txBody>
          <a:bodyPr wrap="square" rtlCol="0" anchor="ctr"/>
          <a:lstStyle/>
          <a:p>
            <a:pPr marL="0" indent="0" algn="ctr">
              <a:buNone/>
            </a:pPr>
            <a:r>
              <a:rPr lang="en-US" sz="4400" b="1" dirty="0">
                <a:solidFill>
                  <a:srgbClr val="F5EDD8"/>
                </a:solidFill>
                <a:latin typeface="Georgia" pitchFamily="34" charset="0"/>
                <a:ea typeface="Georgia" pitchFamily="34" charset="-122"/>
                <a:cs typeface="Georgia" pitchFamily="34" charset="-120"/>
              </a:rPr>
              <a:t>Living on Mission</a:t>
            </a:r>
            <a:endParaRPr lang="en-US" sz="4400" dirty="0"/>
          </a:p>
        </p:txBody>
      </p:sp>
      <p:sp>
        <p:nvSpPr>
          <p:cNvPr id="4" name="Text 2"/>
          <p:cNvSpPr/>
          <p:nvPr/>
        </p:nvSpPr>
        <p:spPr>
          <a:xfrm>
            <a:off x="457200" y="1828800"/>
            <a:ext cx="11274552" cy="457200"/>
          </a:xfrm>
          <a:prstGeom prst="rect">
            <a:avLst/>
          </a:prstGeom>
          <a:noFill/>
          <a:ln/>
        </p:spPr>
        <p:txBody>
          <a:bodyPr wrap="square" rtlCol="0" anchor="ctr"/>
          <a:lstStyle/>
          <a:p>
            <a:pPr marL="0" indent="0" algn="ctr">
              <a:buNone/>
            </a:pPr>
            <a:r>
              <a:rPr lang="en-US" sz="2000" i="1" dirty="0">
                <a:solidFill>
                  <a:srgbClr val="F0C870"/>
                </a:solidFill>
                <a:latin typeface="Calibri" pitchFamily="34" charset="0"/>
                <a:ea typeface="Calibri" pitchFamily="34" charset="-122"/>
                <a:cs typeface="Calibri" pitchFamily="34" charset="-120"/>
              </a:rPr>
              <a:t>Strengths + Passion + Calling = Mission Zone</a:t>
            </a:r>
            <a:endParaRPr lang="en-US" sz="2000" dirty="0"/>
          </a:p>
        </p:txBody>
      </p:sp>
      <p:sp>
        <p:nvSpPr>
          <p:cNvPr id="5" name="Shape 3"/>
          <p:cNvSpPr/>
          <p:nvPr/>
        </p:nvSpPr>
        <p:spPr>
          <a:xfrm>
            <a:off x="608076" y="2743200"/>
            <a:ext cx="3474720" cy="3291840"/>
          </a:xfrm>
          <a:prstGeom prst="roundRect">
            <a:avLst>
              <a:gd name="adj" fmla="val 4167"/>
            </a:avLst>
          </a:prstGeom>
          <a:solidFill>
            <a:srgbClr val="121C30"/>
          </a:solidFill>
          <a:ln w="12700">
            <a:solidFill>
              <a:srgbClr val="3A3A2A"/>
            </a:solidFill>
            <a:prstDash val="solid"/>
          </a:ln>
        </p:spPr>
        <p:txBody>
          <a:bodyPr/>
          <a:lstStyle/>
          <a:p>
            <a:endParaRPr lang="en-PH"/>
          </a:p>
        </p:txBody>
      </p:sp>
      <p:sp>
        <p:nvSpPr>
          <p:cNvPr id="6" name="Text 4"/>
          <p:cNvSpPr/>
          <p:nvPr/>
        </p:nvSpPr>
        <p:spPr>
          <a:xfrm>
            <a:off x="608076" y="3017520"/>
            <a:ext cx="3474720" cy="822960"/>
          </a:xfrm>
          <a:prstGeom prst="rect">
            <a:avLst/>
          </a:prstGeom>
          <a:noFill/>
          <a:ln/>
        </p:spPr>
        <p:txBody>
          <a:bodyPr wrap="square" rtlCol="0" anchor="ctr"/>
          <a:lstStyle/>
          <a:p>
            <a:pPr marL="0" indent="0" algn="ctr">
              <a:buNone/>
            </a:pPr>
            <a:r>
              <a:rPr lang="en-US" sz="4400" b="1" dirty="0">
                <a:solidFill>
                  <a:srgbClr val="D4A84A"/>
                </a:solidFill>
                <a:latin typeface="Georgia" pitchFamily="34" charset="0"/>
                <a:ea typeface="Georgia" pitchFamily="34" charset="-122"/>
                <a:cs typeface="Georgia" pitchFamily="34" charset="-120"/>
              </a:rPr>
              <a:t>1</a:t>
            </a:r>
            <a:endParaRPr lang="en-US" sz="4400" dirty="0"/>
          </a:p>
        </p:txBody>
      </p:sp>
      <p:sp>
        <p:nvSpPr>
          <p:cNvPr id="7" name="Text 5"/>
          <p:cNvSpPr/>
          <p:nvPr/>
        </p:nvSpPr>
        <p:spPr>
          <a:xfrm>
            <a:off x="608076" y="4023360"/>
            <a:ext cx="3474720" cy="548640"/>
          </a:xfrm>
          <a:prstGeom prst="rect">
            <a:avLst/>
          </a:prstGeom>
          <a:noFill/>
          <a:ln/>
        </p:spPr>
        <p:txBody>
          <a:bodyPr wrap="square" rtlCol="0" anchor="ctr"/>
          <a:lstStyle/>
          <a:p>
            <a:pPr marL="0" indent="0" algn="ctr">
              <a:buNone/>
            </a:pPr>
            <a:r>
              <a:rPr lang="en-US" sz="2400" b="1" dirty="0">
                <a:solidFill>
                  <a:srgbClr val="F5EDD8"/>
                </a:solidFill>
                <a:latin typeface="Georgia" pitchFamily="34" charset="0"/>
                <a:ea typeface="Georgia" pitchFamily="34" charset="-122"/>
                <a:cs typeface="Georgia" pitchFamily="34" charset="-120"/>
              </a:rPr>
              <a:t>Strengths</a:t>
            </a:r>
            <a:endParaRPr lang="en-US" sz="2400" dirty="0"/>
          </a:p>
        </p:txBody>
      </p:sp>
      <p:sp>
        <p:nvSpPr>
          <p:cNvPr id="8" name="Text 6"/>
          <p:cNvSpPr/>
          <p:nvPr/>
        </p:nvSpPr>
        <p:spPr>
          <a:xfrm>
            <a:off x="882396" y="4663440"/>
            <a:ext cx="2926080" cy="1188720"/>
          </a:xfrm>
          <a:prstGeom prst="rect">
            <a:avLst/>
          </a:prstGeom>
          <a:noFill/>
          <a:ln/>
        </p:spPr>
        <p:txBody>
          <a:bodyPr wrap="square" rtlCol="0" anchor="t"/>
          <a:lstStyle/>
          <a:p>
            <a:pPr marL="0" indent="0" algn="ctr">
              <a:lnSpc>
                <a:spcPct val="140000"/>
              </a:lnSpc>
              <a:buNone/>
            </a:pPr>
            <a:r>
              <a:rPr lang="en-US" sz="1300" dirty="0">
                <a:solidFill>
                  <a:srgbClr val="D6CFB8"/>
                </a:solidFill>
                <a:latin typeface="Calibri" pitchFamily="34" charset="0"/>
                <a:ea typeface="Calibri" pitchFamily="34" charset="-122"/>
                <a:cs typeface="Calibri" pitchFamily="34" charset="-120"/>
              </a:rPr>
              <a:t>Nakakapagod ang ibang gawain — pero dito ikaw ay nag-i-energize.</a:t>
            </a:r>
            <a:endParaRPr lang="en-US" sz="1300" dirty="0"/>
          </a:p>
        </p:txBody>
      </p:sp>
      <p:sp>
        <p:nvSpPr>
          <p:cNvPr id="9" name="Shape 7"/>
          <p:cNvSpPr/>
          <p:nvPr/>
        </p:nvSpPr>
        <p:spPr>
          <a:xfrm>
            <a:off x="4357116" y="2743200"/>
            <a:ext cx="3474720" cy="3291840"/>
          </a:xfrm>
          <a:prstGeom prst="roundRect">
            <a:avLst>
              <a:gd name="adj" fmla="val 4167"/>
            </a:avLst>
          </a:prstGeom>
          <a:solidFill>
            <a:srgbClr val="121C30"/>
          </a:solidFill>
          <a:ln w="12700">
            <a:solidFill>
              <a:srgbClr val="3A3A2A"/>
            </a:solidFill>
            <a:prstDash val="solid"/>
          </a:ln>
        </p:spPr>
        <p:txBody>
          <a:bodyPr/>
          <a:lstStyle/>
          <a:p>
            <a:endParaRPr lang="en-PH"/>
          </a:p>
        </p:txBody>
      </p:sp>
      <p:sp>
        <p:nvSpPr>
          <p:cNvPr id="10" name="Text 8"/>
          <p:cNvSpPr/>
          <p:nvPr/>
        </p:nvSpPr>
        <p:spPr>
          <a:xfrm>
            <a:off x="4357116" y="3017520"/>
            <a:ext cx="3474720" cy="822960"/>
          </a:xfrm>
          <a:prstGeom prst="rect">
            <a:avLst/>
          </a:prstGeom>
          <a:noFill/>
          <a:ln/>
        </p:spPr>
        <p:txBody>
          <a:bodyPr wrap="square" rtlCol="0" anchor="ctr"/>
          <a:lstStyle/>
          <a:p>
            <a:pPr marL="0" indent="0" algn="ctr">
              <a:buNone/>
            </a:pPr>
            <a:r>
              <a:rPr lang="en-US" sz="4400" b="1" dirty="0">
                <a:solidFill>
                  <a:srgbClr val="D4A84A"/>
                </a:solidFill>
                <a:latin typeface="Georgia" pitchFamily="34" charset="0"/>
                <a:ea typeface="Georgia" pitchFamily="34" charset="-122"/>
                <a:cs typeface="Georgia" pitchFamily="34" charset="-120"/>
              </a:rPr>
              <a:t>2</a:t>
            </a:r>
            <a:endParaRPr lang="en-US" sz="4400" dirty="0"/>
          </a:p>
        </p:txBody>
      </p:sp>
      <p:sp>
        <p:nvSpPr>
          <p:cNvPr id="11" name="Text 9"/>
          <p:cNvSpPr/>
          <p:nvPr/>
        </p:nvSpPr>
        <p:spPr>
          <a:xfrm>
            <a:off x="4357116" y="4023360"/>
            <a:ext cx="3474720" cy="548640"/>
          </a:xfrm>
          <a:prstGeom prst="rect">
            <a:avLst/>
          </a:prstGeom>
          <a:noFill/>
          <a:ln/>
        </p:spPr>
        <p:txBody>
          <a:bodyPr wrap="square" rtlCol="0" anchor="ctr"/>
          <a:lstStyle/>
          <a:p>
            <a:pPr marL="0" indent="0" algn="ctr">
              <a:buNone/>
            </a:pPr>
            <a:r>
              <a:rPr lang="en-US" sz="2400" b="1" dirty="0">
                <a:solidFill>
                  <a:srgbClr val="F5EDD8"/>
                </a:solidFill>
                <a:latin typeface="Georgia" pitchFamily="34" charset="0"/>
                <a:ea typeface="Georgia" pitchFamily="34" charset="-122"/>
                <a:cs typeface="Georgia" pitchFamily="34" charset="-120"/>
              </a:rPr>
              <a:t>Passion</a:t>
            </a:r>
            <a:endParaRPr lang="en-US" sz="2400" dirty="0"/>
          </a:p>
        </p:txBody>
      </p:sp>
      <p:sp>
        <p:nvSpPr>
          <p:cNvPr id="12" name="Text 10"/>
          <p:cNvSpPr/>
          <p:nvPr/>
        </p:nvSpPr>
        <p:spPr>
          <a:xfrm>
            <a:off x="4631436" y="4663440"/>
            <a:ext cx="2926080" cy="1188720"/>
          </a:xfrm>
          <a:prstGeom prst="rect">
            <a:avLst/>
          </a:prstGeom>
          <a:noFill/>
          <a:ln/>
        </p:spPr>
        <p:txBody>
          <a:bodyPr wrap="square" rtlCol="0" anchor="t"/>
          <a:lstStyle/>
          <a:p>
            <a:pPr marL="0" indent="0" algn="ctr">
              <a:lnSpc>
                <a:spcPct val="140000"/>
              </a:lnSpc>
              <a:buNone/>
            </a:pPr>
            <a:r>
              <a:rPr lang="en-US" sz="1300" dirty="0">
                <a:solidFill>
                  <a:srgbClr val="D6CFB8"/>
                </a:solidFill>
                <a:latin typeface="Calibri" pitchFamily="34" charset="0"/>
                <a:ea typeface="Calibri" pitchFamily="34" charset="-122"/>
                <a:cs typeface="Calibri" pitchFamily="34" charset="-120"/>
              </a:rPr>
              <a:t>Anong sumusunog sa puso mo? Anong hindi mo maiwasang pansinin?</a:t>
            </a:r>
            <a:endParaRPr lang="en-US" sz="1300" dirty="0"/>
          </a:p>
        </p:txBody>
      </p:sp>
      <p:sp>
        <p:nvSpPr>
          <p:cNvPr id="13" name="Shape 11"/>
          <p:cNvSpPr/>
          <p:nvPr/>
        </p:nvSpPr>
        <p:spPr>
          <a:xfrm>
            <a:off x="8106156" y="2743200"/>
            <a:ext cx="3474720" cy="3291840"/>
          </a:xfrm>
          <a:prstGeom prst="roundRect">
            <a:avLst>
              <a:gd name="adj" fmla="val 4167"/>
            </a:avLst>
          </a:prstGeom>
          <a:solidFill>
            <a:srgbClr val="121C30"/>
          </a:solidFill>
          <a:ln w="12700">
            <a:solidFill>
              <a:srgbClr val="3A3A2A"/>
            </a:solidFill>
            <a:prstDash val="solid"/>
          </a:ln>
        </p:spPr>
        <p:txBody>
          <a:bodyPr/>
          <a:lstStyle/>
          <a:p>
            <a:endParaRPr lang="en-PH"/>
          </a:p>
        </p:txBody>
      </p:sp>
      <p:sp>
        <p:nvSpPr>
          <p:cNvPr id="14" name="Text 12"/>
          <p:cNvSpPr/>
          <p:nvPr/>
        </p:nvSpPr>
        <p:spPr>
          <a:xfrm>
            <a:off x="8106156" y="3017520"/>
            <a:ext cx="3474720" cy="822960"/>
          </a:xfrm>
          <a:prstGeom prst="rect">
            <a:avLst/>
          </a:prstGeom>
          <a:noFill/>
          <a:ln/>
        </p:spPr>
        <p:txBody>
          <a:bodyPr wrap="square" rtlCol="0" anchor="ctr"/>
          <a:lstStyle/>
          <a:p>
            <a:pPr marL="0" indent="0" algn="ctr">
              <a:buNone/>
            </a:pPr>
            <a:r>
              <a:rPr lang="en-US" sz="4400" b="1" dirty="0">
                <a:solidFill>
                  <a:srgbClr val="D4A84A"/>
                </a:solidFill>
                <a:latin typeface="Georgia" pitchFamily="34" charset="0"/>
                <a:ea typeface="Georgia" pitchFamily="34" charset="-122"/>
                <a:cs typeface="Georgia" pitchFamily="34" charset="-120"/>
              </a:rPr>
              <a:t>3</a:t>
            </a:r>
            <a:endParaRPr lang="en-US" sz="4400" dirty="0"/>
          </a:p>
        </p:txBody>
      </p:sp>
      <p:sp>
        <p:nvSpPr>
          <p:cNvPr id="15" name="Text 13"/>
          <p:cNvSpPr/>
          <p:nvPr/>
        </p:nvSpPr>
        <p:spPr>
          <a:xfrm>
            <a:off x="8106156" y="4023360"/>
            <a:ext cx="3474720" cy="548640"/>
          </a:xfrm>
          <a:prstGeom prst="rect">
            <a:avLst/>
          </a:prstGeom>
          <a:noFill/>
          <a:ln/>
        </p:spPr>
        <p:txBody>
          <a:bodyPr wrap="square" rtlCol="0" anchor="ctr"/>
          <a:lstStyle/>
          <a:p>
            <a:pPr marL="0" indent="0" algn="ctr">
              <a:buNone/>
            </a:pPr>
            <a:r>
              <a:rPr lang="en-US" sz="2400" b="1" dirty="0">
                <a:solidFill>
                  <a:srgbClr val="F5EDD8"/>
                </a:solidFill>
                <a:latin typeface="Georgia" pitchFamily="34" charset="0"/>
                <a:ea typeface="Georgia" pitchFamily="34" charset="-122"/>
                <a:cs typeface="Georgia" pitchFamily="34" charset="-120"/>
              </a:rPr>
              <a:t>Calling</a:t>
            </a:r>
            <a:endParaRPr lang="en-US" sz="2400" dirty="0"/>
          </a:p>
        </p:txBody>
      </p:sp>
      <p:sp>
        <p:nvSpPr>
          <p:cNvPr id="16" name="Text 14"/>
          <p:cNvSpPr/>
          <p:nvPr/>
        </p:nvSpPr>
        <p:spPr>
          <a:xfrm>
            <a:off x="8380476" y="4663440"/>
            <a:ext cx="2926080" cy="1188720"/>
          </a:xfrm>
          <a:prstGeom prst="rect">
            <a:avLst/>
          </a:prstGeom>
          <a:noFill/>
          <a:ln/>
        </p:spPr>
        <p:txBody>
          <a:bodyPr wrap="square" rtlCol="0" anchor="t"/>
          <a:lstStyle/>
          <a:p>
            <a:pPr marL="0" indent="0" algn="ctr">
              <a:lnSpc>
                <a:spcPct val="140000"/>
              </a:lnSpc>
              <a:buNone/>
            </a:pPr>
            <a:r>
              <a:rPr lang="en-US" sz="1300" dirty="0">
                <a:solidFill>
                  <a:srgbClr val="D6CFB8"/>
                </a:solidFill>
                <a:latin typeface="Calibri" pitchFamily="34" charset="0"/>
                <a:ea typeface="Calibri" pitchFamily="34" charset="-122"/>
                <a:cs typeface="Calibri" pitchFamily="34" charset="-120"/>
              </a:rPr>
              <a:t>Tinawag ka ng Diyos para sa iyong sariling henerasyon.</a:t>
            </a:r>
            <a:endParaRPr lang="en-US" sz="1300" dirty="0"/>
          </a:p>
        </p:txBody>
      </p:sp>
      <p:sp>
        <p:nvSpPr>
          <p:cNvPr id="17" name="Text 1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MAC LAKE · LEADING YOURSELF · MODULE 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THE CAUTIONARY CONTRAST · 6 MIN</a:t>
            </a:r>
            <a:endParaRPr lang="en-US" sz="1400" dirty="0"/>
          </a:p>
        </p:txBody>
      </p:sp>
      <p:sp>
        <p:nvSpPr>
          <p:cNvPr id="3" name="Text 1"/>
          <p:cNvSpPr/>
          <p:nvPr/>
        </p:nvSpPr>
        <p:spPr>
          <a:xfrm>
            <a:off x="457200" y="914400"/>
            <a:ext cx="11274552" cy="1737360"/>
          </a:xfrm>
          <a:prstGeom prst="rect">
            <a:avLst/>
          </a:prstGeom>
          <a:noFill/>
          <a:ln/>
        </p:spPr>
        <p:txBody>
          <a:bodyPr wrap="square" rtlCol="0" anchor="ctr"/>
          <a:lstStyle/>
          <a:p>
            <a:pPr marL="0" indent="0" algn="ctr">
              <a:buNone/>
            </a:pPr>
            <a:r>
              <a:rPr lang="en-US" sz="4400" b="1" dirty="0">
                <a:solidFill>
                  <a:srgbClr val="F5EDD8"/>
                </a:solidFill>
                <a:latin typeface="Georgia" pitchFamily="34" charset="0"/>
                <a:ea typeface="Georgia" pitchFamily="34" charset="-122"/>
                <a:cs typeface="Georgia" pitchFamily="34" charset="-120"/>
              </a:rPr>
              <a:t>Honor the Gift.</a:t>
            </a:r>
            <a:endParaRPr lang="en-US" sz="4400" dirty="0"/>
          </a:p>
          <a:p>
            <a:pPr marL="0" indent="0" algn="ctr">
              <a:buNone/>
            </a:pPr>
            <a:r>
              <a:rPr lang="en-US" sz="4400" b="1" dirty="0">
                <a:solidFill>
                  <a:srgbClr val="F5EDD8"/>
                </a:solidFill>
                <a:latin typeface="Georgia" pitchFamily="34" charset="0"/>
                <a:ea typeface="Georgia" pitchFamily="34" charset="-122"/>
                <a:cs typeface="Georgia" pitchFamily="34" charset="-120"/>
              </a:rPr>
              <a:t>Name the Cost.</a:t>
            </a:r>
            <a:endParaRPr lang="en-US" sz="4400" dirty="0"/>
          </a:p>
        </p:txBody>
      </p:sp>
      <p:sp>
        <p:nvSpPr>
          <p:cNvPr id="4" name="Text 2"/>
          <p:cNvSpPr/>
          <p:nvPr/>
        </p:nvSpPr>
        <p:spPr>
          <a:xfrm>
            <a:off x="457200" y="2834640"/>
            <a:ext cx="11274552" cy="640080"/>
          </a:xfrm>
          <a:prstGeom prst="rect">
            <a:avLst/>
          </a:prstGeom>
          <a:noFill/>
          <a:ln/>
        </p:spPr>
        <p:txBody>
          <a:bodyPr wrap="square" rtlCol="0" anchor="ctr"/>
          <a:lstStyle/>
          <a:p>
            <a:pPr marL="0" indent="0" algn="ctr">
              <a:buNone/>
            </a:pPr>
            <a:r>
              <a:rPr lang="en-US" sz="3200" i="1" dirty="0">
                <a:solidFill>
                  <a:srgbClr val="F0C870"/>
                </a:solidFill>
                <a:latin typeface="Georgia" pitchFamily="34" charset="0"/>
                <a:ea typeface="Georgia" pitchFamily="34" charset="-122"/>
                <a:cs typeface="Georgia" pitchFamily="34" charset="-120"/>
              </a:rPr>
              <a:t>Whitney Houston</a:t>
            </a:r>
            <a:endParaRPr lang="en-US" sz="3200" dirty="0"/>
          </a:p>
        </p:txBody>
      </p:sp>
      <p:sp>
        <p:nvSpPr>
          <p:cNvPr id="5" name="Shape 3"/>
          <p:cNvSpPr/>
          <p:nvPr/>
        </p:nvSpPr>
        <p:spPr>
          <a:xfrm>
            <a:off x="2286000" y="3840480"/>
            <a:ext cx="2286000" cy="640080"/>
          </a:xfrm>
          <a:prstGeom prst="roundRect">
            <a:avLst>
              <a:gd name="adj" fmla="val 50000"/>
            </a:avLst>
          </a:prstGeom>
          <a:solidFill>
            <a:srgbClr val="1F2C3A"/>
          </a:solidFill>
          <a:ln w="12700">
            <a:solidFill>
              <a:srgbClr val="D4A84A"/>
            </a:solidFill>
            <a:prstDash val="solid"/>
          </a:ln>
        </p:spPr>
        <p:txBody>
          <a:bodyPr/>
          <a:lstStyle/>
          <a:p>
            <a:endParaRPr lang="en-PH"/>
          </a:p>
        </p:txBody>
      </p:sp>
      <p:sp>
        <p:nvSpPr>
          <p:cNvPr id="6" name="Text 4"/>
          <p:cNvSpPr/>
          <p:nvPr/>
        </p:nvSpPr>
        <p:spPr>
          <a:xfrm>
            <a:off x="2286000" y="3840480"/>
            <a:ext cx="2286000" cy="640080"/>
          </a:xfrm>
          <a:prstGeom prst="rect">
            <a:avLst/>
          </a:prstGeom>
          <a:noFill/>
          <a:ln/>
        </p:spPr>
        <p:txBody>
          <a:bodyPr wrap="square" rtlCol="0" anchor="ctr"/>
          <a:lstStyle/>
          <a:p>
            <a:pPr marL="0" indent="0" algn="ctr">
              <a:buNone/>
            </a:pPr>
            <a:r>
              <a:rPr lang="en-US" sz="1600" b="1" dirty="0">
                <a:solidFill>
                  <a:srgbClr val="F0C870"/>
                </a:solidFill>
                <a:latin typeface="Calibri" pitchFamily="34" charset="0"/>
                <a:ea typeface="Calibri" pitchFamily="34" charset="-122"/>
                <a:cs typeface="Calibri" pitchFamily="34" charset="-120"/>
              </a:rPr>
              <a:t>✓ Strength</a:t>
            </a:r>
            <a:endParaRPr lang="en-US" sz="1600" dirty="0"/>
          </a:p>
        </p:txBody>
      </p:sp>
      <p:sp>
        <p:nvSpPr>
          <p:cNvPr id="7" name="Shape 5"/>
          <p:cNvSpPr/>
          <p:nvPr/>
        </p:nvSpPr>
        <p:spPr>
          <a:xfrm>
            <a:off x="4937760" y="3840480"/>
            <a:ext cx="2286000" cy="640080"/>
          </a:xfrm>
          <a:prstGeom prst="roundRect">
            <a:avLst>
              <a:gd name="adj" fmla="val 50000"/>
            </a:avLst>
          </a:prstGeom>
          <a:solidFill>
            <a:srgbClr val="1F2C3A"/>
          </a:solidFill>
          <a:ln w="12700">
            <a:solidFill>
              <a:srgbClr val="D4A84A"/>
            </a:solidFill>
            <a:prstDash val="solid"/>
          </a:ln>
        </p:spPr>
        <p:txBody>
          <a:bodyPr/>
          <a:lstStyle/>
          <a:p>
            <a:endParaRPr lang="en-PH"/>
          </a:p>
        </p:txBody>
      </p:sp>
      <p:sp>
        <p:nvSpPr>
          <p:cNvPr id="8" name="Text 6"/>
          <p:cNvSpPr/>
          <p:nvPr/>
        </p:nvSpPr>
        <p:spPr>
          <a:xfrm>
            <a:off x="4937760" y="3840480"/>
            <a:ext cx="2286000" cy="640080"/>
          </a:xfrm>
          <a:prstGeom prst="rect">
            <a:avLst/>
          </a:prstGeom>
          <a:noFill/>
          <a:ln/>
        </p:spPr>
        <p:txBody>
          <a:bodyPr wrap="square" rtlCol="0" anchor="ctr"/>
          <a:lstStyle/>
          <a:p>
            <a:pPr marL="0" indent="0" algn="ctr">
              <a:buNone/>
            </a:pPr>
            <a:r>
              <a:rPr lang="en-US" sz="1600" b="1" dirty="0">
                <a:solidFill>
                  <a:srgbClr val="F0C870"/>
                </a:solidFill>
                <a:latin typeface="Calibri" pitchFamily="34" charset="0"/>
                <a:ea typeface="Calibri" pitchFamily="34" charset="-122"/>
                <a:cs typeface="Calibri" pitchFamily="34" charset="-120"/>
              </a:rPr>
              <a:t>✓ Passion</a:t>
            </a:r>
            <a:endParaRPr lang="en-US" sz="1600" dirty="0"/>
          </a:p>
        </p:txBody>
      </p:sp>
      <p:sp>
        <p:nvSpPr>
          <p:cNvPr id="9" name="Shape 7"/>
          <p:cNvSpPr/>
          <p:nvPr/>
        </p:nvSpPr>
        <p:spPr>
          <a:xfrm>
            <a:off x="7589520" y="3840480"/>
            <a:ext cx="2286000" cy="640080"/>
          </a:xfrm>
          <a:prstGeom prst="roundRect">
            <a:avLst>
              <a:gd name="adj" fmla="val 50000"/>
            </a:avLst>
          </a:prstGeom>
          <a:solidFill>
            <a:srgbClr val="2A1818"/>
          </a:solidFill>
          <a:ln w="12700">
            <a:solidFill>
              <a:srgbClr val="8A4040"/>
            </a:solidFill>
            <a:prstDash val="solid"/>
          </a:ln>
        </p:spPr>
        <p:txBody>
          <a:bodyPr/>
          <a:lstStyle/>
          <a:p>
            <a:endParaRPr lang="en-PH"/>
          </a:p>
        </p:txBody>
      </p:sp>
      <p:sp>
        <p:nvSpPr>
          <p:cNvPr id="10" name="Text 8"/>
          <p:cNvSpPr/>
          <p:nvPr/>
        </p:nvSpPr>
        <p:spPr>
          <a:xfrm>
            <a:off x="7589520" y="3840480"/>
            <a:ext cx="2286000" cy="640080"/>
          </a:xfrm>
          <a:prstGeom prst="rect">
            <a:avLst/>
          </a:prstGeom>
          <a:noFill/>
          <a:ln/>
        </p:spPr>
        <p:txBody>
          <a:bodyPr wrap="square" rtlCol="0" anchor="ctr"/>
          <a:lstStyle/>
          <a:p>
            <a:pPr marL="0" indent="0" algn="ctr">
              <a:buNone/>
            </a:pPr>
            <a:r>
              <a:rPr lang="en-US" sz="1600" b="1" strike="sngStrike" dirty="0">
                <a:solidFill>
                  <a:srgbClr val="E09090"/>
                </a:solidFill>
                <a:latin typeface="Calibri" pitchFamily="34" charset="0"/>
                <a:ea typeface="Calibri" pitchFamily="34" charset="-122"/>
                <a:cs typeface="Calibri" pitchFamily="34" charset="-120"/>
              </a:rPr>
              <a:t>Calling Drift</a:t>
            </a:r>
            <a:endParaRPr lang="en-US" sz="1600" dirty="0"/>
          </a:p>
        </p:txBody>
      </p:sp>
      <p:sp>
        <p:nvSpPr>
          <p:cNvPr id="11" name="Text 9"/>
          <p:cNvSpPr/>
          <p:nvPr/>
        </p:nvSpPr>
        <p:spPr>
          <a:xfrm>
            <a:off x="1371600" y="4937760"/>
            <a:ext cx="9445752" cy="1280160"/>
          </a:xfrm>
          <a:prstGeom prst="rect">
            <a:avLst/>
          </a:prstGeom>
          <a:noFill/>
          <a:ln/>
        </p:spPr>
        <p:txBody>
          <a:bodyPr wrap="square" rtlCol="0" anchor="t"/>
          <a:lstStyle/>
          <a:p>
            <a:pPr marL="0" indent="0" algn="ctr">
              <a:lnSpc>
                <a:spcPct val="140000"/>
              </a:lnSpc>
              <a:buNone/>
            </a:pPr>
            <a:r>
              <a:rPr lang="en-US" sz="1600" i="1" dirty="0">
                <a:solidFill>
                  <a:srgbClr val="D6CFB8"/>
                </a:solidFill>
                <a:latin typeface="Calibri" pitchFamily="34" charset="0"/>
                <a:ea typeface="Calibri" pitchFamily="34" charset="-122"/>
                <a:cs typeface="Calibri" pitchFamily="34" charset="-120"/>
              </a:rPr>
              <a:t>Dalawa sa tatlo ay hindi sapat. Strengths + passion na walang calling ay maaaring maging tanyag — ngunit hindi maaaring maging </a:t>
            </a:r>
            <a:r>
              <a:rPr lang="en-US" sz="1600" b="1" i="1" dirty="0">
                <a:solidFill>
                  <a:srgbClr val="F0C870"/>
                </a:solidFill>
                <a:latin typeface="Calibri" pitchFamily="34" charset="0"/>
                <a:ea typeface="Calibri" pitchFamily="34" charset="-122"/>
                <a:cs typeface="Calibri" pitchFamily="34" charset="-120"/>
              </a:rPr>
              <a:t>tapos</a:t>
            </a:r>
            <a:r>
              <a:rPr lang="en-US" sz="1600" i="1" dirty="0">
                <a:solidFill>
                  <a:srgbClr val="D6CFB8"/>
                </a:solidFill>
                <a:latin typeface="Calibri" pitchFamily="34" charset="0"/>
                <a:ea typeface="Calibri" pitchFamily="34" charset="-122"/>
                <a:cs typeface="Calibri" pitchFamily="34" charset="-120"/>
              </a:rPr>
              <a:t> tulad ni David.</a:t>
            </a:r>
            <a:endParaRPr lang="en-US" sz="1600" dirty="0"/>
          </a:p>
        </p:txBody>
      </p:sp>
      <p:sp>
        <p:nvSpPr>
          <p:cNvPr id="12" name="Text 10"/>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PASTORAL TONE · HINDI KINOKONDENA · IGINAGALANG ANG REGALO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SILENT REFLECTION · 4 MIN</a:t>
            </a:r>
            <a:endParaRPr lang="en-US" sz="1400" dirty="0"/>
          </a:p>
        </p:txBody>
      </p:sp>
      <p:sp>
        <p:nvSpPr>
          <p:cNvPr id="3" name="Text 1"/>
          <p:cNvSpPr/>
          <p:nvPr/>
        </p:nvSpPr>
        <p:spPr>
          <a:xfrm>
            <a:off x="457200" y="914400"/>
            <a:ext cx="11274552" cy="822960"/>
          </a:xfrm>
          <a:prstGeom prst="rect">
            <a:avLst/>
          </a:prstGeom>
          <a:noFill/>
          <a:ln/>
        </p:spPr>
        <p:txBody>
          <a:bodyPr wrap="square" rtlCol="0" anchor="ctr"/>
          <a:lstStyle/>
          <a:p>
            <a:pPr marL="0" indent="0" algn="ctr">
              <a:buNone/>
            </a:pPr>
            <a:r>
              <a:rPr lang="en-US" sz="4400" b="1" dirty="0">
                <a:solidFill>
                  <a:srgbClr val="F5EDD8"/>
                </a:solidFill>
                <a:latin typeface="Georgia" pitchFamily="34" charset="0"/>
                <a:ea typeface="Georgia" pitchFamily="34" charset="-122"/>
                <a:cs typeface="Georgia" pitchFamily="34" charset="-120"/>
              </a:rPr>
              <a:t>Saan Ako Ngayon?</a:t>
            </a:r>
            <a:endParaRPr lang="en-US" sz="4400" dirty="0"/>
          </a:p>
        </p:txBody>
      </p:sp>
      <p:sp>
        <p:nvSpPr>
          <p:cNvPr id="4" name="Shape 2"/>
          <p:cNvSpPr/>
          <p:nvPr/>
        </p:nvSpPr>
        <p:spPr>
          <a:xfrm>
            <a:off x="914400" y="2103120"/>
            <a:ext cx="73152" cy="1188720"/>
          </a:xfrm>
          <a:prstGeom prst="rect">
            <a:avLst/>
          </a:prstGeom>
          <a:solidFill>
            <a:srgbClr val="D4A84A"/>
          </a:solidFill>
          <a:ln w="12700">
            <a:solidFill>
              <a:srgbClr val="D4A84A"/>
            </a:solidFill>
            <a:prstDash val="solid"/>
          </a:ln>
        </p:spPr>
        <p:txBody>
          <a:bodyPr/>
          <a:lstStyle/>
          <a:p>
            <a:endParaRPr lang="en-PH"/>
          </a:p>
        </p:txBody>
      </p:sp>
      <p:sp>
        <p:nvSpPr>
          <p:cNvPr id="5" name="Shape 3"/>
          <p:cNvSpPr/>
          <p:nvPr/>
        </p:nvSpPr>
        <p:spPr>
          <a:xfrm>
            <a:off x="987552" y="2103120"/>
            <a:ext cx="10287000" cy="1188720"/>
          </a:xfrm>
          <a:prstGeom prst="rect">
            <a:avLst/>
          </a:prstGeom>
          <a:solidFill>
            <a:srgbClr val="121C30"/>
          </a:solidFill>
          <a:ln w="12700">
            <a:solidFill>
              <a:srgbClr val="3A3A2A"/>
            </a:solidFill>
            <a:prstDash val="solid"/>
          </a:ln>
        </p:spPr>
        <p:txBody>
          <a:bodyPr/>
          <a:lstStyle/>
          <a:p>
            <a:endParaRPr lang="en-PH"/>
          </a:p>
        </p:txBody>
      </p:sp>
      <p:sp>
        <p:nvSpPr>
          <p:cNvPr id="6" name="Text 4"/>
          <p:cNvSpPr/>
          <p:nvPr/>
        </p:nvSpPr>
        <p:spPr>
          <a:xfrm>
            <a:off x="1188720" y="2286000"/>
            <a:ext cx="9902952" cy="320040"/>
          </a:xfrm>
          <a:prstGeom prst="rect">
            <a:avLst/>
          </a:prstGeom>
          <a:noFill/>
          <a:ln/>
        </p:spPr>
        <p:txBody>
          <a:bodyPr wrap="square" rtlCol="0" anchor="ctr"/>
          <a:lstStyle/>
          <a:p>
            <a:pPr marL="0" indent="0" algn="l">
              <a:buNone/>
            </a:pPr>
            <a:r>
              <a:rPr lang="en-US" sz="1200" kern="0" spc="600" dirty="0">
                <a:solidFill>
                  <a:srgbClr val="D4A84A"/>
                </a:solidFill>
                <a:latin typeface="Impact" pitchFamily="34" charset="0"/>
                <a:ea typeface="Impact" pitchFamily="34" charset="-122"/>
                <a:cs typeface="Impact" pitchFamily="34" charset="-120"/>
              </a:rPr>
              <a:t>STRENGTHS</a:t>
            </a:r>
            <a:endParaRPr lang="en-US" sz="1200" dirty="0"/>
          </a:p>
        </p:txBody>
      </p:sp>
      <p:sp>
        <p:nvSpPr>
          <p:cNvPr id="7" name="Text 5"/>
          <p:cNvSpPr/>
          <p:nvPr/>
        </p:nvSpPr>
        <p:spPr>
          <a:xfrm>
            <a:off x="1188720" y="2606040"/>
            <a:ext cx="9902952" cy="594360"/>
          </a:xfrm>
          <a:prstGeom prst="rect">
            <a:avLst/>
          </a:prstGeom>
          <a:noFill/>
          <a:ln/>
        </p:spPr>
        <p:txBody>
          <a:bodyPr wrap="square" rtlCol="0" anchor="t"/>
          <a:lstStyle/>
          <a:p>
            <a:pPr marL="0" indent="0" algn="l">
              <a:buNone/>
            </a:pPr>
            <a:r>
              <a:rPr lang="en-US" sz="2000" i="1" dirty="0">
                <a:solidFill>
                  <a:srgbClr val="F5EDD8"/>
                </a:solidFill>
                <a:latin typeface="Georgia" pitchFamily="34" charset="0"/>
                <a:ea typeface="Georgia" pitchFamily="34" charset="-122"/>
                <a:cs typeface="Georgia" pitchFamily="34" charset="-120"/>
              </a:rPr>
              <a:t>Anong gawain ang nag-e-energize sa iyo? Anong nag-d-drain?</a:t>
            </a:r>
            <a:endParaRPr lang="en-US" sz="2000" dirty="0"/>
          </a:p>
        </p:txBody>
      </p:sp>
      <p:sp>
        <p:nvSpPr>
          <p:cNvPr id="8" name="Shape 6"/>
          <p:cNvSpPr/>
          <p:nvPr/>
        </p:nvSpPr>
        <p:spPr>
          <a:xfrm>
            <a:off x="914400" y="3474720"/>
            <a:ext cx="73152" cy="1188720"/>
          </a:xfrm>
          <a:prstGeom prst="rect">
            <a:avLst/>
          </a:prstGeom>
          <a:solidFill>
            <a:srgbClr val="D4A84A"/>
          </a:solidFill>
          <a:ln w="12700">
            <a:solidFill>
              <a:srgbClr val="D4A84A"/>
            </a:solidFill>
            <a:prstDash val="solid"/>
          </a:ln>
        </p:spPr>
        <p:txBody>
          <a:bodyPr/>
          <a:lstStyle/>
          <a:p>
            <a:endParaRPr lang="en-PH"/>
          </a:p>
        </p:txBody>
      </p:sp>
      <p:sp>
        <p:nvSpPr>
          <p:cNvPr id="9" name="Shape 7"/>
          <p:cNvSpPr/>
          <p:nvPr/>
        </p:nvSpPr>
        <p:spPr>
          <a:xfrm>
            <a:off x="987552" y="3474720"/>
            <a:ext cx="10287000" cy="1188720"/>
          </a:xfrm>
          <a:prstGeom prst="rect">
            <a:avLst/>
          </a:prstGeom>
          <a:solidFill>
            <a:srgbClr val="121C30"/>
          </a:solidFill>
          <a:ln w="12700">
            <a:solidFill>
              <a:srgbClr val="3A3A2A"/>
            </a:solidFill>
            <a:prstDash val="solid"/>
          </a:ln>
        </p:spPr>
        <p:txBody>
          <a:bodyPr/>
          <a:lstStyle/>
          <a:p>
            <a:endParaRPr lang="en-PH"/>
          </a:p>
        </p:txBody>
      </p:sp>
      <p:sp>
        <p:nvSpPr>
          <p:cNvPr id="10" name="Text 8"/>
          <p:cNvSpPr/>
          <p:nvPr/>
        </p:nvSpPr>
        <p:spPr>
          <a:xfrm>
            <a:off x="1188720" y="3657600"/>
            <a:ext cx="9902952" cy="320040"/>
          </a:xfrm>
          <a:prstGeom prst="rect">
            <a:avLst/>
          </a:prstGeom>
          <a:noFill/>
          <a:ln/>
        </p:spPr>
        <p:txBody>
          <a:bodyPr wrap="square" rtlCol="0" anchor="ctr"/>
          <a:lstStyle/>
          <a:p>
            <a:pPr marL="0" indent="0" algn="l">
              <a:buNone/>
            </a:pPr>
            <a:r>
              <a:rPr lang="en-US" sz="1200" kern="0" spc="600" dirty="0">
                <a:solidFill>
                  <a:srgbClr val="D4A84A"/>
                </a:solidFill>
                <a:latin typeface="Impact" pitchFamily="34" charset="0"/>
                <a:ea typeface="Impact" pitchFamily="34" charset="-122"/>
                <a:cs typeface="Impact" pitchFamily="34" charset="-120"/>
              </a:rPr>
              <a:t>PASSION</a:t>
            </a:r>
            <a:endParaRPr lang="en-US" sz="1200" dirty="0"/>
          </a:p>
        </p:txBody>
      </p:sp>
      <p:sp>
        <p:nvSpPr>
          <p:cNvPr id="11" name="Text 9"/>
          <p:cNvSpPr/>
          <p:nvPr/>
        </p:nvSpPr>
        <p:spPr>
          <a:xfrm>
            <a:off x="1188720" y="3977640"/>
            <a:ext cx="9902952" cy="594360"/>
          </a:xfrm>
          <a:prstGeom prst="rect">
            <a:avLst/>
          </a:prstGeom>
          <a:noFill/>
          <a:ln/>
        </p:spPr>
        <p:txBody>
          <a:bodyPr wrap="square" rtlCol="0" anchor="t"/>
          <a:lstStyle/>
          <a:p>
            <a:pPr marL="0" indent="0" algn="l">
              <a:buNone/>
            </a:pPr>
            <a:r>
              <a:rPr lang="en-US" sz="2000" i="1" dirty="0">
                <a:solidFill>
                  <a:srgbClr val="F5EDD8"/>
                </a:solidFill>
                <a:latin typeface="Georgia" pitchFamily="34" charset="0"/>
                <a:ea typeface="Georgia" pitchFamily="34" charset="-122"/>
                <a:cs typeface="Georgia" pitchFamily="34" charset="-120"/>
              </a:rPr>
              <a:t>Anong isyu, pangangailangan, o grupo ng tao ang lagi mong iniisip?</a:t>
            </a:r>
            <a:endParaRPr lang="en-US" sz="2000" dirty="0"/>
          </a:p>
        </p:txBody>
      </p:sp>
      <p:sp>
        <p:nvSpPr>
          <p:cNvPr id="12" name="Shape 10"/>
          <p:cNvSpPr/>
          <p:nvPr/>
        </p:nvSpPr>
        <p:spPr>
          <a:xfrm>
            <a:off x="914400" y="4846320"/>
            <a:ext cx="73152" cy="1188720"/>
          </a:xfrm>
          <a:prstGeom prst="rect">
            <a:avLst/>
          </a:prstGeom>
          <a:solidFill>
            <a:srgbClr val="D4A84A"/>
          </a:solidFill>
          <a:ln w="12700">
            <a:solidFill>
              <a:srgbClr val="D4A84A"/>
            </a:solidFill>
            <a:prstDash val="solid"/>
          </a:ln>
        </p:spPr>
        <p:txBody>
          <a:bodyPr/>
          <a:lstStyle/>
          <a:p>
            <a:endParaRPr lang="en-PH"/>
          </a:p>
        </p:txBody>
      </p:sp>
      <p:sp>
        <p:nvSpPr>
          <p:cNvPr id="13" name="Shape 11"/>
          <p:cNvSpPr/>
          <p:nvPr/>
        </p:nvSpPr>
        <p:spPr>
          <a:xfrm>
            <a:off x="987552" y="4846320"/>
            <a:ext cx="10287000" cy="1188720"/>
          </a:xfrm>
          <a:prstGeom prst="rect">
            <a:avLst/>
          </a:prstGeom>
          <a:solidFill>
            <a:srgbClr val="121C30"/>
          </a:solidFill>
          <a:ln w="12700">
            <a:solidFill>
              <a:srgbClr val="3A3A2A"/>
            </a:solidFill>
            <a:prstDash val="solid"/>
          </a:ln>
        </p:spPr>
        <p:txBody>
          <a:bodyPr/>
          <a:lstStyle/>
          <a:p>
            <a:endParaRPr lang="en-PH"/>
          </a:p>
        </p:txBody>
      </p:sp>
      <p:sp>
        <p:nvSpPr>
          <p:cNvPr id="14" name="Text 12"/>
          <p:cNvSpPr/>
          <p:nvPr/>
        </p:nvSpPr>
        <p:spPr>
          <a:xfrm>
            <a:off x="1188720" y="5029200"/>
            <a:ext cx="9902952" cy="320040"/>
          </a:xfrm>
          <a:prstGeom prst="rect">
            <a:avLst/>
          </a:prstGeom>
          <a:noFill/>
          <a:ln/>
        </p:spPr>
        <p:txBody>
          <a:bodyPr wrap="square" rtlCol="0" anchor="ctr"/>
          <a:lstStyle/>
          <a:p>
            <a:pPr marL="0" indent="0" algn="l">
              <a:buNone/>
            </a:pPr>
            <a:r>
              <a:rPr lang="en-US" sz="1200" kern="0" spc="600" dirty="0">
                <a:solidFill>
                  <a:srgbClr val="D4A84A"/>
                </a:solidFill>
                <a:latin typeface="Impact" pitchFamily="34" charset="0"/>
                <a:ea typeface="Impact" pitchFamily="34" charset="-122"/>
                <a:cs typeface="Impact" pitchFamily="34" charset="-120"/>
              </a:rPr>
              <a:t>CALLING</a:t>
            </a:r>
            <a:endParaRPr lang="en-US" sz="1200" dirty="0"/>
          </a:p>
        </p:txBody>
      </p:sp>
      <p:sp>
        <p:nvSpPr>
          <p:cNvPr id="15" name="Text 13"/>
          <p:cNvSpPr/>
          <p:nvPr/>
        </p:nvSpPr>
        <p:spPr>
          <a:xfrm>
            <a:off x="1188720" y="5349240"/>
            <a:ext cx="9902952" cy="594360"/>
          </a:xfrm>
          <a:prstGeom prst="rect">
            <a:avLst/>
          </a:prstGeom>
          <a:noFill/>
          <a:ln/>
        </p:spPr>
        <p:txBody>
          <a:bodyPr wrap="square" rtlCol="0" anchor="t"/>
          <a:lstStyle/>
          <a:p>
            <a:pPr marL="0" indent="0" algn="l">
              <a:buNone/>
            </a:pPr>
            <a:r>
              <a:rPr lang="en-US" sz="2000" i="1" dirty="0">
                <a:solidFill>
                  <a:srgbClr val="F5EDD8"/>
                </a:solidFill>
                <a:latin typeface="Georgia" pitchFamily="34" charset="0"/>
                <a:ea typeface="Georgia" pitchFamily="34" charset="-122"/>
                <a:cs typeface="Georgia" pitchFamily="34" charset="-120"/>
              </a:rPr>
              <a:t>Para sa iyong sariling henerasyon — anong ginawa ng Diyos sa iyo?</a:t>
            </a:r>
            <a:endParaRPr lang="en-US" sz="2000" dirty="0"/>
          </a:p>
        </p:txBody>
      </p:sp>
      <p:sp>
        <p:nvSpPr>
          <p:cNvPr id="16" name="Text 14"/>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4 MINUTES OF REAL SILENCE · DO NOT BREAK 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GAWIN · PART A · 5 MIN</a:t>
            </a:r>
            <a:endParaRPr lang="en-US" sz="1400" dirty="0"/>
          </a:p>
        </p:txBody>
      </p:sp>
      <p:sp>
        <p:nvSpPr>
          <p:cNvPr id="3" name="Text 1"/>
          <p:cNvSpPr/>
          <p:nvPr/>
        </p:nvSpPr>
        <p:spPr>
          <a:xfrm>
            <a:off x="457200" y="914400"/>
            <a:ext cx="11274552" cy="822960"/>
          </a:xfrm>
          <a:prstGeom prst="rect">
            <a:avLst/>
          </a:prstGeom>
          <a:noFill/>
          <a:ln/>
        </p:spPr>
        <p:txBody>
          <a:bodyPr wrap="square" rtlCol="0" anchor="ctr"/>
          <a:lstStyle/>
          <a:p>
            <a:pPr marL="0" indent="0" algn="ctr">
              <a:buNone/>
            </a:pPr>
            <a:r>
              <a:rPr lang="en-US" sz="4400" b="1" dirty="0">
                <a:solidFill>
                  <a:srgbClr val="F5EDD8"/>
                </a:solidFill>
                <a:latin typeface="Georgia" pitchFamily="34" charset="0"/>
                <a:ea typeface="Georgia" pitchFamily="34" charset="-122"/>
                <a:cs typeface="Georgia" pitchFamily="34" charset="-120"/>
              </a:rPr>
              <a:t>Rear View Mirror</a:t>
            </a:r>
            <a:endParaRPr lang="en-US" sz="4400" dirty="0"/>
          </a:p>
        </p:txBody>
      </p:sp>
      <p:sp>
        <p:nvSpPr>
          <p:cNvPr id="4" name="Text 2"/>
          <p:cNvSpPr/>
          <p:nvPr/>
        </p:nvSpPr>
        <p:spPr>
          <a:xfrm>
            <a:off x="457200" y="1783080"/>
            <a:ext cx="11274552" cy="457200"/>
          </a:xfrm>
          <a:prstGeom prst="rect">
            <a:avLst/>
          </a:prstGeom>
          <a:noFill/>
          <a:ln/>
        </p:spPr>
        <p:txBody>
          <a:bodyPr wrap="square" rtlCol="0" anchor="ctr"/>
          <a:lstStyle/>
          <a:p>
            <a:pPr marL="0" indent="0" algn="ctr">
              <a:buNone/>
            </a:pPr>
            <a:r>
              <a:rPr lang="en-US" sz="2400" i="1" dirty="0">
                <a:solidFill>
                  <a:srgbClr val="F0C870"/>
                </a:solidFill>
                <a:latin typeface="Georgia" pitchFamily="34" charset="0"/>
                <a:ea typeface="Georgia" pitchFamily="34" charset="-122"/>
                <a:cs typeface="Georgia" pitchFamily="34" charset="-120"/>
              </a:rPr>
              <a:t>7-Day Edition</a:t>
            </a:r>
            <a:endParaRPr lang="en-US" sz="2400" dirty="0"/>
          </a:p>
        </p:txBody>
      </p:sp>
      <p:sp>
        <p:nvSpPr>
          <p:cNvPr id="5" name="Shape 3"/>
          <p:cNvSpPr/>
          <p:nvPr/>
        </p:nvSpPr>
        <p:spPr>
          <a:xfrm>
            <a:off x="1339596" y="2651760"/>
            <a:ext cx="4572000" cy="2560320"/>
          </a:xfrm>
          <a:prstGeom prst="roundRect">
            <a:avLst>
              <a:gd name="adj" fmla="val 5357"/>
            </a:avLst>
          </a:prstGeom>
          <a:solidFill>
            <a:srgbClr val="0F2415"/>
          </a:solidFill>
          <a:ln w="12700">
            <a:solidFill>
              <a:srgbClr val="60C080"/>
            </a:solidFill>
            <a:prstDash val="solid"/>
          </a:ln>
        </p:spPr>
        <p:txBody>
          <a:bodyPr/>
          <a:lstStyle/>
          <a:p>
            <a:endParaRPr lang="en-PH"/>
          </a:p>
        </p:txBody>
      </p:sp>
      <p:sp>
        <p:nvSpPr>
          <p:cNvPr id="6" name="Text 4"/>
          <p:cNvSpPr/>
          <p:nvPr/>
        </p:nvSpPr>
        <p:spPr>
          <a:xfrm>
            <a:off x="1339596" y="2834640"/>
            <a:ext cx="4572000" cy="640080"/>
          </a:xfrm>
          <a:prstGeom prst="rect">
            <a:avLst/>
          </a:prstGeom>
          <a:noFill/>
          <a:ln/>
        </p:spPr>
        <p:txBody>
          <a:bodyPr wrap="square" rtlCol="0" anchor="ctr"/>
          <a:lstStyle/>
          <a:p>
            <a:pPr marL="0" indent="0" algn="ctr">
              <a:buNone/>
            </a:pPr>
            <a:r>
              <a:rPr lang="en-US" sz="3600" dirty="0">
                <a:solidFill>
                  <a:srgbClr val="000000"/>
                </a:solidFill>
                <a:latin typeface="Calibri" pitchFamily="34" charset="0"/>
                <a:ea typeface="Calibri" pitchFamily="34" charset="-122"/>
                <a:cs typeface="Calibri" pitchFamily="34" charset="-120"/>
              </a:rPr>
              <a:t>🔋</a:t>
            </a:r>
            <a:endParaRPr lang="en-US" sz="3600" dirty="0"/>
          </a:p>
        </p:txBody>
      </p:sp>
      <p:sp>
        <p:nvSpPr>
          <p:cNvPr id="7" name="Text 5"/>
          <p:cNvSpPr/>
          <p:nvPr/>
        </p:nvSpPr>
        <p:spPr>
          <a:xfrm>
            <a:off x="1339596" y="3566160"/>
            <a:ext cx="4572000" cy="548640"/>
          </a:xfrm>
          <a:prstGeom prst="rect">
            <a:avLst/>
          </a:prstGeom>
          <a:noFill/>
          <a:ln/>
        </p:spPr>
        <p:txBody>
          <a:bodyPr wrap="square" rtlCol="0" anchor="ctr"/>
          <a:lstStyle/>
          <a:p>
            <a:pPr marL="0" indent="0" algn="ctr">
              <a:buNone/>
            </a:pPr>
            <a:r>
              <a:rPr lang="en-US" sz="2400" b="1" dirty="0">
                <a:solidFill>
                  <a:srgbClr val="A0E8B8"/>
                </a:solidFill>
                <a:latin typeface="Georgia" pitchFamily="34" charset="0"/>
                <a:ea typeface="Georgia" pitchFamily="34" charset="-122"/>
                <a:cs typeface="Georgia" pitchFamily="34" charset="-120"/>
              </a:rPr>
              <a:t>Nag-Energize</a:t>
            </a:r>
            <a:endParaRPr lang="en-US" sz="2400" dirty="0"/>
          </a:p>
        </p:txBody>
      </p:sp>
      <p:sp>
        <p:nvSpPr>
          <p:cNvPr id="8" name="Text 6"/>
          <p:cNvSpPr/>
          <p:nvPr/>
        </p:nvSpPr>
        <p:spPr>
          <a:xfrm>
            <a:off x="1613916" y="4206240"/>
            <a:ext cx="4023360" cy="914400"/>
          </a:xfrm>
          <a:prstGeom prst="rect">
            <a:avLst/>
          </a:prstGeom>
          <a:noFill/>
          <a:ln/>
        </p:spPr>
        <p:txBody>
          <a:bodyPr wrap="square" rtlCol="0" anchor="t"/>
          <a:lstStyle/>
          <a:p>
            <a:pPr marL="0" indent="0" algn="ctr">
              <a:buNone/>
            </a:pPr>
            <a:r>
              <a:rPr lang="en-US" sz="1300" dirty="0">
                <a:solidFill>
                  <a:srgbClr val="D6CFB8"/>
                </a:solidFill>
                <a:latin typeface="Calibri" pitchFamily="34" charset="0"/>
                <a:ea typeface="Calibri" pitchFamily="34" charset="-122"/>
                <a:cs typeface="Calibri" pitchFamily="34" charset="-120"/>
              </a:rPr>
              <a:t>Top 3 mula sa nakaraang 7 araw — anong nagbigay sa iyo ng energy?</a:t>
            </a:r>
            <a:endParaRPr lang="en-US" sz="1300" dirty="0"/>
          </a:p>
        </p:txBody>
      </p:sp>
      <p:sp>
        <p:nvSpPr>
          <p:cNvPr id="9" name="Shape 7"/>
          <p:cNvSpPr/>
          <p:nvPr/>
        </p:nvSpPr>
        <p:spPr>
          <a:xfrm>
            <a:off x="6277356" y="2651760"/>
            <a:ext cx="4572000" cy="2560320"/>
          </a:xfrm>
          <a:prstGeom prst="roundRect">
            <a:avLst>
              <a:gd name="adj" fmla="val 5357"/>
            </a:avLst>
          </a:prstGeom>
          <a:solidFill>
            <a:srgbClr val="241010"/>
          </a:solidFill>
          <a:ln w="12700">
            <a:solidFill>
              <a:srgbClr val="E09090"/>
            </a:solidFill>
            <a:prstDash val="solid"/>
          </a:ln>
        </p:spPr>
        <p:txBody>
          <a:bodyPr/>
          <a:lstStyle/>
          <a:p>
            <a:endParaRPr lang="en-PH"/>
          </a:p>
        </p:txBody>
      </p:sp>
      <p:sp>
        <p:nvSpPr>
          <p:cNvPr id="10" name="Text 8"/>
          <p:cNvSpPr/>
          <p:nvPr/>
        </p:nvSpPr>
        <p:spPr>
          <a:xfrm>
            <a:off x="6277356" y="2834640"/>
            <a:ext cx="4572000" cy="640080"/>
          </a:xfrm>
          <a:prstGeom prst="rect">
            <a:avLst/>
          </a:prstGeom>
          <a:noFill/>
          <a:ln/>
        </p:spPr>
        <p:txBody>
          <a:bodyPr wrap="square" rtlCol="0" anchor="ctr"/>
          <a:lstStyle/>
          <a:p>
            <a:pPr marL="0" indent="0" algn="ctr">
              <a:buNone/>
            </a:pPr>
            <a:r>
              <a:rPr lang="en-US" sz="3600" dirty="0">
                <a:solidFill>
                  <a:srgbClr val="000000"/>
                </a:solidFill>
                <a:latin typeface="Calibri" pitchFamily="34" charset="0"/>
                <a:ea typeface="Calibri" pitchFamily="34" charset="-122"/>
                <a:cs typeface="Calibri" pitchFamily="34" charset="-120"/>
              </a:rPr>
              <a:t>🪫</a:t>
            </a:r>
            <a:endParaRPr lang="en-US" sz="3600" dirty="0"/>
          </a:p>
        </p:txBody>
      </p:sp>
      <p:sp>
        <p:nvSpPr>
          <p:cNvPr id="11" name="Text 9"/>
          <p:cNvSpPr/>
          <p:nvPr/>
        </p:nvSpPr>
        <p:spPr>
          <a:xfrm>
            <a:off x="6277356" y="3566160"/>
            <a:ext cx="4572000" cy="548640"/>
          </a:xfrm>
          <a:prstGeom prst="rect">
            <a:avLst/>
          </a:prstGeom>
          <a:noFill/>
          <a:ln/>
        </p:spPr>
        <p:txBody>
          <a:bodyPr wrap="square" rtlCol="0" anchor="ctr"/>
          <a:lstStyle/>
          <a:p>
            <a:pPr marL="0" indent="0" algn="ctr">
              <a:buNone/>
            </a:pPr>
            <a:r>
              <a:rPr lang="en-US" sz="2400" b="1" dirty="0">
                <a:solidFill>
                  <a:srgbClr val="F0B0B0"/>
                </a:solidFill>
                <a:latin typeface="Georgia" pitchFamily="34" charset="0"/>
                <a:ea typeface="Georgia" pitchFamily="34" charset="-122"/>
                <a:cs typeface="Georgia" pitchFamily="34" charset="-120"/>
              </a:rPr>
              <a:t>Nag-Drain</a:t>
            </a:r>
            <a:endParaRPr lang="en-US" sz="2400" dirty="0"/>
          </a:p>
        </p:txBody>
      </p:sp>
      <p:sp>
        <p:nvSpPr>
          <p:cNvPr id="12" name="Text 10"/>
          <p:cNvSpPr/>
          <p:nvPr/>
        </p:nvSpPr>
        <p:spPr>
          <a:xfrm>
            <a:off x="6551676" y="4206240"/>
            <a:ext cx="4023360" cy="914400"/>
          </a:xfrm>
          <a:prstGeom prst="rect">
            <a:avLst/>
          </a:prstGeom>
          <a:noFill/>
          <a:ln/>
        </p:spPr>
        <p:txBody>
          <a:bodyPr wrap="square" rtlCol="0" anchor="t"/>
          <a:lstStyle/>
          <a:p>
            <a:pPr marL="0" indent="0" algn="ctr">
              <a:buNone/>
            </a:pPr>
            <a:r>
              <a:rPr lang="en-US" sz="1300" dirty="0">
                <a:solidFill>
                  <a:srgbClr val="D6CFB8"/>
                </a:solidFill>
                <a:latin typeface="Calibri" pitchFamily="34" charset="0"/>
                <a:ea typeface="Calibri" pitchFamily="34" charset="-122"/>
                <a:cs typeface="Calibri" pitchFamily="34" charset="-120"/>
              </a:rPr>
              <a:t>Top 3 mula sa nakaraang 7 araw — anong nag-drain sa iyo?</a:t>
            </a:r>
            <a:endParaRPr lang="en-US" sz="1300" dirty="0"/>
          </a:p>
        </p:txBody>
      </p:sp>
      <p:sp>
        <p:nvSpPr>
          <p:cNvPr id="13" name="Text 11"/>
          <p:cNvSpPr/>
          <p:nvPr/>
        </p:nvSpPr>
        <p:spPr>
          <a:xfrm>
            <a:off x="1371600" y="5577840"/>
            <a:ext cx="9445752" cy="548640"/>
          </a:xfrm>
          <a:prstGeom prst="rect">
            <a:avLst/>
          </a:prstGeom>
          <a:noFill/>
          <a:ln/>
        </p:spPr>
        <p:txBody>
          <a:bodyPr wrap="square" rtlCol="0" anchor="t"/>
          <a:lstStyle/>
          <a:p>
            <a:pPr marL="0" indent="0" algn="ctr">
              <a:buNone/>
            </a:pPr>
            <a:r>
              <a:rPr lang="en-US" sz="1400" i="1" dirty="0">
                <a:solidFill>
                  <a:srgbClr val="F0C870"/>
                </a:solidFill>
                <a:latin typeface="Calibri" pitchFamily="34" charset="0"/>
                <a:ea typeface="Calibri" pitchFamily="34" charset="-122"/>
                <a:cs typeface="Calibri" pitchFamily="34" charset="-120"/>
              </a:rPr>
              <a:t>Sa Energize column — anong tema ang nakikita mo? Iyon ang clue sa iyong top 2-3 strengths.</a:t>
            </a:r>
            <a:endParaRPr lang="en-US" sz="1400" dirty="0"/>
          </a:p>
        </p:txBody>
      </p:sp>
      <p:sp>
        <p:nvSpPr>
          <p:cNvPr id="14" name="Text 12"/>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ADAPTED FROM MAC LAKE · FULL WORKSHEET AT MULTIPLYGROUP.ORG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GAWIN · PART B · 10 MIN · THE ARTIFACT</a:t>
            </a:r>
            <a:endParaRPr lang="en-US" sz="1400" dirty="0"/>
          </a:p>
        </p:txBody>
      </p:sp>
      <p:sp>
        <p:nvSpPr>
          <p:cNvPr id="3" name="Shape 1"/>
          <p:cNvSpPr/>
          <p:nvPr/>
        </p:nvSpPr>
        <p:spPr>
          <a:xfrm>
            <a:off x="914400" y="1280160"/>
            <a:ext cx="10360152" cy="4114800"/>
          </a:xfrm>
          <a:prstGeom prst="roundRect">
            <a:avLst>
              <a:gd name="adj" fmla="val 5556"/>
            </a:avLst>
          </a:prstGeom>
          <a:solidFill>
            <a:srgbClr val="121C30"/>
          </a:solidFill>
          <a:ln w="25400">
            <a:solidFill>
              <a:srgbClr val="D4A84A"/>
            </a:solidFill>
            <a:prstDash val="solid"/>
          </a:ln>
        </p:spPr>
        <p:txBody>
          <a:bodyPr/>
          <a:lstStyle/>
          <a:p>
            <a:endParaRPr lang="en-PH"/>
          </a:p>
        </p:txBody>
      </p:sp>
      <p:sp>
        <p:nvSpPr>
          <p:cNvPr id="4" name="Text 2"/>
          <p:cNvSpPr/>
          <p:nvPr/>
        </p:nvSpPr>
        <p:spPr>
          <a:xfrm>
            <a:off x="914400" y="1645920"/>
            <a:ext cx="103601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FIRST DRAFT · ANG AKING MISYON</a:t>
            </a:r>
            <a:endParaRPr lang="en-US" sz="1400" dirty="0"/>
          </a:p>
        </p:txBody>
      </p:sp>
      <p:sp>
        <p:nvSpPr>
          <p:cNvPr id="5" name="Text 3"/>
          <p:cNvSpPr/>
          <p:nvPr/>
        </p:nvSpPr>
        <p:spPr>
          <a:xfrm>
            <a:off x="1371600" y="2286000"/>
            <a:ext cx="9445752" cy="2743200"/>
          </a:xfrm>
          <a:prstGeom prst="rect">
            <a:avLst/>
          </a:prstGeom>
          <a:noFill/>
          <a:ln/>
        </p:spPr>
        <p:txBody>
          <a:bodyPr wrap="square" rtlCol="0" anchor="ctr"/>
          <a:lstStyle/>
          <a:p>
            <a:pPr marL="0" indent="0" algn="ctr">
              <a:lnSpc>
                <a:spcPct val="150000"/>
              </a:lnSpc>
              <a:buNone/>
            </a:pPr>
            <a:r>
              <a:rPr lang="en-US" sz="2600" i="1" dirty="0">
                <a:solidFill>
                  <a:srgbClr val="F5EDD8"/>
                </a:solidFill>
                <a:latin typeface="Georgia" pitchFamily="34" charset="0"/>
                <a:ea typeface="Georgia" pitchFamily="34" charset="-122"/>
                <a:cs typeface="Georgia" pitchFamily="34" charset="-120"/>
              </a:rPr>
              <a:t>"Ang aking misyon ay </a:t>
            </a:r>
            <a:r>
              <a:rPr lang="en-US" sz="2200" b="1" i="1" dirty="0">
                <a:solidFill>
                  <a:srgbClr val="F0C870"/>
                </a:solidFill>
                <a:latin typeface="Calibri" pitchFamily="34" charset="0"/>
                <a:ea typeface="Calibri" pitchFamily="34" charset="-122"/>
                <a:cs typeface="Calibri" pitchFamily="34" charset="-120"/>
              </a:rPr>
              <a:t> strengths </a:t>
            </a:r>
            <a:endParaRPr lang="en-US" sz="2600" dirty="0"/>
          </a:p>
          <a:p>
            <a:pPr marL="0" indent="0" algn="ctr">
              <a:lnSpc>
                <a:spcPct val="150000"/>
              </a:lnSpc>
              <a:buNone/>
            </a:pPr>
            <a:r>
              <a:rPr lang="en-US" sz="2600" i="1" dirty="0">
                <a:solidFill>
                  <a:srgbClr val="F5EDD8"/>
                </a:solidFill>
                <a:latin typeface="Georgia" pitchFamily="34" charset="0"/>
                <a:ea typeface="Georgia" pitchFamily="34" charset="-122"/>
                <a:cs typeface="Georgia" pitchFamily="34" charset="-120"/>
              </a:rPr>
              <a:t>na ibinigay sa akin ng Diyos</a:t>
            </a:r>
            <a:endParaRPr lang="en-US" sz="2600" dirty="0"/>
          </a:p>
          <a:p>
            <a:pPr marL="0" indent="0" algn="ctr">
              <a:lnSpc>
                <a:spcPct val="150000"/>
              </a:lnSpc>
              <a:buNone/>
            </a:pPr>
            <a:r>
              <a:rPr lang="en-US" sz="2600" i="1" dirty="0">
                <a:solidFill>
                  <a:srgbClr val="F5EDD8"/>
                </a:solidFill>
                <a:latin typeface="Georgia" pitchFamily="34" charset="0"/>
                <a:ea typeface="Georgia" pitchFamily="34" charset="-122"/>
                <a:cs typeface="Georgia" pitchFamily="34" charset="-120"/>
              </a:rPr>
              <a:t>para sa </a:t>
            </a:r>
            <a:r>
              <a:rPr lang="en-US" sz="2200" b="1" i="1" dirty="0">
                <a:solidFill>
                  <a:srgbClr val="F0C870"/>
                </a:solidFill>
                <a:latin typeface="Calibri" pitchFamily="34" charset="0"/>
                <a:ea typeface="Calibri" pitchFamily="34" charset="-122"/>
                <a:cs typeface="Calibri" pitchFamily="34" charset="-120"/>
              </a:rPr>
              <a:t> tao / passion </a:t>
            </a:r>
            <a:endParaRPr lang="en-US" sz="2600" dirty="0"/>
          </a:p>
          <a:p>
            <a:pPr marL="0" indent="0" algn="ctr">
              <a:lnSpc>
                <a:spcPct val="150000"/>
              </a:lnSpc>
              <a:buNone/>
            </a:pPr>
            <a:r>
              <a:rPr lang="en-US" sz="2600" i="1" dirty="0">
                <a:solidFill>
                  <a:srgbClr val="F5EDD8"/>
                </a:solidFill>
                <a:latin typeface="Georgia" pitchFamily="34" charset="0"/>
                <a:ea typeface="Georgia" pitchFamily="34" charset="-122"/>
                <a:cs typeface="Georgia" pitchFamily="34" charset="-120"/>
              </a:rPr>
              <a:t>sa pamamagitan ng </a:t>
            </a:r>
            <a:endParaRPr lang="en-US" sz="2600" dirty="0"/>
          </a:p>
          <a:p>
            <a:pPr marL="0" indent="0" algn="ctr">
              <a:lnSpc>
                <a:spcPct val="150000"/>
              </a:lnSpc>
              <a:buNone/>
            </a:pPr>
            <a:r>
              <a:rPr lang="en-US" sz="2200" b="1" i="1" dirty="0">
                <a:solidFill>
                  <a:srgbClr val="F0C870"/>
                </a:solidFill>
                <a:latin typeface="Calibri" pitchFamily="34" charset="0"/>
                <a:ea typeface="Calibri" pitchFamily="34" charset="-122"/>
                <a:cs typeface="Calibri" pitchFamily="34" charset="-120"/>
              </a:rPr>
              <a:t> paraan </a:t>
            </a:r>
            <a:endParaRPr lang="en-US" sz="2600" dirty="0"/>
          </a:p>
          <a:p>
            <a:pPr marL="0" indent="0" algn="ctr">
              <a:lnSpc>
                <a:spcPct val="150000"/>
              </a:lnSpc>
              <a:buNone/>
            </a:pPr>
            <a:r>
              <a:rPr lang="en-US" sz="2600" i="1" dirty="0">
                <a:solidFill>
                  <a:srgbClr val="F5EDD8"/>
                </a:solidFill>
                <a:latin typeface="Georgia" pitchFamily="34" charset="0"/>
                <a:ea typeface="Georgia" pitchFamily="34" charset="-122"/>
                <a:cs typeface="Georgia" pitchFamily="34" charset="-120"/>
              </a:rPr>
              <a:t>— para sa Kanyang kaluwalhatian."</a:t>
            </a:r>
            <a:endParaRPr lang="en-US" sz="2600" dirty="0"/>
          </a:p>
        </p:txBody>
      </p:sp>
      <p:sp>
        <p:nvSpPr>
          <p:cNvPr id="6" name="Text 4"/>
          <p:cNvSpPr/>
          <p:nvPr/>
        </p:nvSpPr>
        <p:spPr>
          <a:xfrm>
            <a:off x="1371600" y="5669280"/>
            <a:ext cx="9445752" cy="548640"/>
          </a:xfrm>
          <a:prstGeom prst="rect">
            <a:avLst/>
          </a:prstGeom>
          <a:noFill/>
          <a:ln/>
        </p:spPr>
        <p:txBody>
          <a:bodyPr wrap="square" rtlCol="0" anchor="t"/>
          <a:lstStyle/>
          <a:p>
            <a:pPr marL="0" indent="0" algn="ctr">
              <a:buNone/>
            </a:pPr>
            <a:r>
              <a:rPr lang="en-US" sz="1600" dirty="0">
                <a:solidFill>
                  <a:srgbClr val="D6CFB8"/>
                </a:solidFill>
                <a:latin typeface="Calibri" pitchFamily="34" charset="0"/>
                <a:ea typeface="Calibri" pitchFamily="34" charset="-122"/>
                <a:cs typeface="Calibri" pitchFamily="34" charset="-120"/>
              </a:rPr>
              <a:t>Tatlong patlang. Tatlong minuto bawat patlang. Hindi perpekto. </a:t>
            </a:r>
            <a:r>
              <a:rPr lang="en-US" sz="1600" i="1" dirty="0">
                <a:solidFill>
                  <a:srgbClr val="F0C870"/>
                </a:solidFill>
                <a:latin typeface="Calibri" pitchFamily="34" charset="0"/>
                <a:ea typeface="Calibri" pitchFamily="34" charset="-122"/>
                <a:cs typeface="Calibri" pitchFamily="34" charset="-120"/>
              </a:rPr>
              <a:t>Unang burador lang.</a:t>
            </a:r>
            <a:endParaRPr lang="en-US" sz="1600" dirty="0"/>
          </a:p>
        </p:txBody>
      </p:sp>
      <p:sp>
        <p:nvSpPr>
          <p:cNvPr id="7" name="Text 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THE ARTIFACT THIS LESSON PRODUCES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EOLO · EACH ONE LOVE ONE</a:t>
            </a:r>
            <a:endParaRPr lang="en-US" sz="1400" dirty="0"/>
          </a:p>
        </p:txBody>
      </p:sp>
      <p:sp>
        <p:nvSpPr>
          <p:cNvPr id="3" name="Text 1"/>
          <p:cNvSpPr/>
          <p:nvPr/>
        </p:nvSpPr>
        <p:spPr>
          <a:xfrm>
            <a:off x="457200" y="914400"/>
            <a:ext cx="11274552" cy="822960"/>
          </a:xfrm>
          <a:prstGeom prst="rect">
            <a:avLst/>
          </a:prstGeom>
          <a:noFill/>
          <a:ln/>
        </p:spPr>
        <p:txBody>
          <a:bodyPr wrap="square" rtlCol="0" anchor="ctr"/>
          <a:lstStyle/>
          <a:p>
            <a:pPr marL="0" indent="0" algn="ctr">
              <a:buNone/>
            </a:pPr>
            <a:r>
              <a:rPr lang="en-US" sz="4400" b="1" dirty="0">
                <a:solidFill>
                  <a:srgbClr val="F5EDD8"/>
                </a:solidFill>
                <a:latin typeface="Georgia" pitchFamily="34" charset="0"/>
                <a:ea typeface="Georgia" pitchFamily="34" charset="-122"/>
                <a:cs typeface="Georgia" pitchFamily="34" charset="-120"/>
              </a:rPr>
              <a:t>Mission + Tao</a:t>
            </a:r>
            <a:endParaRPr lang="en-US" sz="4400" dirty="0"/>
          </a:p>
        </p:txBody>
      </p:sp>
      <p:sp>
        <p:nvSpPr>
          <p:cNvPr id="4" name="Text 2"/>
          <p:cNvSpPr/>
          <p:nvPr/>
        </p:nvSpPr>
        <p:spPr>
          <a:xfrm>
            <a:off x="914400" y="2286000"/>
            <a:ext cx="10360152" cy="3200400"/>
          </a:xfrm>
          <a:prstGeom prst="rect">
            <a:avLst/>
          </a:prstGeom>
          <a:noFill/>
          <a:ln/>
        </p:spPr>
        <p:txBody>
          <a:bodyPr wrap="square" rtlCol="0" anchor="ctr"/>
          <a:lstStyle/>
          <a:p>
            <a:pPr marL="0" indent="0" algn="ctr">
              <a:lnSpc>
                <a:spcPct val="130000"/>
              </a:lnSpc>
              <a:buNone/>
            </a:pPr>
            <a:r>
              <a:rPr lang="en-US" sz="3600" b="1" dirty="0">
                <a:solidFill>
                  <a:srgbClr val="F5EDD8"/>
                </a:solidFill>
                <a:latin typeface="Georgia" pitchFamily="34" charset="0"/>
                <a:ea typeface="Georgia" pitchFamily="34" charset="-122"/>
                <a:cs typeface="Georgia" pitchFamily="34" charset="-120"/>
              </a:rPr>
              <a:t>Paano kaya magagamit
ang iyong bagong mission statement
</a:t>
            </a:r>
            <a:r>
              <a:rPr lang="en-US" sz="3600" b="1" i="1" dirty="0">
                <a:solidFill>
                  <a:srgbClr val="F0C870"/>
                </a:solidFill>
                <a:latin typeface="Georgia" pitchFamily="34" charset="0"/>
                <a:ea typeface="Georgia" pitchFamily="34" charset="-122"/>
                <a:cs typeface="Georgia" pitchFamily="34" charset="-120"/>
              </a:rPr>
              <a:t>para mahalin ang isang specific na tao
</a:t>
            </a:r>
            <a:r>
              <a:rPr lang="en-US" sz="3600" b="1" dirty="0">
                <a:solidFill>
                  <a:srgbClr val="F5EDD8"/>
                </a:solidFill>
                <a:latin typeface="Georgia" pitchFamily="34" charset="0"/>
                <a:ea typeface="Georgia" pitchFamily="34" charset="-122"/>
                <a:cs typeface="Georgia" pitchFamily="34" charset="-120"/>
              </a:rPr>
              <a:t>papunta kay Cristo?</a:t>
            </a:r>
            <a:endParaRPr lang="en-US" sz="3600" dirty="0"/>
          </a:p>
        </p:txBody>
      </p:sp>
      <p:sp>
        <p:nvSpPr>
          <p:cNvPr id="5" name="Text 3"/>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MISSION STATEMENT MEETS REAL PERSON · TABLE PRAYER FOLLOWS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DALHIN SA BAHAY · 10 ARAW</a:t>
            </a:r>
            <a:endParaRPr lang="en-US" sz="1400" dirty="0"/>
          </a:p>
        </p:txBody>
      </p:sp>
      <p:sp>
        <p:nvSpPr>
          <p:cNvPr id="3" name="Text 1"/>
          <p:cNvSpPr/>
          <p:nvPr/>
        </p:nvSpPr>
        <p:spPr>
          <a:xfrm>
            <a:off x="457200" y="914400"/>
            <a:ext cx="11274552" cy="822960"/>
          </a:xfrm>
          <a:prstGeom prst="rect">
            <a:avLst/>
          </a:prstGeom>
          <a:noFill/>
          <a:ln/>
        </p:spPr>
        <p:txBody>
          <a:bodyPr wrap="square" rtlCol="0" anchor="ctr"/>
          <a:lstStyle/>
          <a:p>
            <a:pPr marL="0" indent="0" algn="ctr">
              <a:buNone/>
            </a:pPr>
            <a:r>
              <a:rPr lang="en-US" sz="3600" b="1" dirty="0">
                <a:solidFill>
                  <a:srgbClr val="F5EDD8"/>
                </a:solidFill>
                <a:latin typeface="Georgia" pitchFamily="34" charset="0"/>
                <a:ea typeface="Georgia" pitchFamily="34" charset="-122"/>
                <a:cs typeface="Georgia" pitchFamily="34" charset="-120"/>
              </a:rPr>
              <a:t>Buhay May Misyon · Daily Journal</a:t>
            </a:r>
            <a:endParaRPr lang="en-US" sz="3600" dirty="0"/>
          </a:p>
        </p:txBody>
      </p:sp>
      <p:sp>
        <p:nvSpPr>
          <p:cNvPr id="4" name="Shape 2"/>
          <p:cNvSpPr/>
          <p:nvPr/>
        </p:nvSpPr>
        <p:spPr>
          <a:xfrm>
            <a:off x="1645920" y="2103120"/>
            <a:ext cx="8897112" cy="2743200"/>
          </a:xfrm>
          <a:prstGeom prst="roundRect">
            <a:avLst>
              <a:gd name="adj" fmla="val 8333"/>
            </a:avLst>
          </a:prstGeom>
          <a:solidFill>
            <a:srgbClr val="121C30"/>
          </a:solidFill>
          <a:ln w="25400">
            <a:solidFill>
              <a:srgbClr val="D4A84A"/>
            </a:solidFill>
            <a:prstDash val="solid"/>
          </a:ln>
        </p:spPr>
        <p:txBody>
          <a:bodyPr/>
          <a:lstStyle/>
          <a:p>
            <a:endParaRPr lang="en-PH"/>
          </a:p>
        </p:txBody>
      </p:sp>
      <p:sp>
        <p:nvSpPr>
          <p:cNvPr id="5" name="Text 3"/>
          <p:cNvSpPr/>
          <p:nvPr/>
        </p:nvSpPr>
        <p:spPr>
          <a:xfrm>
            <a:off x="1645920" y="2423160"/>
            <a:ext cx="8897112" cy="365760"/>
          </a:xfrm>
          <a:prstGeom prst="rect">
            <a:avLst/>
          </a:prstGeom>
          <a:noFill/>
          <a:ln/>
        </p:spPr>
        <p:txBody>
          <a:bodyPr wrap="square" rtlCol="0" anchor="ctr"/>
          <a:lstStyle/>
          <a:p>
            <a:pPr marL="0" indent="0" algn="ctr">
              <a:buNone/>
            </a:pPr>
            <a:r>
              <a:rPr lang="en-US" sz="1300" kern="0" spc="800" dirty="0">
                <a:solidFill>
                  <a:srgbClr val="D4A84A"/>
                </a:solidFill>
                <a:latin typeface="Impact" pitchFamily="34" charset="0"/>
                <a:ea typeface="Impact" pitchFamily="34" charset="-122"/>
                <a:cs typeface="Impact" pitchFamily="34" charset="-120"/>
              </a:rPr>
              <a:t>BAWAT GABI · ISANG PANGUNGUSAP</a:t>
            </a:r>
            <a:endParaRPr lang="en-US" sz="1300" dirty="0"/>
          </a:p>
        </p:txBody>
      </p:sp>
      <p:sp>
        <p:nvSpPr>
          <p:cNvPr id="6" name="Text 4"/>
          <p:cNvSpPr/>
          <p:nvPr/>
        </p:nvSpPr>
        <p:spPr>
          <a:xfrm>
            <a:off x="2103120" y="2926080"/>
            <a:ext cx="7982712" cy="1737360"/>
          </a:xfrm>
          <a:prstGeom prst="rect">
            <a:avLst/>
          </a:prstGeom>
          <a:noFill/>
          <a:ln/>
        </p:spPr>
        <p:txBody>
          <a:bodyPr wrap="square" rtlCol="0" anchor="ctr"/>
          <a:lstStyle/>
          <a:p>
            <a:pPr marL="0" indent="0" algn="ctr">
              <a:lnSpc>
                <a:spcPct val="140000"/>
              </a:lnSpc>
              <a:buNone/>
            </a:pPr>
            <a:r>
              <a:rPr lang="en-US" sz="2600" i="1" dirty="0">
                <a:solidFill>
                  <a:srgbClr val="F5EDD8"/>
                </a:solidFill>
                <a:latin typeface="Georgia" pitchFamily="34" charset="0"/>
                <a:ea typeface="Georgia" pitchFamily="34" charset="-122"/>
                <a:cs typeface="Georgia" pitchFamily="34" charset="-120"/>
              </a:rPr>
              <a:t>"Ngayon, naglingkod ako</a:t>
            </a:r>
            <a:endParaRPr lang="en-US" sz="2600" dirty="0"/>
          </a:p>
          <a:p>
            <a:pPr marL="0" indent="0" algn="ctr">
              <a:lnSpc>
                <a:spcPct val="140000"/>
              </a:lnSpc>
              <a:buNone/>
            </a:pPr>
            <a:r>
              <a:rPr lang="en-US" sz="2600" i="1" dirty="0">
                <a:solidFill>
                  <a:srgbClr val="F5EDD8"/>
                </a:solidFill>
                <a:latin typeface="Georgia" pitchFamily="34" charset="0"/>
                <a:ea typeface="Georgia" pitchFamily="34" charset="-122"/>
                <a:cs typeface="Georgia" pitchFamily="34" charset="-120"/>
              </a:rPr>
              <a:t>sa layunin ng Diyos</a:t>
            </a:r>
            <a:endParaRPr lang="en-US" sz="2600" dirty="0"/>
          </a:p>
          <a:p>
            <a:pPr marL="0" indent="0" algn="ctr">
              <a:lnSpc>
                <a:spcPct val="140000"/>
              </a:lnSpc>
              <a:buNone/>
            </a:pPr>
            <a:r>
              <a:rPr lang="en-US" sz="2600" i="1" dirty="0">
                <a:solidFill>
                  <a:srgbClr val="F5EDD8"/>
                </a:solidFill>
                <a:latin typeface="Georgia" pitchFamily="34" charset="0"/>
                <a:ea typeface="Georgia" pitchFamily="34" charset="-122"/>
                <a:cs typeface="Georgia" pitchFamily="34" charset="-120"/>
              </a:rPr>
              <a:t>sa pamamagitan ng </a:t>
            </a:r>
            <a:endParaRPr lang="en-US" sz="2600" dirty="0"/>
          </a:p>
          <a:p>
            <a:pPr marL="0" indent="0" algn="ctr">
              <a:lnSpc>
                <a:spcPct val="140000"/>
              </a:lnSpc>
              <a:buNone/>
            </a:pPr>
            <a:r>
              <a:rPr lang="en-US" sz="2200" b="1" i="1" dirty="0">
                <a:solidFill>
                  <a:srgbClr val="F0C870"/>
                </a:solidFill>
                <a:latin typeface="Calibri" pitchFamily="34" charset="0"/>
                <a:ea typeface="Calibri" pitchFamily="34" charset="-122"/>
                <a:cs typeface="Calibri" pitchFamily="34" charset="-120"/>
              </a:rPr>
              <a:t> isang bagay </a:t>
            </a:r>
            <a:r>
              <a:rPr lang="en-US" sz="2600" i="1" dirty="0">
                <a:solidFill>
                  <a:srgbClr val="F5EDD8"/>
                </a:solidFill>
                <a:latin typeface="Georgia" pitchFamily="34" charset="0"/>
                <a:ea typeface="Georgia" pitchFamily="34" charset="-122"/>
                <a:cs typeface="Georgia" pitchFamily="34" charset="-120"/>
              </a:rPr>
              <a:t>."</a:t>
            </a:r>
            <a:endParaRPr lang="en-US" sz="2600" dirty="0"/>
          </a:p>
        </p:txBody>
      </p:sp>
      <p:sp>
        <p:nvSpPr>
          <p:cNvPr id="7" name="Text 5"/>
          <p:cNvSpPr/>
          <p:nvPr/>
        </p:nvSpPr>
        <p:spPr>
          <a:xfrm>
            <a:off x="914400" y="5212080"/>
            <a:ext cx="10360152" cy="731520"/>
          </a:xfrm>
          <a:prstGeom prst="rect">
            <a:avLst/>
          </a:prstGeom>
          <a:noFill/>
          <a:ln/>
        </p:spPr>
        <p:txBody>
          <a:bodyPr wrap="square" rtlCol="0" anchor="t"/>
          <a:lstStyle/>
          <a:p>
            <a:pPr marL="0" indent="0" algn="ctr">
              <a:buNone/>
            </a:pPr>
            <a:r>
              <a:rPr lang="en-US" sz="1500" dirty="0">
                <a:solidFill>
                  <a:srgbClr val="D6CFB8"/>
                </a:solidFill>
                <a:latin typeface="Calibri" pitchFamily="34" charset="0"/>
                <a:ea typeface="Calibri" pitchFamily="34" charset="-122"/>
                <a:cs typeface="Calibri" pitchFamily="34" charset="-120"/>
              </a:rPr>
              <a:t>Kahit maliit. </a:t>
            </a:r>
            <a:r>
              <a:rPr lang="en-US" sz="1500" b="1" i="1" dirty="0">
                <a:solidFill>
                  <a:srgbClr val="F0C870"/>
                </a:solidFill>
                <a:latin typeface="Calibri" pitchFamily="34" charset="0"/>
                <a:ea typeface="Calibri" pitchFamily="34" charset="-122"/>
                <a:cs typeface="Calibri" pitchFamily="34" charset="-120"/>
              </a:rPr>
              <a:t>Lalo na maliit.</a:t>
            </a:r>
            <a:r>
              <a:rPr lang="en-US" sz="1500" dirty="0">
                <a:solidFill>
                  <a:srgbClr val="D6CFB8"/>
                </a:solidFill>
                <a:latin typeface="Calibri" pitchFamily="34" charset="0"/>
                <a:ea typeface="Calibri" pitchFamily="34" charset="-122"/>
                <a:cs typeface="Calibri" pitchFamily="34" charset="-120"/>
              </a:rPr>
              <a:t> Hindi mo kailangan ng dramatic na ministry moment.</a:t>
            </a:r>
            <a:endParaRPr lang="en-US" sz="1500" dirty="0"/>
          </a:p>
        </p:txBody>
      </p:sp>
      <p:sp>
        <p:nvSpPr>
          <p:cNvPr id="8" name="Text 6"/>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SA SUSUNOD NA LESSON · "ILANG ARAW KA NAKAPAGSULAT?"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TALATA NG MEMORYA · LESSON 11</a:t>
            </a:r>
            <a:endParaRPr lang="en-US" sz="1400" dirty="0"/>
          </a:p>
        </p:txBody>
      </p:sp>
      <p:sp>
        <p:nvSpPr>
          <p:cNvPr id="3" name="Shape 1"/>
          <p:cNvSpPr/>
          <p:nvPr/>
        </p:nvSpPr>
        <p:spPr>
          <a:xfrm>
            <a:off x="1371600" y="1280160"/>
            <a:ext cx="9445752" cy="4572000"/>
          </a:xfrm>
          <a:prstGeom prst="roundRect">
            <a:avLst>
              <a:gd name="adj" fmla="val 4000"/>
            </a:avLst>
          </a:prstGeom>
          <a:solidFill>
            <a:srgbClr val="121C30"/>
          </a:solidFill>
          <a:ln w="19050">
            <a:solidFill>
              <a:srgbClr val="D4A84A"/>
            </a:solidFill>
            <a:prstDash val="solid"/>
          </a:ln>
        </p:spPr>
        <p:txBody>
          <a:bodyPr/>
          <a:lstStyle/>
          <a:p>
            <a:endParaRPr lang="en-PH"/>
          </a:p>
        </p:txBody>
      </p:sp>
      <p:sp>
        <p:nvSpPr>
          <p:cNvPr id="4" name="Text 2"/>
          <p:cNvSpPr/>
          <p:nvPr/>
        </p:nvSpPr>
        <p:spPr>
          <a:xfrm>
            <a:off x="1371600" y="1645920"/>
            <a:ext cx="9445752" cy="365760"/>
          </a:xfrm>
          <a:prstGeom prst="rect">
            <a:avLst/>
          </a:prstGeom>
          <a:noFill/>
          <a:ln/>
        </p:spPr>
        <p:txBody>
          <a:bodyPr wrap="square" rtlCol="0" anchor="ctr"/>
          <a:lstStyle/>
          <a:p>
            <a:pPr marL="0" indent="0" algn="ctr">
              <a:buNone/>
            </a:pPr>
            <a:r>
              <a:rPr lang="en-US" sz="1400" kern="0" spc="600" dirty="0">
                <a:solidFill>
                  <a:srgbClr val="D4A84A"/>
                </a:solidFill>
                <a:latin typeface="Impact" pitchFamily="34" charset="0"/>
                <a:ea typeface="Impact" pitchFamily="34" charset="-122"/>
                <a:cs typeface="Impact" pitchFamily="34" charset="-120"/>
              </a:rPr>
              <a:t>Acts 13:36 · ESV</a:t>
            </a:r>
            <a:endParaRPr lang="en-US" sz="1400" dirty="0"/>
          </a:p>
        </p:txBody>
      </p:sp>
      <p:sp>
        <p:nvSpPr>
          <p:cNvPr id="5" name="Text 3"/>
          <p:cNvSpPr/>
          <p:nvPr/>
        </p:nvSpPr>
        <p:spPr>
          <a:xfrm>
            <a:off x="2011680" y="2286000"/>
            <a:ext cx="8165592" cy="2194560"/>
          </a:xfrm>
          <a:prstGeom prst="rect">
            <a:avLst/>
          </a:prstGeom>
          <a:noFill/>
          <a:ln/>
        </p:spPr>
        <p:txBody>
          <a:bodyPr wrap="square" rtlCol="0" anchor="ctr"/>
          <a:lstStyle/>
          <a:p>
            <a:pPr marL="0" indent="0" algn="ctr">
              <a:lnSpc>
                <a:spcPct val="130000"/>
              </a:lnSpc>
              <a:buNone/>
            </a:pPr>
            <a:r>
              <a:rPr lang="en-US" sz="2800" i="1" dirty="0">
                <a:solidFill>
                  <a:srgbClr val="F5EDD8"/>
                </a:solidFill>
                <a:latin typeface="Georgia" pitchFamily="34" charset="0"/>
                <a:ea typeface="Georgia" pitchFamily="34" charset="-122"/>
                <a:cs typeface="Georgia" pitchFamily="34" charset="-120"/>
              </a:rPr>
              <a:t>"For David, after he had served the purpose of God in his own generation, fell asleep..."</a:t>
            </a:r>
            <a:endParaRPr lang="en-US" sz="2800" dirty="0"/>
          </a:p>
        </p:txBody>
      </p:sp>
      <p:sp>
        <p:nvSpPr>
          <p:cNvPr id="6" name="Text 4"/>
          <p:cNvSpPr/>
          <p:nvPr/>
        </p:nvSpPr>
        <p:spPr>
          <a:xfrm>
            <a:off x="2011680" y="4572000"/>
            <a:ext cx="8165592" cy="1097280"/>
          </a:xfrm>
          <a:prstGeom prst="rect">
            <a:avLst/>
          </a:prstGeom>
          <a:noFill/>
          <a:ln/>
        </p:spPr>
        <p:txBody>
          <a:bodyPr wrap="square" rtlCol="0" anchor="ctr"/>
          <a:lstStyle/>
          <a:p>
            <a:pPr marL="0" indent="0" algn="ctr">
              <a:lnSpc>
                <a:spcPct val="130000"/>
              </a:lnSpc>
              <a:buNone/>
            </a:pPr>
            <a:r>
              <a:rPr lang="en-US" sz="1400" i="1" dirty="0">
                <a:solidFill>
                  <a:srgbClr val="7A7460"/>
                </a:solidFill>
                <a:latin typeface="Georgia" pitchFamily="34" charset="0"/>
                <a:ea typeface="Georgia" pitchFamily="34" charset="-122"/>
                <a:cs typeface="Georgia" pitchFamily="34" charset="-120"/>
              </a:rPr>
              <a:t>"Sapagkat si David, matapos niyang paglingkuran ang layunin ng Diyos sa kanyang sariling henerasyon, ay natulog..."</a:t>
            </a:r>
            <a:endParaRPr lang="en-US" sz="1400" dirty="0"/>
          </a:p>
        </p:txBody>
      </p:sp>
      <p:sp>
        <p:nvSpPr>
          <p:cNvPr id="7" name="Text 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LOOK · SAY · COVER · CHECK</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424"/>
        </a:solidFill>
        <a:effectLst/>
      </p:bgPr>
    </p:bg>
    <p:spTree>
      <p:nvGrpSpPr>
        <p:cNvPr id="1" name=""/>
        <p:cNvGrpSpPr/>
        <p:nvPr/>
      </p:nvGrpSpPr>
      <p:grpSpPr>
        <a:xfrm>
          <a:off x="0" y="0"/>
          <a:ext cx="0" cy="0"/>
          <a:chOff x="0" y="0"/>
          <a:chExt cx="0" cy="0"/>
        </a:xfrm>
      </p:grpSpPr>
      <p:sp>
        <p:nvSpPr>
          <p:cNvPr id="2" name="Text 0"/>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PANGAKO KO · MY COMMITMENT</a:t>
            </a:r>
            <a:endParaRPr lang="en-US" sz="1400" dirty="0"/>
          </a:p>
        </p:txBody>
      </p:sp>
      <p:sp>
        <p:nvSpPr>
          <p:cNvPr id="3" name="Shape 1"/>
          <p:cNvSpPr/>
          <p:nvPr/>
        </p:nvSpPr>
        <p:spPr>
          <a:xfrm>
            <a:off x="1097280" y="1645920"/>
            <a:ext cx="9994392" cy="3017520"/>
          </a:xfrm>
          <a:prstGeom prst="roundRect">
            <a:avLst>
              <a:gd name="adj" fmla="val 7576"/>
            </a:avLst>
          </a:prstGeom>
          <a:solidFill>
            <a:srgbClr val="121C30"/>
          </a:solidFill>
          <a:ln w="25400">
            <a:solidFill>
              <a:srgbClr val="D4A84A"/>
            </a:solidFill>
            <a:prstDash val="solid"/>
          </a:ln>
        </p:spPr>
        <p:txBody>
          <a:bodyPr/>
          <a:lstStyle/>
          <a:p>
            <a:endParaRPr lang="en-PH"/>
          </a:p>
        </p:txBody>
      </p:sp>
      <p:sp>
        <p:nvSpPr>
          <p:cNvPr id="4" name="Text 2"/>
          <p:cNvSpPr/>
          <p:nvPr/>
        </p:nvSpPr>
        <p:spPr>
          <a:xfrm>
            <a:off x="1097280" y="2057400"/>
            <a:ext cx="999439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SA SUSUNOD NA DALAWANG LINGGO</a:t>
            </a:r>
            <a:endParaRPr lang="en-US" sz="1400" dirty="0"/>
          </a:p>
        </p:txBody>
      </p:sp>
      <p:sp>
        <p:nvSpPr>
          <p:cNvPr id="5" name="Text 3"/>
          <p:cNvSpPr/>
          <p:nvPr/>
        </p:nvSpPr>
        <p:spPr>
          <a:xfrm>
            <a:off x="1554480" y="2651760"/>
            <a:ext cx="9079992" cy="1828800"/>
          </a:xfrm>
          <a:prstGeom prst="rect">
            <a:avLst/>
          </a:prstGeom>
          <a:noFill/>
          <a:ln/>
        </p:spPr>
        <p:txBody>
          <a:bodyPr wrap="square" rtlCol="0" anchor="ctr"/>
          <a:lstStyle/>
          <a:p>
            <a:pPr marL="0" indent="0" algn="ctr">
              <a:lnSpc>
                <a:spcPct val="140000"/>
              </a:lnSpc>
              <a:buNone/>
            </a:pPr>
            <a:r>
              <a:rPr lang="en-US" sz="2800" i="1" dirty="0">
                <a:solidFill>
                  <a:srgbClr val="F5EDD8"/>
                </a:solidFill>
                <a:latin typeface="Georgia" pitchFamily="34" charset="0"/>
                <a:ea typeface="Georgia" pitchFamily="34" charset="-122"/>
                <a:cs typeface="Georgia" pitchFamily="34" charset="-120"/>
              </a:rPr>
              <a:t>"Isasabuhay ko ang aking misyon</a:t>
            </a:r>
            <a:endParaRPr lang="en-US" sz="2800" dirty="0"/>
          </a:p>
          <a:p>
            <a:pPr marL="0" indent="0" algn="ctr">
              <a:lnSpc>
                <a:spcPct val="140000"/>
              </a:lnSpc>
              <a:buNone/>
            </a:pPr>
            <a:r>
              <a:rPr lang="en-US" sz="2800" i="1" dirty="0">
                <a:solidFill>
                  <a:srgbClr val="F5EDD8"/>
                </a:solidFill>
                <a:latin typeface="Georgia" pitchFamily="34" charset="0"/>
                <a:ea typeface="Georgia" pitchFamily="34" charset="-122"/>
                <a:cs typeface="Georgia" pitchFamily="34" charset="-120"/>
              </a:rPr>
              <a:t>sa pamamagitan ng </a:t>
            </a:r>
            <a:endParaRPr lang="en-US" sz="2800" dirty="0"/>
          </a:p>
          <a:p>
            <a:pPr marL="0" indent="0" algn="ctr">
              <a:lnSpc>
                <a:spcPct val="140000"/>
              </a:lnSpc>
              <a:buNone/>
            </a:pPr>
            <a:r>
              <a:rPr lang="en-US" sz="2200" b="1" i="1" dirty="0">
                <a:solidFill>
                  <a:srgbClr val="F0C870"/>
                </a:solidFill>
                <a:latin typeface="Calibri" pitchFamily="34" charset="0"/>
                <a:ea typeface="Calibri" pitchFamily="34" charset="-122"/>
                <a:cs typeface="Calibri" pitchFamily="34" charset="-120"/>
              </a:rPr>
              <a:t> isang bagay na specific </a:t>
            </a:r>
            <a:r>
              <a:rPr lang="en-US" sz="2800" i="1" dirty="0">
                <a:solidFill>
                  <a:srgbClr val="F5EDD8"/>
                </a:solidFill>
                <a:latin typeface="Georgia" pitchFamily="34" charset="0"/>
                <a:ea typeface="Georgia" pitchFamily="34" charset="-122"/>
                <a:cs typeface="Georgia" pitchFamily="34" charset="-120"/>
              </a:rPr>
              <a:t>."</a:t>
            </a:r>
            <a:endParaRPr lang="en-US" sz="2800" dirty="0"/>
          </a:p>
        </p:txBody>
      </p:sp>
      <p:sp>
        <p:nvSpPr>
          <p:cNvPr id="6" name="Text 4"/>
          <p:cNvSpPr/>
          <p:nvPr/>
        </p:nvSpPr>
        <p:spPr>
          <a:xfrm>
            <a:off x="1371600" y="5029200"/>
            <a:ext cx="9445752" cy="1097280"/>
          </a:xfrm>
          <a:prstGeom prst="rect">
            <a:avLst/>
          </a:prstGeom>
          <a:noFill/>
          <a:ln/>
        </p:spPr>
        <p:txBody>
          <a:bodyPr wrap="square" rtlCol="0" anchor="t"/>
          <a:lstStyle/>
          <a:p>
            <a:pPr marL="0" indent="0" algn="ctr">
              <a:lnSpc>
                <a:spcPct val="140000"/>
              </a:lnSpc>
              <a:buNone/>
            </a:pPr>
            <a:r>
              <a:rPr lang="en-US" sz="1600" i="1" dirty="0">
                <a:solidFill>
                  <a:srgbClr val="D6CFB8"/>
                </a:solidFill>
                <a:latin typeface="Calibri" pitchFamily="34" charset="0"/>
                <a:ea typeface="Calibri" pitchFamily="34" charset="-122"/>
                <a:cs typeface="Calibri" pitchFamily="34" charset="-120"/>
              </a:rPr>
              <a:t>Isang bagay. Specific. Magagawa mo talaga. Hindi para impressed ang ibang tao — para totoo ka sa iyong sarili at sa Diyos.</a:t>
            </a:r>
            <a:endParaRPr lang="en-US" sz="1600" dirty="0"/>
          </a:p>
        </p:txBody>
      </p:sp>
      <p:sp>
        <p:nvSpPr>
          <p:cNvPr id="7" name="Text 5"/>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PARTICIPANT PAGE · PANGAKO KO SECTION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743200" y="914400"/>
            <a:ext cx="6400800" cy="5486400"/>
          </a:xfrm>
          <a:prstGeom prst="ellipse">
            <a:avLst/>
          </a:prstGeom>
          <a:solidFill>
            <a:srgbClr val="D4A84A">
              <a:alpha val="12000"/>
            </a:srgbClr>
          </a:solidFill>
          <a:ln w="12700">
            <a:solidFill>
              <a:srgbClr val="D4A84A">
                <a:alpha val="0"/>
              </a:srgbClr>
            </a:solidFill>
            <a:prstDash val="solid"/>
          </a:ln>
        </p:spPr>
        <p:txBody>
          <a:bodyPr/>
          <a:lstStyle/>
          <a:p>
            <a:endParaRPr lang="en-PH"/>
          </a:p>
        </p:txBody>
      </p:sp>
      <p:sp>
        <p:nvSpPr>
          <p:cNvPr id="3" name="Text 1"/>
          <p:cNvSpPr/>
          <p:nvPr/>
        </p:nvSpPr>
        <p:spPr>
          <a:xfrm>
            <a:off x="457200" y="457200"/>
            <a:ext cx="11274552" cy="365760"/>
          </a:xfrm>
          <a:prstGeom prst="rect">
            <a:avLst/>
          </a:prstGeom>
          <a:noFill/>
          <a:ln/>
        </p:spPr>
        <p:txBody>
          <a:bodyPr wrap="square" rtlCol="0" anchor="ctr"/>
          <a:lstStyle/>
          <a:p>
            <a:pPr marL="0" indent="0" algn="ctr">
              <a:buNone/>
            </a:pPr>
            <a:r>
              <a:rPr lang="en-US" sz="1400" kern="0" spc="800" dirty="0">
                <a:solidFill>
                  <a:srgbClr val="D4A84A"/>
                </a:solidFill>
                <a:latin typeface="Impact" pitchFamily="34" charset="0"/>
                <a:ea typeface="Impact" pitchFamily="34" charset="-122"/>
                <a:cs typeface="Impact" pitchFamily="34" charset="-120"/>
              </a:rPr>
              <a:t>🕊 CLOSING RITUAL</a:t>
            </a:r>
            <a:endParaRPr lang="en-US" sz="1400" dirty="0"/>
          </a:p>
        </p:txBody>
      </p:sp>
      <p:sp>
        <p:nvSpPr>
          <p:cNvPr id="4" name="Text 2"/>
          <p:cNvSpPr/>
          <p:nvPr/>
        </p:nvSpPr>
        <p:spPr>
          <a:xfrm>
            <a:off x="457200" y="1188720"/>
            <a:ext cx="11274552" cy="4572000"/>
          </a:xfrm>
          <a:prstGeom prst="rect">
            <a:avLst/>
          </a:prstGeom>
          <a:noFill/>
          <a:ln/>
        </p:spPr>
        <p:txBody>
          <a:bodyPr wrap="square" rtlCol="0" anchor="ctr"/>
          <a:lstStyle/>
          <a:p>
            <a:pPr marL="0" indent="0" algn="ctr">
              <a:lnSpc>
                <a:spcPct val="100000"/>
              </a:lnSpc>
              <a:buNone/>
            </a:pPr>
            <a:r>
              <a:rPr lang="en-US" sz="9600" b="1" dirty="0">
                <a:solidFill>
                  <a:srgbClr val="F5EDD8"/>
                </a:solidFill>
                <a:latin typeface="Georgia" pitchFamily="34" charset="0"/>
                <a:ea typeface="Georgia" pitchFamily="34" charset="-122"/>
                <a:cs typeface="Georgia" pitchFamily="34" charset="-120"/>
              </a:rPr>
              <a:t>Disciples
who make
</a:t>
            </a:r>
            <a:r>
              <a:rPr lang="en-US" sz="9600" b="1" i="1" dirty="0">
                <a:solidFill>
                  <a:srgbClr val="F0C870"/>
                </a:solidFill>
                <a:latin typeface="Georgia" pitchFamily="34" charset="0"/>
                <a:ea typeface="Georgia" pitchFamily="34" charset="-122"/>
                <a:cs typeface="Georgia" pitchFamily="34" charset="-120"/>
              </a:rPr>
              <a:t>disciples.</a:t>
            </a:r>
            <a:endParaRPr lang="en-US" sz="9600" dirty="0"/>
          </a:p>
        </p:txBody>
      </p:sp>
      <p:sp>
        <p:nvSpPr>
          <p:cNvPr id="5" name="Text 3"/>
          <p:cNvSpPr/>
          <p:nvPr/>
        </p:nvSpPr>
        <p:spPr>
          <a:xfrm>
            <a:off x="457200" y="6446520"/>
            <a:ext cx="11274552" cy="274320"/>
          </a:xfrm>
          <a:prstGeom prst="rect">
            <a:avLst/>
          </a:prstGeom>
          <a:noFill/>
          <a:ln/>
        </p:spPr>
        <p:txBody>
          <a:bodyPr wrap="square" rtlCol="0" anchor="ctr"/>
          <a:lstStyle/>
          <a:p>
            <a:pPr marL="0" indent="0" algn="ctr">
              <a:buNone/>
            </a:pPr>
            <a:r>
              <a:rPr lang="en-US" sz="1000" kern="0" spc="600" dirty="0">
                <a:solidFill>
                  <a:srgbClr val="5A5240"/>
                </a:solidFill>
                <a:latin typeface="Impact" pitchFamily="34" charset="0"/>
                <a:ea typeface="Impact" pitchFamily="34" charset="-122"/>
                <a:cs typeface="Impact" pitchFamily="34" charset="-120"/>
              </a:rPr>
              <a:t>MULTIPLY · LESSON 11 COMPLETE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2034</Words>
  <Application>Microsoft Office PowerPoint</Application>
  <PresentationFormat>Widescreen</PresentationFormat>
  <Paragraphs>171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MULTIPLY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BTLI 1 Lesson 1 — Buhay May Misyon</dc:title>
  <dc:subject>Living on God's Purpose · Lesson 1 of 6</dc:subject>
  <dc:creator>MULTIPLY Leadership Pipeline · Rosehill Christian Church</dc:creator>
  <cp:lastModifiedBy>af30421@365mso.com</cp:lastModifiedBy>
  <cp:revision>1</cp:revision>
  <dcterms:created xsi:type="dcterms:W3CDTF">2026-05-14T14:49:35Z</dcterms:created>
  <dcterms:modified xsi:type="dcterms:W3CDTF">2026-05-14T14:57:09Z</dcterms:modified>
</cp:coreProperties>
</file>
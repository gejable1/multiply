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2" r:id="rId2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3" r:id="rId24"/>
    <p:sldId id="274" r:id="rId25"/>
    <p:sldId id="266" r:id="rId12"/>
    <p:sldId id="267" r:id="rId13"/>
    <p:sldId id="268" r:id="rId14"/>
    <p:sldId id="269" r:id="rId15"/>
    <p:sldId id="270" r:id="rId16"/>
    <p:sldId id="275" r:id="rId26"/>
    <p:sldId id="276" r:id="rId27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  <Relationship Id="rId23" Type="http://schemas.openxmlformats.org/officeDocument/2006/relationships/slide" Target="slides/slide17.xml"/>
  <Relationship Id="rId24" Type="http://schemas.openxmlformats.org/officeDocument/2006/relationships/slide" Target="slides/slide18.xml"/>
  <Relationship Id="rId25" Type="http://schemas.openxmlformats.org/officeDocument/2006/relationships/slide" Target="slides/slide19.xml"/>
  <Relationship Id="rId26" Type="http://schemas.openxmlformats.org/officeDocument/2006/relationships/slide" Target="slides/slide20.xml"/>
  <Relationship Id="rId27" Type="http://schemas.openxmlformats.org/officeDocument/2006/relationships/slide" Target="slides/slide21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— Opening prayer. "Sa Lesson 4 na tayo. Ito ang unang lesson tungkol sa specific Christian character."</a:t>
            </a:r>
          </a:p>
          <a:p>
            <a:r>
              <a:rPr lang="en-US" dirty="0"/>
              <a:t>L1–L3 = spiritual disciplines (prayer, meditation, surrender). L4 onward = formed character. Character anchor: Goodness (Kabutihan) — Galatians 5:22-23.</a:t>
            </a:r>
          </a:p>
          <a:p>
            <a:r>
              <a:rPr lang="en-US" dirty="0"/>
              <a:t>Duration ~55 min: Pukaw 5 · Tanaw 8 · Tuklas 18 · Talakay 12 · Tugon 7 · Dalhin 5. Memory verse: 1 Peter 1:15-16.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PUKAW · Self-Snapshot (3 min). Sariling sagot sa workbook — 1–10 rating sa PROGRESSIVE holiness. Walang i-share; sariling reading lang.</a:t>
            </a:r>
          </a:p>
          <a:p>
            <a:r>
              <a:rPr lang="en-US" dirty="0"/>
              <a:t>SCRIPT: "Sa positional holiness — anak ng Dios kay Christ — perfect 10 tayo lagi. Pero sa progressive — ang araw-araw — saan ka ngayon? 1–10? Honest lang. Walang condemnation, baseline lang. Sa dulo, babalikan natin."</a:t>
            </a:r>
          </a:p>
          <a:p>
            <a:r>
              <a:rPr lang="en-US" dirty="0"/>
              <a:t>CUE: Bigyan ng buong 3 minuto kahit parang matagal. Ito ang foundation ng buong lesson — honest self-reading bago anumang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TANAW · Story (4 min). Basahin nang malakas ang ermine story (USAD p.30). Kung may projector at internet, maikling winter-ermine video — pero hindi mandatory.</a:t>
            </a:r>
          </a:p>
          <a:p>
            <a:r>
              <a:rPr lang="en-US" dirty="0"/>
              <a:t>SCRIPT: "May hayop na maputi ang balahibo tuwing winter. Motto: 'dumihan mo na lahat — wag lang ang aking balat.' Ipinaglalaban nila 'yan ng patayan. Alam ito ng fur hunters — pinapahiran ng putik ang bahay-ermine; pag-uwi, nakikitang marumi na, 'di na pumapasok, mada-trap. Maigi pang mamatay kesa marumihan."</a:t>
            </a:r>
          </a:p>
          <a:p>
            <a:r>
              <a:rPr lang="en-US" dirty="0"/>
              <a:t>Pause sa quote — hayaang lumapat ang absurdity. Ito ang emotional anchor ng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TANAW · Opening Q (4 min). PARTICIPANT GUIDE QUESTION. Iikot — bawat isa 30–45 seg lang.</a:t>
            </a:r>
          </a:p>
          <a:p>
            <a:r>
              <a:rPr lang="en-US" dirty="0"/>
              <a:t>Posibleng sagot: importante ang kalinisan; may bagay na worth dying for; hiwalay sa karumihan. Lahat puwedeng papasukin.</a:t>
            </a:r>
          </a:p>
          <a:p>
            <a:r>
              <a:rPr lang="en-US" dirty="0"/>
              <a:t>ANCHOR: "Yung identity nila, hindi nila pinakanasa — hindi pwedeng paghaluan ng marumi. Ganyan din ang identity natin kay Christ: banal, hiwalay para sa Kanya. Ang banal na pagkakakilanlan — yan ang ating ermine-balat."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Big Idea (2 min). Basahin nang dahan-dahan. PAUSE. Huwag i-elaborate agad — hayaang lumapat.</a:t>
            </a:r>
          </a:p>
          <a:p>
            <a:r>
              <a:rPr lang="en-US" dirty="0"/>
              <a:t>BIG TRUTH: "Kung seryoso tayong umayon sa kabanalan, dapat seryoso rin tayong lumaban sa kasalanan." Bonhoeffer: "The Christian life is unending struggle against the flesh."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The Frame. Playground vs battleground. Ang mundo, pinapalakpakan ang kasalanan, pinagtatawanan ang kabanalan. Malinaw ang utos: "Magpakabanal kayo, sapagkat ako'y banal."</a:t>
            </a:r>
          </a:p>
          <a:p>
            <a:r>
              <a:rPr lang="en-US" dirty="0"/>
              <a:t>SAINTS FRAMING: Kadesh (Hebrew) / Hagios (Greek) = HIWALAY. Hindi milagrosong tao sa rebulto — kundi anak ng Dios na hiwalay sa mundo at para sa Kanya. Coram Deo — nabubuhay sa presensya ng Dios.</a:t>
            </a:r>
          </a:p>
          <a:p>
            <a:r>
              <a:rPr lang="en-US" dirty="0"/>
              <a:t>PITFALL: Huwag tumagal sa 'saints' framing — baka mag-trigger ng Catholic-Protestant debate. Linawin lang: sa New Testament, 'saints' ang tawag sa LAHAT ng believers, hindi exclusive title ng iilan.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3 Aspects (5 min) — pinaka-importanteng framework. Walk LEFT→RIGHT, ~1 min bawat card.</a:t>
            </a:r>
          </a:p>
          <a:p>
            <a:r>
              <a:rPr lang="en-US" dirty="0"/>
              <a:t>Positional (Heb 10:10) — iniligtas mula sa PENALTY. Perfect 10, lagi, dahil kay Christ. Progressive (1 Thess 4:3) — inililigtas mula sa POWER; day by day; ITO ang field natin. Perfect (Col 1:22) — ililigtas mula sa PRESENCE; pagdating ni Christ, face-to-face.</a:t>
            </a:r>
          </a:p>
          <a:p>
            <a:r>
              <a:rPr lang="en-US" dirty="0"/>
              <a:t>EMPHASIS: Lahat ng lesson na ito ay tungkol sa PROGRESSIVE — ang dito-at-ngayon. Hindi na kayang baguhin ang positional; hindi pa kayang akinin ang perfect.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3 Calls mula sa 1 Peter 1 (~3 min). Quick walk-through — ang lalim ay nasa workbook; ipinapakita mo ang architecture.</a:t>
            </a:r>
          </a:p>
          <a:p>
            <a:r>
              <a:rPr lang="en-US" dirty="0"/>
              <a:t>Mapaghanda (v.13) — prepared mind; punuin ng godly influences, layuan ang basurang content. Masunurin (v.14,17) — obedience from relationship, hindi ritwal; mahalin ang Ama higit sa mundo. Matalino (v.18) — spiritual wisdom; pahalagahan ang sakripisyo ni Hesus, huwag bumalik sa 'suka.'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5 Areas — SRPIU (2 min). Overview lang, huwag i-detail one-by-one; nasa workbook ang detalye. Sa TALAKAY dadako ang personal application.</a:t>
            </a:r>
          </a:p>
          <a:p>
            <a:r>
              <a:rPr lang="en-US" dirty="0"/>
              <a:t>S · Sekswalidad (1 Cor 6:18) · R · Relasyon (2 Cor 6:14) · P · Pananalita (Eph 4:29, 5:4) · I · Pag-iisip (Col 3:2, Rom 12:2) · U · Ugali (Eph 4:32). "Magpakabanal sa LAHAT ng inyong ginagawa" — generally lahat; specifically, lima.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Character Anchor — Goodness (Kabutihan), Galatians 5:22-23. Moral excellence na NAKIKITA — flowing visibly outward. Hindi private virtue lang.</a:t>
            </a:r>
          </a:p>
          <a:p>
            <a:r>
              <a:rPr lang="en-US" dirty="0"/>
              <a:t>Holiness as outward radiance — lighthouse, hindi nakatagong ilaw. Ito ang tulay papunta sa TUGON at DALHIN (holiness as testimony).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TALAKAY · Q1 (6 min, kasama ang 1-min tone-setting). PARTICIPANT GUIDE QUESTION. Ito ang pinaka-sensitibong bahagi.</a:t>
            </a:r>
          </a:p>
          <a:p>
            <a:r>
              <a:rPr lang="en-US" dirty="0"/>
              <a:t>SET TONE: "Mag-share lang kung komportable. Lahat ng sasabihin dito — confidential. Walang gossip, walang spread. Kung hindi pa kaya, sumulat sa workbook — ang Dios ang basahin."</a:t>
            </a:r>
          </a:p>
          <a:p>
            <a:r>
              <a:rPr lang="en-US" dirty="0"/>
              <a:t>PITFALL: Huwag mag-react nang sobra. Salubungin sa PAKIKINIG, hindi pag-aral. Walang sermon, walang advice agad — ipagdasal lang sa loob. "Salamat sa pagtitiwala. Ipagdarasal kita."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TALAKAY · Q2 (6 min). PARTICIPANT GUIDE QUESTION — mas comfortable at practical: anong 'measures' ang ginagawa mo?</a:t>
            </a:r>
          </a:p>
          <a:p>
            <a:r>
              <a:rPr lang="en-US" dirty="0"/>
              <a:t>Halimbawa: accountability partner, blocked websites, schedule changes, godly community, Scripture memory, fasting.</a:t>
            </a:r>
          </a:p>
          <a:p>
            <a:r>
              <a:rPr lang="en-US" dirty="0"/>
              <a:t>CUE: Encourage sharing — ang measures na nakakatulong sa iba ay magiging inspiration sa lahat. Pwedeng magsulat sa whiteboard ng listahan ng effective measures — collective wisdom ng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TUGON · Moody quote (2 min). "A holy life is the most effective testimony. Lighthouses don't fire cannons — they just shine."</a:t>
            </a:r>
          </a:p>
          <a:p>
            <a:r>
              <a:rPr lang="en-US" dirty="0"/>
              <a:t>FRAME: "Kabutihan, kapag tunay, ay kuwiet. Hindi mo kailangang ibandera ang holiness mo. Kapag dalisay ang puso, makikita ito ng mundo — at ito ang pinakamalakas na testimony para sa Panginoon."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TUGON · Silent prayer-writing (5 min). PARTICIPANT GUIDE QUESTION. Sumulat ng personal prayer — paghingi ng habag, awa, biyaya. Background music optional (instrumental hymn).</a:t>
            </a:r>
          </a:p>
          <a:p>
            <a:r>
              <a:rPr lang="en-US" dirty="0"/>
              <a:t>Ang quietness ay PART OF THE CURRICULUM — hindi awkward, hindi nakaka-stress. Wag i-rush. Hindi i-share (sa pagitan ng disciple at ng Dios), pero pwedeng mag-invite ng volunteer na magbasa bilang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DALHIN · Carry Home (2 min). Pumili ng ISANG area (S/R/P/I/U) na pinaka-kailangan ng grasya ngayong linggo. I-share ang area — hindi ang kasalanan.</a:t>
            </a:r>
          </a:p>
          <a:p>
            <a:r>
              <a:rPr lang="en-US" dirty="0"/>
              <a:t>CUE: Mas safe: "Pananalita ang aking pinili" kesa "madalas akong nagsisinungaling." Pareho ang substansya, accountability-friendly ang una.</a:t>
            </a:r>
          </a:p>
          <a:p>
            <a:r>
              <a:rPr lang="en-US" dirty="0"/>
              <a:t>Pangako Ko ritual: sumulat ng specific commitment, basahin ng malakas (kung gusto). Sa Filipino disciple-making, ang spoken commitment na may saksi ay mas binding. 7-day journal + EOLO bridge.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MEMORY VERSE — recite together. 1 Peter 1:15-16 (MBB): "Dahil ang Diyos na pumili sa inyo ay banal, dapat din kayong magpakabanal sa lahat ng inyong ginagawa, sapagkat nasusulat, 'Magpakabanal kayo, sapagkat ako'y banal.'"</a:t>
            </a:r>
          </a:p>
          <a:p>
            <a:r>
              <a:rPr lang="en-US" dirty="0"/>
              <a:t>Pakialaman: ang holiness ay TAWAG, hindi achievement — holy BECAUSE He is holy. Close with prayer. Tease Lesson 5 next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PUKAW · Step 2 (2 min). Sasagutan sa workbook ang DAHILAN ng rating. Hindi pa i-share — pansariling pagninilay lang.</a:t>
            </a:r>
          </a:p>
          <a:p>
            <a:r>
              <a:rPr lang="en-US" dirty="0"/>
              <a:t>Ang tanong na ito ang nagpapalalim ng self-snapshot: hindi lang numero kundi kalagayan ng puso. Hayaan silang tapat sa sarili.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reflection (1 min) — PARTICIPANT GUIDE QUESTION. "Komportable ka bang tawaging 'banal' (saint)?"</a:t>
            </a:r>
          </a:p>
          <a:p>
            <a:r>
              <a:rPr lang="en-US" dirty="0"/>
              <a:t>Layunin: harapin ang awkwardness ng Filipino context (santo = rebulto). Ang katotohanan: isa kang saint DAHIL kay Christ — positional, hindi achievement. 1–2 boluntaryong share lang.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reflection (1 min) — PARTICIPANT GUIDE QUESTION. "Alin sa 5 areas (SRPIU) ang pinaka-kailangan ng grasya?"</a:t>
            </a:r>
          </a:p>
          <a:p>
            <a:r>
              <a:rPr lang="en-US" dirty="0"/>
              <a:t>Tahimik na isulat — ito ang tutulay sa DALHIN kung saan pipili sila ng isang area para sa 7-day watch. Walang forced share dito.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DALHIN · EOLO bridge (1 min) — PARTICIPANT GUIDE QUESTION. Ang pursuit ng kabanalan ay TESTIMONY.</a:t>
            </a:r>
          </a:p>
          <a:p>
            <a:r>
              <a:rPr lang="en-US" dirty="0"/>
              <a:t>"Ang EOLO person mo ay nakatingin sa Monday–Saturday mo, hindi sa Sunday lang. Anong surrendered/holy action ang makikita niya ngayong linggo?" I-encourage na mag-text sa accountability partner sa loob ng 24 oras.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DALHIN · End-of-Lesson Snapshot (1 min) — PARTICIPANT GUIDE QUESTION. Balikan ang 1–10 self-rating sa umpisa. Iro-rate ulit — nagbago ba? Bakit?</a:t>
            </a:r>
          </a:p>
          <a:p>
            <a:r>
              <a:rPr lang="en-US" dirty="0"/>
              <a:t>Ito ang payoff ng PUKAW snapshot. Hindi tungkol sa mataas na numero — tungkol sa tapat na paglago at pag-asa sa grasya, hindi sa sariling lakas.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D4A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BTLI 1 · LESSON 4 · USAD BOOK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1127455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Holiness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D4D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"Magpakabanal kayo, sapagkat ako'y banal."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8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6537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A8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D4A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PUKAW · SELF-SNAPSHOT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Saan ka ngayon sa progressive holiness?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D4D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 scale na </a:t>
            </a:r>
            <a:pPr algn="ctr" indent="0" marL="0">
              <a:buNone/>
            </a:pPr>
            <a:r>
              <a:rPr lang="en-US" sz="2400" b="1" i="1" dirty="0">
                <a:solidFill>
                  <a:srgbClr val="D4A9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1-10</a:t>
            </a:r>
            <a:pPr algn="ctr" indent="0" marL="0">
              <a:buNone/>
            </a:pPr>
            <a:r>
              <a:rPr lang="en-US" sz="2400" i="1" dirty="0">
                <a:solidFill>
                  <a:srgbClr val="D4D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paano mo ira-rate ang sarili mo?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0B5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(Positional: perfect 10 lagi.   Progressive: ito ang field ng laban.)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8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PUKAW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0" y="6537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A8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900" dirty="0"/>
          </a:p>
        </p:txBody>
      </p:sp>
      <p:sp>
        <p:nvSpPr>
          <p:cNvPr id="900" name="added"/>
          <p:cNvSpPr/>
          <p:nvPr/>
        </p:nvSpPr>
        <p:spPr>
          <a:xfrm>
            <a:off x="4096000" y="6537960"/>
            <a:ext cx="4000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marL="0" indent="0">
              <a:buNone/>
            </a:pPr>
            <a:r>
              <a:rPr lang="en-US" sz="900" b="1" dirty="0">
                <a:solidFill>
                  <a:srgbClr val="D4A93F"/>
                </a:solidFill>
                <a:latin typeface="Calibri"/>
                <a:cs typeface="Calibri"/>
              </a:rPr>
              <a:t>⏱ 3 min · ⌛3:00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B8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TANAW · LOOK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 Ermine.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 winter, snow-white ang balahibo. May iisang motto: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45920" y="3383280"/>
            <a:ext cx="8897112" cy="2377440"/>
          </a:xfrm>
          <a:prstGeom prst="roundRect">
            <a:avLst>
              <a:gd name="adj" fmla="val 6923"/>
            </a:avLst>
          </a:prstGeom>
          <a:solidFill>
            <a:srgbClr val="F5E4BC"/>
          </a:solidFill>
          <a:ln w="38100">
            <a:solidFill>
              <a:srgbClr val="B888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3474720"/>
            <a:ext cx="889711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"Dumihan mo na lahat —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'wag lang ang aking balat."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TANAW · 1/2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0" y="6537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900" dirty="0"/>
          </a:p>
        </p:txBody>
      </p:sp>
      <p:sp>
        <p:nvSpPr>
          <p:cNvPr id="900" name="added"/>
          <p:cNvSpPr/>
          <p:nvPr/>
        </p:nvSpPr>
        <p:spPr>
          <a:xfrm>
            <a:off x="4096000" y="6537960"/>
            <a:ext cx="4000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marL="0" indent="0">
              <a:buNone/>
            </a:pPr>
            <a:r>
              <a:rPr lang="en-US" sz="900" b="1" dirty="0">
                <a:solidFill>
                  <a:srgbClr val="B8882A"/>
                </a:solidFill>
                <a:latin typeface="Calibri"/>
                <a:cs typeface="Calibri"/>
              </a:rPr>
              <a:t>⏱ 4 min · ⌛9:00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B8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REFLECT · TANONG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371600" y="1828800"/>
            <a:ext cx="9445752" cy="3657600"/>
          </a:xfrm>
          <a:prstGeom prst="roundRect">
            <a:avLst>
              <a:gd name="adj" fmla="val 4500"/>
            </a:avLst>
          </a:prstGeom>
          <a:solidFill>
            <a:srgbClr val="F5E4BC"/>
          </a:solidFill>
          <a:ln w="38100">
            <a:solidFill>
              <a:srgbClr val="B888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828800"/>
            <a:ext cx="9445752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Anong lesson mula sa ermine
ang maaari nating mai-apply
</a:t>
            </a:r>
            <a:pPr algn="ctr" indent="0" marL="0">
              <a:buNone/>
            </a:pPr>
            <a:r>
              <a:rPr lang="en-US" sz="3600" b="1" dirty="0">
                <a:solidFill>
                  <a:srgbClr val="B88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 ating Christian life?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TANAW · 2/2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6537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900" dirty="0"/>
          </a:p>
        </p:txBody>
      </p:sp>
      <p:sp>
        <p:nvSpPr>
          <p:cNvPr id="900" name="added"/>
          <p:cNvSpPr/>
          <p:nvPr/>
        </p:nvSpPr>
        <p:spPr>
          <a:xfrm>
            <a:off x="4096000" y="6537960"/>
            <a:ext cx="4000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marL="0" indent="0">
              <a:buNone/>
            </a:pPr>
            <a:r>
              <a:rPr lang="en-US" sz="900" b="1" dirty="0">
                <a:solidFill>
                  <a:srgbClr val="B8882A"/>
                </a:solidFill>
                <a:latin typeface="Calibri"/>
                <a:cs typeface="Calibri"/>
              </a:rPr>
              <a:t>⏱ 4 min · ⌛13:00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D4A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TUKLAS · DISCOVER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11274552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Kung seryoso tayong umayon sa </a:t>
            </a:r>
            <a:pPr algn="ctr" indent="0" marL="0">
              <a:buNone/>
            </a:pPr>
            <a:r>
              <a:rPr lang="en-US" sz="4400" b="1" i="1" dirty="0">
                <a:solidFill>
                  <a:srgbClr val="D4A9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kabanalan</a:t>
            </a:r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dapat seryoso rin tayong lumaban sa 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i="1" dirty="0">
                <a:solidFill>
                  <a:srgbClr val="D4A9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kasalanan</a:t>
            </a:r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8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TUKLAS · 1/6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0" y="6537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A8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900" dirty="0"/>
          </a:p>
        </p:txBody>
      </p:sp>
      <p:sp>
        <p:nvSpPr>
          <p:cNvPr id="900" name="added"/>
          <p:cNvSpPr/>
          <p:nvPr/>
        </p:nvSpPr>
        <p:spPr>
          <a:xfrm>
            <a:off x="4096000" y="6537960"/>
            <a:ext cx="4000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marL="0" indent="0">
              <a:buNone/>
            </a:pPr>
            <a:r>
              <a:rPr lang="en-US" sz="900" b="1" dirty="0">
                <a:solidFill>
                  <a:srgbClr val="D4A93F"/>
                </a:solidFill>
                <a:latin typeface="Calibri"/>
                <a:cs typeface="Calibri"/>
              </a:rPr>
              <a:t>⏱ 2 min · ⌛15:00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D4A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11274552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Ang Christian life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 hindi 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strike="sngStrike" dirty="0">
                <a:solidFill>
                  <a:srgbClr val="8090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playground</a:t>
            </a:r>
            <a:pPr algn="ctr" indent="0" marL="0">
              <a:buNone/>
            </a:pP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kundi 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D4A9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battleground</a:t>
            </a:r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457200" y="52120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B0B5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Bonhoeffer: "Unending struggle against the flesh."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8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TUKLAS · 2/6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6537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A8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900" dirty="0"/>
          </a:p>
        </p:txBody>
      </p:sp>
      <p:sp>
        <p:nvSpPr>
          <p:cNvPr id="900" name="added"/>
          <p:cNvSpPr/>
          <p:nvPr/>
        </p:nvSpPr>
        <p:spPr>
          <a:xfrm>
            <a:off x="4096000" y="6537960"/>
            <a:ext cx="4000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marL="0" indent="0">
              <a:buNone/>
            </a:pPr>
            <a:r>
              <a:rPr lang="en-US" sz="900" b="1" dirty="0">
                <a:solidFill>
                  <a:srgbClr val="D4A93F"/>
                </a:solidFill>
                <a:latin typeface="Calibri"/>
                <a:cs typeface="Calibri"/>
              </a:rPr>
              <a:t>⏱ 2 min · ⌛17:00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B8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ASPETO NG KABANALAN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Iniligtas · Inililigtas · Ililigtas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3383280" cy="402336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C0CE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B88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914400" y="3429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9319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Iniligtas mula sa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ng kasalanan.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4800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5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Perfect na, dahil kay Christ.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5349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8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Hebrews 10:10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828800"/>
            <a:ext cx="3383280" cy="402336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C0CE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201168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B88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8000" dirty="0"/>
          </a:p>
        </p:txBody>
      </p:sp>
      <p:sp>
        <p:nvSpPr>
          <p:cNvPr id="12" name="Text 10"/>
          <p:cNvSpPr/>
          <p:nvPr/>
        </p:nvSpPr>
        <p:spPr>
          <a:xfrm>
            <a:off x="4572000" y="3429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7720" y="39319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Inililigtas mula sa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ng kasalanan.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7720" y="4800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5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Daily. Ito ang field natin.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17720" y="5349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8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Thessalonians 4:3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92440" y="1828800"/>
            <a:ext cx="3383280" cy="402336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C0CE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201168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B88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8000" dirty="0"/>
          </a:p>
        </p:txBody>
      </p:sp>
      <p:sp>
        <p:nvSpPr>
          <p:cNvPr id="18" name="Text 16"/>
          <p:cNvSpPr/>
          <p:nvPr/>
        </p:nvSpPr>
        <p:spPr>
          <a:xfrm>
            <a:off x="8229600" y="3429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75320" y="39319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Ililigtas mula sa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ng kasalanan.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75320" y="4800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5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Pagdating ni Christ.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75320" y="5349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8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Colossians 1:22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TUKLAS · 3/6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058400" y="6537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900" dirty="0"/>
          </a:p>
        </p:txBody>
      </p:sp>
      <p:sp>
        <p:nvSpPr>
          <p:cNvPr id="900" name="added"/>
          <p:cNvSpPr/>
          <p:nvPr/>
        </p:nvSpPr>
        <p:spPr>
          <a:xfrm>
            <a:off x="4096000" y="6537960"/>
            <a:ext cx="4000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marL="0" indent="0">
              <a:buNone/>
            </a:pPr>
            <a:r>
              <a:rPr lang="en-US" sz="900" b="1" dirty="0">
                <a:solidFill>
                  <a:srgbClr val="B8882A"/>
                </a:solidFill>
                <a:latin typeface="Calibri"/>
                <a:cs typeface="Calibri"/>
              </a:rPr>
              <a:t>⏱ 5 min · ⌛22:00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B8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TAWAG MULA SA 1 PETER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Paano magpakabanal?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3383280" cy="402336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C0CE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03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TAWAG 1 · v.13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4688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Mapaghanda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60120" y="338328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mind. Punuin ng godly influences. Layuan ang basurang content. Magpabantay sa makadios na tao.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3383280" cy="402336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C0CE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103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TAWAG 2 · v.14, 17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17720" y="24688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Masunurin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617720" y="338328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Obedient children. Hindi ritwal — relasyon. Mahalin ang Ama higit sa mundo at kasalanan.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92440" y="1828800"/>
            <a:ext cx="3383280" cy="402336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C0CE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2103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TAWAG 3 · v.18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75320" y="24688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Matalino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275320" y="338328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Spiritually wise. Pahalagahan ang sakripisyo ni Hesus. Huwag bumalik sa "suka."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TUKLAS · 4/6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58400" y="6537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900" dirty="0"/>
          </a:p>
        </p:txBody>
      </p:sp>
      <p:sp>
        <p:nvSpPr>
          <p:cNvPr id="900" name="added"/>
          <p:cNvSpPr/>
          <p:nvPr/>
        </p:nvSpPr>
        <p:spPr>
          <a:xfrm>
            <a:off x="4096000" y="6537960"/>
            <a:ext cx="4000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marL="0" indent="0">
              <a:buNone/>
            </a:pPr>
            <a:r>
              <a:rPr lang="en-US" sz="900" b="1" dirty="0">
                <a:solidFill>
                  <a:srgbClr val="B8882A"/>
                </a:solidFill>
                <a:latin typeface="Calibri"/>
                <a:cs typeface="Calibri"/>
              </a:rPr>
              <a:t>⏱ 3 min · ⌛25:00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D4A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SPECIFIC AREAS OF HOLINESS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Saan tayo dapat magpakabanal?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0B5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"Lahat ng inyong ginagawa." (1 Peter 1:15) — Generally. Specifically, lima.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2743200"/>
            <a:ext cx="2011680" cy="3291840"/>
          </a:xfrm>
          <a:prstGeom prst="roundRect">
            <a:avLst>
              <a:gd name="adj" fmla="val 8182"/>
            </a:avLst>
          </a:prstGeom>
          <a:solidFill>
            <a:srgbClr val="B8882A"/>
          </a:solidFill>
          <a:ln w="12700">
            <a:solidFill>
              <a:srgbClr val="B888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01752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868680" y="4663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Sekswalidad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5212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4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Cor 6:18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035808" y="2743200"/>
            <a:ext cx="2011680" cy="3291840"/>
          </a:xfrm>
          <a:prstGeom prst="roundRect">
            <a:avLst>
              <a:gd name="adj" fmla="val 8182"/>
            </a:avLst>
          </a:prstGeom>
          <a:solidFill>
            <a:srgbClr val="B8882A"/>
          </a:solidFill>
          <a:ln w="12700">
            <a:solidFill>
              <a:srgbClr val="B888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35808" y="301752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8000" dirty="0"/>
          </a:p>
        </p:txBody>
      </p:sp>
      <p:sp>
        <p:nvSpPr>
          <p:cNvPr id="11" name="Text 9"/>
          <p:cNvSpPr/>
          <p:nvPr/>
        </p:nvSpPr>
        <p:spPr>
          <a:xfrm>
            <a:off x="3127248" y="4663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Relasyon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127248" y="5212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4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Cor 6:14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294376" y="2743200"/>
            <a:ext cx="2011680" cy="3291840"/>
          </a:xfrm>
          <a:prstGeom prst="roundRect">
            <a:avLst>
              <a:gd name="adj" fmla="val 8182"/>
            </a:avLst>
          </a:prstGeom>
          <a:solidFill>
            <a:srgbClr val="B8882A"/>
          </a:solidFill>
          <a:ln w="12700">
            <a:solidFill>
              <a:srgbClr val="B888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94376" y="301752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8000" dirty="0"/>
          </a:p>
        </p:txBody>
      </p:sp>
      <p:sp>
        <p:nvSpPr>
          <p:cNvPr id="15" name="Text 13"/>
          <p:cNvSpPr/>
          <p:nvPr/>
        </p:nvSpPr>
        <p:spPr>
          <a:xfrm>
            <a:off x="5385816" y="4663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Pananalita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385816" y="5212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4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Eph 4:29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552944" y="2743200"/>
            <a:ext cx="2011680" cy="3291840"/>
          </a:xfrm>
          <a:prstGeom prst="roundRect">
            <a:avLst>
              <a:gd name="adj" fmla="val 8182"/>
            </a:avLst>
          </a:prstGeom>
          <a:solidFill>
            <a:srgbClr val="B8882A"/>
          </a:solidFill>
          <a:ln w="12700">
            <a:solidFill>
              <a:srgbClr val="B888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52944" y="301752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8000" dirty="0"/>
          </a:p>
        </p:txBody>
      </p:sp>
      <p:sp>
        <p:nvSpPr>
          <p:cNvPr id="19" name="Text 17"/>
          <p:cNvSpPr/>
          <p:nvPr/>
        </p:nvSpPr>
        <p:spPr>
          <a:xfrm>
            <a:off x="7644384" y="4663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Pag-iisip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644384" y="5212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4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 3:2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811512" y="2743200"/>
            <a:ext cx="2011680" cy="3291840"/>
          </a:xfrm>
          <a:prstGeom prst="roundRect">
            <a:avLst>
              <a:gd name="adj" fmla="val 8182"/>
            </a:avLst>
          </a:prstGeom>
          <a:solidFill>
            <a:srgbClr val="B8882A"/>
          </a:solidFill>
          <a:ln w="12700">
            <a:solidFill>
              <a:srgbClr val="B888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11512" y="301752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</a:t>
            </a:r>
            <a:endParaRPr lang="en-US" sz="8000" dirty="0"/>
          </a:p>
        </p:txBody>
      </p:sp>
      <p:sp>
        <p:nvSpPr>
          <p:cNvPr id="23" name="Text 21"/>
          <p:cNvSpPr/>
          <p:nvPr/>
        </p:nvSpPr>
        <p:spPr>
          <a:xfrm>
            <a:off x="9902952" y="4663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Ugali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902952" y="5212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4D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Eph 4:32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8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TUKLAS · 5/6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058400" y="6537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A8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900" dirty="0"/>
          </a:p>
        </p:txBody>
      </p:sp>
      <p:sp>
        <p:nvSpPr>
          <p:cNvPr id="900" name="added"/>
          <p:cNvSpPr/>
          <p:nvPr/>
        </p:nvSpPr>
        <p:spPr>
          <a:xfrm>
            <a:off x="4096000" y="6537960"/>
            <a:ext cx="4000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marL="0" indent="0">
              <a:buNone/>
            </a:pPr>
            <a:r>
              <a:rPr lang="en-US" sz="900" b="1" dirty="0">
                <a:solidFill>
                  <a:srgbClr val="D4A93F"/>
                </a:solidFill>
                <a:latin typeface="Calibri"/>
                <a:cs typeface="Calibri"/>
              </a:rPr>
              <a:t>⏱ 2 min · ⌛27:00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4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D4A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ANCHOR · GALATIANS 5:22-23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112745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D4A9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Goodness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Kabutihan — moral excellence flowing visibly outward.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"Magpakabanal kayo sa </a:t>
            </a:r>
            <a:pPr algn="ctr" indent="0" marL="0">
              <a:buNone/>
            </a:pPr>
            <a:r>
              <a:rPr lang="en-US" sz="3000" b="1" i="1" dirty="0">
                <a:solidFill>
                  <a:srgbClr val="D4A9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lahat</a:t>
            </a:r>
            <a:pPr algn="ctr"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ng inyong ginagawa."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52120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500" kern="0" dirty="0">
                <a:solidFill>
                  <a:srgbClr val="D4A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Peter 1:15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8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TUKLAS · 6/6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0" y="6537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A8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900" dirty="0"/>
          </a:p>
        </p:txBody>
      </p:sp>
      <p:sp>
        <p:nvSpPr>
          <p:cNvPr id="900" name="added"/>
          <p:cNvSpPr/>
          <p:nvPr/>
        </p:nvSpPr>
        <p:spPr>
          <a:xfrm>
            <a:off x="4096000" y="6537960"/>
            <a:ext cx="4000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marL="0" indent="0">
              <a:buNone/>
            </a:pPr>
            <a:r>
              <a:rPr lang="en-US" sz="900" b="1" dirty="0">
                <a:solidFill>
                  <a:srgbClr val="D4A93F"/>
                </a:solidFill>
                <a:latin typeface="Calibri"/>
                <a:cs typeface="Calibri"/>
              </a:rPr>
              <a:t>⏱ 2 min · ⌛29:00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B8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TALAKAY · 1 OF 2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371600" y="1554480"/>
            <a:ext cx="9445752" cy="3657600"/>
          </a:xfrm>
          <a:prstGeom prst="roundRect">
            <a:avLst>
              <a:gd name="adj" fmla="val 4500"/>
            </a:avLst>
          </a:prstGeom>
          <a:solidFill>
            <a:srgbClr val="F5E4BC"/>
          </a:solidFill>
          <a:ln w="38100">
            <a:solidFill>
              <a:srgbClr val="B888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554480"/>
            <a:ext cx="9445752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Anong specific na kasalanan
ang madalas
</a:t>
            </a:r>
            <a:pPr algn="ctr" indent="0" marL="0">
              <a:buNone/>
            </a:pPr>
            <a:r>
              <a:rPr lang="en-US" sz="3400" b="1" dirty="0">
                <a:solidFill>
                  <a:srgbClr val="B88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kinababagsakan mo?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54864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A55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Volunteer basis · Confidential · Walang condemnation.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TALAKAY · 1/2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0" y="6537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900" dirty="0"/>
          </a:p>
        </p:txBody>
      </p:sp>
      <p:sp>
        <p:nvSpPr>
          <p:cNvPr id="900" name="added"/>
          <p:cNvSpPr/>
          <p:nvPr/>
        </p:nvSpPr>
        <p:spPr>
          <a:xfrm>
            <a:off x="4096000" y="6537960"/>
            <a:ext cx="4000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marL="0" indent="0">
              <a:buNone/>
            </a:pPr>
            <a:r>
              <a:rPr lang="en-US" sz="900" b="1" dirty="0">
                <a:solidFill>
                  <a:srgbClr val="B8882A"/>
                </a:solidFill>
                <a:latin typeface="Calibri"/>
                <a:cs typeface="Calibri"/>
              </a:rPr>
              <a:t>⏱ 6 min · ⌛37:00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B8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TALAKAY · 2 OF 2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371600" y="1554480"/>
            <a:ext cx="9445752" cy="3657600"/>
          </a:xfrm>
          <a:prstGeom prst="roundRect">
            <a:avLst>
              <a:gd name="adj" fmla="val 4500"/>
            </a:avLst>
          </a:prstGeom>
          <a:solidFill>
            <a:srgbClr val="F5E4BC"/>
          </a:solidFill>
          <a:ln w="38100">
            <a:solidFill>
              <a:srgbClr val="B888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554480"/>
            <a:ext cx="9445752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Anong specific "measures"
ang ginagawa mo
</a:t>
            </a:r>
            <a:pPr algn="ctr" indent="0" marL="0">
              <a:buNone/>
            </a:pPr>
            <a:r>
              <a:rPr lang="en-US" sz="3400" b="1" dirty="0">
                <a:solidFill>
                  <a:srgbClr val="B88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labanan ito?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54864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A55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Accountability? Blocked sites? Schedule changes? Scripture? Fasting?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TALAKAY · 2/2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0" y="6537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900" dirty="0"/>
          </a:p>
        </p:txBody>
      </p:sp>
      <p:sp>
        <p:nvSpPr>
          <p:cNvPr id="900" name="added"/>
          <p:cNvSpPr/>
          <p:nvPr/>
        </p:nvSpPr>
        <p:spPr>
          <a:xfrm>
            <a:off x="4096000" y="6537960"/>
            <a:ext cx="4000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marL="0" indent="0">
              <a:buNone/>
            </a:pPr>
            <a:r>
              <a:rPr lang="en-US" sz="900" b="1" dirty="0">
                <a:solidFill>
                  <a:srgbClr val="B8882A"/>
                </a:solidFill>
                <a:latin typeface="Calibri"/>
                <a:cs typeface="Calibri"/>
              </a:rPr>
              <a:t>⏱ 6 min · ⌛43:00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D4A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TUGON · RESPOND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74552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holy life is the most
effective testimony.
</a:t>
            </a:r>
            <a:pPr algn="ctr" indent="0" marL="0">
              <a:buNone/>
            </a:pPr>
            <a:r>
              <a:rPr lang="en-US" sz="3400" b="1" i="1" dirty="0">
                <a:solidFill>
                  <a:srgbClr val="D4A9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Lighthouses don't fire cannons —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i="1" dirty="0">
                <a:solidFill>
                  <a:srgbClr val="D4A9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just shine."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300" kern="0" dirty="0">
                <a:solidFill>
                  <a:srgbClr val="D4A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Dwight L. Moody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8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6537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A8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900" dirty="0"/>
          </a:p>
        </p:txBody>
      </p:sp>
      <p:sp>
        <p:nvSpPr>
          <p:cNvPr id="900" name="added"/>
          <p:cNvSpPr/>
          <p:nvPr/>
        </p:nvSpPr>
        <p:spPr>
          <a:xfrm>
            <a:off x="4096000" y="6537960"/>
            <a:ext cx="4000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marL="0" indent="0">
              <a:buNone/>
            </a:pPr>
            <a:r>
              <a:rPr lang="en-US" sz="900" b="1" dirty="0">
                <a:solidFill>
                  <a:srgbClr val="D4A93F"/>
                </a:solidFill>
                <a:latin typeface="Calibri"/>
                <a:cs typeface="Calibri"/>
              </a:rPr>
              <a:t>⏱ 2 min · ⌛45:00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B8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TUGON · PANALANGIN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Sumulat ng panalangin.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0"/>
            <a:ext cx="944575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Habag · Awa · Biyaya — para mapagtagumpayan ang ating mga banal na laban sa araw-araw.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TUGON · QUIET WRITE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6537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900" dirty="0"/>
          </a:p>
        </p:txBody>
      </p:sp>
      <p:sp>
        <p:nvSpPr>
          <p:cNvPr id="900" name="added"/>
          <p:cNvSpPr/>
          <p:nvPr/>
        </p:nvSpPr>
        <p:spPr>
          <a:xfrm>
            <a:off x="4096000" y="6537960"/>
            <a:ext cx="4000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marL="0" indent="0">
              <a:buNone/>
            </a:pPr>
            <a:r>
              <a:rPr lang="en-US" sz="900" b="1" dirty="0">
                <a:solidFill>
                  <a:srgbClr val="B8882A"/>
                </a:solidFill>
                <a:latin typeface="Calibri"/>
                <a:cs typeface="Calibri"/>
              </a:rPr>
              <a:t>⏱ 5 min · ⌛50:00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D4A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DALHIN · CARRY HOME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11274552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Pumili ng </a:t>
            </a:r>
            <a:pPr algn="ctr" indent="0" marL="0">
              <a:buNone/>
            </a:pPr>
            <a:r>
              <a:rPr lang="en-US" sz="4200" b="1" dirty="0">
                <a:solidFill>
                  <a:srgbClr val="D4A9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isang area</a:t>
            </a:r>
            <a:pPr algn="ctr" indent="0" marL="0">
              <a:buNone/>
            </a:pP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D4A9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RPIU).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Sumulat ng 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D4A9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Pangako Ko</a:t>
            </a:r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7-Day Journal.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5120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B0B5C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EOLO: ang holiness mo ay testimony sa taong ipinagdarasal mo.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8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DALHIN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6537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A8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900" dirty="0"/>
          </a:p>
        </p:txBody>
      </p:sp>
      <p:sp>
        <p:nvSpPr>
          <p:cNvPr id="900" name="added"/>
          <p:cNvSpPr/>
          <p:nvPr/>
        </p:nvSpPr>
        <p:spPr>
          <a:xfrm>
            <a:off x="4096000" y="6537960"/>
            <a:ext cx="4000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marL="0" indent="0">
              <a:buNone/>
            </a:pPr>
            <a:r>
              <a:rPr lang="en-US" sz="900" b="1" dirty="0">
                <a:solidFill>
                  <a:srgbClr val="D4A93F"/>
                </a:solidFill>
                <a:latin typeface="Calibri"/>
                <a:cs typeface="Calibri"/>
              </a:rPr>
              <a:t>⏱ 2 min · ⌛52:00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4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D4A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VERSE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74552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"Dahil ang Diyos na pumili sa inyo ay banal,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dapat din kayong magpakabanal sa 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i="1" dirty="0">
                <a:solidFill>
                  <a:srgbClr val="D4A9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lahat</a:t>
            </a:r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ng inyong ginagawa,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sapagkat nasusulat,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'Magpakabanal kayo, sapagkat ako'y banal.'"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500" kern="0" dirty="0">
                <a:solidFill>
                  <a:srgbClr val="D4A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Peter 1:15-16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8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BTLI 1 · L4 · COMPLETE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6537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A8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21</a:t>
            </a:r>
            <a:endParaRPr lang="en-US" sz="900" dirty="0"/>
          </a:p>
        </p:txBody>
      </p:sp>
      <p:sp>
        <p:nvSpPr>
          <p:cNvPr id="900" name="added"/>
          <p:cNvSpPr/>
          <p:nvPr/>
        </p:nvSpPr>
        <p:spPr>
          <a:xfrm>
            <a:off x="4096000" y="6537960"/>
            <a:ext cx="4000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marL="0" indent="0">
              <a:buNone/>
            </a:pPr>
            <a:r>
              <a:rPr lang="en-US" sz="900" b="1" dirty="0">
                <a:solidFill>
                  <a:srgbClr val="D4A93F"/>
                </a:solidFill>
                <a:latin typeface="Calibri"/>
                <a:cs typeface="Calibri"/>
              </a:rPr>
              <a:t>⏱ 1 min · ⌛55:00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B8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PUKAW · TANONG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371600" y="1828800"/>
            <a:ext cx="9445752" cy="3657600"/>
          </a:xfrm>
          <a:prstGeom prst="roundRect">
            <a:avLst>
              <a:gd name="adj" fmla="val 4500"/>
            </a:avLst>
          </a:prstGeom>
          <a:solidFill>
            <a:srgbClr val="F5E4BC"/>
          </a:solidFill>
          <a:ln w="38100">
            <a:solidFill>
              <a:srgbClr val="B888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828800"/>
            <a:ext cx="9445752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Bakit ito ang rating mo?</a:t>
            </a:r>
          </a:p>
          <a:p>
            <a:pPr algn="ctr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Anong kalagayan ng puso mo ngayon?</a:t>
            </a:r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PUKAW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6537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900" dirty="0"/>
          </a:p>
        </p:txBody>
      </p:sp>
      <p:sp>
        <p:nvSpPr>
          <p:cNvPr id="900" name="added"/>
          <p:cNvSpPr/>
          <p:nvPr/>
        </p:nvSpPr>
        <p:spPr>
          <a:xfrm>
            <a:off x="1371600" y="5240000"/>
            <a:ext cx="94488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marL="0" indent="0">
              <a:buNone/>
            </a:pPr>
            <a:r>
              <a:rPr lang="en-US" sz="1350" b="0" dirty="0" i="1">
                <a:solidFill>
                  <a:srgbClr val="B8882A"/>
                </a:solidFill>
                <a:latin typeface="Calibri"/>
                <a:cs typeface="Calibri"/>
              </a:rPr>
              <a:t>Isulat sa Participant Guide — sariling pagninilay, hindi pa i-share.</a:t>
            </a:r>
          </a:p>
        </p:txBody>
      </p:sp>
      <p:sp>
        <p:nvSpPr>
          <p:cNvPr id="900" name="added"/>
          <p:cNvSpPr/>
          <p:nvPr/>
        </p:nvSpPr>
        <p:spPr>
          <a:xfrm>
            <a:off x="4096000" y="6537960"/>
            <a:ext cx="4000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marL="0" indent="0">
              <a:buNone/>
            </a:pPr>
            <a:r>
              <a:rPr lang="en-US" sz="900" b="1" dirty="0">
                <a:solidFill>
                  <a:srgbClr val="B8882A"/>
                </a:solidFill>
                <a:latin typeface="Calibri"/>
                <a:cs typeface="Calibri"/>
              </a:rPr>
              <a:t>⏱ 2 min · ⌛5:00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B8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TUKLAS · TANONG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371600" y="1828800"/>
            <a:ext cx="9445752" cy="3657600"/>
          </a:xfrm>
          <a:prstGeom prst="roundRect">
            <a:avLst>
              <a:gd name="adj" fmla="val 4500"/>
            </a:avLst>
          </a:prstGeom>
          <a:solidFill>
            <a:srgbClr val="F5E4BC"/>
          </a:solidFill>
          <a:ln w="38100">
            <a:solidFill>
              <a:srgbClr val="B888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828800"/>
            <a:ext cx="9445752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Komportable ka bang tawaging</a:t>
            </a:r>
          </a:p>
          <a:p>
            <a:pPr algn="ctr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"banal" (saint)? Bakit o bakit hindi?</a:t>
            </a:r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TUKLAS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6537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900" dirty="0"/>
          </a:p>
        </p:txBody>
      </p:sp>
      <p:sp>
        <p:nvSpPr>
          <p:cNvPr id="900" name="added"/>
          <p:cNvSpPr/>
          <p:nvPr/>
        </p:nvSpPr>
        <p:spPr>
          <a:xfrm>
            <a:off x="1371600" y="5240000"/>
            <a:ext cx="94488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marL="0" indent="0">
              <a:buNone/>
            </a:pPr>
            <a:r>
              <a:rPr lang="en-US" sz="1350" b="0" dirty="0" i="1">
                <a:solidFill>
                  <a:srgbClr val="B8882A"/>
                </a:solidFill>
                <a:latin typeface="Calibri"/>
                <a:cs typeface="Calibri"/>
              </a:rPr>
              <a:t>Isulat sa Participant Guide — tapos 1–2 boluntaryong share.</a:t>
            </a:r>
          </a:p>
        </p:txBody>
      </p:sp>
      <p:sp>
        <p:nvSpPr>
          <p:cNvPr id="900" name="added"/>
          <p:cNvSpPr/>
          <p:nvPr/>
        </p:nvSpPr>
        <p:spPr>
          <a:xfrm>
            <a:off x="4096000" y="6537960"/>
            <a:ext cx="4000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marL="0" indent="0">
              <a:buNone/>
            </a:pPr>
            <a:r>
              <a:rPr lang="en-US" sz="900" b="1" dirty="0">
                <a:solidFill>
                  <a:srgbClr val="B8882A"/>
                </a:solidFill>
                <a:latin typeface="Calibri"/>
                <a:cs typeface="Calibri"/>
              </a:rPr>
              <a:t>⏱ 1 min · ⌛30:00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B8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TUKLAS · TANONG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371600" y="1828800"/>
            <a:ext cx="9445752" cy="3657600"/>
          </a:xfrm>
          <a:prstGeom prst="roundRect">
            <a:avLst>
              <a:gd name="adj" fmla="val 4500"/>
            </a:avLst>
          </a:prstGeom>
          <a:solidFill>
            <a:srgbClr val="F5E4BC"/>
          </a:solidFill>
          <a:ln w="38100">
            <a:solidFill>
              <a:srgbClr val="B888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828800"/>
            <a:ext cx="9445752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Alin sa 5 areas (S·R·P·I·U) ang</a:t>
            </a:r>
          </a:p>
          <a:p>
            <a:pPr algn="ctr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pinaka-kailangan ng grasya sa buhay mo?</a:t>
            </a:r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TUKLAS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6537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900" dirty="0"/>
          </a:p>
        </p:txBody>
      </p:sp>
      <p:sp>
        <p:nvSpPr>
          <p:cNvPr id="900" name="added"/>
          <p:cNvSpPr/>
          <p:nvPr/>
        </p:nvSpPr>
        <p:spPr>
          <a:xfrm>
            <a:off x="1371600" y="5240000"/>
            <a:ext cx="94488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marL="0" indent="0">
              <a:buNone/>
            </a:pPr>
            <a:r>
              <a:rPr lang="en-US" sz="1350" b="0" dirty="0" i="1">
                <a:solidFill>
                  <a:srgbClr val="B8882A"/>
                </a:solidFill>
                <a:latin typeface="Calibri"/>
                <a:cs typeface="Calibri"/>
              </a:rPr>
              <a:t>Tahimik na isulat sa Participant Guide.</a:t>
            </a:r>
          </a:p>
        </p:txBody>
      </p:sp>
      <p:sp>
        <p:nvSpPr>
          <p:cNvPr id="900" name="added"/>
          <p:cNvSpPr/>
          <p:nvPr/>
        </p:nvSpPr>
        <p:spPr>
          <a:xfrm>
            <a:off x="4096000" y="6537960"/>
            <a:ext cx="4000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marL="0" indent="0">
              <a:buNone/>
            </a:pPr>
            <a:r>
              <a:rPr lang="en-US" sz="900" b="1" dirty="0">
                <a:solidFill>
                  <a:srgbClr val="B8882A"/>
                </a:solidFill>
                <a:latin typeface="Calibri"/>
                <a:cs typeface="Calibri"/>
              </a:rPr>
              <a:t>⏱ 1 min · ⌛31:00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B8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DALHIN · EOLO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371600" y="1828800"/>
            <a:ext cx="9445752" cy="3657600"/>
          </a:xfrm>
          <a:prstGeom prst="roundRect">
            <a:avLst>
              <a:gd name="adj" fmla="val 4500"/>
            </a:avLst>
          </a:prstGeom>
          <a:solidFill>
            <a:srgbClr val="F5E4BC"/>
          </a:solidFill>
          <a:ln w="38100">
            <a:solidFill>
              <a:srgbClr val="B888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828800"/>
            <a:ext cx="9445752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Sino ang taong ipinagdarasal mo sa EOLO?</a:t>
            </a:r>
          </a:p>
          <a:p>
            <a:pPr algn="ctr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Paano nakakatulong ang holiness mo</a:t>
            </a:r>
          </a:p>
          <a:p>
            <a:pPr algn="ctr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 pagiging credible ng patotoo mo sa kanya?</a:t>
            </a:r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DALHIN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6537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900" dirty="0"/>
          </a:p>
        </p:txBody>
      </p:sp>
      <p:sp>
        <p:nvSpPr>
          <p:cNvPr id="900" name="added"/>
          <p:cNvSpPr/>
          <p:nvPr/>
        </p:nvSpPr>
        <p:spPr>
          <a:xfrm>
            <a:off x="1371600" y="5240000"/>
            <a:ext cx="94488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marL="0" indent="0">
              <a:buNone/>
            </a:pPr>
            <a:r>
              <a:rPr lang="en-US" sz="1350" b="0" dirty="0" i="1">
                <a:solidFill>
                  <a:srgbClr val="B8882A"/>
                </a:solidFill>
                <a:latin typeface="Calibri"/>
                <a:cs typeface="Calibri"/>
              </a:rPr>
              <a:t>Isulat ang pangalan + maikling pagninilay sa Participant Guide.</a:t>
            </a:r>
          </a:p>
        </p:txBody>
      </p:sp>
      <p:sp>
        <p:nvSpPr>
          <p:cNvPr id="900" name="added"/>
          <p:cNvSpPr/>
          <p:nvPr/>
        </p:nvSpPr>
        <p:spPr>
          <a:xfrm>
            <a:off x="4096000" y="6537960"/>
            <a:ext cx="4000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marL="0" indent="0">
              <a:buNone/>
            </a:pPr>
            <a:r>
              <a:rPr lang="en-US" sz="900" b="1" dirty="0">
                <a:solidFill>
                  <a:srgbClr val="B8882A"/>
                </a:solidFill>
                <a:latin typeface="Calibri"/>
                <a:cs typeface="Calibri"/>
              </a:rPr>
              <a:t>⏱ 1 min · ⌛53:00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B88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DALHIN · END SNAPSHOT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1371600" y="1828800"/>
            <a:ext cx="9445752" cy="3657600"/>
          </a:xfrm>
          <a:prstGeom prst="roundRect">
            <a:avLst>
              <a:gd name="adj" fmla="val 4500"/>
            </a:avLst>
          </a:prstGeom>
          <a:solidFill>
            <a:srgbClr val="F5E4BC"/>
          </a:solidFill>
          <a:ln w="38100">
            <a:solidFill>
              <a:srgbClr val="B888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828800"/>
            <a:ext cx="9445752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Ngayon, paano mo ira-rate ang sarili mo?</a:t>
            </a:r>
          </a:p>
          <a:p>
            <a:pPr algn="ctr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1–10 — ihambing sa PUKAW mo kanina.</a:t>
            </a:r>
          </a:p>
        </p:txBody>
      </p:sp>
      <p:sp>
        <p:nvSpPr>
          <p:cNvPr id="5" name="Text 3"/>
          <p:cNvSpPr/>
          <p:nvPr/>
        </p:nvSpPr>
        <p:spPr>
          <a:xfrm>
            <a:off x="365760" y="6537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DALHIN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0" y="6537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900" dirty="0"/>
          </a:p>
        </p:txBody>
      </p:sp>
      <p:sp>
        <p:nvSpPr>
          <p:cNvPr id="900" name="added"/>
          <p:cNvSpPr/>
          <p:nvPr/>
        </p:nvSpPr>
        <p:spPr>
          <a:xfrm>
            <a:off x="1371600" y="5240000"/>
            <a:ext cx="944880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marL="0" indent="0">
              <a:buNone/>
            </a:pPr>
            <a:r>
              <a:rPr lang="en-US" sz="1350" b="0" dirty="0" i="1">
                <a:solidFill>
                  <a:srgbClr val="B8882A"/>
                </a:solidFill>
                <a:latin typeface="Calibri"/>
                <a:cs typeface="Calibri"/>
              </a:rPr>
              <a:t>Balikan ang rating sa umpisa. Nagbago ba? Bakit?</a:t>
            </a:r>
          </a:p>
        </p:txBody>
      </p:sp>
      <p:sp>
        <p:nvSpPr>
          <p:cNvPr id="900" name="added"/>
          <p:cNvSpPr/>
          <p:nvPr/>
        </p:nvSpPr>
        <p:spPr>
          <a:xfrm>
            <a:off x="4096000" y="6537960"/>
            <a:ext cx="400000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marL="0" indent="0">
              <a:buNone/>
            </a:pPr>
            <a:r>
              <a:rPr lang="en-US" sz="900" b="1" dirty="0">
                <a:solidFill>
                  <a:srgbClr val="B8882A"/>
                </a:solidFill>
                <a:latin typeface="Calibri"/>
                <a:cs typeface="Calibri"/>
              </a:rPr>
              <a:t>⏱ 1 min · ⌛54:00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BTLI 1 · Lesson 4 · Personal Holiness</dc:title>
  <dc:subject>PptxGenJS Presentation</dc:subject>
  <dc:creator>MULTIPLY · Disciple-Making Pipeline</dc:creator>
  <cp:lastModifiedBy>MULTIPLY · Disciple-Making Pipeline</cp:lastModifiedBy>
  <cp:revision>1</cp:revision>
  <dcterms:created xsi:type="dcterms:W3CDTF">2026-05-20T01:42:21Z</dcterms:created>
  <dcterms:modified xsi:type="dcterms:W3CDTF">2026-05-20T01:42:21Z</dcterms:modified>
</cp:coreProperties>
</file>
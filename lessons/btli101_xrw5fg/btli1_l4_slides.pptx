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prayer. Sa lesson 4 na tayo. Mention: "Ito ang first lesson natin tungkol sa specific Christian character." L1-L3 was about spiritual disciplines (prayer, meditation, surrender); L4 onward begins to be about formed character.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PUKAW snapshot. Give 2-3 minutes for the rating + reason. Hindi pa lahat mag-share. Sariling pagninilay lang. State clearly: "baseline lang ito; uulitin sa dulo."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ermine story slowly. Pause sa quote — let the absurdity of "maigi pang mamatay kesa marumihan" land. This is the emotional anchor for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question — go around. 30-45 sec each. Common answers: importance of cleanliness, identity worth dying for, being set apart. Anchor to: "Our identity in Christ is our ermine-balat. Hindi paghaluan ng marumi."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Big Idea slowly. PAUSE. Don't elaborate yet. Let it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frame slide. Quote Bonhoeffer. Emphasis: holiness is not casual. The world celebrates sin and mocks holiness. We are at war.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ASPECTS — most important framework. Walk LEFT to RIGHT. ~45 sec per card. Emphasis on Progressive: "this is where we live. Positional perfect na. Perfect coming. Progressive — ngayon."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CALLS from 1 Peter 1. Quick walk-through (~30 sec each). The depth is in the workbook. You're showing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AREAS — SRPIU. Acronym helps remember. Don't deep-dive into each — overview lang. Sa TALAKAY, dadako sa personal 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CHARACTER ANCHOR — Goodness (Kabutihan). Explain: Goodness = moral excellence flowing visibly. Hindi private virtue lang — kabutihan na NAKIKITA. Holiness as outward radiance.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DEEP QUESTION. Most sensitive moment of the lesson. Volunteer basis. Walang pressure. Pause. Wait. Salamat sa mag-share. Walang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question is safer + more practical. Encourage sharing of measures — these become collective wisdom for the LCG. Maaaring magsulat sa whiteboard ng list ng effective measures na lumabas.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MOODY QUOTE. Anchor for TUGON. Lighthouses don't make noise. Holiness ay kuwiet — pero matingkad.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 OF SILENT WRITING. Do not rush. Hindi awkward — sacred. Background music optional (instrumental). No one is forced to share what they wrote.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DALHIN. Pick 1 area (SRPIU). Spoken Pangako Ko (yung gusto). 7-day journal. EOLO bridge — holiness as testimony.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MEMORY VERSE recite together. Pakialaman: ang holiness ay TAWAG, hindi achievement. Holy because He is holy. Close with prayer. Mention next week: Lesson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D4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BTLI 1 · LESSON 4 · USAD BOOK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Holiness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3931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D4D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"Magpakabanal kayo, sapagkat ako'y banal."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D4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PUKAW · SELF-SNAPSHOT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12745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Saan ka ngayon sa progressive holiness?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D4D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 scale na </a:t>
            </a:r>
            <a:pPr algn="ctr" indent="0" marL="0">
              <a:buNone/>
            </a:pPr>
            <a:r>
              <a:rPr lang="en-US" sz="2400" b="1" i="1" dirty="0">
                <a:solidFill>
                  <a:srgbClr val="D4A9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1-10</a:t>
            </a:r>
            <a:pPr algn="ctr" indent="0" marL="0">
              <a:buNone/>
            </a:pPr>
            <a:r>
              <a:rPr lang="en-US" sz="2400" i="1" dirty="0">
                <a:solidFill>
                  <a:srgbClr val="D4D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paano mo ira-rate ang sarili mo?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B0B5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(Positional: perfect 10 lagi.   Progressive: ito ang field ng laban.)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PUKAW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TANAW · LOOK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112745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 Ermine.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 winter, snow-white ang balahibo. May iisang motto: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645920" y="3383280"/>
            <a:ext cx="8897112" cy="2377440"/>
          </a:xfrm>
          <a:prstGeom prst="roundRect">
            <a:avLst>
              <a:gd name="adj" fmla="val 6923"/>
            </a:avLst>
          </a:prstGeom>
          <a:solidFill>
            <a:srgbClr val="F5E4BC"/>
          </a:solidFill>
          <a:ln w="38100">
            <a:solidFill>
              <a:srgbClr val="B888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3474720"/>
            <a:ext cx="889711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"Dumihan mo na lahat —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'wag lang ang aking balat."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TANAW · 1/2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371600" y="1828800"/>
            <a:ext cx="9445752" cy="3657600"/>
          </a:xfrm>
          <a:prstGeom prst="roundRect">
            <a:avLst>
              <a:gd name="adj" fmla="val 4500"/>
            </a:avLst>
          </a:prstGeom>
          <a:solidFill>
            <a:srgbClr val="F5E4BC"/>
          </a:solidFill>
          <a:ln w="38100">
            <a:solidFill>
              <a:srgbClr val="B888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828800"/>
            <a:ext cx="9445752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Anong lesson mula sa ermine
ang maaari nating mai-apply
</a:t>
            </a:r>
            <a:pPr algn="ctr" indent="0" marL="0">
              <a:buNone/>
            </a:pPr>
            <a:r>
              <a:rPr lang="en-US" sz="3600" b="1" dirty="0">
                <a:solidFill>
                  <a:srgbClr val="B888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 ating Christian life?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TANAW · 2/2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D4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DISCOVER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194560"/>
            <a:ext cx="1127455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Kung seryoso tayong umayon sa </a:t>
            </a:r>
            <a:pPr algn="ctr" indent="0" marL="0">
              <a:buNone/>
            </a:pPr>
            <a:r>
              <a:rPr lang="en-US" sz="4400" b="1" i="1" dirty="0">
                <a:solidFill>
                  <a:srgbClr val="D4A9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kabanalan</a:t>
            </a:r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dapat seryoso rin tayong lumaban sa 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i="1" dirty="0">
                <a:solidFill>
                  <a:srgbClr val="D4A9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kasalanan</a:t>
            </a:r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1/6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D4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1127455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 Christian life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 hindi 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strike="sngStrike" dirty="0">
                <a:solidFill>
                  <a:srgbClr val="8090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playground</a:t>
            </a:r>
            <a:pPr algn="ctr" indent="0" marL="0">
              <a:buNone/>
            </a:pP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kundi 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D4A9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battleground</a:t>
            </a:r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457200" y="52120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B0B5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Bonhoeffer: "Unending struggle against the flesh."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2/6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ASPETO NG KABANALAN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Iniligtas · Inililigtas · Ililigtas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3383280" cy="402336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C0CE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1168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88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914400" y="34290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9319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Iniligtas mula sa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ng kasalanan.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4800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A55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Perfect na, dahil kay Christ.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5349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88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Hebrews 10:10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828800"/>
            <a:ext cx="3383280" cy="402336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C0CE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201168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88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8000" dirty="0"/>
          </a:p>
        </p:txBody>
      </p:sp>
      <p:sp>
        <p:nvSpPr>
          <p:cNvPr id="12" name="Text 10"/>
          <p:cNvSpPr/>
          <p:nvPr/>
        </p:nvSpPr>
        <p:spPr>
          <a:xfrm>
            <a:off x="4572000" y="34290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17720" y="39319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Inililigtas mula sa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ng kasalanan.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17720" y="4800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A55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Daily. Ito ang field natin.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17720" y="5349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88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Thessalonians 4:3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92440" y="1828800"/>
            <a:ext cx="3383280" cy="402336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C0CE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201168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88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8000" dirty="0"/>
          </a:p>
        </p:txBody>
      </p:sp>
      <p:sp>
        <p:nvSpPr>
          <p:cNvPr id="18" name="Text 16"/>
          <p:cNvSpPr/>
          <p:nvPr/>
        </p:nvSpPr>
        <p:spPr>
          <a:xfrm>
            <a:off x="8229600" y="34290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75320" y="39319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Ililigtas mula sa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ng kasalanan.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75320" y="4800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A55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Pagdating ni Christ.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75320" y="5349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88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Colossians 1:22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3/6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TAWAG MULA SA 1 PETER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Paano magpakabanal?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3383280" cy="402336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C0CE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1031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TAWAG 1 · v.13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Mapaghanda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60120" y="33832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mind. Punuin ng godly influences. Layuan ang basurang content. Magpabantay sa makadios na tao.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34840" y="1828800"/>
            <a:ext cx="3383280" cy="402336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C0CE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1031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TAWAG 2 · v.14, 17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17720" y="24688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Masunurin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617720" y="33832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Obedient children. Hindi ritwal — relasyon. Mahalin ang Ama higit sa mundo at kasalanan.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828800"/>
            <a:ext cx="3383280" cy="402336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C0CE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5320" y="21031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TAWAG 3 · v.18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75320" y="24688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Matalino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275320" y="33832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Spiritually wise. Pahalagahan ang sakripisyo ni Hesus. Huwag bumalik sa "suka."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4/6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D4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SPECIFIC AREAS OF HOLINESS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Saan tayo dapat magpakabanal?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B0B5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"Lahat ng inyong ginagawa." (1 Peter 1:15) — Generally. Specifically, lima.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77240" y="2743200"/>
            <a:ext cx="2011680" cy="3291840"/>
          </a:xfrm>
          <a:prstGeom prst="roundRect">
            <a:avLst>
              <a:gd name="adj" fmla="val 8182"/>
            </a:avLst>
          </a:prstGeom>
          <a:solidFill>
            <a:srgbClr val="B8882A"/>
          </a:solidFill>
          <a:ln w="12700">
            <a:solidFill>
              <a:srgbClr val="B888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01752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868680" y="4663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Sekswalidad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5212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4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Cor 6:18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035808" y="2743200"/>
            <a:ext cx="2011680" cy="3291840"/>
          </a:xfrm>
          <a:prstGeom prst="roundRect">
            <a:avLst>
              <a:gd name="adj" fmla="val 8182"/>
            </a:avLst>
          </a:prstGeom>
          <a:solidFill>
            <a:srgbClr val="B8882A"/>
          </a:solidFill>
          <a:ln w="12700">
            <a:solidFill>
              <a:srgbClr val="B888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35808" y="301752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3127248" y="4663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Relasyon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127248" y="5212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4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Cor 6:14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294376" y="2743200"/>
            <a:ext cx="2011680" cy="3291840"/>
          </a:xfrm>
          <a:prstGeom prst="roundRect">
            <a:avLst>
              <a:gd name="adj" fmla="val 8182"/>
            </a:avLst>
          </a:prstGeom>
          <a:solidFill>
            <a:srgbClr val="B8882A"/>
          </a:solidFill>
          <a:ln w="12700">
            <a:solidFill>
              <a:srgbClr val="B888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94376" y="301752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8000" dirty="0"/>
          </a:p>
        </p:txBody>
      </p:sp>
      <p:sp>
        <p:nvSpPr>
          <p:cNvPr id="15" name="Text 13"/>
          <p:cNvSpPr/>
          <p:nvPr/>
        </p:nvSpPr>
        <p:spPr>
          <a:xfrm>
            <a:off x="5385816" y="4663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Pananalita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385816" y="5212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4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Eph 4:29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52944" y="2743200"/>
            <a:ext cx="2011680" cy="3291840"/>
          </a:xfrm>
          <a:prstGeom prst="roundRect">
            <a:avLst>
              <a:gd name="adj" fmla="val 8182"/>
            </a:avLst>
          </a:prstGeom>
          <a:solidFill>
            <a:srgbClr val="B8882A"/>
          </a:solidFill>
          <a:ln w="12700">
            <a:solidFill>
              <a:srgbClr val="B888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52944" y="301752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0" dirty="0"/>
          </a:p>
        </p:txBody>
      </p:sp>
      <p:sp>
        <p:nvSpPr>
          <p:cNvPr id="19" name="Text 17"/>
          <p:cNvSpPr/>
          <p:nvPr/>
        </p:nvSpPr>
        <p:spPr>
          <a:xfrm>
            <a:off x="7644384" y="4663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Pag-iisip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644384" y="5212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4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 3:2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811512" y="2743200"/>
            <a:ext cx="2011680" cy="3291840"/>
          </a:xfrm>
          <a:prstGeom prst="roundRect">
            <a:avLst>
              <a:gd name="adj" fmla="val 8182"/>
            </a:avLst>
          </a:prstGeom>
          <a:solidFill>
            <a:srgbClr val="B8882A"/>
          </a:solidFill>
          <a:ln w="12700">
            <a:solidFill>
              <a:srgbClr val="B888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11512" y="301752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</a:t>
            </a:r>
            <a:endParaRPr lang="en-US" sz="8000" dirty="0"/>
          </a:p>
        </p:txBody>
      </p:sp>
      <p:sp>
        <p:nvSpPr>
          <p:cNvPr id="23" name="Text 21"/>
          <p:cNvSpPr/>
          <p:nvPr/>
        </p:nvSpPr>
        <p:spPr>
          <a:xfrm>
            <a:off x="9902952" y="4663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Ugali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902952" y="5212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4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Eph 4:32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5/6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4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D4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ANCHOR · GALATIANS 5:22-23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4A9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Goodness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Kabutihan — moral excellence flowing visibly outward.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29768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"Magpakabanal kayo sa </a:t>
            </a:r>
            <a:pPr algn="ctr" indent="0" marL="0">
              <a:buNone/>
            </a:pPr>
            <a:r>
              <a:rPr lang="en-US" sz="3000" b="1" i="1" dirty="0">
                <a:solidFill>
                  <a:srgbClr val="D4A9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lahat</a:t>
            </a:r>
            <a:pPr algn="ctr" indent="0" marL="0">
              <a:buNone/>
            </a:pPr>
            <a:r>
              <a:rPr lang="en-US" sz="3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ng inyong ginagawa."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52120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500" kern="0" dirty="0">
                <a:solidFill>
                  <a:srgbClr val="D4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Peter 1:15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6/6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TALAKAY · 1 OF 2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371600" y="1554480"/>
            <a:ext cx="9445752" cy="3657600"/>
          </a:xfrm>
          <a:prstGeom prst="roundRect">
            <a:avLst>
              <a:gd name="adj" fmla="val 4500"/>
            </a:avLst>
          </a:prstGeom>
          <a:solidFill>
            <a:srgbClr val="F5E4BC"/>
          </a:solidFill>
          <a:ln w="38100">
            <a:solidFill>
              <a:srgbClr val="B888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554480"/>
            <a:ext cx="9445752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Anong specific na kasalanan
ang madalas
</a:t>
            </a:r>
            <a:pPr algn="ctr" indent="0" marL="0">
              <a:buNone/>
            </a:pPr>
            <a:r>
              <a:rPr lang="en-US" sz="3400" b="1" dirty="0">
                <a:solidFill>
                  <a:srgbClr val="B888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kinababagsakan mo?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54864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4A55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Volunteer basis · Confidential · Walang condemnation.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TALAKAY · 1/2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TALAKAY · 2 OF 2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371600" y="1554480"/>
            <a:ext cx="9445752" cy="3657600"/>
          </a:xfrm>
          <a:prstGeom prst="roundRect">
            <a:avLst>
              <a:gd name="adj" fmla="val 4500"/>
            </a:avLst>
          </a:prstGeom>
          <a:solidFill>
            <a:srgbClr val="F5E4BC"/>
          </a:solidFill>
          <a:ln w="38100">
            <a:solidFill>
              <a:srgbClr val="B888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554480"/>
            <a:ext cx="9445752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Anong specific "measures"
ang ginagawa mo
</a:t>
            </a:r>
            <a:pPr algn="ctr" indent="0" marL="0">
              <a:buNone/>
            </a:pPr>
            <a:r>
              <a:rPr lang="en-US" sz="3400" b="1" dirty="0">
                <a:solidFill>
                  <a:srgbClr val="B888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labanan ito?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54864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4A55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Accountability? Blocked sites? Schedule changes? Scripture? Fasting?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TALAKAY · 2/2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D4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TUGON · RESPOND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74552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 holy life is the most
effective testimony.
</a:t>
            </a:r>
            <a:pPr algn="ctr" indent="0" marL="0">
              <a:buNone/>
            </a:pPr>
            <a:r>
              <a:rPr lang="en-US" sz="3400" b="1" i="1" dirty="0">
                <a:solidFill>
                  <a:srgbClr val="D4A9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Lighthouses don't fire cannons —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i="1" dirty="0">
                <a:solidFill>
                  <a:srgbClr val="D4A9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just shine."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54864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D4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Dwight L. Moody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MINUTOS NG TAHIMIK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12745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Sumulat ng panalangin.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944575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Habag · Awa · Biyaya — para mapagtagumpayan ang ating mga banal na laban sa araw-araw.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TUGON · QUIET WRITE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D4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DALHIN · CARRY HOME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1127455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Pumili ng </a:t>
            </a:r>
            <a:pPr algn="ctr" indent="0" marL="0">
              <a:buNone/>
            </a:pPr>
            <a:r>
              <a:rPr lang="en-US" sz="4200" b="1" dirty="0">
                <a:solidFill>
                  <a:srgbClr val="D4A9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isang area</a:t>
            </a:r>
            <a:pPr algn="ctr" indent="0" marL="0">
              <a:buNone/>
            </a:pP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D4A9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RPIU).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Sumulat ng 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D4A9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Pangako Ko</a:t>
            </a:r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7-Day Journal.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51206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B0B5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EOLO: ang holiness mo ay testimony sa taong ipinagdarasal mo.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DALHIN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4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D4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VERSE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11274552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"Dahil ang Diyos na pumili sa inyo ay banal,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dapat din kayong magpakabanal sa 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i="1" dirty="0">
                <a:solidFill>
                  <a:srgbClr val="D4A9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lahat</a:t>
            </a:r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ng inyong ginagawa,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sapagkat nasusulat,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'Magpakabanal kayo, sapagkat ako'y banal.'"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500" kern="0" dirty="0">
                <a:solidFill>
                  <a:srgbClr val="D4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Peter 1:15-16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BTLI 1 · L4 · COMPLETE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A8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BTLI 1 · Lesson 4 · Personal Holiness</dc:title>
  <dc:subject>PptxGenJS Presentation</dc:subject>
  <dc:creator>MULTIPLY · Disciple-Making Pipeline</dc:creator>
  <cp:lastModifiedBy>MULTIPLY · Disciple-Making Pipeline</cp:lastModifiedBy>
  <cp:revision>1</cp:revision>
  <dcterms:created xsi:type="dcterms:W3CDTF">2026-05-20T01:42:21Z</dcterms:created>
  <dcterms:modified xsi:type="dcterms:W3CDTF">2026-05-20T01:42:21Z</dcterms:modified>
</cp:coreProperties>
</file>
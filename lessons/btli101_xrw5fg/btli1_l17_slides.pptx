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· cover</a:t>
            </a:r>
          </a:p>
          <a:p>
            <a:r>
              <a:rPr lang="en-US" dirty="0"/>
              <a:t>Arc ng Leading Others: L13 ang puso, L14 ang gilas, L15 ang mata, L16 ang salamin — at ngayong gabi, L17, ang ugnayan.</a:t>
            </a:r>
          </a:p>
          <a:p>
            <a:r>
              <a:rPr lang="en-US" dirty="0"/>
              <a:t>Noong L16, tinanong natin kung ano ang nakikita ng iba sa atin.</a:t>
            </a:r>
          </a:p>
          <a:p>
            <a:r>
              <a:rPr lang="en-US" dirty="0"/>
              <a:t>Ngayong gabi, titingnan natin ang mga relasyong humuhubog sa atin — at ang mga relasyong hinuhubog natin.</a:t>
            </a:r>
          </a:p>
          <a:p>
            <a:r>
              <a:rPr lang="en-US" dirty="0"/>
              <a:t>Character anchor: Gentleness o Kahinahunan — ang lakas na marunong humawak nang maingat.</a:t>
            </a:r>
          </a:p>
          <a:p>
            <a:r>
              <a:rPr lang="en-US" dirty="0"/>
              <a:t>Competence anchor: ang Anim na Direksyon ng Ugnayan — mula mismo sa UNLAD Lesson 7.</a:t>
            </a:r>
          </a:p>
          <a:p>
            <a:r>
              <a:rPr lang="en-US" dirty="0"/>
              <a:t>Ang tanong ng lesson: Ano-anong mahahalagang relasyon ang dapat nating pahalagahan bilang servant-leaders?</a:t>
            </a:r>
          </a:p>
          <a:p>
            <a:r>
              <a:rPr lang="en-US" dirty="0"/>
              <a:t>Opening prayer bago mag-verse.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00:02)</a:t>
            </a:r>
          </a:p>
          <a:p>
            <a:r>
              <a:rPr lang="en-US" dirty="0"/>
              <a:t>Basahin nang malakas nang dalawang beses — unang basa ikaw, pangalawa sabay-sabay.</a:t>
            </a:r>
          </a:p>
          <a:p>
            <a:r>
              <a:rPr lang="en-US" dirty="0"/>
              <a:t>Pansinin: hindi sinabing pinapatalas ng tao ang sarili niya — kailangan niya ng isa pang tao.</a:t>
            </a:r>
          </a:p>
          <a:p>
            <a:r>
              <a:rPr lang="en-US" dirty="0"/>
              <a:t>Kapag nagkiskisan ang dalawang bakal, may kislap at may init; hindi laging komportable ang pagpapatalas.</a:t>
            </a:r>
          </a:p>
          <a:p>
            <a:r>
              <a:rPr lang="en-US" dirty="0"/>
              <a:t>Kaya kailangan ng kahinahunan — ang character anchor natin ngayong gabi.</a:t>
            </a:r>
          </a:p>
          <a:p>
            <a:r>
              <a:rPr lang="en-US" dirty="0"/>
              <a:t>Huwag munang i-explain nang mahaba; babalikan natin ito sa TALAKAY.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1 min (target 00:03)</a:t>
            </a:r>
          </a:p>
          <a:p>
            <a:r>
              <a:rPr lang="en-US" dirty="0"/>
              <a:t>Ito ang mga iniwan ng L16 na unang babalikan ngayong gabi.</a:t>
            </a:r>
          </a:p>
          <a:p>
            <a:r>
              <a:rPr lang="en-US" dirty="0"/>
              <a:t>Una, ang chart na Lakad Kasama si Jesus: apat na hanay ng huhubarin, isusuot, at isang specific na sitwasyon.</a:t>
            </a:r>
          </a:p>
          <a:p>
            <a:r>
              <a:rPr lang="en-US" dirty="0"/>
              <a:t>Pangalawa, ang 7-araw na Salamin Tracker: isang linya bawat araw — sino ang pinalakas, sino ang ini-honor.</a:t>
            </a:r>
          </a:p>
          <a:p>
            <a:r>
              <a:rPr lang="en-US" dirty="0"/>
              <a:t>Pangatlo, ang apat na assignments: pampalakas-loob, active listening, isang halimbawa, at honor sa hindi napapansin.</a:t>
            </a:r>
          </a:p>
          <a:p>
            <a:r>
              <a:rPr lang="en-US" dirty="0"/>
              <a:t>Basahin nang malakas ang Pangako Ko ng L16: Dahil nais kong makita ng iba si Cristo sa aking buhay, nangangako ako na ngayong linggo ay...</a:t>
            </a:r>
          </a:p>
          <a:p>
            <a:r>
              <a:rPr lang="en-US" dirty="0"/>
              <a:t>Ang tono: pag-ani, hindi paghuhusga — i-celebrate ang bawat natapos, ngitian ang bawat kulang.</a:t>
            </a:r>
          </a:p>
          <a:p>
            <a:r>
              <a:rPr lang="en-US" dirty="0"/>
              <a:t>Tulay: noong L16, ang buhay natin ang salamin; ngayong gabi, ang mga relasyon natin ang hasaan.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Itaas ang kamay: sino ang nakatapos ng kahit tatlong araw ng Salamin Tracker?</a:t>
            </a:r>
          </a:p>
          <a:p>
            <a:r>
              <a:rPr lang="en-US" dirty="0"/>
              <a:t>Sino ang kumpleto ang pitong araw?</a:t>
            </a:r>
          </a:p>
          <a:p>
            <a:r>
              <a:rPr lang="en-US" dirty="0"/>
              <a:t>Humingi ng ISANG hanay ng chart na natupad — ano ang hinubad, ano ang isinuot?</a:t>
            </a:r>
          </a:p>
          <a:p>
            <a:r>
              <a:rPr lang="en-US" dirty="0"/>
              <a:t>Humingi ng ISANG kuwento ng pampalakas-loob o honor — ano ang naging tugon ng tao?</a:t>
            </a:r>
          </a:p>
          <a:p>
            <a:r>
              <a:rPr lang="en-US" dirty="0"/>
              <a:t>Bantayan ang oras — dalawang minuto lang; ang mahahabang kuwento ay pang-LCG.</a:t>
            </a:r>
          </a:p>
          <a:p>
            <a:r>
              <a:rPr lang="en-US" dirty="0"/>
              <a:t>Itala ng interns kung sino ang walang dala — para sa gentle catch-up, hindi pagsabihan.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2 min (target 00:07)</a:t>
            </a:r>
          </a:p>
          <a:p>
            <a:r>
              <a:rPr lang="en-US" dirty="0"/>
              <a:t>KUWENTO — Walang Iwanan sa Himpapawid (basahin nang buo, Chicken Soup style).</a:t>
            </a:r>
          </a:p>
          <a:p>
            <a:r>
              <a:rPr lang="en-US" dirty="0"/>
              <a:t>Tumingala ka minsan sa langit kapag dumaraan ang mga gansa.</a:t>
            </a:r>
          </a:p>
          <a:p>
            <a:r>
              <a:rPr lang="en-US" dirty="0"/>
              <a:t>Bihira kang makakita ng gansang nagso-solo flight.</a:t>
            </a:r>
          </a:p>
          <a:p>
            <a:r>
              <a:rPr lang="en-US" dirty="0"/>
              <a:t>Lagi silang lumilipad nang may kasama.</a:t>
            </a:r>
          </a:p>
          <a:p>
            <a:r>
              <a:rPr lang="en-US" dirty="0"/>
              <a:t>Kapag nabuo na ang tropa, parang Voltes V — nagvo-volt-in sila.</a:t>
            </a:r>
          </a:p>
          <a:p>
            <a:r>
              <a:rPr lang="en-US" dirty="0"/>
              <a:t>Bumubuo sila ng hugis-V, at sabay-sabay na lumilipad patungo sa iisang destinasyong naka-set na.</a:t>
            </a:r>
          </a:p>
          <a:p>
            <a:r>
              <a:rPr lang="en-US" dirty="0"/>
              <a:t>Sa ganoong formation, ayon sa aklat, tumataas nang 71% ang kanilang flight efficiency kumpara kung lilipad silang mag-isa.</a:t>
            </a:r>
          </a:p>
          <a:p>
            <a:r>
              <a:rPr lang="en-US" dirty="0"/>
              <a:t>Pero hindi lang iyon.</a:t>
            </a:r>
          </a:p>
          <a:p>
            <a:r>
              <a:rPr lang="en-US" dirty="0"/>
              <a:t>Kapag napagod na ang leader na nasa unahan, hindi siya nagmamatigas.</a:t>
            </a:r>
          </a:p>
          <a:p>
            <a:r>
              <a:rPr lang="en-US" dirty="0"/>
              <a:t>Pumupunta lang siya sa likod para magpahinga.</a:t>
            </a:r>
          </a:p>
          <a:p>
            <a:r>
              <a:rPr lang="en-US" dirty="0"/>
              <a:t>At agad-agad, may papalit sa kaniya para manguna.</a:t>
            </a:r>
          </a:p>
          <a:p>
            <a:r>
              <a:rPr lang="en-US" dirty="0"/>
              <a:t>Ang mga gansang nasa likuran naman ng leader, walang patid ang pag-quack.</a:t>
            </a:r>
          </a:p>
          <a:p>
            <a:r>
              <a:rPr lang="en-US" dirty="0"/>
              <a:t>Hindi iyon reklamo — pampalakas-loob iyon sa nasa harap.</a:t>
            </a:r>
          </a:p>
          <a:p>
            <a:r>
              <a:rPr lang="en-US" dirty="0"/>
              <a:t>At heto ang pinakamaganda.</a:t>
            </a:r>
          </a:p>
          <a:p>
            <a:r>
              <a:rPr lang="en-US" dirty="0"/>
              <a:t>Sa tuwing may isang gansang nagkakasakit, nai-injure, o hindi na makasabay sa kampay...</a:t>
            </a:r>
          </a:p>
          <a:p>
            <a:r>
              <a:rPr lang="en-US" dirty="0"/>
              <a:t>...sinasamahan ito ng ilang gansa pababa.</a:t>
            </a:r>
          </a:p>
          <a:p>
            <a:r>
              <a:rPr lang="en-US" dirty="0"/>
              <a:t>Hindi nila siya iniiwan hanggang sa mamatay siya, o hanggang sa lumakas siyang muli.</a:t>
            </a:r>
          </a:p>
          <a:p>
            <a:r>
              <a:rPr lang="en-US" dirty="0"/>
              <a:t>Walang iwanan hanggang dulo.</a:t>
            </a:r>
          </a:p>
          <a:p>
            <a:r>
              <a:rPr lang="en-US" dirty="0"/>
              <a:t>Kapag naka-recover na ang nanghina, sabay-sabay silang kakampay pabalik sa himpapawid.</a:t>
            </a:r>
          </a:p>
          <a:p>
            <a:r>
              <a:rPr lang="en-US" dirty="0"/>
              <a:t>Hahabulin nila ang mga unang nakasama — o makikisanib-puwersa na lang sa ibang grupo kung naiwanan na.</a:t>
            </a:r>
          </a:p>
          <a:p>
            <a:r>
              <a:rPr lang="en-US" dirty="0"/>
              <a:t>Galing, 'di ba?</a:t>
            </a:r>
          </a:p>
          <a:p>
            <a:r>
              <a:rPr lang="en-US" dirty="0"/>
              <a:t>Buti pa sila.</a:t>
            </a:r>
          </a:p>
          <a:p>
            <a:r>
              <a:rPr lang="en-US" dirty="0"/>
              <a:t>Kung matututo lang tayong mag-isip at mamuhay na kagaya ng mga gansa, mas malayo ang mararating natin — bilang isang grupo, isang church, at isang bansa.</a:t>
            </a:r>
          </a:p>
          <a:p>
            <a:r>
              <a:rPr lang="en-US" dirty="0"/>
              <a:t>Basahin nang buhay; huminto sandali pagkatapos ng Walang iwanan hanggang dulo.</a:t>
            </a:r>
          </a:p>
          <a:p>
            <a:r>
              <a:rPr lang="en-US" dirty="0"/>
              <a:t>Huwag pang ipaliwanag ang aral — hayaang ang mga gansa ang magsalita.</a:t>
            </a:r>
          </a:p>
          <a:p>
            <a:r>
              <a:rPr lang="en-US" dirty="0"/>
              <a:t>Ang 71% ay ayon sa UNLAD; sabihin lang ito gaya ng nakasulat sa aklat.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PUKAW · 1 min (target 00:08)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mismo sa UNLAD workbook ang tanong na ito.</a:t>
            </a:r>
          </a:p>
          <a:p>
            <a:r>
              <a:rPr lang="en-US" dirty="0"/>
              <a:t>Silent writing muna, tapos 1-2 sasagot lang.</a:t>
            </a:r>
          </a:p>
          <a:p>
            <a:r>
              <a:rPr lang="en-US" dirty="0"/>
              <a:t>Asahan ang mga sagot na: hindi nagso-solo, nagpapalitan ng pamumuno, nagpapalakas-loob, hindi nang-iiwan, iisa ang destinasyon.</a:t>
            </a:r>
          </a:p>
          <a:p>
            <a:r>
              <a:rPr lang="en-US" dirty="0"/>
              <a:t>Kapag may pumili ng walang iwanan, itanong nang mahinahon: Sino ang huling taong sinamahan mo pababa?</a:t>
            </a:r>
          </a:p>
          <a:p>
            <a:r>
              <a:rPr lang="en-US" dirty="0"/>
              <a:t>Huwag sagutin; hayaan munang nakabitin ang tanong.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00:10)</a:t>
            </a:r>
          </a:p>
          <a:p>
            <a:r>
              <a:rPr lang="en-US" dirty="0"/>
              <a:t>Basahin ang Big Idea nang dahan-dahan, tapos ipabasa sa lahat.</a:t>
            </a:r>
          </a:p>
          <a:p>
            <a:r>
              <a:rPr lang="en-US" dirty="0"/>
              <a:t>Ang servant-leadership ay tungkol sa relationships.</a:t>
            </a:r>
          </a:p>
          <a:p>
            <a:r>
              <a:rPr lang="en-US" dirty="0"/>
              <a:t>Hindi mo puwedeng balewalain ang mga tao sa buhay mo dahil, bukod sa biyaya at habag ng Panginoon, nakasalalay ang ating success o failure sa pakikitungo at pakikiugnay sa kanila.</a:t>
            </a:r>
          </a:p>
          <a:p>
            <a:r>
              <a:rPr lang="en-US" dirty="0"/>
              <a:t>Dapat maging handa tayong mamuhunan ng oras, lakas, tiyaga, at pasensya para ma-cultivate ang mahahalagang relationships sa ating buhay.</a:t>
            </a:r>
          </a:p>
          <a:p>
            <a:r>
              <a:rPr lang="en-US" dirty="0"/>
              <a:t>Hindi sinasabing mabuhay ka para lang pasayahin ang ibang tao — ang sinasabi lang ay malaking parte ito ng mga tungkulin ng isang servant-leader.</a:t>
            </a:r>
          </a:p>
          <a:p>
            <a:r>
              <a:rPr lang="en-US" dirty="0"/>
              <a:t>Tandaan: pinapahalagahan ng mga tao ang mga taong nagpapahalaga sa kanila.</a:t>
            </a:r>
          </a:p>
          <a:p>
            <a:r>
              <a:rPr lang="en-US" dirty="0"/>
              <a:t>Sabihin sa participants: may mga patlang sa guide ninyo — punan habang nakikinig.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00:12)</a:t>
            </a:r>
          </a:p>
          <a:p>
            <a:r>
              <a:rPr lang="en-US" dirty="0"/>
              <a:t>Sabi ni John Maxwell: Puwede tayong paliparin katulad ng hangin sa agila, o pigilang umusad tulad ng anchor sa barko, ng mga taong nasa paligid natin.</a:t>
            </a:r>
          </a:p>
          <a:p>
            <a:r>
              <a:rPr lang="en-US" dirty="0"/>
              <a:t>Saktong-sakto ang sinabi ng author at management expert na si William B. Given Jr.</a:t>
            </a:r>
          </a:p>
          <a:p>
            <a:r>
              <a:rPr lang="en-US" dirty="0"/>
              <a:t>Kung makasarili ka at sinusulong mo lang ang iyong interes, iisa lang ang nagtatrabaho para sa iyo — ang sarili mo.</a:t>
            </a:r>
          </a:p>
          <a:p>
            <a:r>
              <a:rPr lang="en-US" dirty="0"/>
              <a:t>Kung tinutulungan mo ang isang dosenang tao sa kanilang mga problema, may makakasama ka namang isang dosenang taong kumikilos kasabay mo.</a:t>
            </a:r>
          </a:p>
          <a:p>
            <a:r>
              <a:rPr lang="en-US" dirty="0"/>
              <a:t>Hindi ka tutulong para matulungan pabalik; tutulong ka dahil mahalaga sila para sa iyo.</a:t>
            </a:r>
          </a:p>
          <a:p>
            <a:r>
              <a:rPr lang="en-US" dirty="0"/>
              <a:t>Hindi mo sila ginagamit — nagpapagamit ka sa Panginoon para hipuin ang buhay nila.</a:t>
            </a:r>
          </a:p>
          <a:p>
            <a:r>
              <a:rPr lang="en-US" dirty="0"/>
              <a:t>Matuto ka mula sa iba at hayaan mo ring matuto sila mula sa iyo; suportahan mo sila at magpasuporta ka rin — give and 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00:13)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mismo sa UNLAD workbook ang tanong na ito.</a:t>
            </a:r>
          </a:p>
          <a:p>
            <a:r>
              <a:rPr lang="en-US" dirty="0"/>
              <a:t>Bago ang tanong, basahin ang Matthew 23:12 — ang batas ng spiritual gravity: Ang nagmamataas ay ibababa, at ang nagpapakumbaba ay itataas.</a:t>
            </a:r>
          </a:p>
          <a:p>
            <a:r>
              <a:rPr lang="en-US" dirty="0"/>
              <a:t>Kung tingin natin ay walang maiaambag ang ibang tao sa buhay natin, malamang masyadong mataas na ang tingin natin sa sarili.</a:t>
            </a:r>
          </a:p>
          <a:p>
            <a:r>
              <a:rPr lang="en-US" dirty="0"/>
              <a:t>Isulat muna, tapos 2-3 sasagot.</a:t>
            </a:r>
          </a:p>
          <a:p>
            <a:r>
              <a:rPr lang="en-US" dirty="0"/>
              <a:t>Hanapin ang dalawang direksyon: ang taong tinuruan mo, at ang taong nagturo sa iyo.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00:15)</a:t>
            </a:r>
          </a:p>
          <a:p>
            <a:r>
              <a:rPr lang="en-US" dirty="0"/>
              <a:t>Kung susuriin ang Ten Commandments, makikita na ang First to Fourth Commandments ay may kinalaman sa relasyon natin sa Dios.</a:t>
            </a:r>
          </a:p>
          <a:p>
            <a:r>
              <a:rPr lang="en-US" dirty="0"/>
              <a:t>Ang Fifth to Tenth naman ay may kinalaman sa relasyon natin sa ibang tao — all in all, tungkol ito lahat sa relationships.</a:t>
            </a:r>
          </a:p>
          <a:p>
            <a:r>
              <a:rPr lang="en-US" dirty="0"/>
              <a:t>Hindi maitatanggi ang pangangailangang ma-cultivate ang mga importanteng God-ordained relationships sa ating buhay bilang servant-leaders.</a:t>
            </a:r>
          </a:p>
          <a:p>
            <a:r>
              <a:rPr lang="en-US" dirty="0"/>
              <a:t>Makikita sa buhay at teachings ni Apostle Paul ang anim na relationships na dapat nating paglaanan ng atensyon.</a:t>
            </a:r>
          </a:p>
          <a:p>
            <a:r>
              <a:rPr lang="en-US" dirty="0"/>
              <a:t>Ipabilang sa daliri ang anim na direksyon: Upward, Inward, Sideward, Onward, Forward, Outward.</a:t>
            </a:r>
          </a:p>
          <a:p>
            <a:r>
              <a:rPr lang="en-US" dirty="0"/>
              <a:t>Ito ang competence natin ngayong gabi: ang Anim na Direksyon ng Ugnayan.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00:17)</a:t>
            </a:r>
          </a:p>
          <a:p>
            <a:r>
              <a:rPr lang="en-US" dirty="0"/>
              <a:t>Si Jesus mismo ang gumamit ng napakagandang metaphor: Ako ang tunay na puno ng ubas at ang aking Ama ang tagapag-alaga (John 15:1).</a:t>
            </a:r>
          </a:p>
          <a:p>
            <a:r>
              <a:rPr lang="en-US" dirty="0"/>
              <a:t>Ang pinakamahalagang relasyon na dapat nating i-pursue ay ang relasyon natin sa Dios — dahil wala tayong magagawa kung hiwalay tayo sa Kaniya.</a:t>
            </a:r>
          </a:p>
          <a:p>
            <a:r>
              <a:rPr lang="en-US" dirty="0"/>
              <a:t>Lahat ng ginagawa natin bilang servant-leaders ay nagbubukal at nag-uumapaw lamang mula sa relasyon natin sa Kaniya — nothing more, nothing less.</a:t>
            </a:r>
          </a:p>
          <a:p>
            <a:r>
              <a:rPr lang="en-US" dirty="0"/>
              <a:t>Kapag malalim ang ugat sa Kaniya — regular ang paglilinis at nourishment sa pananalangin at pagbubulay-bulay ng Salita (John 15:2-4) — magiging sagana ang pagbubunga.</a:t>
            </a:r>
          </a:p>
          <a:p>
            <a:r>
              <a:rPr lang="en-US" dirty="0"/>
              <a:t>Kaya sinabi ni Paul sa Philippians 3:14: I press on toward the goal for the prize of the upward call of God in Christ Jesus.</a:t>
            </a:r>
          </a:p>
          <a:p>
            <a:r>
              <a:rPr lang="en-US" dirty="0"/>
              <a:t>Pansinin ang verbs sa Philippians 3:10: lubusang makilala, maranasan, makibahagi, maging katulad — lahat ay relational terms.</a:t>
            </a:r>
          </a:p>
          <a:p>
            <a:r>
              <a:rPr lang="en-US" dirty="0"/>
              <a:t>Ang panawagan ng Panginoon ay laging isang panawagan papalapit sa Kaniya. Bago ka gumawa, magpahinga ka sa Kaniya; bago ka sumugod, sumukob ka muna.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00:19)</a:t>
            </a:r>
          </a:p>
          <a:p>
            <a:r>
              <a:rPr lang="en-US" dirty="0"/>
              <a:t>Sabi ni Dr. Gavino S. Tica, ang kumpiyansa natin sa sarili ay nakadepende lang sa kumpiyansa natin sa Panginoon — para tayong buwan na walang sariling sinag liban sa liwanag na nanggagaling sa araw.</a:t>
            </a:r>
          </a:p>
          <a:p>
            <a:r>
              <a:rPr lang="en-US" dirty="0"/>
              <a:t>Totoong winarningan tayo ng Bible: huwag ninyong pahalagahan ang inyong sarili nang higit sa nararapat, at huwag kayong magmayabang (Romans 12:3, 16) — pero hindi ito nangangahulugang laging ida-down ang sarili at magkakaroon ng negative self-image.</a:t>
            </a:r>
          </a:p>
          <a:p>
            <a:r>
              <a:rPr lang="en-US" dirty="0"/>
              <a:t>Sabi ni Jesus sa Matthew 22:39: Ibigin mo ang iyong kapwa gaya ng pag-ibig mo sa iyong sarili — paano mo magagawa iyan kung hindi mo mamahalin ang iyong sarili Biblically?</a:t>
            </a:r>
          </a:p>
          <a:p>
            <a:r>
              <a:rPr lang="en-US" dirty="0"/>
              <a:t>Pangit sa servant-leader ang angas — walang pahinga ang pagtaas ng noo at ilong; pero pangit din ang laging lugmok, bagsak-balikat at kulubot-labi, nakayuko kahit tumatawid sa kalsada.</a:t>
            </a:r>
          </a:p>
          <a:p>
            <a:r>
              <a:rPr lang="en-US" dirty="0"/>
              <a:t>Sabi ni Paul Tripp: walang ibang mas influential na tao sa buhay mo kundi ang iyong sarili, dahil wala kang ibang mas madalas pakinggan at pagsalitain kundi ang iyong sarili.</a:t>
            </a:r>
          </a:p>
          <a:p>
            <a:r>
              <a:rPr lang="en-US" dirty="0"/>
              <a:t>Sabi ni Maxwell: kung ika'y mapagtiwala, ituturing mong mapagkakatiwalaan ang iba; kung ika'y mapamintas, ituturing mong mapamintas ang iba — lumalabas ang iyong pagkatao kapag nilalarawan mo ang iba.</a:t>
            </a:r>
          </a:p>
          <a:p>
            <a:r>
              <a:rPr lang="en-US" dirty="0"/>
              <a:t>Kaya ang bilin ni Paul kay Timothy sa 1 Timothy 4:12 ay maging halimbawa — at magagawa niya lang ito kapag naintindihan niya ang 2 Timothy 1:7.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00:20)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mismo sa UNLAD workbook ang tanong na ito.</a:t>
            </a:r>
          </a:p>
          <a:p>
            <a:r>
              <a:rPr lang="en-US" dirty="0"/>
              <a:t>Sa aklat, may dalawang bahagi: tumingin sa salamin at ilarawan ang sarili, tapos tumingin sa Salamin ng Salita ng Dios.</a:t>
            </a:r>
          </a:p>
          <a:p>
            <a:r>
              <a:rPr lang="en-US" dirty="0"/>
              <a:t>Silent writing; isang minuto lang.</a:t>
            </a:r>
          </a:p>
          <a:p>
            <a:r>
              <a:rPr lang="en-US" dirty="0"/>
              <a:t>Halimbawa ng sagot: anak ng Dios (John 1:12), bagong nilalang, minamahal, may layunin.</a:t>
            </a:r>
          </a:p>
          <a:p>
            <a:r>
              <a:rPr lang="en-US" dirty="0"/>
              <a:t>Kung wala kang ibang pinaniniwalaan sa sarili mo kundi ang mga kasinungalingan ng diablo, mabubuhay ka bilang isang talunan — at titingnan mo rin ang iba sa ganoong paraan.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00:22)</a:t>
            </a:r>
          </a:p>
          <a:p>
            <a:r>
              <a:rPr lang="en-US" dirty="0"/>
              <a:t>Hindi sukatan ng iyong competence ang palagiang pakikipagkompetensya sa kapwa-manggagawa.</a:t>
            </a:r>
          </a:p>
          <a:p>
            <a:r>
              <a:rPr lang="en-US" dirty="0"/>
              <a:t>Nakakaumay makita na mismong members pa ng katawan ni Cristo ang nagpapataasan, nagpapa-angasan, at nagtutunggalian.</a:t>
            </a:r>
          </a:p>
          <a:p>
            <a:r>
              <a:rPr lang="en-US" dirty="0"/>
              <a:t>Ang madalas na sumisira sa gawain ni Lord ay mga civil wars sa loob mismo ng isang Bible study group, local church, mission organization, o Christianity in general.</a:t>
            </a:r>
          </a:p>
          <a:p>
            <a:r>
              <a:rPr lang="en-US" dirty="0"/>
              <a:t>Small group leader kontra co-leaders, musician kontra musician, deacons kontra pastors, associate pastors kontra lead pastors — ang resulta? Wasak ang gawain, masaya si Satan.</a:t>
            </a:r>
          </a:p>
          <a:p>
            <a:r>
              <a:rPr lang="en-US" dirty="0"/>
              <a:t>Balikan ang early church: tinawag ni Paul si Timothy na kapatid at kamanggagawa para sa Diyos — co-worker, kabalikat, fellow-laborer.</a:t>
            </a:r>
          </a:p>
          <a:p>
            <a:r>
              <a:rPr lang="en-US" dirty="0"/>
              <a:t>Karamihan sa mga kasama ni Paul ay lay leaders na tinrato niya nang walang bahid ng kagaspangan — iyan ang kahinahunan, ang character anchor natin.</a:t>
            </a:r>
          </a:p>
          <a:p>
            <a:r>
              <a:rPr lang="en-US" dirty="0"/>
              <a:t>Kahit may mga pasaway na kasamahan, nangingibabaw pa rin ang pagmamahal at pagkakaisa — magkaisa kayo at huwag magkabaha-bahagi (1 Corinthians 1:10).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00:23)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mismo sa UNLAD workbook ang tanong na ito.</a:t>
            </a:r>
          </a:p>
          <a:p>
            <a:r>
              <a:rPr lang="en-US" dirty="0"/>
              <a:t>Isulat muna, 2-3 sasagot.</a:t>
            </a:r>
          </a:p>
          <a:p>
            <a:r>
              <a:rPr lang="en-US" dirty="0"/>
              <a:t>Asahan: pride, kompetensya, insecurity, tsismis, iba-iba ang preferences sa worship o doctrine.</a:t>
            </a:r>
          </a:p>
          <a:p>
            <a:r>
              <a:rPr lang="en-US" dirty="0"/>
              <a:t>Bantayan na hindi ito maging pagbatikos sa ibang church o tao — ang tanong ay para sa sarili nating puso.</a:t>
            </a:r>
          </a:p>
          <a:p>
            <a:r>
              <a:rPr lang="en-US" dirty="0"/>
              <a:t>Landing: kadalasan, ang ugat ay pagmamataas — at ang lunas ay kahinahunan at kababaang-loob (Matthew 23:12).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3 min (target 00:26)</a:t>
            </a:r>
          </a:p>
          <a:p>
            <a:r>
              <a:rPr lang="en-US" dirty="0"/>
              <a:t>KUWENTO — Walang Paul Kung Walang Barnabas (basahin nang buo, Chicken Soup style).</a:t>
            </a:r>
          </a:p>
          <a:p>
            <a:r>
              <a:rPr lang="en-US" dirty="0"/>
              <a:t>Bago naging premyadong apostle at church-planter si Paul, may pinagdaanan muna siya.</a:t>
            </a:r>
          </a:p>
          <a:p>
            <a:r>
              <a:rPr lang="en-US" dirty="0"/>
              <a:t>Dumaan muna siya sa masinop na mentorship ng isang lalaking ang pangalan ay Barnabas.</a:t>
            </a:r>
          </a:p>
          <a:p>
            <a:r>
              <a:rPr lang="en-US" dirty="0"/>
              <a:t>Natatandaan mo pa ba kung sino si Paul noon?</a:t>
            </a:r>
          </a:p>
          <a:p>
            <a:r>
              <a:rPr lang="en-US" dirty="0"/>
              <a:t>Siya si Saul — ang taga-usig ng mga Kristyano.</a:t>
            </a:r>
          </a:p>
          <a:p>
            <a:r>
              <a:rPr lang="en-US" dirty="0"/>
              <a:t>Kaya noong naging mananampalataya siya, takot ang ibang mga mananampalataya na lumapit sa kaniya.</a:t>
            </a:r>
          </a:p>
          <a:p>
            <a:r>
              <a:rPr lang="en-US" dirty="0"/>
              <a:t>Pero may isang naglakas-loob.</a:t>
            </a:r>
          </a:p>
          <a:p>
            <a:r>
              <a:rPr lang="en-US" dirty="0"/>
              <a:t>Si Barnabas lang ang umabot sa kaniya, at nag-mentor sa kaniya.</a:t>
            </a:r>
          </a:p>
          <a:p>
            <a:r>
              <a:rPr lang="en-US" dirty="0"/>
              <a:t>Nagsimula ang relasyong iyon sa Acts 9 — si Barnabas ang nagdala kay Saul sa mga apostol.</a:t>
            </a:r>
          </a:p>
          <a:p>
            <a:r>
              <a:rPr lang="en-US" dirty="0"/>
              <a:t>Pero talagang tinutukan niya si Paul nang isama niya ito sa Antioch (Acts 11:25-26).</a:t>
            </a:r>
          </a:p>
          <a:p>
            <a:r>
              <a:rPr lang="en-US" dirty="0"/>
              <a:t>Sa loob ng isang buong taon, araw-araw niyang kasama si Paul sa pagtuturo sa mga bagong believers.</a:t>
            </a:r>
          </a:p>
          <a:p>
            <a:r>
              <a:rPr lang="en-US" dirty="0"/>
              <a:t>Isang buong taon. Araw-araw.</a:t>
            </a:r>
          </a:p>
          <a:p>
            <a:r>
              <a:rPr lang="en-US" dirty="0"/>
              <a:t>Sa totoo lang, walang Paul kung walang Barnabas.</a:t>
            </a:r>
          </a:p>
          <a:p>
            <a:r>
              <a:rPr lang="en-US" dirty="0"/>
              <a:t>Napakahalaga para sa isang servant-leader na patuloy na lumago sa pananampalataya at magkaroon ng accountability sa tulong ng personal mentors.</a:t>
            </a:r>
          </a:p>
          <a:p>
            <a:r>
              <a:rPr lang="en-US" dirty="0"/>
              <a:t>Kailangan natin ng mga taong mas malalim, mas experienced, at mas mature kaysa sa atin para matulungan tayong maabot ang ating full potential.</a:t>
            </a:r>
          </a:p>
          <a:p>
            <a:r>
              <a:rPr lang="en-US" dirty="0"/>
              <a:t>Sa mundo ng sports, kahit star player o super athlete ka pa, hindi ka uunlad nang husto kung wala kang coach!</a:t>
            </a:r>
          </a:p>
          <a:p>
            <a:r>
              <a:rPr lang="en-US" dirty="0"/>
              <a:t>Si David ay may dalawang mahalagang tao sa buhay niya: si Prophet Samuel at si Prophet Nathan.</a:t>
            </a:r>
          </a:p>
          <a:p>
            <a:r>
              <a:rPr lang="en-US" dirty="0"/>
              <a:t>Lagi nila siyang nagagabayan kapag kailangan niya ng direksyon.</a:t>
            </a:r>
          </a:p>
          <a:p>
            <a:r>
              <a:rPr lang="en-US" dirty="0"/>
              <a:t>At naitatama siya kapag lumilihis ang kaniyang daan.</a:t>
            </a:r>
          </a:p>
          <a:p>
            <a:r>
              <a:rPr lang="en-US" dirty="0"/>
              <a:t>Iyan ang malaking kalamangan ni David kay Solomon.</a:t>
            </a:r>
          </a:p>
          <a:p>
            <a:r>
              <a:rPr lang="en-US" dirty="0"/>
              <a:t>Kahit mas matalino si Solomon kay David, mapapansing walang masyadong involvement si Prophet Nathan sa buhay niya.</a:t>
            </a:r>
          </a:p>
          <a:p>
            <a:r>
              <a:rPr lang="en-US" dirty="0"/>
              <a:t>Kaya ayun — nagsimula sa karunungan, natapos sa kamangmangan.</a:t>
            </a:r>
          </a:p>
          <a:p>
            <a:r>
              <a:rPr lang="en-US" dirty="0"/>
              <a:t>Mas malala naman ang anak niyang si Rehoboam.</a:t>
            </a:r>
          </a:p>
          <a:p>
            <a:r>
              <a:rPr lang="en-US" dirty="0"/>
              <a:t>Kumuha nga siya ng mga advisers — mga bugok naman.</a:t>
            </a:r>
          </a:p>
          <a:p>
            <a:r>
              <a:rPr lang="en-US" dirty="0"/>
              <a:t>Sabi ng 1 Kings 12:8: binaliwala ni Rehoboam ang payo ng matatanda.</a:t>
            </a:r>
          </a:p>
          <a:p>
            <a:r>
              <a:rPr lang="en-US" dirty="0"/>
              <a:t>Sa halip, nagtanong siya sa mga kababata niya na ngayo'y naglilingkod sa kaniya.</a:t>
            </a:r>
          </a:p>
          <a:p>
            <a:r>
              <a:rPr lang="en-US" dirty="0"/>
              <a:t>Pinagkaitan niya ang sarili ng honest na feedback at malinaw na gabay.</a:t>
            </a:r>
          </a:p>
          <a:p>
            <a:r>
              <a:rPr lang="en-US" dirty="0"/>
              <a:t>At ang resulta?</a:t>
            </a:r>
          </a:p>
          <a:p>
            <a:r>
              <a:rPr lang="en-US" dirty="0"/>
              <a:t>Ang kaniyang pagbagsak — at ang pagkakahati ng kingdom of Israel.</a:t>
            </a:r>
          </a:p>
          <a:p>
            <a:r>
              <a:rPr lang="en-US" dirty="0"/>
              <a:t>Saklap.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00:27)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mismo sa UNLAD workbook ang tanong na ito.</a:t>
            </a:r>
          </a:p>
          <a:p>
            <a:r>
              <a:rPr lang="en-US" dirty="0"/>
              <a:t>Isulat muna, 2-3 sasagot.</a:t>
            </a:r>
          </a:p>
          <a:p>
            <a:r>
              <a:rPr lang="en-US" dirty="0"/>
              <a:t>Kapag may nagsabing wala siyang mentor, huwag pagsabihan — sabihin: magandang simula ng panalangin iyan ngayong linggo.</a:t>
            </a:r>
          </a:p>
          <a:p>
            <a:r>
              <a:rPr lang="en-US" dirty="0"/>
              <a:t>Puwedeng ang mentor ay discipler, LCG leader, magulang, o isang nakatatandang kapatid sa pananampalataya.</a:t>
            </a:r>
          </a:p>
          <a:p>
            <a:r>
              <a:rPr lang="en-US" dirty="0"/>
              <a:t>Itala ng interns ang mga walang mentor — para sa pastoral follow-up, hindi para ipahiya.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2 min (target 00:29)</a:t>
            </a:r>
          </a:p>
          <a:p>
            <a:r>
              <a:rPr lang="en-US" dirty="0"/>
              <a:t>At kitang-kita ang impluwensiya ni Barnabas kay Paul.</a:t>
            </a:r>
          </a:p>
          <a:p>
            <a:r>
              <a:rPr lang="en-US" dirty="0"/>
              <a:t>Dahil kung paano siya minentor ni Barnabas, ganoon din ang ginawa niya kina Timothy, Silvanus, at Titus.</a:t>
            </a:r>
          </a:p>
          <a:p>
            <a:r>
              <a:rPr lang="en-US" dirty="0"/>
              <a:t>Isinasama niya sila sa iba't ibang missionary journeys.</a:t>
            </a:r>
          </a:p>
          <a:p>
            <a:r>
              <a:rPr lang="en-US" dirty="0"/>
              <a:t>Hinahasa niya sila nang husto sa gawain.</a:t>
            </a:r>
          </a:p>
          <a:p>
            <a:r>
              <a:rPr lang="en-US" dirty="0"/>
              <a:t>At kapag handa na sila, ina-assign niya sila sa mga church na na-establish na.</a:t>
            </a:r>
          </a:p>
          <a:p>
            <a:r>
              <a:rPr lang="en-US" dirty="0"/>
              <a:t>Pero kahit pastor na sila, hindi pa rin tumitigil si Paul.</a:t>
            </a:r>
          </a:p>
          <a:p>
            <a:r>
              <a:rPr lang="en-US" dirty="0"/>
              <a:t>Patuloy niya silang ginagabayan, itinatama, at ini-encourage.</a:t>
            </a:r>
          </a:p>
          <a:p>
            <a:r>
              <a:rPr lang="en-US" dirty="0"/>
              <a:t>Life-long process ang pagdidisipulo.</a:t>
            </a:r>
          </a:p>
          <a:p>
            <a:r>
              <a:rPr lang="en-US" dirty="0"/>
              <a:t>At nang mamamatay na si Paul, may iniwan siyang bilin kay Timothy.</a:t>
            </a:r>
          </a:p>
          <a:p>
            <a:r>
              <a:rPr lang="en-US" dirty="0"/>
              <a:t>Ipagpatuloy mo ang proseso.</a:t>
            </a:r>
          </a:p>
          <a:p>
            <a:r>
              <a:rPr lang="en-US" dirty="0"/>
              <a:t>Ipagkatiwala mo ang narinig mo sa akin sa mga taong tapat — at may kakayahang magturo naman sa iba (2 Timothy 2:2).</a:t>
            </a:r>
          </a:p>
          <a:p>
            <a:r>
              <a:rPr lang="en-US" dirty="0"/>
              <a:t>Si Barnabas, kay Paul. Si Paul, kay Timothy. Si Timothy, sa mga tapat. At ang mga tapat, sa iba pa.</a:t>
            </a:r>
          </a:p>
          <a:p>
            <a:r>
              <a:rPr lang="en-US" dirty="0"/>
              <a:t>Hanggang umabot sa atin.</a:t>
            </a:r>
          </a:p>
          <a:p>
            <a:r>
              <a:rPr lang="en-US" dirty="0"/>
              <a:t>Walang success kung walang succession — isa sa mga pinakaimportanteng tasks ng isang servant-leader ang pagde-develop at paghahanda ng mga taong gagamitin ni Lord para sa susunod na henerasyon.</a:t>
            </a:r>
          </a:p>
          <a:p>
            <a:r>
              <a:rPr lang="en-US" dirty="0"/>
              <a:t>Totoong-totoo ang statement ni Andy Stanley: maaaring ang pinakamalaki mong ambag sa mundo ay hindi kung ano ang iyong ginawa kundi kung sino ang iyong inihanda.</a:t>
            </a:r>
          </a:p>
          <a:p>
            <a:r>
              <a:rPr lang="en-US" dirty="0"/>
              <a:t>Ipabilog sa guide ang dalawang qualities sa 2 Timothy 2:2: may katapatan, at may kakayahang magturo sa iba.</a:t>
            </a:r>
          </a:p>
          <a:p>
            <a:r>
              <a:rPr lang="en-US" dirty="0"/>
              <a:t>Manalangin ka sa Panginoon at humanap ng mga taong aalagaan, gagabayan, at tututukan.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1 min (target 00:30)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Mula mismo sa UNLAD workbook ang tanong na ito.</a:t>
            </a:r>
          </a:p>
          <a:p>
            <a:r>
              <a:rPr lang="en-US" dirty="0"/>
              <a:t>Isulat muna, 2-3 sasagot.</a:t>
            </a:r>
          </a:p>
          <a:p>
            <a:r>
              <a:rPr lang="en-US" dirty="0"/>
              <a:t>Kapag wala pang disciple, itanong: Sino ang isang taong may katapatan at may kakayahang magturo na puwede mong simulang ipanalangin?</a:t>
            </a:r>
          </a:p>
          <a:p>
            <a:r>
              <a:rPr lang="en-US" dirty="0"/>
              <a:t>Ito ang EOLO ng Rosehill sa praktika: Each One Love One.</a:t>
            </a:r>
          </a:p>
          <a:p>
            <a:r>
              <a:rPr lang="en-US" dirty="0"/>
              <a:t>Huwag gawing kompetisyon kung sino ang may pinakamaraming disciple.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TUKLAS · 3 min (target 00:33)</a:t>
            </a:r>
          </a:p>
          <a:p>
            <a:r>
              <a:rPr lang="en-US" dirty="0"/>
              <a:t>Totoong tayo'y inihiwalay na mula sa mundo at para sa Dios, pero hindi ito nangangahulugang wala na tayong tungkuling abutin ang mundo para kay Cristo.</a:t>
            </a:r>
          </a:p>
          <a:p>
            <a:r>
              <a:rPr lang="en-US" dirty="0"/>
              <a:t>Minsan masyadong extreme ang interpretation natin sa 2 Corinthians 6:17 — Kaya't lumayo kayo sa kanila, humiwalay kayo sa kanila — na nawawalan na tayo ng silbi sa mundo.</a:t>
            </a:r>
          </a:p>
          <a:p>
            <a:r>
              <a:rPr lang="en-US" dirty="0"/>
              <a:t>Tandaan ang Great Commission (Matthew 28:19) at ang Great Commandment (Matthew 22:37-39): paano natin magagawa ang mga ito kung hindi tayo aabot sa mundo?</a:t>
            </a:r>
          </a:p>
          <a:p>
            <a:r>
              <a:rPr lang="en-US" dirty="0"/>
              <a:t>Makikita natin ang matinding effort ni Apostle Paul na abutin ang lahat ng kaya niyang abutin: sinisikap naming hikayatin ang mga tao na manumbalik sa Dios (2 Corinthians 5:11).</a:t>
            </a:r>
          </a:p>
          <a:p>
            <a:r>
              <a:rPr lang="en-US" dirty="0"/>
              <a:t>Paglalaanan natin ng mas malalim na discussion ito sa Lesson 20 — Telling the Good News.</a:t>
            </a:r>
          </a:p>
          <a:p>
            <a:r>
              <a:rPr lang="en-US" dirty="0"/>
              <a:t>Ang character anchor: Kahinahunan o Gentleness, bunga ng Espiritu sa Galatians 5:23 — hindi ito kahinaan, kundi lakas na marunong humawak nang maingat.</a:t>
            </a:r>
          </a:p>
          <a:p>
            <a:r>
              <a:rPr lang="en-US" dirty="0"/>
              <a:t>Kailangan natin ito sa lahat ng direksyon: mahinahon sa sarili, mahinahon sa co-workers, mahinahon kapag itinatama ng mentor, mahinahon kapag nagtatama ng disciple, at mahinahon sa mga hindi pa mananampalataya.</a:t>
            </a:r>
          </a:p>
          <a:p>
            <a:r>
              <a:rPr lang="en-US" dirty="0"/>
              <a:t>Ang bakal na nagpapatalas ay hindi bakal na pumapalo — ito ang tulay sa TALAKAY.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1 min (target 00:34)</a:t>
            </a:r>
          </a:p>
          <a:p>
            <a:r>
              <a:rPr lang="en-US" dirty="0"/>
              <a:t>Parehong apat na rules ng TALAKAY: no fixing, no comparison, no preaching, confidential.</a:t>
            </a:r>
          </a:p>
          <a:p>
            <a:r>
              <a:rPr lang="en-US" dirty="0"/>
              <a:t>Tables ng tatlo hanggang apat.</a:t>
            </a:r>
          </a:p>
          <a:p>
            <a:r>
              <a:rPr lang="en-US" dirty="0"/>
              <a:t>Magsimula ka — ikuwento nang maikli ang isang relasyon na napabayaan mo, at kung paano ito inayos ng Dios.</a:t>
            </a:r>
          </a:p>
          <a:p>
            <a:r>
              <a:rPr lang="en-US" dirty="0"/>
              <a:t>Ang vulnerability ng lead ang nagbubukas ng pinto para sa 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4 min (target 00:38)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interact question ng UNLAD mismo.</a:t>
            </a:r>
          </a:p>
          <a:p>
            <a:r>
              <a:rPr lang="en-US" dirty="0"/>
              <a:t>Basahin nang buo ang 1 John 3:16: Dito natin nalalaman ang pag-ibig: inialay ni Cristo ang kanyang buhay para sa atin. Kaya't dapat din nating ialay ang ating buhay para sa mga kapatid.</a:t>
            </a:r>
          </a:p>
          <a:p>
            <a:r>
              <a:rPr lang="en-US" dirty="0"/>
              <a:t>Asahan: mas komportable tayong tumanggap ng pag-ibig kaysa magbigay; ang John 3:16 ay tungkol sa ginawa ng Dios, ang 1 John 3:16 ay tungkol sa gagawin natin.</a:t>
            </a:r>
          </a:p>
          <a:p>
            <a:r>
              <a:rPr lang="en-US" dirty="0"/>
              <a:t>Hamunin nang marahan: Kung kilala ng mundo ang 1 John 3:16 sa paraan ng pagtrato natin sa isa't isa, ano kaya ang makikita nila?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3 min (target 00:41)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Balikan ang anim na direksyon sa slide 10.</a:t>
            </a:r>
          </a:p>
          <a:p>
            <a:r>
              <a:rPr lang="en-US" dirty="0"/>
              <a:t>Hayaang pumili ang bawat isa ng isang napapabayaang relasyon.</a:t>
            </a:r>
          </a:p>
          <a:p>
            <a:r>
              <a:rPr lang="en-US" dirty="0"/>
              <a:t>Asahan na marami ang pipili ng Upward o Onward — walang panahon sa Dios, o walang mentor.</a:t>
            </a:r>
          </a:p>
          <a:p>
            <a:r>
              <a:rPr lang="en-US" dirty="0"/>
              <a:t>I-celebrate ang katapatan bago ang solusyon — no fixing.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TALAKAY · 4 min (target 00:45)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Ibalik sa memory verse: ang bakal ay nagpapatalas sa bakal — may kislap at init, pero dapat may kahinahunan.</a:t>
            </a:r>
          </a:p>
          <a:p>
            <a:r>
              <a:rPr lang="en-US" dirty="0"/>
              <a:t>PASTORAL CARE: ang pagpapatalas ay hindi pang-aabuso; ang kahinahunan ay hindi pananatili sa mapanganib na sitwasyon.</a:t>
            </a:r>
          </a:p>
          <a:p>
            <a:r>
              <a:rPr lang="en-US" dirty="0"/>
              <a:t>Huwag hayaang maging tsismis ang sharing — walang pangalan kung hindi kailangan.</a:t>
            </a:r>
          </a:p>
          <a:p>
            <a:r>
              <a:rPr lang="en-US" dirty="0"/>
              <a:t>Kung may usaping pang-abuso o panganib, hindi ito ang lugar — i-flag sa lead para sa pribadong pastoral care.</a:t>
            </a:r>
          </a:p>
          <a:p>
            <a:r>
              <a:rPr lang="en-US" dirty="0"/>
              <a:t>Isara ang TALAKAY sa isang pangungusap na panalangin ng isang miyembro ng bawat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2 min (target 00:47)</a:t>
            </a:r>
          </a:p>
          <a:p>
            <a:r>
              <a:rPr lang="en-US" dirty="0"/>
              <a:t>Ito ang TUGON ng UNLAD mismo: ang Personal Relationship Evaluation.</a:t>
            </a:r>
          </a:p>
          <a:p>
            <a:r>
              <a:rPr lang="en-US" dirty="0"/>
              <a:t>I-assess ang sarili base sa anim na relasyon na napag-aralan natin ngayong gabi.</a:t>
            </a:r>
          </a:p>
          <a:p>
            <a:r>
              <a:rPr lang="en-US" dirty="0"/>
              <a:t>Lagyan ng check ang emoticon na nagre-represent sa iyong personal assessment, at isulat ang dahilan sa tabi nito.</a:t>
            </a:r>
          </a:p>
          <a:p>
            <a:r>
              <a:rPr lang="en-US" dirty="0"/>
              <a:t>Balikan ang mga gansa: walang iwanan — kahit ang pinakamahinang relasyon mo ay hindi dapat iwanan sa ere.</a:t>
            </a:r>
          </a:p>
          <a:p>
            <a:r>
              <a:rPr lang="en-US" dirty="0"/>
              <a:t>Pagkatapos, manalangin para sa mga opportunities na maayos o ma-improve ang iyong mga relasyon.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5 min (target 00:52)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Anim na hanay: Upward sa Dios, Inward sa sarili, Sideward sa co-workers, Onward sa mentor, Forward sa disciple, Outward sa non-believers.</a:t>
            </a:r>
          </a:p>
          <a:p>
            <a:r>
              <a:rPr lang="en-US" dirty="0"/>
              <a:t>Limang emoticon mula malungkot hanggang masaya — ito ang grading ng UNLAD, kapalit ng A hanggang E.</a:t>
            </a:r>
          </a:p>
          <a:p>
            <a:r>
              <a:rPr lang="en-US" dirty="0"/>
              <a:t>Silent writing. GUARD THE SILENCE.</a:t>
            </a:r>
          </a:p>
          <a:p>
            <a:r>
              <a:rPr lang="en-US" dirty="0"/>
              <a:t>Pagkatapos, tahimik na ipanalangin ang anim na relasyon, isa-isa.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TUGON · 3 min (target 00:55)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Ito ang challenge ng aralin: gawing may pangalan ang bawat direksyon.</a:t>
            </a:r>
          </a:p>
          <a:p>
            <a:r>
              <a:rPr lang="en-US" dirty="0"/>
              <a:t>Halimbawa: Onward — si Kuya Ben; Forward — si Mark sa LCG; Outward — ang katrabahong si Liza.</a:t>
            </a:r>
          </a:p>
          <a:p>
            <a:r>
              <a:rPr lang="en-US" dirty="0"/>
              <a:t>Pagkatapos, pumili ng pinakamahinang relasyon mula sa evaluation at isulat ang isang specific na hakbang ngayong linggo.</a:t>
            </a:r>
          </a:p>
          <a:p>
            <a:r>
              <a:rPr lang="en-US" dirty="0"/>
              <a:t>Isang pangungusap sa katabi: Ang pinakamahinang relasyon ko ay... at ang gagawin ko ay...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2 min (target 00:57)</a:t>
            </a:r>
          </a:p>
          <a:p>
            <a:r>
              <a:rPr lang="en-US" dirty="0"/>
              <a:t>Tatlong practice assignments mula sa anim na direksyon ng UNLAD Lesson 7.</a:t>
            </a:r>
          </a:p>
          <a:p>
            <a:r>
              <a:rPr lang="en-US" dirty="0"/>
              <a:t>Una, Onward: pasalamatan ang iyong mentor — sabihin kung paano ka niya natulungan sa iyong personal growth.</a:t>
            </a:r>
          </a:p>
          <a:p>
            <a:r>
              <a:rPr lang="en-US" dirty="0"/>
              <a:t>Pangalawa, Sideward: patibayin o ayusin ang isang relasyon sa kapwa-manggagawa, nang may kahinahunan — walang bahid ng kagaspangan.</a:t>
            </a:r>
          </a:p>
          <a:p>
            <a:r>
              <a:rPr lang="en-US" dirty="0"/>
              <a:t>Pangatlo, Forward: pumili ng isang potential disciple na may katapatan at may kakayahang magturo, ipanalangin siya, at kumustahin.</a:t>
            </a:r>
          </a:p>
          <a:p>
            <a:r>
              <a:rPr lang="en-US" dirty="0"/>
              <a:t>Ang Upward: ang 7-Day Reading sa guide — isang passage bawat araw tungkol sa anim na direksyon, at isang linya ng insight.</a:t>
            </a:r>
          </a:p>
          <a:p>
            <a:r>
              <a:rPr lang="en-US" dirty="0"/>
              <a:t>Sabihin nang malinaw: ang mga ito ang unang babalikan ng L18.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2 min (target 00:59)</a:t>
            </a:r>
          </a:p>
          <a:p>
            <a:r>
              <a:rPr lang="en-US" dirty="0"/>
              <a:t>PARTICIPANT GUIDE QUESTION.</a:t>
            </a:r>
          </a:p>
          <a:p>
            <a:r>
              <a:rPr lang="en-US" dirty="0"/>
              <a:t>Isulat muna sa guide, tapos bigkasin sa katabi.</a:t>
            </a:r>
          </a:p>
          <a:p>
            <a:r>
              <a:rPr lang="en-US" dirty="0"/>
              <a:t>Konkreto: hindi aayusin ko ang relasyon ko, kundi tatawagan ko si ganito sa Martes at hihingi ako ng tawad.</a:t>
            </a:r>
          </a:p>
          <a:p>
            <a:r>
              <a:rPr lang="en-US" dirty="0"/>
              <a:t>Ikabit sa Anim na Pangalan at sa tatlong assignments.</a:t>
            </a:r>
          </a:p>
          <a:p>
            <a:r>
              <a:rPr lang="en-US" dirty="0"/>
              <a:t>Ito ang pangakong babalikan ng discipler mo at ng L18.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DALHIN · 1 min (target 01:00)</a:t>
            </a:r>
          </a:p>
          <a:p>
            <a:r>
              <a:rPr lang="en-US" dirty="0"/>
              <a:t>Preview ng L18: Adorning God in Worship — kung ang L17 ay tungkol sa mga relasyon natin, ang L18 ay tungkol sa pagsamba.</a:t>
            </a:r>
          </a:p>
          <a:p>
            <a:r>
              <a:rPr lang="en-US" dirty="0"/>
              <a:t>Paalala: dalhin sa L18 ang Personal Relationship Evaluation, ang Anim na Pangalan, ang 7-Day Reading, ang tatlong assignments, at ang Pangako Ko.</a:t>
            </a:r>
          </a:p>
          <a:p>
            <a:r>
              <a:rPr lang="en-US" dirty="0"/>
              <a:t>Closing ritual: Disciples who make disciples.</a:t>
            </a:r>
          </a:p>
          <a:p>
            <a:r>
              <a:rPr lang="en-US" dirty="0"/>
              <a:t>Isang maikling closing prayer: Panginoon, gawin Mo kaming bakal na nagpapatalas nang may kahinahunan — walang iwanan.</a:t>
            </a:r>
          </a:p>
          <a:p>
            <a:r>
              <a:rPr lang="en-US" dirty="0"/>
              <a:t>Tapos ang 60 minuto — landing sa 01:00.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8229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MULTIPLY · DISCIPLE-MAKING PIPELINE · BTLI 1 · LESSON 17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107259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Ugnayan ng Servant-Leader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6576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Pursuing Right Relationships · Ano-anong Relasyon ang Dapat Nating Pahalagahan?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4343400"/>
            <a:ext cx="9994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“Ang bakal ay nagpapatalas sa bakal; at ang tao ang nagpapatalas sa isa pang tao.” — Proverbs 27:17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25780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🌿 Gentleness · Kahinahunan · ⚡ Anim na Direksyon ng Ugnayan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60-min lesson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/ 30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TALATA NG MEMORYA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203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“Ang bakal ay nagpapatalas sa bakal; at ang tao ang nagpapatalas sa isa pang tao.”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58896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Proverbs 27:17 (Ang Biblia)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016248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Walang bakal na tumatalas nang mag-isa.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43628"/>
            <a:ext cx="10725912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Sino ang nagpapatalas sa iyo — at sino ang pinapatalas mo?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/ 30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BALIKAN · L16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Ang Iniwan ng Lesson 16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66976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👣 Lakad Kasama si Jesus — huhubarin · isusuot · saan/kailan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4384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🪞 Ang 7-araw na Salamin Tracker — sino ang pinalakas at ini-honor mo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21456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📚 Apat na assignments · 📍 ang A–E self-assessment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118864"/>
            <a:ext cx="10725912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i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✍️ “Dahil nais kong makita ng iba si Cristo sa aking buhay...”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686300"/>
            <a:ext cx="10725912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Collection ito, hindi correction.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⌛00:03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/ 30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ang nakasulat sa chart mo na "Lakad Kasama si Jesus" — at ilang araw ang natapos mo sa Salamin Tracker? Sino ang pinalakas o ini-honor mo?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sasagot bawat isa — isang hanay, isang araw, isang kuwento.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548640"/>
            <a:ext cx="23774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05756" y="548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TANAW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Walang Iwanan sa Himpapawid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40128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Hugis-V: +71% flight efficiency kumpara sa lumilipad nang mag-isa.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57144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Napagod ang nasa unahan? Pupunta sa likod — may papalit agad.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7416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nasa likuran? Walang patid na pag-quack ng pampalakas-loob.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91176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May nanghina? Sinasamahan pababa. Walang iwanan hanggang dulo.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⌛00:07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/ 30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PUKAW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ang lahat ng magagandang katangian na puwede nating gayahin mula sa mga gansa. Pumili ng pinakaimportanteng trait at i-explain kung bakit ito ang pinakamahalaga para sa iyo.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sa participant guide — 1-2 sasagot.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⌛00:08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814316" y="548640"/>
            <a:ext cx="256032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14316" y="548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BIG IDEA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6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“May matututunan at maituturo tayo sa bawat taong nakakasalamuha. Pahalagahan natin ang bawat pagkakataong makipag-ugnayan sa kapwa.”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538728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Ang servant-leadership ay tungkol sa relationships.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19608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Pinapahalagahan ng mga tao ang mga taong nagpapahalaga sa kanila.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/ 30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082796" y="548640"/>
            <a:ext cx="402336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082796" y="548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HANGIN O ANCHOR?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403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“Puwede tayong paliparin katulad ng hangin sa agila o pigilang umusad tulad ng anchor sa barko ng mga taong nasa paligid natin.”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29484"/>
            <a:ext cx="10725912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John Maxwell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96920"/>
            <a:ext cx="10725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“Kung tinutulungan mo ang isang dosenang tao sa kanilang mga problema, may makakasama ka namang isang dosenang taong kumikilos kasabay mo.” — William B. Given Jr.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61365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Give and take: matuto ka sa iba — at hayaan mo ring matuto sila sa iyo.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/ 30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Balikan ang nakalipas na mga araw sa buhay mo. Mayroon bang taong inilapit si Lord sa iyo para maturuan mo — o para magturo sa iyo? Paano mo siya natulungan, o paano siya nakatulong sa iyo?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— isang pangalan, isang kuwento.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⌛00:13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ANIM NA DIREKSYON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 Commandments: ang una hanggang ikaapat — relasyon sa Dios. Ang ikalima hanggang ikasampu — relasyon sa kapwa.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0016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Lahat ay tungkol sa relationships.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47340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⬆ UPWARD · sa Dios     ⬇ INWARD · sa sarili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534664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↔ SIDEWARD · sa co-workers     ↖ ONWARD · sa mentor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221988"/>
            <a:ext cx="10725912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➡ FORWARD · sa disciple     🌍 OUTWARD · sa non-believers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/ 30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991356" y="548640"/>
            <a:ext cx="42062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991356" y="5486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⬆ UPWARD · SA DIOS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13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“Ang nananatili sa akin, at ako sa kanya, ang siyang nagbubunga nang sagana, sapagkat wala kayong magagawa kung kayo'y hiwalay sa akin.”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39568"/>
            <a:ext cx="10725912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— John 15:5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07004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Lubusang makilala · maranasan · makibahagi · maging katulad (Philippians 3:10)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64076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Bago ka gumawa, magpahinga ka sa Kaniya. Bago ka sumugod, sumukob ka muna.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/ 30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899916" y="548640"/>
            <a:ext cx="438912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99916" y="548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⬇ INWARD · SA SARILI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Huwag pahalagahan nang higit sa nararapat — hindi: huwag pahalagahan at all. (Romans 12:3, 16)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0016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tayong buwan: walang sariling sinag liban sa liwanag na nanggagaling sa araw.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3697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i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“Walang ibang mas influential na tao sa buhay mo kundi ang iyong sarili.” — Paul Tripp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399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espiritu ng kahinaan ng loob — kundi kapangyarihan, pag-ibig, at pagpipigil sa sarili. (2 Timothy 1:7)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⌛00:19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/ 30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Tumingin ka sa Salamin ng Salita ng Dios. Sumulat ng isang Biblical description ng sarili mo ngayong nakay Jesus ka na.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Isang pangungusap mula sa Bible — hindi mula sa kasinungalingan ng diablo.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259836" y="548640"/>
            <a:ext cx="566928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259836" y="54864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↔ SIDEWARD · SA CO-WORKERS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Hindi sukatan ng competence ang palagiang pakikipagkompetensya sa kapwa-manggagawa.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001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Timothy: “kapatid at kamanggagawa para sa Diyos” (1 Thessalonians 3:2)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7703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“minamahal” · “kapamilya” · “kamanggagawa” (Romans 16) · “kasama at kapatid” (Philemon)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134104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Tinrato sila ni Paul nang walang bahid ng kagaspangan.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91456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“Magkaisa kayo at huwag magkabaha-bahagi...” — 1 Corinthians 1:10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/ 30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tingin mo, ano ang pinakamalaking dahilan kung bakit may pagkakabaha-bahagi sa Body of Christ sa panahon natin ngayon? Bakit?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— 2-3 sasagot. Walang pangalan ng church o tao.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808476" y="548640"/>
            <a:ext cx="45720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808476" y="548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↖ ONWARD · SA MENTOR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654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Walang Paul kung walang Barnabas.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80184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Acts 9 · Acts 11:25-26 — isang buong taon, araw-araw na magkasama.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99720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Kahit star player ka, hindi ka uunlad nang husto kung wala kang coach.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014216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David: may Samuel at Nathan · Rehoboam: nakinig sa mga kababata (1 Kings 12:8)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⌛00:26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/ 30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ang maituturing mong personal mentor? Paano ka niya natulungan sa iyong personal growth?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— isang pangalan, isang paraan ng pagtulong.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⌛00:27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3625596" y="548640"/>
            <a:ext cx="493776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25596" y="548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➡ FORWARD · SA DISCIPLE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25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Walang success kung walang succession.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79624"/>
            <a:ext cx="10725912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“...maaaring ang pinakamalaki mong ambag sa mundo ay hindi kung ano ang iyong ginawa kundi kung sino ang iyong inihanda.” — Andy Stanley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9636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“...ipagkatiwala mo rin sa mga taong may katapatan at may kakayahang magturo naman sa iba.” — 2 Timothy 2:2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13376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Life-long process ang pagdidisipulo.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⌛00:29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/ 30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TUKLAS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5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Mayroon ka na bang disciples o potential disciples? Paano mo sila mine-mentor?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Isulat muna — kahit isang pangalan ng potential disciple.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⌛00:30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3076956" y="548640"/>
            <a:ext cx="60350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076956" y="54864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🌍 OUTWARD · SA NON-BELIEVERS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Inihiwalay para sa Dios — hindi para mawalan ng silbi sa mundo. (2 Corinthians 6:17)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6001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i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“...sinisikap naming hikayatin ang mga tao na manumbalik sa (Dios)...” — 2 Corinthians 5:11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77032"/>
            <a:ext cx="10725912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🌿 Kahinahunan (Galatians 5:23): lakas na marunong humawak nang maingat — sa lahat ng anim na direksyon.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3992"/>
            <a:ext cx="107259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600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⬆ ⬇ ↔ ↖ ➡ 🌍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⌛00:33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/ 30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814316" y="548640"/>
            <a:ext cx="256032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814316" y="548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TALAKAY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Safe-Space Sharing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00072"/>
            <a:ext cx="10725912" cy="954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fixing · No comparison · No preaching · Confidential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236976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Tables ng 3-4. Tatlong tanong. Mahinahon sa pagsasalita, mahinahon sa pakikinig.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⌛00:34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 / 30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36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Basahin ang 1 John 3:16. Bakit maraming nakakaalam ng John 3:16 pero hindi pamilyar sa 1 John 3:16? May kinalaman ba ito sa paraan ng pagtrato natin sa ating relasyon sa iba?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“...inialay ni Cristo ang kanyang buhay para sa atin. Kaya't dapat din nating ialay ang ating buhay para sa mga kapatid.”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⌛00:38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2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anim na direksyon, aling relasyon ang pinakanapapabayaan mo ngayon? Ano ang dahilan — at ano ang naging epekto nito sa iyo?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Pumili ng isa sa anim — tapat, walang paghuhusga.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⌛00:41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TALAKAY · TANONG 3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 ang "bakal" na nagpapatalas sa iyo? Kanino ka kailangang maging mas mahinahon kapag ikaw naman ang nagpapatalas?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Walang pangalan kung hindi kailangan — sapat na ang “isang co-worker” o “isang kapamilya.”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4 min · ⌛00:45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905756" y="548640"/>
            <a:ext cx="23774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905756" y="548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TUGON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137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Personal Relationship Evaluation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9512"/>
            <a:ext cx="10725912" cy="504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Anim na relasyon · limang emoticon · isang dahilan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386836"/>
            <a:ext cx="10725912" cy="71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4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😢  🙁  😐  🙂  😄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83964"/>
            <a:ext cx="10725912" cy="834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Tapos: manalangin para sa mga pagkakataong maayos o ma-improve ang bawat relasyon.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⌛00:47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25 / 30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TUGON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Relationship Evaluation: sa bawat isa sa anim na relasyon, piliin ang emoticon na naglalarawan sa kalagayan mo ngayon, at isulat kung bakit.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writing. Tapat — walang tama o mali.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 · ⌛00:52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🙌 TUGON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Anim na Pangalan: isulat ang isang pangalan sa bawat direksyon — at isang specific na hakbang para sa pinakamahinang relasyon mo ngayong linggo.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Pangalan, hindi kategorya. Isang hakbang na kayang gawin sa loob ng 7 araw.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3 min · ⌛00:55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5C40"/>
          </a:solidFill>
          <a:ln/>
        </p:spPr>
      </p:sp>
      <p:sp>
        <p:nvSpPr>
          <p:cNvPr id="3" name="Shape 1"/>
          <p:cNvSpPr/>
          <p:nvPr/>
        </p:nvSpPr>
        <p:spPr>
          <a:xfrm>
            <a:off x="4265676" y="548640"/>
            <a:ext cx="3657600" cy="411480"/>
          </a:xfrm>
          <a:prstGeom prst="roundRect">
            <a:avLst>
              <a:gd name="adj" fmla="val 44444"/>
            </a:avLst>
          </a:prstGeom>
          <a:ln w="15875">
            <a:solidFill>
              <a:srgbClr val="D4A85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65676" y="548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TAKDANG-ARALIN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654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DFBF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Tatlong Assignments + 7-Day Reading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07032"/>
            <a:ext cx="10725912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↖ Pasalamatan ang iyong mentor — harapan, text, o sulat-kamay.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04440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↔ Patibayin ang isang relasyon sa co-worker — nang may kahinahunan.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461512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➡ Ipanalangin at kumustahin ang isang potential disciple (2 Timothy 2:2).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418584"/>
            <a:ext cx="1072591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⬆ 7-Day Reading: isang passage bawat araw, isang linya ng insight.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75656"/>
            <a:ext cx="10725912" cy="3845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200" b="1" dirty="0">
                <a:solidFill>
                  <a:srgbClr val="D4A85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Memorize: Proverbs 27:17 · Ito ang unang babalikan ng L18.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⌛00:57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DFBF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 / 30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C3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1645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· DISCIPLE-MAKING PIPELINE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658368"/>
            <a:ext cx="10360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DALHIN · TANONG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813048" y="1444752"/>
            <a:ext cx="4572000" cy="502920"/>
          </a:xfrm>
          <a:prstGeom prst="roundRect">
            <a:avLst>
              <a:gd name="adj" fmla="val 27273"/>
            </a:avLst>
          </a:prstGeom>
          <a:solidFill>
            <a:srgbClr val="D4AF3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13048" y="144475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Participant Guide Question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148840"/>
            <a:ext cx="10360152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4400" b="1" dirty="0">
                <a:solidFill>
                  <a:srgbClr val="FEF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Pangako Ko: "Dahil nais kong pahalagahan ang mga relasyong ibinigay sa akin ng Dios, nangangako ako na ngayong linggo ay..."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4A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Konkreto. Isang kilos na kayang tuparin sa loob ng 7 araw.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2 min · ⌛00:59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1091672" y="6355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2E7"/>
          </a:solidFill>
          <a:ln/>
        </p:spPr>
      </p:sp>
      <p:sp>
        <p:nvSpPr>
          <p:cNvPr id="3" name="Shape 1"/>
          <p:cNvSpPr/>
          <p:nvPr/>
        </p:nvSpPr>
        <p:spPr>
          <a:xfrm>
            <a:off x="4448556" y="548640"/>
            <a:ext cx="3291840" cy="411480"/>
          </a:xfrm>
          <a:prstGeom prst="roundRect">
            <a:avLst>
              <a:gd name="adj" fmla="val 44444"/>
            </a:avLst>
          </a:prstGeom>
          <a:ln w="15875">
            <a:solidFill>
              <a:srgbClr val="2A5C4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448556" y="548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5C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L18 PREVIEW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43000"/>
            <a:ext cx="10725912" cy="654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1A2E22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Lesson 18 — Adorning God in Worship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80184"/>
            <a:ext cx="10725912" cy="474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800" i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Memory verse ng L18: 2 Corinthians 8:21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37536"/>
            <a:ext cx="1072591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dirty="0">
                <a:solidFill>
                  <a:srgbClr val="1F453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Memorize: Proverbs 27:17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9948672" y="137160"/>
            <a:ext cx="2011680" cy="384048"/>
          </a:xfrm>
          <a:prstGeom prst="roundRect">
            <a:avLst>
              <a:gd name="adj" fmla="val 28571"/>
            </a:avLst>
          </a:prstGeom>
          <a:solidFill>
            <a:srgbClr val="D4AF3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948672" y="137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 min · ⌛01:00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1228832" y="635508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E22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/ 30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2026-10-30T04:23:40Z</dcterms:created>
  <dcterms:modified xsi:type="dcterms:W3CDTF">2026-10-30T04:23:40Z</dcterms:modified>
</cp:coreProperties>
</file>
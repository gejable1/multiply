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Bukas tayo sa BTLI 1 Lesson 8 — Pagiging Tapat na Katiwala (Stewardship). Source: USAD-L8 (4-movement), binalot sa BTLI 5-movement (PUKAW + DALHIN Claude-added per Inv #76). 60 min. Character anchor: Generosity (USAD broader virtues palette, Inv #75).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Basahin nang sabay-sabay ang 1 Corinto 4:2 — me-memorize ito sa loob ng linggo. Buong lesson umiikot sa salitang TAPAT.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PUKAW step 1 (L7 callback 1.5 min): 1-2 kapatid lang. Step 2 (1-10 snapshot 2 min): para sa sarili, hindi shi-share ang numero. Huwag tanungin sa harap — humihiya kapag mababa.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PUKAW step 3 (Image-Pick 4.5 min): pumili ng isa, isulat ang reason. Critical: huwag i-shame ang 'Aksaya' o 'Madamot' — affirm ang honesty.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TUKLAS step 1 (4 min): i-land ang Big Idea 'Hindi ka owner, manager ka.' Transition sa Asiong Aksaya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Ikuwento si Nicolas Cage — $40M/taon, ngayon baon sa utang dahil sa waldas. 'Asiong Aksaya.' Mirror, hindi guilt-trip. Tanong: 'Tapat nga ba akong katiwala?'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Andrew Murray hinge papuntang 3 Haligi. Mundo: 'Ano'ng meron ka?' Kristo: 'Paano mo ginamit?' Pause pagkatapos.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I-preview ang 3 Haligi bilang daloy: May-ari ang Diyos → manager ako → bukas-palad. Sequential — hindi pwedeng tumalon sa Pagbibigay.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Haligi 1 (5 min): Awit 24:1, Deut 10:14, Roma 11:36 — sino May-ari? Diyos. Lahat kaloob (Stg 1:17). Tapos 1 Cor 4:7 'Boom basag!' Hindi ka owner, manager ka; tapat inaasahan.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Haligi 2 (4 min): ~2,000 verses, 40% parables. 'Pera na alipin masarap, delikado kapag inaalila.' Hindi salapi masama — PAG-IBIG sa salapi (1 Tim 6:10). Huwag fundraising/guilt.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Haligi 3 (4 min): 2 Cor 9:7 — pasya, maluwag, kagalakan. Tithe 10% starting line. Macedonian (2 Cor 8:2-3). Channel, huwag Vessel.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Punch line: 'Walang bilang ang PISO kung hindi kabilang ang PUSO.' Hayaang lumubog. Character anchor (Generosity) nasa puso, hindi porsyento.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TALAKAY (12 min): safe-space reset (1 min, 3 rules). Q1 self-grade (5 min). Q2 P1-milyon (6 min) — honest, hindi Sunday-school. Obserbasyon lang.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TUGON (12 min): quiz silent (6 min) — hanapin ISANG adjustment. Three-Bucket optional (1.5 min) kasangkapan hindi formula. Word Art Top-3 + action steps (4.5 min) — specific + measurable. Generosity bilang kagalakan, hindi guilt.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DALHIN step 4 (Pangako Ko 2 min): tumayo, sabay-sabay malakas. 'Saksi ka.' / 'Saksi ako.' Structural Motivation. Locked into LCG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DALHIN step 5 (end snapshot + L9 preview 2 min): balikan 1-10, ihambing sa PUKAW. 'Susunod — L9 Evangelism at Discipleship.' Optional closing video kung may oras.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5C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D4A854"/>
                </a:solidFill>
                <a:latin typeface="DejaVu Sans"/>
              </a:rPr>
              <a:t>BTLI 1 · LESSON 8 · ANCHOR → CULTIVATE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2895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4600" b="1" i="0">
                <a:solidFill>
                  <a:srgbClr val="FDFBF6"/>
                </a:solidFill>
                <a:latin typeface="Georgia"/>
              </a:rPr>
              <a:t>Pagiging Tapat na Katiwala</a:t>
            </a:r>
          </a:p>
          <a:p>
            <a:pPr algn="ctr">
              <a:spcAft>
                <a:spcPts val="600"/>
              </a:spcAft>
            </a:pPr>
            <a:r>
              <a:rPr sz="2000" b="0" i="1">
                <a:solidFill>
                  <a:srgbClr val="D4A854"/>
                </a:solidFill>
                <a:latin typeface="Georgia"/>
              </a:rPr>
              <a:t>Stewardship — Paano Magiging Tapat na Katiwala ng Panginoon?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FDFBF6"/>
                </a:solidFill>
                <a:latin typeface="DejaVu Sans"/>
              </a:rPr>
              <a:t>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B8882A"/>
                </a:solidFill>
                <a:latin typeface="DejaVu Sans"/>
              </a:rPr>
              <a:t>MEMORY VERSE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94560" y="2468880"/>
            <a:ext cx="7802575" cy="1828800"/>
          </a:xfrm>
          <a:prstGeom prst="roundRect">
            <a:avLst/>
          </a:prstGeom>
          <a:solidFill>
            <a:srgbClr val="F6F2E7"/>
          </a:solidFill>
          <a:ln>
            <a:solidFill>
              <a:srgbClr val="B88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194560" y="2468880"/>
            <a:ext cx="109728" cy="1828800"/>
          </a:xfrm>
          <a:prstGeom prst="roundRect">
            <a:avLst/>
          </a:prstGeom>
          <a:solidFill>
            <a:srgbClr val="B88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06040" y="2560320"/>
            <a:ext cx="7071055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B8882A"/>
                </a:solidFill>
                <a:latin typeface="Georgia"/>
              </a:rPr>
              <a:t>1 Corinto 4:2</a:t>
            </a:r>
          </a:p>
          <a:p>
            <a:pPr algn="l">
              <a:spcAft>
                <a:spcPts val="600"/>
              </a:spcAft>
            </a:pPr>
            <a:r>
              <a:rPr sz="2200" b="0" i="1">
                <a:solidFill>
                  <a:srgbClr val="1A2E22"/>
                </a:solidFill>
                <a:latin typeface="Georgia"/>
              </a:rPr>
              <a:t>"Ang katiwala'y kailangang maging tapat sa kanyang Panginoon."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30936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6B6253"/>
                </a:solidFill>
                <a:latin typeface="DejaVu Sans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B8882A"/>
                </a:solidFill>
                <a:latin typeface="DejaVu Sans"/>
              </a:rPr>
              <a:t>PUKAW · 8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997135" cy="3840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400"/>
              </a:spcAft>
            </a:pPr>
            <a:r>
              <a:rPr sz="3400" b="1" i="0">
                <a:solidFill>
                  <a:srgbClr val="1F4530"/>
                </a:solidFill>
                <a:latin typeface="Georgia"/>
              </a:rPr>
              <a:t>Tumingin Muna sa Salamin</a:t>
            </a:r>
          </a:p>
          <a:p>
            <a:pPr algn="ctr">
              <a:spcAft>
                <a:spcPts val="1400"/>
              </a:spcAft>
            </a:pPr>
            <a:r>
              <a:rPr sz="1800" b="0" i="0">
                <a:solidFill>
                  <a:srgbClr val="1A2E22"/>
                </a:solidFill>
                <a:latin typeface="DejaVu Sans"/>
              </a:rPr>
              <a:t>Pagbalik sa L7: kumusta ang 7-Sunday Watch? May naka-invite na ba?</a:t>
            </a:r>
          </a:p>
          <a:p>
            <a:pPr algn="ctr">
              <a:spcAft>
                <a:spcPts val="800"/>
              </a:spcAft>
            </a:pPr>
            <a:r>
              <a:rPr sz="1800" b="1" i="0">
                <a:solidFill>
                  <a:srgbClr val="1A2E22"/>
                </a:solidFill>
                <a:latin typeface="DejaVu Sans"/>
              </a:rPr>
              <a:t>1-10 Snapshot: gaano kang tapat na katiwala — sa oras, talento, at pera?</a:t>
            </a:r>
          </a:p>
          <a:p>
            <a:pPr algn="ctr">
              <a:spcAft>
                <a:spcPts val="600"/>
              </a:spcAft>
            </a:pPr>
            <a:r>
              <a:rPr sz="1400" b="0" i="1">
                <a:solidFill>
                  <a:srgbClr val="6B6253"/>
                </a:solidFill>
                <a:latin typeface="DejaVu Sans"/>
              </a:rPr>
              <a:t>1 = "Asiong Aksaya"   ·   10 = tapat na tagapamahala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6B6253"/>
                </a:solidFill>
                <a:latin typeface="DejaVu Sans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B8882A"/>
                </a:solidFill>
                <a:latin typeface="DejaVu Sans"/>
              </a:rPr>
              <a:t>PUKAW · IMAGE-PICK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628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1F4530"/>
                </a:solidFill>
                <a:latin typeface="Georgia"/>
              </a:rPr>
              <a:t>Anong klaseng katiwala ka ngayon?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40967" y="2377440"/>
            <a:ext cx="4572000" cy="1417320"/>
          </a:xfrm>
          <a:prstGeom prst="roundRect">
            <a:avLst/>
          </a:prstGeom>
          <a:solidFill>
            <a:srgbClr val="EEF3EE"/>
          </a:solidFill>
          <a:ln w="19050">
            <a:solidFill>
              <a:srgbClr val="2A5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23847" y="2377440"/>
            <a:ext cx="4206240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 i="0">
                <a:solidFill>
                  <a:srgbClr val="1F4530"/>
                </a:solidFill>
                <a:latin typeface="Georgia"/>
              </a:rPr>
              <a:t>💸  Asiong Aksaya</a:t>
            </a:r>
          </a:p>
          <a:p>
            <a:pPr algn="ctr">
              <a:spcAft>
                <a:spcPts val="600"/>
              </a:spcAft>
            </a:pPr>
            <a:r>
              <a:rPr sz="1200" b="0" i="1">
                <a:solidFill>
                  <a:srgbClr val="6B6253"/>
                </a:solidFill>
                <a:latin typeface="DejaVu Sans"/>
              </a:rPr>
              <a:t>winawaldas ang biyaya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8727" y="2377440"/>
            <a:ext cx="4572000" cy="1417320"/>
          </a:xfrm>
          <a:prstGeom prst="roundRect">
            <a:avLst/>
          </a:prstGeom>
          <a:solidFill>
            <a:srgbClr val="EEF3EE"/>
          </a:solidFill>
          <a:ln w="19050">
            <a:solidFill>
              <a:srgbClr val="2A5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61607" y="2377440"/>
            <a:ext cx="4206240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 i="0">
                <a:solidFill>
                  <a:srgbClr val="1F4530"/>
                </a:solidFill>
                <a:latin typeface="Georgia"/>
              </a:rPr>
              <a:t>🔒  Madamot na Vessel</a:t>
            </a:r>
          </a:p>
          <a:p>
            <a:pPr algn="ctr">
              <a:spcAft>
                <a:spcPts val="600"/>
              </a:spcAft>
            </a:pPr>
            <a:r>
              <a:rPr sz="1200" b="0" i="1">
                <a:solidFill>
                  <a:srgbClr val="6B6253"/>
                </a:solidFill>
                <a:latin typeface="DejaVu Sans"/>
              </a:rPr>
              <a:t>iniipon, hindi naibabahagi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40967" y="4114800"/>
            <a:ext cx="4572000" cy="1417320"/>
          </a:xfrm>
          <a:prstGeom prst="roundRect">
            <a:avLst/>
          </a:prstGeom>
          <a:solidFill>
            <a:srgbClr val="EEF3EE"/>
          </a:solidFill>
          <a:ln w="19050">
            <a:solidFill>
              <a:srgbClr val="2A5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23847" y="4114800"/>
            <a:ext cx="4206240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 i="0">
                <a:solidFill>
                  <a:srgbClr val="1F4530"/>
                </a:solidFill>
                <a:latin typeface="Georgia"/>
              </a:rPr>
              <a:t>🌊  Bukas na Channel</a:t>
            </a:r>
          </a:p>
          <a:p>
            <a:pPr algn="ctr">
              <a:spcAft>
                <a:spcPts val="600"/>
              </a:spcAft>
            </a:pPr>
            <a:r>
              <a:rPr sz="1200" b="0" i="1">
                <a:solidFill>
                  <a:srgbClr val="6B6253"/>
                </a:solidFill>
                <a:latin typeface="DejaVu Sans"/>
              </a:rPr>
              <a:t>dumadaloy ang biyaya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4114800"/>
            <a:ext cx="4572000" cy="1417320"/>
          </a:xfrm>
          <a:prstGeom prst="roundRect">
            <a:avLst/>
          </a:prstGeom>
          <a:solidFill>
            <a:srgbClr val="EEF3EE"/>
          </a:solidFill>
          <a:ln w="19050">
            <a:solidFill>
              <a:srgbClr val="2A5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4114800"/>
            <a:ext cx="4206240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 i="0">
                <a:solidFill>
                  <a:srgbClr val="1F4530"/>
                </a:solidFill>
                <a:latin typeface="Georgia"/>
              </a:rPr>
              <a:t>✎  Iba pa</a:t>
            </a:r>
          </a:p>
          <a:p>
            <a:pPr algn="ctr">
              <a:spcAft>
                <a:spcPts val="600"/>
              </a:spcAft>
            </a:pPr>
            <a:r>
              <a:rPr sz="1200" b="0" i="1">
                <a:solidFill>
                  <a:srgbClr val="6B6253"/>
                </a:solidFill>
                <a:latin typeface="DejaVu Sans"/>
              </a:rPr>
              <a:t>isulat sa workbook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30936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6B6253"/>
                </a:solidFill>
                <a:latin typeface="DejaVu Sans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D4A854"/>
                </a:solidFill>
                <a:latin typeface="DejaVu Sans"/>
              </a:rPr>
              <a:t>TUKLAS · 18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62895" cy="2560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600"/>
              </a:spcAft>
            </a:pPr>
            <a:r>
              <a:rPr sz="4000" b="1" i="1">
                <a:solidFill>
                  <a:srgbClr val="D4A854"/>
                </a:solidFill>
                <a:latin typeface="Georgia"/>
              </a:rPr>
              <a:t>"Hindi ka owner — manager ka."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FDFBF6"/>
                </a:solidFill>
                <a:latin typeface="DejaVu Sans"/>
              </a:rPr>
              <a:t>Ang tanging maisusukli ng isang katiwala sa kabutihan ng kanyang Panginoon ay katapatan.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FDFBF6"/>
                </a:solidFill>
                <a:latin typeface="DejaVu Sans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B8882A"/>
                </a:solidFill>
                <a:latin typeface="DejaVu Sans"/>
              </a:rPr>
              <a:t>COLD OPEN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997135" cy="4023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400"/>
              </a:spcAft>
            </a:pPr>
            <a:r>
              <a:rPr sz="2800" b="1" i="0">
                <a:solidFill>
                  <a:srgbClr val="1F4530"/>
                </a:solidFill>
                <a:latin typeface="Georgia"/>
              </a:rPr>
              <a:t>Si Nicolas Cage at ang "Asiong Aksaya"</a:t>
            </a:r>
          </a:p>
          <a:p>
            <a:pPr algn="ctr">
              <a:spcAft>
                <a:spcPts val="1000"/>
              </a:spcAft>
            </a:pPr>
            <a:r>
              <a:rPr sz="1800" b="0" i="0">
                <a:solidFill>
                  <a:srgbClr val="1A2E22"/>
                </a:solidFill>
                <a:latin typeface="DejaVu Sans"/>
              </a:rPr>
              <a:t>$40 milyon kada taon ang kita — ngayon, baon sa utang.</a:t>
            </a:r>
          </a:p>
          <a:p>
            <a:pPr algn="ctr">
              <a:spcAft>
                <a:spcPts val="1200"/>
              </a:spcAft>
            </a:pPr>
            <a:r>
              <a:rPr sz="1700" b="0" i="0">
                <a:solidFill>
                  <a:srgbClr val="1A2E22"/>
                </a:solidFill>
                <a:latin typeface="DejaVu Sans"/>
              </a:rPr>
              <a:t>Winaldas: 15 bahay, castle na 'di tinirhan, private island, yate, bungo ng dinosaur. Lahat ng pumasok, nilabas.</a:t>
            </a:r>
          </a:p>
          <a:p>
            <a:pPr algn="ctr">
              <a:spcAft>
                <a:spcPts val="600"/>
              </a:spcAft>
            </a:pPr>
            <a:r>
              <a:rPr sz="1600" b="0" i="1">
                <a:solidFill>
                  <a:srgbClr val="6B6253"/>
                </a:solidFill>
                <a:latin typeface="DejaVu Sans"/>
              </a:rPr>
              <a:t>"Asiong Aksaya" — 'di marunong magpahalaga sa biyaya. Tanong: tapat nga ba akong katiwala?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6B6253"/>
                </a:solidFill>
                <a:latin typeface="DejaVu Sans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A85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F4530"/>
                </a:solidFill>
                <a:latin typeface="DejaVu Sans"/>
              </a:rPr>
              <a:t>ANDREW MURRAY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800" b="1" i="1">
                <a:solidFill>
                  <a:srgbClr val="1F4530"/>
                </a:solidFill>
                <a:latin typeface="Georgia"/>
              </a:rPr>
              <a:t>"Ano'ng meron ka?"</a:t>
            </a:r>
          </a:p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1F4530"/>
                </a:solidFill>
                <a:latin typeface="Georgia"/>
              </a:rPr>
              <a:t>vs.</a:t>
            </a:r>
          </a:p>
          <a:p>
            <a:pPr algn="ctr">
              <a:spcAft>
                <a:spcPts val="1400"/>
              </a:spcAft>
            </a:pPr>
            <a:r>
              <a:rPr sz="3800" b="1" i="1">
                <a:solidFill>
                  <a:srgbClr val="1F4530"/>
                </a:solidFill>
                <a:latin typeface="Georgia"/>
              </a:rPr>
              <a:t>"Paano mo ito ginamit?"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1F4530"/>
                </a:solidFill>
                <a:latin typeface="DejaVu Sans"/>
              </a:rPr>
              <a:t>Ang tanong ng mundo vs. ang tanong ni Kristo.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1F4530"/>
                </a:solidFill>
                <a:latin typeface="DejaVu Sans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B8882A"/>
                </a:solidFill>
                <a:latin typeface="DejaVu Sans"/>
              </a:rPr>
              <a:t>ANG 3 HALIGI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28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1F4530"/>
                </a:solidFill>
                <a:latin typeface="Georgia"/>
              </a:rPr>
              <a:t>May-ari ang Diyos → Ako ang manager → Bukas-palad akong nagbibigay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81047" y="2468880"/>
            <a:ext cx="8229600" cy="1005840"/>
          </a:xfrm>
          <a:prstGeom prst="roundRect">
            <a:avLst/>
          </a:prstGeom>
          <a:solidFill>
            <a:srgbClr val="F7F0DD"/>
          </a:solidFill>
          <a:ln>
            <a:solidFill>
              <a:srgbClr val="B88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981047" y="2468880"/>
            <a:ext cx="128016" cy="1005840"/>
          </a:xfrm>
          <a:prstGeom prst="roundRect">
            <a:avLst/>
          </a:prstGeom>
          <a:solidFill>
            <a:srgbClr val="B88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301087" y="2743200"/>
            <a:ext cx="457200" cy="457200"/>
          </a:xfrm>
          <a:prstGeom prst="ellipse">
            <a:avLst/>
          </a:prstGeom>
          <a:solidFill>
            <a:srgbClr val="B88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DFBF6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6887" y="2468880"/>
            <a:ext cx="69494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4530"/>
                </a:solidFill>
                <a:latin typeface="Georgia"/>
              </a:rPr>
              <a:t>Pundasyon</a:t>
            </a:r>
          </a:p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6B6253"/>
                </a:solidFill>
                <a:latin typeface="DejaVu Sans"/>
              </a:rPr>
              <a:t>May-ari ang Diyos (Awit 24:1)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81047" y="3703320"/>
            <a:ext cx="8229600" cy="1005840"/>
          </a:xfrm>
          <a:prstGeom prst="roundRect">
            <a:avLst/>
          </a:prstGeom>
          <a:solidFill>
            <a:srgbClr val="F7F0DD"/>
          </a:solidFill>
          <a:ln>
            <a:solidFill>
              <a:srgbClr val="B88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81047" y="3703320"/>
            <a:ext cx="128016" cy="1005840"/>
          </a:xfrm>
          <a:prstGeom prst="roundRect">
            <a:avLst/>
          </a:prstGeom>
          <a:solidFill>
            <a:srgbClr val="B88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301087" y="3977640"/>
            <a:ext cx="457200" cy="457200"/>
          </a:xfrm>
          <a:prstGeom prst="ellipse">
            <a:avLst/>
          </a:prstGeom>
          <a:solidFill>
            <a:srgbClr val="B88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DFBF6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6887" y="3703320"/>
            <a:ext cx="69494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4530"/>
                </a:solidFill>
                <a:latin typeface="Georgia"/>
              </a:rPr>
              <a:t>Pera</a:t>
            </a:r>
          </a:p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6B6253"/>
                </a:solidFill>
                <a:latin typeface="DejaVu Sans"/>
              </a:rPr>
              <a:t>Alipin, hindi amo (Mateo 6:24)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81047" y="4937760"/>
            <a:ext cx="8229600" cy="1005840"/>
          </a:xfrm>
          <a:prstGeom prst="roundRect">
            <a:avLst/>
          </a:prstGeom>
          <a:solidFill>
            <a:srgbClr val="F7F0DD"/>
          </a:solidFill>
          <a:ln>
            <a:solidFill>
              <a:srgbClr val="B88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981047" y="4937760"/>
            <a:ext cx="128016" cy="1005840"/>
          </a:xfrm>
          <a:prstGeom prst="roundRect">
            <a:avLst/>
          </a:prstGeom>
          <a:solidFill>
            <a:srgbClr val="B88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301087" y="5212080"/>
            <a:ext cx="457200" cy="457200"/>
          </a:xfrm>
          <a:prstGeom prst="ellipse">
            <a:avLst/>
          </a:prstGeom>
          <a:solidFill>
            <a:srgbClr val="B88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DFBF6"/>
                </a:solidFill>
                <a:latin typeface="Georg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6887" y="4937760"/>
            <a:ext cx="69494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4530"/>
                </a:solidFill>
                <a:latin typeface="Georgia"/>
              </a:rPr>
              <a:t>Pagbibigay</a:t>
            </a:r>
          </a:p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6B6253"/>
                </a:solidFill>
                <a:latin typeface="DejaVu Sans"/>
              </a:rPr>
              <a:t>PUSO higit sa PURSIYENTO (2 Cor 9:7)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8655" y="630936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6B6253"/>
                </a:solidFill>
                <a:latin typeface="DejaVu Sans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D4A854"/>
                </a:solidFill>
                <a:latin typeface="DejaVu Sans"/>
              </a:rPr>
              <a:t>HALIGI 1 · PUNDASYON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1554480"/>
            <a:ext cx="8534095" cy="1737360"/>
          </a:xfrm>
          <a:prstGeom prst="roundRect">
            <a:avLst/>
          </a:prstGeom>
          <a:solidFill>
            <a:srgbClr val="163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554480"/>
            <a:ext cx="109728" cy="1737360"/>
          </a:xfrm>
          <a:prstGeom prst="roundRect">
            <a:avLst/>
          </a:prstGeom>
          <a:solidFill>
            <a:srgbClr val="D4A8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40280" y="1645920"/>
            <a:ext cx="7619695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D4A854"/>
                </a:solidFill>
                <a:latin typeface="Georgia"/>
              </a:rPr>
              <a:t>1 Corinto 4:7</a:t>
            </a:r>
          </a:p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FDFBF6"/>
                </a:solidFill>
                <a:latin typeface="Georgia"/>
              </a:rPr>
              <a:t>"Hindi ba't lahat ng nasa inyo'y ibinigay lamang sa inyo ng Diyos? Bakit ninyo ipinagyayabang iyon na parang hindi kaloob?"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628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 i="1">
                <a:solidFill>
                  <a:srgbClr val="D4A854"/>
                </a:solidFill>
                <a:latin typeface="Georgia"/>
              </a:rPr>
              <a:t>Boom basag!</a:t>
            </a:r>
          </a:p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FDFBF6"/>
                </a:solidFill>
                <a:latin typeface="DejaVu Sans"/>
              </a:rPr>
              <a:t>Hindi ka owner — manager ka. Tapat ang inaasahan (1 Cor 4:2).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0936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FDFBF6"/>
                </a:solidFill>
                <a:latin typeface="DejaVu Sans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B8882A"/>
                </a:solidFill>
                <a:latin typeface="DejaVu Sans"/>
              </a:rPr>
              <a:t>HALIGI 2 · PERA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7135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200"/>
              </a:spcAft>
            </a:pPr>
            <a:r>
              <a:rPr sz="3000" b="1" i="0">
                <a:solidFill>
                  <a:srgbClr val="1F4530"/>
                </a:solidFill>
                <a:latin typeface="Georgia"/>
              </a:rPr>
              <a:t>Alipin, hindi Amo</a:t>
            </a:r>
          </a:p>
          <a:p>
            <a:pPr algn="ctr">
              <a:spcAft>
                <a:spcPts val="800"/>
              </a:spcAft>
            </a:pPr>
            <a:r>
              <a:rPr sz="1800" b="0" i="0">
                <a:solidFill>
                  <a:srgbClr val="1A2E22"/>
                </a:solidFill>
                <a:latin typeface="DejaVu Sans"/>
              </a:rPr>
              <a:t>~2,000 verses tungkol sa pera · 40% ng parables ni Jesus.</a:t>
            </a:r>
          </a:p>
          <a:p>
            <a:pPr algn="ctr">
              <a:spcAft>
                <a:spcPts val="600"/>
              </a:spcAft>
            </a:pPr>
            <a:r>
              <a:rPr sz="1700" b="0" i="1">
                <a:solidFill>
                  <a:srgbClr val="1A2E22"/>
                </a:solidFill>
                <a:latin typeface="DejaVu Sans"/>
              </a:rPr>
              <a:t>"Masarap ang pera na alipin — delikado kapag ikaw na ang inaalila."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94560" y="4114800"/>
            <a:ext cx="7802575" cy="1371600"/>
          </a:xfrm>
          <a:prstGeom prst="roundRect">
            <a:avLst/>
          </a:prstGeom>
          <a:solidFill>
            <a:srgbClr val="F7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194560" y="4114800"/>
            <a:ext cx="109728" cy="1371600"/>
          </a:xfrm>
          <a:prstGeom prst="roundRect">
            <a:avLst/>
          </a:prstGeom>
          <a:solidFill>
            <a:srgbClr val="B88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06040" y="4160520"/>
            <a:ext cx="7071055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B8882A"/>
                </a:solidFill>
                <a:latin typeface="Georgia"/>
              </a:rPr>
              <a:t>1 Timoteo 6:10</a:t>
            </a:r>
          </a:p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1A2E22"/>
                </a:solidFill>
                <a:latin typeface="DejaVu Sans"/>
              </a:rPr>
              <a:t>Ang pag-ibig sa salapi (hindi ang salapi) ang ugat ng lahat ng kasamaan.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0936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6B6253"/>
                </a:solidFill>
                <a:latin typeface="DejaVu Sans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B8882A"/>
                </a:solidFill>
                <a:latin typeface="DejaVu Sans"/>
              </a:rPr>
              <a:t>HALIGI 3 · PAGBIBIGAY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1F4530"/>
                </a:solidFill>
                <a:latin typeface="Georgia"/>
              </a:rPr>
              <a:t>Channel, huwag lang Vessel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94560" y="2377440"/>
            <a:ext cx="7802575" cy="1645920"/>
          </a:xfrm>
          <a:prstGeom prst="roundRect">
            <a:avLst/>
          </a:prstGeom>
          <a:solidFill>
            <a:srgbClr val="F6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194560" y="2377440"/>
            <a:ext cx="109728" cy="1645920"/>
          </a:xfrm>
          <a:prstGeom prst="roundRect">
            <a:avLst/>
          </a:prstGeom>
          <a:solidFill>
            <a:srgbClr val="B88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06040" y="2423160"/>
            <a:ext cx="7071055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B8882A"/>
                </a:solidFill>
                <a:latin typeface="Georgia"/>
              </a:rPr>
              <a:t>2 Corinto 9:7</a:t>
            </a:r>
          </a:p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1A2E22"/>
                </a:solidFill>
                <a:latin typeface="DejaVu Sans"/>
              </a:rPr>
              <a:t>"Ang bawat isa'y dapat magbigay ayon sa kanyang pasya, maluwag sa loob... iniibig ng Diyos ang nagbibigay nang may kagalakan."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297680"/>
            <a:ext cx="944849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1A2E22"/>
                </a:solidFill>
                <a:latin typeface="DejaVu Sans"/>
              </a:rPr>
              <a:t>Tithe (10%) = starting line, hindi finish line. Macedonian heart: bukas-palad sa kabila ng kahirapan (2 Cor 8:2-3).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0936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6B6253"/>
                </a:solidFill>
                <a:latin typeface="DejaVu Sans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5C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D4A854"/>
                </a:solidFill>
                <a:latin typeface="DejaVu Sans"/>
              </a:rPr>
              <a:t>ANG PUSO NG PAGBIBIGAY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2895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600"/>
              </a:spcAft>
            </a:pPr>
            <a:r>
              <a:rPr sz="3600" b="1" i="1">
                <a:solidFill>
                  <a:srgbClr val="D4A854"/>
                </a:solidFill>
                <a:latin typeface="Georgia"/>
              </a:rPr>
              <a:t>Walang bilang ang iyong PISO kung hindi kabilang ang iyong PUSO.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FDFBF6"/>
                </a:solidFill>
                <a:latin typeface="DejaVu Sans"/>
              </a:rPr>
              <a:t>Para sa Diyos, mas mahalaga ang tamang PUSO kaysa tamang PURSIYENTO.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FDFBF6"/>
                </a:solidFill>
                <a:latin typeface="DejaVu Sans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B8882A"/>
                </a:solidFill>
                <a:latin typeface="DejaVu Sans"/>
              </a:rPr>
              <a:t>TALAKAY · 12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628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1F4530"/>
                </a:solidFill>
                <a:latin typeface="Georgia"/>
              </a:rPr>
              <a:t>Dalawang Tanong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12367" y="2286000"/>
            <a:ext cx="4754880" cy="1828800"/>
          </a:xfrm>
          <a:prstGeom prst="roundRect">
            <a:avLst/>
          </a:prstGeom>
          <a:solidFill>
            <a:srgbClr val="EEF3EE"/>
          </a:solidFill>
          <a:ln>
            <a:solidFill>
              <a:srgbClr val="2A5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12367" y="2286000"/>
            <a:ext cx="4754880" cy="91440"/>
          </a:xfrm>
          <a:prstGeom prst="roundRect">
            <a:avLst/>
          </a:prstGeom>
          <a:solidFill>
            <a:srgbClr val="2A5C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86687" y="2468880"/>
            <a:ext cx="4206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F4530"/>
                </a:solidFill>
                <a:latin typeface="Georgia"/>
              </a:rPr>
              <a:t>1 · Self-Grade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A2E22"/>
                </a:solidFill>
                <a:latin typeface="DejaVu Sans"/>
              </a:rPr>
              <a:t>1-10, anong grado sa financial stewardship mo? Bakit?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2286000"/>
            <a:ext cx="4754880" cy="1828800"/>
          </a:xfrm>
          <a:prstGeom prst="roundRect">
            <a:avLst/>
          </a:prstGeom>
          <a:solidFill>
            <a:srgbClr val="EEF3EE"/>
          </a:solidFill>
          <a:ln>
            <a:solidFill>
              <a:srgbClr val="2A5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24447" y="2286000"/>
            <a:ext cx="4754880" cy="91440"/>
          </a:xfrm>
          <a:prstGeom prst="roundRect">
            <a:avLst/>
          </a:prstGeom>
          <a:solidFill>
            <a:srgbClr val="2A5C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468880"/>
            <a:ext cx="4206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F4530"/>
                </a:solidFill>
                <a:latin typeface="Georgia"/>
              </a:rPr>
              <a:t>2 · Ang P1-Milyon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A2E22"/>
                </a:solidFill>
                <a:latin typeface="DejaVu Sans"/>
              </a:rPr>
              <a:t>Kung may P1 milyon ka ngayon, paano mo gagamitin? (Honest!)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80560"/>
            <a:ext cx="103628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1">
                <a:solidFill>
                  <a:srgbClr val="6B6253"/>
                </a:solidFill>
                <a:latin typeface="DejaVu Sans"/>
              </a:rPr>
              <a:t>Safe space: walang husgahan · posture ang usapan, hindi figures · ang dito ay nananatili dito.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30936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6B6253"/>
                </a:solidFill>
                <a:latin typeface="DejaVu Sans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B8882A"/>
                </a:solidFill>
                <a:latin typeface="DejaVu Sans"/>
              </a:rPr>
              <a:t>TUGON · 12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6289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200"/>
              </a:spcAft>
            </a:pPr>
            <a:r>
              <a:rPr sz="2800" b="1" i="0">
                <a:solidFill>
                  <a:srgbClr val="1F4530"/>
                </a:solidFill>
                <a:latin typeface="Georgia"/>
              </a:rPr>
              <a:t>Quiz, Bucket, at Word Art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1A2E22"/>
                </a:solidFill>
                <a:latin typeface="DejaVu Sans"/>
              </a:rPr>
              <a:t>6-tanong na Financial Stewardship Quiz · optional Three-Bucket (Give · Save · Live) · piliin ang Top 3 areas + action steps.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3931920"/>
            <a:ext cx="1463040" cy="457200"/>
          </a:xfrm>
          <a:prstGeom prst="roundRect">
            <a:avLst/>
          </a:prstGeom>
          <a:solidFill>
            <a:srgbClr val="EAF0EA"/>
          </a:solidFill>
          <a:ln w="12700">
            <a:solidFill>
              <a:srgbClr val="2A5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F4530"/>
                </a:solidFill>
                <a:latin typeface="DejaVu Sans"/>
              </a:rPr>
              <a:t>Generosity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3931920"/>
            <a:ext cx="1175004" cy="457200"/>
          </a:xfrm>
          <a:prstGeom prst="roundRect">
            <a:avLst/>
          </a:prstGeom>
          <a:solidFill>
            <a:srgbClr val="EAF0EA"/>
          </a:solidFill>
          <a:ln w="12700">
            <a:solidFill>
              <a:srgbClr val="2A5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3931920"/>
            <a:ext cx="117500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F4530"/>
                </a:solidFill>
                <a:latin typeface="DejaVu Sans"/>
              </a:rPr>
              <a:t>Tithing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5404" y="3931920"/>
            <a:ext cx="1078992" cy="457200"/>
          </a:xfrm>
          <a:prstGeom prst="roundRect">
            <a:avLst/>
          </a:prstGeom>
          <a:solidFill>
            <a:srgbClr val="EAF0EA"/>
          </a:solidFill>
          <a:ln w="12700">
            <a:solidFill>
              <a:srgbClr val="2A5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75404" y="3931920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F4530"/>
                </a:solidFill>
                <a:latin typeface="DejaVu Sans"/>
              </a:rPr>
              <a:t>Saving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37276" y="3931920"/>
            <a:ext cx="1559052" cy="457200"/>
          </a:xfrm>
          <a:prstGeom prst="roundRect">
            <a:avLst/>
          </a:prstGeom>
          <a:solidFill>
            <a:srgbClr val="EAF0EA"/>
          </a:solidFill>
          <a:ln w="12700">
            <a:solidFill>
              <a:srgbClr val="2A5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37276" y="3931920"/>
            <a:ext cx="155905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F4530"/>
                </a:solidFill>
                <a:latin typeface="DejaVu Sans"/>
              </a:rPr>
              <a:t>Contentment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79208" y="3931920"/>
            <a:ext cx="886968" cy="457200"/>
          </a:xfrm>
          <a:prstGeom prst="roundRect">
            <a:avLst/>
          </a:prstGeom>
          <a:solidFill>
            <a:srgbClr val="EAF0EA"/>
          </a:solidFill>
          <a:ln w="12700">
            <a:solidFill>
              <a:srgbClr val="2A5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9208" y="3931920"/>
            <a:ext cx="88696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F4530"/>
                </a:solidFill>
                <a:latin typeface="DejaVu Sans"/>
              </a:rPr>
              <a:t>Debt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49056" y="3931920"/>
            <a:ext cx="886968" cy="457200"/>
          </a:xfrm>
          <a:prstGeom prst="roundRect">
            <a:avLst/>
          </a:prstGeom>
          <a:solidFill>
            <a:srgbClr val="EAF0EA"/>
          </a:solidFill>
          <a:ln w="12700">
            <a:solidFill>
              <a:srgbClr val="2A5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49056" y="3931920"/>
            <a:ext cx="88696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F4530"/>
                </a:solidFill>
                <a:latin typeface="DejaVu Sans"/>
              </a:rPr>
              <a:t>Time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18904" y="3931920"/>
            <a:ext cx="1078992" cy="457200"/>
          </a:xfrm>
          <a:prstGeom prst="roundRect">
            <a:avLst/>
          </a:prstGeom>
          <a:solidFill>
            <a:srgbClr val="EAF0EA"/>
          </a:solidFill>
          <a:ln w="12700">
            <a:solidFill>
              <a:srgbClr val="2A5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18904" y="3931920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F4530"/>
                </a:solidFill>
                <a:latin typeface="DejaVu Sans"/>
              </a:rPr>
              <a:t>Talent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71600" y="4553712"/>
            <a:ext cx="1271016" cy="457200"/>
          </a:xfrm>
          <a:prstGeom prst="roundRect">
            <a:avLst/>
          </a:prstGeom>
          <a:solidFill>
            <a:srgbClr val="EAF0EA"/>
          </a:solidFill>
          <a:ln w="12700">
            <a:solidFill>
              <a:srgbClr val="2A5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553712"/>
            <a:ext cx="127101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F4530"/>
                </a:solidFill>
                <a:latin typeface="DejaVu Sans"/>
              </a:rPr>
              <a:t>Treasure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25496" y="4553712"/>
            <a:ext cx="1559052" cy="457200"/>
          </a:xfrm>
          <a:prstGeom prst="roundRect">
            <a:avLst/>
          </a:prstGeom>
          <a:solidFill>
            <a:srgbClr val="EAF0EA"/>
          </a:solidFill>
          <a:ln w="12700">
            <a:solidFill>
              <a:srgbClr val="2A5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25496" y="4553712"/>
            <a:ext cx="155905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F4530"/>
                </a:solidFill>
                <a:latin typeface="DejaVu Sans"/>
              </a:rPr>
              <a:t>Hospitality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67428" y="4553712"/>
            <a:ext cx="1847088" cy="457200"/>
          </a:xfrm>
          <a:prstGeom prst="roundRect">
            <a:avLst/>
          </a:prstGeom>
          <a:solidFill>
            <a:srgbClr val="EAF0EA"/>
          </a:solidFill>
          <a:ln w="12700">
            <a:solidFill>
              <a:srgbClr val="2A5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7428" y="4553712"/>
            <a:ext cx="184708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F4530"/>
                </a:solidFill>
                <a:latin typeface="DejaVu Sans"/>
              </a:rPr>
              <a:t>Mission Giving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30936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6B6253"/>
                </a:solidFill>
                <a:latin typeface="DejaVu Sans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5C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D4A854"/>
                </a:solidFill>
                <a:latin typeface="DejaVu Sans"/>
              </a:rPr>
              <a:t>DALHIN · PANGAKO KO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FDFBF6"/>
                </a:solidFill>
                <a:latin typeface="Georgia"/>
              </a:rPr>
              <a:t>Pangako Ko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0" y="2103120"/>
            <a:ext cx="8168335" cy="2743200"/>
          </a:xfrm>
          <a:prstGeom prst="roundRect">
            <a:avLst/>
          </a:prstGeom>
          <a:solidFill>
            <a:srgbClr val="245238"/>
          </a:solidFill>
          <a:ln w="25400">
            <a:solidFill>
              <a:srgbClr val="D4A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68880" y="2286000"/>
            <a:ext cx="7253935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1">
                <a:solidFill>
                  <a:srgbClr val="FDFBF6"/>
                </a:solidFill>
                <a:latin typeface="Georgia"/>
              </a:rPr>
              <a:t>Hindi ako owner — manager ako.</a:t>
            </a:r>
          </a:p>
          <a:p>
            <a:pPr algn="l">
              <a:spcAft>
                <a:spcPts val="800"/>
              </a:spcAft>
            </a:pPr>
            <a:r>
              <a:rPr sz="1800" b="0" i="1">
                <a:solidFill>
                  <a:srgbClr val="FDFBF6"/>
                </a:solidFill>
                <a:latin typeface="Georgia"/>
              </a:rPr>
              <a:t>Hindi ko waldasin ang biyayang ipinagkatiwala sa akin.</a:t>
            </a:r>
          </a:p>
          <a:p>
            <a:pPr algn="l">
              <a:spcAft>
                <a:spcPts val="800"/>
              </a:spcAft>
            </a:pPr>
            <a:r>
              <a:rPr sz="1800" b="0" i="1">
                <a:solidFill>
                  <a:srgbClr val="FDFBF6"/>
                </a:solidFill>
                <a:latin typeface="Georgia"/>
              </a:rPr>
              <a:t>Magiging channel ako ng biyaya, hindi vessel na nag-iipon lang.</a:t>
            </a:r>
          </a:p>
          <a:p>
            <a:pPr algn="l">
              <a:spcAft>
                <a:spcPts val="800"/>
              </a:spcAft>
            </a:pPr>
            <a:r>
              <a:rPr sz="1800" b="0" i="1">
                <a:solidFill>
                  <a:srgbClr val="FDFBF6"/>
                </a:solidFill>
                <a:latin typeface="Georgia"/>
              </a:rPr>
              <a:t>Tapat na katiwala — sa oras, sa talento, sa pera.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6289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1">
                <a:solidFill>
                  <a:srgbClr val="D4A854"/>
                </a:solidFill>
                <a:latin typeface="DejaVu Sans"/>
              </a:rPr>
              <a:t>Bigkasin nang malakas · "Saksi ka." · "Saksi ako."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0936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FDFBF6"/>
                </a:solidFill>
                <a:latin typeface="DejaVu Sans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D4A854"/>
                </a:solidFill>
                <a:latin typeface="DejaVu Sans"/>
              </a:rPr>
              <a:t>L9 PREVIEW · SUSUNOD NA LINGGO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362895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400"/>
              </a:spcAft>
            </a:pPr>
            <a:r>
              <a:rPr sz="3600" b="1" i="0">
                <a:solidFill>
                  <a:srgbClr val="D4A854"/>
                </a:solidFill>
                <a:latin typeface="Georgia"/>
              </a:rPr>
              <a:t>Evangelism at Discipleship</a:t>
            </a:r>
          </a:p>
          <a:p>
            <a:pPr algn="ctr">
              <a:spcAft>
                <a:spcPts val="2000"/>
              </a:spcAft>
            </a:pPr>
            <a:r>
              <a:rPr sz="1800" b="0" i="0">
                <a:solidFill>
                  <a:srgbClr val="FDFBF6"/>
                </a:solidFill>
                <a:latin typeface="DejaVu Sans"/>
              </a:rPr>
              <a:t>Mula sa pamamahala ng biyaya → sa pinakamahalagang maibabahagi: ang Mabuting Balita.</a:t>
            </a:r>
          </a:p>
          <a:p>
            <a:pPr algn="ctr">
              <a:spcAft>
                <a:spcPts val="600"/>
              </a:spcAft>
            </a:pPr>
            <a:r>
              <a:rPr sz="1600" b="0" i="1">
                <a:solidFill>
                  <a:srgbClr val="D4A854"/>
                </a:solidFill>
                <a:latin typeface="Georgia"/>
              </a:rPr>
              <a:t>"A student who is fully trained will be like their teacher." — Luke 6:40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FDFBF6"/>
                </a:solidFill>
                <a:latin typeface="DejaVu Sans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
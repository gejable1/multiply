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cover</a:t>
            </a:r>
          </a:p>
          <a:p>
            <a:r>
              <a:rPr lang="en-US" dirty="0"/>
              <a:t>Noong L13, ang PUSO ng servant-leader; noong L14, ang GILAS.</a:t>
            </a:r>
          </a:p>
          <a:p>
            <a:r>
              <a:rPr lang="en-US" dirty="0"/>
              <a:t>Ngayon, ang MATA — ang kakayahang makita ang tunay na pangangailangan ng mga taong ipinagkatiwala ng Dios sa atin.</a:t>
            </a:r>
          </a:p>
          <a:p>
            <a:r>
              <a:rPr lang="en-US" dirty="0"/>
              <a:t>Ito ang pagsisimula ng Leading Others: mula sa pagtingin sa sarili, tumitingin na tayo sa iba.</a:t>
            </a:r>
          </a:p>
          <a:p>
            <a:r>
              <a:rPr lang="en-US" dirty="0"/>
              <a:t>Character anchor: Kindness o Kabaitan — ang kabaitang nakakakita ng pangangailangan at kumikilos para tugunan ito (Galatians 5:22).</a:t>
            </a:r>
          </a:p>
          <a:p>
            <a:r>
              <a:rPr lang="en-US" dirty="0"/>
              <a:t>Ang tanong ng lesson: Paano ko malalaman ang tunay na pangangailangan ng mga taong ipinagkatiwala ng Dios sa akin?</a:t>
            </a:r>
          </a:p>
          <a:p>
            <a:r>
              <a:rPr lang="en-US" dirty="0"/>
              <a:t>Opening prayer bago mag-verse.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00:02)</a:t>
            </a:r>
          </a:p>
          <a:p>
            <a:r>
              <a:rPr lang="en-US" dirty="0"/>
              <a:t>Basahin nang malakas nang dalawang beses — unang basa ikaw, pangalawa sabay-sabay.</a:t>
            </a:r>
          </a:p>
          <a:p>
            <a:r>
              <a:rPr lang="en-US" dirty="0"/>
              <a:t>Pansinin ang salitang PAGKAKATAON: hindi sinabi ni Paul na basta tumulong lang, kundi basta may pagkakataon, tumulong ka.</a:t>
            </a:r>
          </a:p>
          <a:p>
            <a:r>
              <a:rPr lang="en-US" dirty="0"/>
              <a:t>Ang pagkakataon ay kailangang MAKITA muna — kaya ito ang lesson ng mata.</a:t>
            </a:r>
          </a:p>
          <a:p>
            <a:r>
              <a:rPr lang="en-US" dirty="0"/>
              <a:t>Dalawang bilog ang sakop ng verse: ang lahat ng tao, at lalo na ang pamilya ng pananampalataya.</a:t>
            </a:r>
          </a:p>
          <a:p>
            <a:r>
              <a:rPr lang="en-US" dirty="0"/>
              <a:t>Huwag munang i-explain nang mahaba; babalikan natin ito sa TUKLAS.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1 min (target 00:03)</a:t>
            </a:r>
          </a:p>
          <a:p>
            <a:r>
              <a:rPr lang="en-US" dirty="0"/>
              <a:t>Ito ang ipinangako ng L14 na unang babalikan: ang hagdan, ang reading tracker, ang tatlong assignments, at ang Pangako Ko.</a:t>
            </a:r>
          </a:p>
          <a:p>
            <a:r>
              <a:rPr lang="en-US" dirty="0"/>
              <a:t>Basahin nang malakas ang eksaktong Pangako ng L14: Dahil nais kong lumago ang aking gilas bilang lingkod, nangangako ako na ngayong linggo ay...</a:t>
            </a:r>
          </a:p>
          <a:p>
            <a:r>
              <a:rPr lang="en-US" dirty="0"/>
              <a:t>Ang tono: pag-ani, hindi paghuhusga — i-celebrate ang bawat natapos, ngitian ang bawat kulang.</a:t>
            </a:r>
          </a:p>
          <a:p>
            <a:r>
              <a:rPr lang="en-US" dirty="0"/>
              <a:t>Ang hindi nakatapos ay follow-up ng discipler sa linggo, hindi public correction dito.</a:t>
            </a:r>
          </a:p>
          <a:p>
            <a:r>
              <a:rPr lang="en-US" dirty="0"/>
              <a:t>Tulay: ang L13 at L14 ay tungkol sa sarili nating puso at gilas; simula ngayong gabi, ilalabas na natin ang mata papunta sa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00:05)</a:t>
            </a:r>
          </a:p>
          <a:p>
            <a:r>
              <a:rPr lang="en-US" dirty="0"/>
              <a:t>PARTICIPANT GUIDE QUESTION.</a:t>
            </a:r>
          </a:p>
          <a:p>
            <a:r>
              <a:rPr lang="en-US" dirty="0"/>
              <a:t>Itaas ang kamay: sino ang nakaakyat ng kahit isang baitang?</a:t>
            </a:r>
          </a:p>
          <a:p>
            <a:r>
              <a:rPr lang="en-US" dirty="0"/>
              <a:t>Sino ang kumpleto ang 7 araw ng pagbasa?</a:t>
            </a:r>
          </a:p>
          <a:p>
            <a:r>
              <a:rPr lang="en-US" dirty="0"/>
              <a:t>Humingi ng ISANG kuwento ng feedback na natanggap — at ano ang ginawa nila rito.</a:t>
            </a:r>
          </a:p>
          <a:p>
            <a:r>
              <a:rPr lang="en-US" dirty="0"/>
              <a:t>Kapag may nagsabing masakit pala ang feedback, i-celebrate: iyan mismo ang teachability ng L14.</a:t>
            </a:r>
          </a:p>
          <a:p>
            <a:r>
              <a:rPr lang="en-US" dirty="0"/>
              <a:t>Bantayan ang oras — dalawang minuto lang; ang mahahabang kuwento ay pang-LCG.</a:t>
            </a:r>
          </a:p>
          <a:p>
            <a:r>
              <a:rPr lang="en-US" dirty="0"/>
              <a:t>Itala ng interns kung sino ang walang dala — para sa gentle catch-up, hindi pagsabihan.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00:07)</a:t>
            </a:r>
          </a:p>
          <a:p>
            <a:r>
              <a:rPr lang="en-US" dirty="0"/>
              <a:t>KUWENTO — Ang Tatay na may Pako sa Ulo (basahin nang buo, Chicken Soup style).</a:t>
            </a:r>
          </a:p>
          <a:p>
            <a:r>
              <a:rPr lang="en-US" dirty="0"/>
              <a:t>Simpleng tatay lang si Dante Autullo — isang karaniwang lalaki na gumagawa ng simpleng repair work sa bubungan ng kanilang bahay.</a:t>
            </a:r>
          </a:p>
          <a:p>
            <a:r>
              <a:rPr lang="en-US" dirty="0"/>
              <a:t>Hawak niya ang kaniyang nail gun, isang automatic na pambaril ng pako, nang biglang may nangyaring simpleng aksidente.</a:t>
            </a:r>
          </a:p>
          <a:p>
            <a:r>
              <a:rPr lang="en-US" dirty="0"/>
              <a:t>Nagasgasan siya sa ulo — simpleng gasgas lang, akala niya.</a:t>
            </a:r>
          </a:p>
          <a:p>
            <a:r>
              <a:rPr lang="en-US" dirty="0"/>
              <a:t>Simpleng hilo at pagsusuka lang ang naramdaman niya, kaya itinuloy pa rin niya ang pagkukumpuni buong hapon.</a:t>
            </a:r>
          </a:p>
          <a:p>
            <a:r>
              <a:rPr lang="en-US" dirty="0"/>
              <a:t>Kinabukasan, simpleng check-up lang sana ang gagawin sa kaniya.</a:t>
            </a:r>
          </a:p>
          <a:p>
            <a:r>
              <a:rPr lang="en-US" dirty="0"/>
              <a:t>Pero hindi na siya pinauwi ng doktor.</a:t>
            </a:r>
          </a:p>
          <a:p>
            <a:r>
              <a:rPr lang="en-US" dirty="0"/>
              <a:t>Bakit?</a:t>
            </a:r>
          </a:p>
          <a:p>
            <a:r>
              <a:rPr lang="en-US" dirty="0"/>
              <a:t>Dahil nang lumabas ang skull x-ray ni Dante, natuklasan na may nakabaong 3.75-inch na pako sa gitna ng kaniyang utak!</a:t>
            </a:r>
          </a:p>
          <a:p>
            <a:r>
              <a:rPr lang="en-US" dirty="0"/>
              <a:t>Na-activate pala ang motion sensor ng automatic nail gun, at agad itong nagpakawala ng pako.</a:t>
            </a:r>
          </a:p>
          <a:p>
            <a:r>
              <a:rPr lang="en-US" dirty="0"/>
              <a:t>Buti na lang at walang nadaling importanteng bahagi ng utak, kaya halos hindi naapektuhan si Dante.</a:t>
            </a:r>
          </a:p>
          <a:p>
            <a:r>
              <a:rPr lang="en-US" dirty="0"/>
              <a:t>Pero isipin ninyo: kung simpleng painkiller lang ang ipinanggamot niya sa kaniyang komplikadong problema, ibang-iba sana ang katapusan ng kuwentong ito.</a:t>
            </a:r>
          </a:p>
          <a:p>
            <a:r>
              <a:rPr lang="en-US" dirty="0"/>
              <a:t>Salamat na lang at nalaman ang tunay niyang problema, kaya naagapan.</a:t>
            </a:r>
          </a:p>
          <a:p>
            <a:r>
              <a:rPr lang="en-US" dirty="0"/>
              <a:t>Mga kapatid, ganiyan din ang maraming tao sa paligid natin — nakangiti, naglalakad, nagtatrabaho, pero may pako sa ulo.</a:t>
            </a:r>
          </a:p>
          <a:p>
            <a:r>
              <a:rPr lang="en-US" dirty="0"/>
              <a:t>Sinadyang wala sa slide ang pako — hayaang ang boses mo ang mag-reveal, at bigyan ng isang segundong katahimikan bago ang 3.75-inch.</a:t>
            </a:r>
          </a:p>
          <a:p>
            <a:r>
              <a:rPr lang="en-US" dirty="0"/>
              <a:t>Tulay sa tanong: hindi lahat ng simple ay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1 min (target 00:08)</a:t>
            </a:r>
          </a:p>
          <a:p>
            <a:r>
              <a:rPr lang="en-US" dirty="0"/>
              <a:t>PARTICIPANT GUIDE QUESTION.</a:t>
            </a:r>
          </a:p>
          <a:p>
            <a:r>
              <a:rPr lang="en-US" dirty="0"/>
              <a:t>Mula mismo sa UNLAD workbook ang tanong na ito.</a:t>
            </a:r>
          </a:p>
          <a:p>
            <a:r>
              <a:rPr lang="en-US" dirty="0"/>
              <a:t>Puwedeng tungkol sa kalusugan, relasyon, pera, o ministry — kahit ano basta totoo.</a:t>
            </a:r>
          </a:p>
          <a:p>
            <a:r>
              <a:rPr lang="en-US" dirty="0"/>
              <a:t>Hintayin ang sagot na nagpapakita ng aral: madalas, mas malalim ang problema kaysa sa nakikita sa ibabaw.</a:t>
            </a:r>
          </a:p>
          <a:p>
            <a:r>
              <a:rPr lang="en-US" dirty="0"/>
              <a:t>Isang minuto lang — ito ang tulay sa Big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00:10)</a:t>
            </a:r>
          </a:p>
          <a:p>
            <a:r>
              <a:rPr lang="en-US" dirty="0"/>
              <a:t>Basahin ang Big Idea nang dahan-dahan, tapos ipabasa sa lahat.</a:t>
            </a:r>
          </a:p>
          <a:p>
            <a:r>
              <a:rPr lang="en-US" dirty="0"/>
              <a:t>Hindi lahat ng pagtulong ay nakakatulong: kung paanong madaling sumagot sa tanong na wala namang nagtatanong, minsan gumagawa tayo ng acts of charity na hindi naman talaga kailangan ng iba.</a:t>
            </a:r>
          </a:p>
          <a:p>
            <a:r>
              <a:rPr lang="en-US" dirty="0"/>
              <a:t>Hindi masamang tumulong — mabuti iyan, sabi nga ni Paul sa Galatians 6:10.</a:t>
            </a:r>
          </a:p>
          <a:p>
            <a:r>
              <a:rPr lang="en-US" dirty="0"/>
              <a:t>Pero hindi niya sinabi na basta tumulong lang; ang sinabi niya ay basta may pagkakataon, tumulong ka.</a:t>
            </a:r>
          </a:p>
          <a:p>
            <a:r>
              <a:rPr lang="en-US" dirty="0"/>
              <a:t>Mainam na magtanong tayo sa ating mga sarili: ito ba talaga ang klase ng tulong na kinakailangan nila?</a:t>
            </a:r>
          </a:p>
          <a:p>
            <a:r>
              <a:rPr lang="en-US" dirty="0"/>
              <a:t>Halimbawa: kapag masakit ang ulo ng tao tapos binigyan mo ng gamot sa pagtatae, ok na ba iyon?</a:t>
            </a:r>
          </a:p>
          <a:p>
            <a:r>
              <a:rPr lang="en-US" dirty="0"/>
              <a:t>Well, at least tumulong ako at may ginawa! — pakutyang depensa ng iba.</a:t>
            </a:r>
          </a:p>
          <a:p>
            <a:r>
              <a:rPr lang="en-US" dirty="0"/>
              <a:t>Kung magiging totoo tayo, may mga pagkakataon na sa kagustuhan nating magpakitang-gilas, banat na lang tayo nang banat.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00:12)</a:t>
            </a:r>
          </a:p>
          <a:p>
            <a:r>
              <a:rPr lang="en-US" dirty="0"/>
              <a:t>Sobrang crucial para sa isang servant-leader ang kasanayang ma-discern ang tunay na pangangailangan ng mga taong hinahayaan ni Lord na ma-ministeran natin.</a:t>
            </a:r>
          </a:p>
          <a:p>
            <a:r>
              <a:rPr lang="en-US" dirty="0"/>
              <a:t>Marami sa kanila ang kagaya ni Dante — nakangiti lang pero may pako sa ulo; buhay na buhay pero unti-unting nauupos.</a:t>
            </a:r>
          </a:p>
          <a:p>
            <a:r>
              <a:rPr lang="en-US" dirty="0"/>
              <a:t>Mga taong nasanay na lang na sumabay sa pang-araw-araw na saliw ng buhay pero ramdam na mali ang sinasabayang tugtog.</a:t>
            </a:r>
          </a:p>
          <a:p>
            <a:r>
              <a:rPr lang="en-US" dirty="0"/>
              <a:t>Mga taong tahimik na gumigiba sa gitna ng mga paulit-ulit na aktibidades.</a:t>
            </a:r>
          </a:p>
          <a:p>
            <a:r>
              <a:rPr lang="en-US" dirty="0"/>
              <a:t>May mga pangangailangang lantad, at mayroon ring tago.</a:t>
            </a:r>
          </a:p>
          <a:p>
            <a:r>
              <a:rPr lang="en-US" dirty="0"/>
              <a:t>Madaling malaman ang lantad, tulad ng physical at material needs; pero ang tago ay kinakailangan ng malalim-lalim na hukayan at lantaran.</a:t>
            </a:r>
          </a:p>
          <a:p>
            <a:r>
              <a:rPr lang="en-US" dirty="0"/>
              <a:t>Itanong sa grupo: sino sa inyong paligid ang mukhang ok, pero hindi pa ninyo talaga natatanong?</a:t>
            </a:r>
          </a:p>
          <a:p>
            <a:r>
              <a:rPr lang="en-US" dirty="0"/>
              <a:t>Huwag magbanggit ng pangalan — isipin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00:13)</a:t>
            </a:r>
          </a:p>
          <a:p>
            <a:r>
              <a:rPr lang="en-US" dirty="0"/>
              <a:t>PARTICIPANT GUIDE QUESTION.</a:t>
            </a:r>
          </a:p>
          <a:p>
            <a:r>
              <a:rPr lang="en-US" dirty="0"/>
              <a:t>Ito ang margin question ng UNLAD sa TUKLAS.</a:t>
            </a:r>
          </a:p>
          <a:p>
            <a:r>
              <a:rPr lang="en-US" dirty="0"/>
              <a:t>Hanapin ang sagot na: ang maling tulong ay puwedeng magtakip sa tunay na problema, gaya ng painkiller sa pako.</a:t>
            </a:r>
          </a:p>
          <a:p>
            <a:r>
              <a:rPr lang="en-US" dirty="0"/>
              <a:t>Hanapin din: ang maling tulong ay madalas tungkol sa sarili nating pakitang-gilas, hindi sa tao.</a:t>
            </a:r>
          </a:p>
          <a:p>
            <a:r>
              <a:rPr lang="en-US" dirty="0"/>
              <a:t>Isang minuto lang — ang malalim na pag-uusap ay sa TALAKAY.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00:14)</a:t>
            </a:r>
          </a:p>
          <a:p>
            <a:r>
              <a:rPr lang="en-US" dirty="0"/>
              <a:t>Hindi kaila na alam ni Jesus ang lahat ng ating mga kailangan.</a:t>
            </a:r>
          </a:p>
          <a:p>
            <a:r>
              <a:rPr lang="en-US" dirty="0"/>
              <a:t>Malinaw itong na-highlight sa natatanging himala ni Jesus na nakatala sa apat na Gospel accounts — ang Feeding of the Five Thousand.</a:t>
            </a:r>
          </a:p>
          <a:p>
            <a:r>
              <a:rPr lang="en-US" dirty="0"/>
              <a:t>Mula rito, may apat na mahahalagang prinsipyo tayong makikita para mas matukoy at matugunan ang tunay na pangangailangan ng iba bilang servant-leaders.</a:t>
            </a:r>
          </a:p>
          <a:p>
            <a:r>
              <a:rPr lang="en-US" dirty="0"/>
              <a:t>Tawagin natin silang Apat na M: Mahabaging Puso, Malugod na Pagtanggap, Matinong Pananaw, at Mapagtiwalang Pag-asa.</a:t>
            </a:r>
          </a:p>
          <a:p>
            <a:r>
              <a:rPr lang="en-US" dirty="0"/>
              <a:t>Sabihin sa participants: may mga patlang sa guide ninyo — punan habang nakikinig.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00:16)</a:t>
            </a:r>
          </a:p>
          <a:p>
            <a:r>
              <a:rPr lang="en-US" dirty="0"/>
              <a:t>Basahin ang Matthew 14:14: Pagdating ni Jesus sa dalampasigan, nakita niya ang napakaraming taong iyon; nahabag siya sa kanila at pinagaling niya ang mga maysakit na dala nila.</a:t>
            </a:r>
          </a:p>
          <a:p>
            <a:r>
              <a:rPr lang="en-US" dirty="0"/>
              <a:t>Bago pa man nagpakain si Jesus ng mahigit sa limang libong tao, tinuruan at pinagaling muna Niya sila.</a:t>
            </a:r>
          </a:p>
          <a:p>
            <a:r>
              <a:rPr lang="en-US" dirty="0"/>
              <a:t>Pero bago pa man Siya magpagaling, magturo at magpakain, minahal muna Niya sila — nagsisimula ang lahat sa puso.</a:t>
            </a:r>
          </a:p>
          <a:p>
            <a:r>
              <a:rPr lang="en-US" dirty="0"/>
              <a:t>Hindi ka magkakaroon ng desire na alamin at tugunan ang pangangailangan ng iba kung wala kang pag-ibig para sa kanila.</a:t>
            </a:r>
          </a:p>
          <a:p>
            <a:r>
              <a:rPr lang="en-US" dirty="0"/>
              <a:t>Nang makita ni Jesus ang napakaraming taong may sakit physically at bulag spiritually, nahabag Siya.</a:t>
            </a:r>
          </a:p>
          <a:p>
            <a:r>
              <a:rPr lang="en-US" dirty="0"/>
              <a:t>Ang Greek word na ginamit para sa habag ay hinango sa salitang splagchna, na nangangahulugang internal organs o lamang-loob.</a:t>
            </a:r>
          </a:p>
          <a:p>
            <a:r>
              <a:rPr lang="en-US" dirty="0"/>
              <a:t>Akala kasi ng mga tao noon, dito nanggagaling ang iba't ibang emosyon tulad ng pagmamahal at habag — damang-dama ni Jesus ang pag-ibig Niya mula sa kaibuturan ng Kaniyang kalooban.</a:t>
            </a:r>
          </a:p>
          <a:p>
            <a:r>
              <a:rPr lang="en-US" dirty="0"/>
              <a:t>Walang ibang intention at motivation ang isang servant-leader kundi pag-ibig (2 Corinthians 5:14) — kaya dito tayo dapat magsimula.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00:18)</a:t>
            </a:r>
          </a:p>
          <a:p>
            <a:r>
              <a:rPr lang="en-US" dirty="0"/>
              <a:t>KUWENTO — Ang Bagong Pastor sa Bintana (basahin nang buo, Chicken Soup style).</a:t>
            </a:r>
          </a:p>
          <a:p>
            <a:r>
              <a:rPr lang="en-US" dirty="0"/>
              <a:t>May isang bagong pastor na kararating lang sa kanilang simbahan.</a:t>
            </a:r>
          </a:p>
          <a:p>
            <a:r>
              <a:rPr lang="en-US" dirty="0"/>
              <a:t>Isang araw, napansin ng isang matandang church officer na humahagulgol ang bagong pastor habang nakadungaw sa bintana ng kaniyang opisina.</a:t>
            </a:r>
          </a:p>
          <a:p>
            <a:r>
              <a:rPr lang="en-US" dirty="0"/>
              <a:t>Nakatitig lang ito sa kalunos-lunos na kalagayan ng kanilang lugar.</a:t>
            </a:r>
          </a:p>
          <a:p>
            <a:r>
              <a:rPr lang="en-US" dirty="0"/>
              <a:t>Puno ang paligid ng beerhouses, drug dens, at bahay-sugalan.</a:t>
            </a:r>
          </a:p>
          <a:p>
            <a:r>
              <a:rPr lang="en-US" dirty="0"/>
              <a:t>Nagkalat ang mga lasing, mga basagulero, at mga lulong sa droga.</a:t>
            </a:r>
          </a:p>
          <a:p>
            <a:r>
              <a:rPr lang="en-US" dirty="0"/>
              <a:t>Dahil gusto niyang palubagin ang loob ng bagong pastor, inakbayan niya ito at sinabing, “Huwag po kayong mag-alala, Pastor. Masasanay din kayo.”</a:t>
            </a:r>
          </a:p>
          <a:p>
            <a:r>
              <a:rPr lang="en-US" dirty="0"/>
              <a:t>Mataimtim na tumingin ang pastor sa church officer at sinabing, “Alam ko po. Kaya nga po ako umiiyak.”</a:t>
            </a:r>
          </a:p>
          <a:p>
            <a:r>
              <a:rPr lang="en-US" dirty="0"/>
              <a:t>Ang kinatatakutan ng pastor ay hindi ang lugar — kundi ang araw na masasanay na siya at hindi na mababasag ang puso niya.</a:t>
            </a:r>
          </a:p>
          <a:p>
            <a:r>
              <a:rPr lang="en-US" dirty="0"/>
              <a:t>Walang puwang sa isang kalyadong puso ang pangangailangan ng iba.</a:t>
            </a:r>
          </a:p>
          <a:p>
            <a:r>
              <a:rPr lang="en-US" dirty="0"/>
              <a:t>Hayaan ang ilang segundong katahimikan pagkatapos ng sagot ng pastor bago magpatuloy.</a:t>
            </a:r>
          </a:p>
          <a:p>
            <a:r>
              <a:rPr lang="en-US" dirty="0"/>
              <a:t>Itanong nang malumanay: nababasag pa ba ang puso mo para sa kalagayan ng iyong kapwa?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00:19)</a:t>
            </a:r>
          </a:p>
          <a:p>
            <a:r>
              <a:rPr lang="en-US" dirty="0"/>
              <a:t>PARTICIPANT GUIDE QUESTION.</a:t>
            </a:r>
          </a:p>
          <a:p>
            <a:r>
              <a:rPr lang="en-US" dirty="0"/>
              <a:t>Margin question ng UNLAD — personal at puwedeng mabigat.</a:t>
            </a:r>
          </a:p>
          <a:p>
            <a:r>
              <a:rPr lang="en-US" dirty="0"/>
              <a:t>Bigyan ng isang buong minuto ng katahimikan; huwag pilitin ang sharing.</a:t>
            </a:r>
          </a:p>
          <a:p>
            <a:r>
              <a:rPr lang="en-US" dirty="0"/>
              <a:t>Kung walang maalala ang iba, ok lang — iyon mismo ang data: baka kalyado na ang puso at kailangang ipanalangin.</a:t>
            </a:r>
          </a:p>
          <a:p>
            <a:r>
              <a:rPr lang="en-US" dirty="0"/>
              <a:t>Isang voluntary sharer lang kung may 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3 min (target 00:22)</a:t>
            </a:r>
          </a:p>
          <a:p>
            <a:r>
              <a:rPr lang="en-US" dirty="0"/>
              <a:t>Basahin ang Luke 9:11: Sinundan siya ng mga tao nang malaman ito, at malugod naman silang tinanggap ni Jesus; nagsalita siya sa mga tao tungkol sa kaharian ng Diyos at pinagaling niya ang mga may karamdaman.</a:t>
            </a:r>
          </a:p>
          <a:p>
            <a:r>
              <a:rPr lang="en-US" dirty="0"/>
              <a:t>Minsan, ilag tayo sa pangangailangan ng iba dahil may sari-sarili rin tayong pasanin sa buhay.</a:t>
            </a:r>
          </a:p>
          <a:p>
            <a:r>
              <a:rPr lang="en-US" dirty="0"/>
              <a:t>May mga pagkakataon na gusto mo namang tumulong, kaso ikaw mismo nangangailangan din, nababasag din, nahihirapan din.</a:t>
            </a:r>
          </a:p>
          <a:p>
            <a:r>
              <a:rPr lang="en-US" dirty="0"/>
              <a:t>Kaya parang justified din namang sabihing: Sa susunod na lang; Hanap na lang kayo ng iba; o Ako naman muna.</a:t>
            </a:r>
          </a:p>
          <a:p>
            <a:r>
              <a:rPr lang="en-US" dirty="0"/>
              <a:t>Hindi natin sinasabing huwag mo nang atupagin ang mga sarili mong problema — ang punto lang: dahil si Jesus ang model natin, sa hirap o ginhawa, puwede pa rin tayong umabot sa iba.</a:t>
            </a:r>
          </a:p>
          <a:p>
            <a:r>
              <a:rPr lang="en-US" dirty="0"/>
              <a:t>Ang context: bago ang Feeding of the Five Thousand, sobrang busy ni Jesus sa pagsugo sa Twelve Disciples (Luke 9:1-5).</a:t>
            </a:r>
          </a:p>
          <a:p>
            <a:r>
              <a:rPr lang="en-US" dirty="0"/>
              <a:t>Pagbalik ng mga disipulo, bumulaga naman ang demands ng napakaraming taong dumarating at umaalis — hindi na nila makuhang kumain (Mark 6:31).</a:t>
            </a:r>
          </a:p>
          <a:p>
            <a:r>
              <a:rPr lang="en-US" dirty="0"/>
              <a:t>Physically-exhausting at mentally-draining ito — pero mas mahirap ang emotional stress na hatid ng dalamhati nang matanggap Niya ang balitang pinapugutan ng ulo ni Herodes ang Kaniyang pinsan na si John the Baptist (Matthew 14:1-12).</a:t>
            </a:r>
          </a:p>
          <a:p>
            <a:r>
              <a:rPr lang="en-US" dirty="0"/>
              <a:t>Ang masakit, pinapa-hunting na rin Siya nito para isunod kay John (Luke 9:9).</a:t>
            </a:r>
          </a:p>
          <a:p>
            <a:r>
              <a:rPr lang="en-US" dirty="0"/>
              <a:t>Pagod, gutom, hirap — pero paano tinanggap ni Jesus ang mga tao?</a:t>
            </a:r>
          </a:p>
          <a:p>
            <a:r>
              <a:rPr lang="en-US" dirty="0"/>
              <a:t>Malugod: literally, ang paghawak sa kamay para i-welcome.</a:t>
            </a:r>
          </a:p>
          <a:p>
            <a:r>
              <a:rPr lang="en-US" dirty="0"/>
              <a:t>Sa kabila ng sikip ng schedule at sikip ng dibdib, nakuha pa rin Niyang gawin ang mga ito para sa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3 min (target 00:25)</a:t>
            </a:r>
          </a:p>
          <a:p>
            <a:r>
              <a:rPr lang="en-US" dirty="0"/>
              <a:t>Basahin ang Luke 9:12: Nang malapit nang lumubog ang araw, nilapitan siya ng Labindalawa at sinabi nila, Paalisin na po ninyo ang mga tao upang makahanap sila ng makakain at matutuluyan sa mga nayon sa paligid; nasa liblib na lugar po tayo.</a:t>
            </a:r>
          </a:p>
          <a:p>
            <a:r>
              <a:rPr lang="en-US" dirty="0"/>
              <a:t>Matatapos na sana ang mahabang araw kaso nga lang kumalam ang sikmura ng mga tao.</a:t>
            </a:r>
          </a:p>
          <a:p>
            <a:r>
              <a:rPr lang="en-US" dirty="0"/>
              <a:t>Sa totoo lang, wala namang talagang obligasyon si Jesus sa kanila dahil ibinigay na Niya ang lahat ng pangangailangan nila.</a:t>
            </a:r>
          </a:p>
          <a:p>
            <a:r>
              <a:rPr lang="en-US" dirty="0"/>
              <a:t>Kaya reasonable lang din ang suggestion ng disciples na paalisin na ang mga tao para hindi maabutan ng dilim — masyado na silang nagasta sa paglilingkod, pahinga na muna.</a:t>
            </a:r>
          </a:p>
          <a:p>
            <a:r>
              <a:rPr lang="en-US" dirty="0"/>
              <a:t>Kaso may ibang idea si Jesus: Hindi na sila kailangang umalis; bigyan ninyo sila ng makakain (Matthew 14:16).</a:t>
            </a:r>
          </a:p>
          <a:p>
            <a:r>
              <a:rPr lang="en-US" dirty="0"/>
              <a:t>Isang sitwasyon, dalawang pananaw.</a:t>
            </a:r>
          </a:p>
          <a:p>
            <a:r>
              <a:rPr lang="en-US" dirty="0"/>
              <a:t>Ang Labindalawa, pabor sa simpleng pagtataboy; si Jesus naman, sold out sa all out na pagtulong.</a:t>
            </a:r>
          </a:p>
          <a:p>
            <a:r>
              <a:rPr lang="en-US" dirty="0"/>
              <a:t>Itanong: saan kaya nanggaling ang magkaibang pananaw na ito?</a:t>
            </a:r>
          </a:p>
          <a:p>
            <a:r>
              <a:rPr lang="en-US" dirty="0"/>
              <a:t>Ang sagot ay nasa susunod na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00:27)</a:t>
            </a:r>
          </a:p>
          <a:p>
            <a:r>
              <a:rPr lang="en-US" dirty="0"/>
              <a:t>Ito ang pananaw ni Jesus sa mga tao: mga tupang nangangailangan ng pastol, at hindi mga basurang patapon.</a:t>
            </a:r>
          </a:p>
          <a:p>
            <a:r>
              <a:rPr lang="en-US" dirty="0"/>
              <a:t>Dahil alam ni Jesus ang halaga ng bawat tao, itinuturing Niyang kayamanan ang bawat isa.</a:t>
            </a:r>
          </a:p>
          <a:p>
            <a:r>
              <a:rPr lang="en-US" dirty="0"/>
              <a:t>Pinagpala Niya sila hindi dahil sa kung sino sila, kundi sa kabila ng kung sino sila.</a:t>
            </a:r>
          </a:p>
          <a:p>
            <a:r>
              <a:rPr lang="en-US" dirty="0"/>
              <a:t>Hinaplos Niya sila hindi dahil malilinis sila, kundi dahil nasasaktan sila.</a:t>
            </a:r>
          </a:p>
          <a:p>
            <a:r>
              <a:rPr lang="en-US" dirty="0"/>
              <a:t>Naglaan Siya ng oras para makasama sila hindi dahil may nakatutok na camera, kundi dahil ito ang kalooban ng Ama.</a:t>
            </a:r>
          </a:p>
          <a:p>
            <a:r>
              <a:rPr lang="en-US" dirty="0"/>
              <a:t>Para kay Jesus, hindi sila pabigat, statistics, project, obligasyon, schedule load, numero, o pampabida sa social media.</a:t>
            </a:r>
          </a:p>
          <a:p>
            <a:r>
              <a:rPr lang="en-US" dirty="0"/>
              <a:t>Mga tao sila — mga taong nilikha ayon sa wangis at larawan Niya.</a:t>
            </a:r>
          </a:p>
          <a:p>
            <a:r>
              <a:rPr lang="en-US" dirty="0"/>
              <a:t>Sana kapag tumingin tayo sa iba, tumingin tayo nang kagaya Niya.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00:28)</a:t>
            </a:r>
          </a:p>
          <a:p>
            <a:r>
              <a:rPr lang="en-US" dirty="0"/>
              <a:t>PARTICIPANT GUIDE QUESTION.</a:t>
            </a:r>
          </a:p>
          <a:p>
            <a:r>
              <a:rPr lang="en-US" dirty="0"/>
              <a:t>Margin question ng UNLAD — confessional ito, kaya silent writing.</a:t>
            </a:r>
          </a:p>
          <a:p>
            <a:r>
              <a:rPr lang="en-US" dirty="0"/>
              <a:t>Ipaalala: ang participant guide ay naka-save lang sa device nila; walang ibang makakabasa.</a:t>
            </a:r>
          </a:p>
          <a:p>
            <a:r>
              <a:rPr lang="en-US" dirty="0"/>
              <a:t>Isang minuto ng katahimikan; huwag nang humingi ng sharer.</a:t>
            </a:r>
          </a:p>
          <a:p>
            <a:r>
              <a:rPr lang="en-US" dirty="0"/>
              <a:t>Pagkatapos, isang maikling panalangin: Panginoon, bigyan Mo kami ng mata Mo para sa mga tao.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3 min (target 00:31)</a:t>
            </a:r>
          </a:p>
          <a:p>
            <a:r>
              <a:rPr lang="en-US" dirty="0"/>
              <a:t>KUWENTO — Si Philip at ang Grade One sa Advanced Math (basahin nang buo, Chicken Soup style).</a:t>
            </a:r>
          </a:p>
          <a:p>
            <a:r>
              <a:rPr lang="en-US" dirty="0"/>
              <a:t>Sa Gospel of John lang makikita ang detalyeng ito: sa Labindalawa, si Philip lang ang kinorner ni Jesus.</a:t>
            </a:r>
          </a:p>
          <a:p>
            <a:r>
              <a:rPr lang="en-US" dirty="0"/>
              <a:t>Mahigit limang libong lalaki ang nasa harap nila — hindi pa kasama ang mga babae at bata — at biglang tumingin si Jesus kay Philip: “Saan kaya tayo makakabili ng tinapay upang makakain ang mga taong ito?”</a:t>
            </a:r>
          </a:p>
          <a:p>
            <a:r>
              <a:rPr lang="en-US" dirty="0"/>
              <a:t>Para kang Grade One student na tinanong ng isang College professor tungkol sa advanced Mathematics.</a:t>
            </a:r>
          </a:p>
          <a:p>
            <a:r>
              <a:rPr lang="en-US" dirty="0"/>
              <a:t>Para kang batang inutusang bumili sa sari-sari store pero walang ibinigay na pambili.</a:t>
            </a:r>
          </a:p>
          <a:p>
            <a:r>
              <a:rPr lang="en-US" dirty="0"/>
              <a:t>Malamang, kung tayo si Philip, napatanong pa tayo pabalik: “Diba po, bago tayo magtanong kung saan bibili, dapat may pambili muna? Nasaan po yung pambili?”</a:t>
            </a:r>
          </a:p>
          <a:p>
            <a:r>
              <a:rPr lang="en-US" dirty="0"/>
              <a:t>Agad nag-compute si Philip: “Kahit na po halagang dalawandaang salaping pilak ng tinapay ay hindi sasapat para makakain sila nang tigkakaunti” (John 6:7).</a:t>
            </a:r>
          </a:p>
          <a:p>
            <a:r>
              <a:rPr lang="en-US" dirty="0"/>
              <a:t>Tama naman.</a:t>
            </a:r>
          </a:p>
          <a:p>
            <a:r>
              <a:rPr lang="en-US" dirty="0"/>
              <a:t>Praktikal.</a:t>
            </a:r>
          </a:p>
          <a:p>
            <a:r>
              <a:rPr lang="en-US" dirty="0"/>
              <a:t>Reasonable.</a:t>
            </a:r>
          </a:p>
          <a:p>
            <a:r>
              <a:rPr lang="en-US" dirty="0"/>
              <a:t>Pero masyadong nakaasa sa sarili.</a:t>
            </a:r>
          </a:p>
          <a:p>
            <a:r>
              <a:rPr lang="en-US" dirty="0"/>
              <a:t>Madalas, ganiyan din tayo — sinasadya nating huwag pakinggan ang hinaing ng iba dahil nagco-compute agad ang inner Grade One sa isip natin.</a:t>
            </a:r>
          </a:p>
          <a:p>
            <a:r>
              <a:rPr lang="en-US" dirty="0"/>
              <a:t>“Teka, wala naman akong ganiyang resources; hindi ko rin ito kakayaning matugunan, kaya hindi ko na lang aalamin.”</a:t>
            </a:r>
          </a:p>
          <a:p>
            <a:r>
              <a:rPr lang="en-US" dirty="0"/>
              <a:t>Pero sabi ng John 6:6, sinabi iyon ni Jesus upang subukin si Felipe, sapagkat alam na Niya ang Kaniyang gagawin.</a:t>
            </a:r>
          </a:p>
          <a:p>
            <a:r>
              <a:rPr lang="en-US" dirty="0"/>
              <a:t>Idiin: kapag may ipinakita ang Panginoon sa iyong problema o pangangailangan patungkol sa KANIYANG gawain, gusto Niyang maging parte ka ng solusyon.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00:33)</a:t>
            </a:r>
          </a:p>
          <a:p>
            <a:r>
              <a:rPr lang="en-US" dirty="0"/>
              <a:t>Hindi namamalimos ng tulong ang Dios mula sa iyo, at hindi rin Siya nakadepende sa iyo — pero gusto Niyang makasama ka sa milagrong gagawin Niya.</a:t>
            </a:r>
          </a:p>
          <a:p>
            <a:r>
              <a:rPr lang="en-US" dirty="0"/>
              <a:t>Nakakatakot sa umpisa, pero ganoon talaga: hindi mo kasi nakikita kung saan ito lahat papunta.</a:t>
            </a:r>
          </a:p>
          <a:p>
            <a:r>
              <a:rPr lang="en-US" dirty="0"/>
              <a:t>Nasa kalagitnaan ka pa lang ng biyahe; wala kang sagot sa mga tanong na Saan, Kailan, Sino, Gaano, Paano.</a:t>
            </a:r>
          </a:p>
          <a:p>
            <a:r>
              <a:rPr lang="en-US" dirty="0"/>
              <a:t>Basta ito lang ang alam natin sa ganiyang klase ng pagkakataon: alam na Niya ang gagawin Niya (John 6:6).</a:t>
            </a:r>
          </a:p>
          <a:p>
            <a:r>
              <a:rPr lang="en-US" dirty="0"/>
              <a:t>May mga pagsubok sa gawaing ganiyan, pero may pagsukob sa lilim ng Kaniyang kapangyarihang laan.</a:t>
            </a:r>
          </a:p>
          <a:p>
            <a:r>
              <a:rPr lang="en-US" dirty="0"/>
              <a:t>Ibigay mo lang kung ano'ng meron ka; ihandog mo kung ano'ng nasa kamay mo, tapos ilagay mo sa mga kamay Niya.</a:t>
            </a:r>
          </a:p>
          <a:p>
            <a:r>
              <a:rPr lang="en-US" dirty="0"/>
              <a:t>Ang Feeding of the Five Thousand ay tungkol sa limang libong katao, labindalawang disipulo, limang tinapay, dalawang isda, isang batang hindi pinangalanan pero pinarangalan sa kasaysayan — at higit sa lahat, sa nag-iisang Dios na walang hanggan at makapangyarihan.</a:t>
            </a:r>
          </a:p>
          <a:p>
            <a:r>
              <a:rPr lang="en-US" dirty="0"/>
              <a:t>Magtiwala ka at umasang kikilos Siya sa pamamagitan mo para matugunan ang pangangailangan ng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1 min (target 00:34)</a:t>
            </a:r>
          </a:p>
          <a:p>
            <a:r>
              <a:rPr lang="en-US" dirty="0"/>
              <a:t>Parehong apat na rules ng L13 at L14 — basahin nang malakas.</a:t>
            </a:r>
          </a:p>
          <a:p>
            <a:r>
              <a:rPr lang="en-US" dirty="0"/>
              <a:t>No fixing: hindi tayo nag-aayos ng problema ng iba ngayong gabi; nakikinig tayo.</a:t>
            </a:r>
          </a:p>
          <a:p>
            <a:r>
              <a:rPr lang="en-US" dirty="0"/>
              <a:t>No comparison at no preaching: walang pinakamabait dito, at walang sermon sa mesa.</a:t>
            </a:r>
          </a:p>
          <a:p>
            <a:r>
              <a:rPr lang="en-US" dirty="0"/>
              <a:t>Confidential: ang naririnig dito, dito lang.</a:t>
            </a:r>
          </a:p>
          <a:p>
            <a:r>
              <a:rPr lang="en-US" dirty="0"/>
              <a:t>Paalala: ang praktis ng lesson ay nagsisimula na rito — tingnan ang katabi mo nang may mata ni Jesus habang nagkukuwento siya.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4 min (target 00:38)</a:t>
            </a:r>
          </a:p>
          <a:p>
            <a:r>
              <a:rPr lang="en-US" dirty="0"/>
              <a:t>PARTICIPANT GUIDE QUESTION.</a:t>
            </a:r>
          </a:p>
          <a:p>
            <a:r>
              <a:rPr lang="en-US" dirty="0"/>
              <a:t>KUWENTO — Ang Pangungusap ni Hudson Taylor (basahin nang buo, Chicken Soup style).</a:t>
            </a:r>
          </a:p>
          <a:p>
            <a:r>
              <a:rPr lang="en-US" dirty="0"/>
              <a:t>Si James Hudson Taylor ay isang British missionary na naglingkod sa China nang mahigit limampung taon noong 1800s at nagtatag ng China Inland Mission.</a:t>
            </a:r>
          </a:p>
          <a:p>
            <a:r>
              <a:rPr lang="en-US" dirty="0"/>
              <a:t>Pumasok siya sa China na halos walang suporta, at nanindigan na hindi siya mangungutang at hindi manghihingi ng pera para sa gawain.</a:t>
            </a:r>
          </a:p>
          <a:p>
            <a:r>
              <a:rPr lang="en-US" dirty="0"/>
              <a:t>Ang buhay niya ang nagpatunay sa pangungusap na iniwan niya sa simbahan.</a:t>
            </a:r>
          </a:p>
          <a:p>
            <a:r>
              <a:rPr lang="en-US" dirty="0"/>
              <a:t>Sa orihinal na Ingles: “God's work done in God's way will never lack God's supply.”</a:t>
            </a:r>
          </a:p>
          <a:p>
            <a:r>
              <a:rPr lang="en-US" dirty="0"/>
              <a:t>Sa ating wika: “Umasa ka dito. Ang gawain ng Dios na ginagawa sa kaparaanan ng Dios ay hindi magkukulang sa pagpapala ng Dios.”</a:t>
            </a:r>
          </a:p>
          <a:p>
            <a:r>
              <a:rPr lang="en-US" dirty="0"/>
              <a:t>Ito ang interact question ng UNLAD mismo.</a:t>
            </a:r>
          </a:p>
          <a:p>
            <a:r>
              <a:rPr lang="en-US" dirty="0"/>
              <a:t>Hayaang may magtanong ng tapat: paano kung kulang talaga?</a:t>
            </a:r>
          </a:p>
          <a:p>
            <a:r>
              <a:rPr lang="en-US" dirty="0"/>
              <a:t>Ang landing: ang susi ay ang dalawang salitang kaparaanan ng Dios — hindi lahat ng ginagawa natin ay gawain Niya o paraan Niya.</a:t>
            </a:r>
          </a:p>
          <a:p>
            <a:r>
              <a:rPr lang="en-US" dirty="0"/>
              <a:t>Ikonekta kay Philip: ang nag-compute ay nakaasa sa sariling resources; ang nagtiwala ay nakakita ng himala.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4 min (target 00:42)</a:t>
            </a:r>
          </a:p>
          <a:p>
            <a:r>
              <a:rPr lang="en-US" dirty="0"/>
              <a:t>PARTICIPANT GUIDE QUESTION.</a:t>
            </a:r>
          </a:p>
          <a:p>
            <a:r>
              <a:rPr lang="en-US" dirty="0"/>
              <a:t>Margin question ng UNLAD sa Malugod na Pagtanggap — inilipat dito para may sapat na oras.</a:t>
            </a:r>
          </a:p>
          <a:p>
            <a:r>
              <a:rPr lang="en-US" dirty="0"/>
              <a:t>Mahalagang balanse: si Jesus mismo ay nagyaya sa Labindalawa na magpahinga muna sa isang tahimik na lugar (Mark 6:31) — may boundaries Siya.</a:t>
            </a:r>
          </a:p>
          <a:p>
            <a:r>
              <a:rPr lang="en-US" dirty="0"/>
              <a:t>Pero nang dumating ang mga tao, hindi Niya sila itinaboy; tinanggap Niya sila nang malugod.</a:t>
            </a:r>
          </a:p>
          <a:p>
            <a:r>
              <a:rPr lang="en-US" dirty="0"/>
              <a:t>Landing: ang boundary ay para makapaglingkod nang matagal, hindi para makaiwas sa paglilingkod.</a:t>
            </a:r>
          </a:p>
          <a:p>
            <a:r>
              <a:rPr lang="en-US" dirty="0"/>
              <a:t>Pastoral na bantay: may participants na totoong pagod na pagod ngayon — huwag silang dagdagan ng guilt; ito ay paanyaya, hindi pasanin.</a:t>
            </a:r>
          </a:p>
          <a:p>
            <a:r>
              <a:rPr lang="en-US" dirty="0"/>
              <a:t>Ito rin ang tulay sa L19: ang tamang pag-aalaga sa sarili para sa matagalang pag-aalaga sa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3 min (target 00:45)</a:t>
            </a:r>
          </a:p>
          <a:p>
            <a:r>
              <a:rPr lang="en-US" dirty="0"/>
              <a:t>PARTICIPANT GUIDE QUESTION.</a:t>
            </a:r>
          </a:p>
          <a:p>
            <a:r>
              <a:rPr lang="en-US" dirty="0"/>
              <a:t>Round-robin: bawat isa, isang M at isang maikling dahilan.</a:t>
            </a:r>
          </a:p>
          <a:p>
            <a:r>
              <a:rPr lang="en-US" dirty="0"/>
              <a:t>Interns: itala ang M ng bawat miyembro — raw material ito ng LCG at ng discipler.</a:t>
            </a:r>
          </a:p>
          <a:p>
            <a:r>
              <a:rPr lang="en-US" dirty="0"/>
              <a:t>Kapag pare-pareho ang pinakamahirap na M ng buong table, banggitin ito sa debrief.</a:t>
            </a:r>
          </a:p>
          <a:p>
            <a:r>
              <a:rPr lang="en-US" dirty="0"/>
              <a:t>Tatlong minuto lang; isara sa isang pangungusap na panalangin ng isang miyembro ng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3 min (target 00:48)</a:t>
            </a:r>
          </a:p>
          <a:p>
            <a:r>
              <a:rPr lang="en-US" dirty="0"/>
              <a:t>KUWENTO — Ang Almusal ng 300 Ulila (basahin nang buo, Chicken Soup style).</a:t>
            </a:r>
          </a:p>
          <a:p>
            <a:r>
              <a:rPr lang="en-US" dirty="0"/>
              <a:t>Maraming naiambag sa gawain ng Panginoon si George Müller, pero pinaka-nakilala siya sa kaniyang orphan care ministry sa England.</a:t>
            </a:r>
          </a:p>
          <a:p>
            <a:r>
              <a:rPr lang="en-US" dirty="0"/>
              <a:t>Dahil sa matinding pag-ibig niya sa Panginoon at sa mga ulila, nagtayo siya ng limang malalaking orphan houses at kinalinga ang 10,024 na ulila habang siya'y nabubuhay.</a:t>
            </a:r>
          </a:p>
          <a:p>
            <a:r>
              <a:rPr lang="en-US" dirty="0"/>
              <a:t>Ang pinaka-kahanga-hanga: kahit kailan, hindi siya nangutang para sa gawain, at hindi siya humingi ng pera nang direkta kaninuman — tao man o organisasyon.</a:t>
            </a:r>
          </a:p>
          <a:p>
            <a:r>
              <a:rPr lang="en-US" dirty="0"/>
              <a:t>Sa loob ng 68 taon sa ministry, hindi rin siya kumuha ng suweldo.</a:t>
            </a:r>
          </a:p>
          <a:p>
            <a:r>
              <a:rPr lang="en-US" dirty="0"/>
              <a:t>Nagtiwala lang siya na tapat ang Panginoon na magsu-supply ng lahat ng pangangailangan niya at ng mga bata.</a:t>
            </a:r>
          </a:p>
          <a:p>
            <a:r>
              <a:rPr lang="en-US" dirty="0"/>
              <a:t>Isang umaga, bihis na ang lahat ng 300 na ulila para pumasok sa school — pero wala pa silang almusal.</a:t>
            </a:r>
          </a:p>
          <a:p>
            <a:r>
              <a:rPr lang="en-US" dirty="0"/>
              <a:t>Walang tinapay.</a:t>
            </a:r>
          </a:p>
          <a:p>
            <a:r>
              <a:rPr lang="en-US" dirty="0"/>
              <a:t>Walang gatas.</a:t>
            </a:r>
          </a:p>
          <a:p>
            <a:r>
              <a:rPr lang="en-US" dirty="0"/>
              <a:t>Walang pambili.</a:t>
            </a:r>
          </a:p>
          <a:p>
            <a:r>
              <a:rPr lang="en-US" dirty="0"/>
              <a:t>Pinapunta ni George ang lahat ng bata sa dining hall, pinaupo sa harap ng mga walang-lamang plato, at nanalangin — nagpasalamat sa Dios para sa pagkaing ibibigay Niya.</a:t>
            </a:r>
          </a:p>
          <a:p>
            <a:r>
              <a:rPr lang="en-US" dirty="0"/>
              <a:t>Ilang minuto lang, may kumatok — isang panadero, may dalang mga tinapay para sa mga bata.</a:t>
            </a:r>
          </a:p>
          <a:p>
            <a:r>
              <a:rPr lang="en-US" dirty="0"/>
              <a:t>Maya-maya, may isa pang kumatok — isang milkman na nasiraan ng cart mismo sa tapat ng orphanage.</a:t>
            </a:r>
          </a:p>
          <a:p>
            <a:r>
              <a:rPr lang="en-US" dirty="0"/>
              <a:t>Mapapanis ang sampung malalaking lata ng gatas kapag hindi agad nainom, kaya idinonate na lang niya ito kina George.</a:t>
            </a:r>
          </a:p>
          <a:p>
            <a:r>
              <a:rPr lang="en-US" dirty="0"/>
              <a:t>Solved ang problema!</a:t>
            </a:r>
          </a:p>
          <a:p>
            <a:r>
              <a:rPr lang="en-US" dirty="0"/>
              <a:t>Nabusog ang mga bata, lahat ay pinagpala, at ang Dios ang naitaas at nadakila.</a:t>
            </a:r>
          </a:p>
          <a:p>
            <a:r>
              <a:rPr lang="en-US" dirty="0"/>
              <a:t>Nakita ni George ang pangangailangan, inilapit niya ito sa Dios, at ang Dios ang tumugon.</a:t>
            </a:r>
          </a:p>
          <a:p>
            <a:r>
              <a:rPr lang="en-US" dirty="0"/>
              <a:t>Tulay: ngayon, titingin tayo sa sarili nating paligid — sino ang mga Müller moment na naghihintay sa 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4 min (target 00:52)</a:t>
            </a:r>
          </a:p>
          <a:p>
            <a:r>
              <a:rPr lang="en-US" dirty="0"/>
              <a:t>PARTICIPANT GUIDE QUESTION.</a:t>
            </a:r>
          </a:p>
          <a:p>
            <a:r>
              <a:rPr lang="en-US" dirty="0"/>
              <a:t>Ito ang CHALLENGE ng UNLAD: tumingin ka sa paligid mo ngayon — anong mga pangangailangan ang ipinapakita sa iyo ni Lord?</a:t>
            </a:r>
          </a:p>
          <a:p>
            <a:r>
              <a:rPr lang="en-US" dirty="0"/>
              <a:t>For sure, hindi iyan pang-for-your-information's-sake lang.</a:t>
            </a:r>
          </a:p>
          <a:p>
            <a:r>
              <a:rPr lang="en-US" dirty="0"/>
              <a:t>Sa bawat bilog, isulat ang pangalan ng taong specifically ay nili-lead ni Lord sa iyo para tulungan, at ang specific na solusyong kaya mong gawin.</a:t>
            </a:r>
          </a:p>
          <a:p>
            <a:r>
              <a:rPr lang="en-US" dirty="0"/>
              <a:t>Ipaalala ang lantad at tago: isulat kung alin ang nakikita mong pangangailangan.</a:t>
            </a:r>
          </a:p>
          <a:p>
            <a:r>
              <a:rPr lang="en-US" dirty="0"/>
              <a:t>Pagkatapos magsulat, manalangin nang tahimik para sa pagkakataon ngayong linggo na maging katugunan sa pangangailangan nila.</a:t>
            </a:r>
          </a:p>
          <a:p>
            <a:r>
              <a:rPr lang="en-US" dirty="0"/>
              <a:t>Tip: ang mga pangalang ito ay puwedeng maging EOLO names mo 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3 min (target 00:55)</a:t>
            </a:r>
          </a:p>
          <a:p>
            <a:r>
              <a:rPr lang="en-US" dirty="0"/>
              <a:t>PARTICIPANT GUIDE QUESTION.</a:t>
            </a:r>
          </a:p>
          <a:p>
            <a:r>
              <a:rPr lang="en-US" dirty="0"/>
              <a:t>Limang proficiencies na isinulat para sa BTLI — sinusundan ang format ng Leading Yourself preassessments.</a:t>
            </a:r>
          </a:p>
          <a:p>
            <a:r>
              <a:rPr lang="en-US" dirty="0"/>
              <a:t>Basahin ang lima: napapansin ko kapag may nahihirapan kahit hindi sinasabi; nagtatanong at nakikinig muna ako bago tumulong; nakikita ko ang kaibahan ng hinihingi at ng tunay na kailangan; naglalaan ako ng oras kahit pagod o busy; nagtitiwala ako sa Dios na pupunan ang kulang ko.</a:t>
            </a:r>
          </a:p>
          <a:p>
            <a:r>
              <a:rPr lang="en-US" dirty="0"/>
              <a:t>Para sa sarili lang ito; ire-retake pagkatapos ng Leading Others arc.</a:t>
            </a:r>
          </a:p>
          <a:p>
            <a:r>
              <a:rPr lang="en-US" dirty="0"/>
              <a:t>GUARD THE SILENCE — parehong disiplina ng L13 at L14.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2 min (target 00:57)</a:t>
            </a:r>
          </a:p>
          <a:p>
            <a:r>
              <a:rPr lang="en-US" dirty="0"/>
              <a:t>Tatlong practice assignments para sa Identifying Needs — lahat ay tungkol sa pagtingin at pagtugon.</a:t>
            </a:r>
          </a:p>
          <a:p>
            <a:r>
              <a:rPr lang="en-US" dirty="0"/>
              <a:t>Una, Ang Pangalawang Tanong: sa tatlong tao ngayong linggo, huwag tumigil sa Kumusta ka? — magtanong pa ng isa, gaya ng Ano ang pinakamabigat sa iyo ngayon?, at makinig nang hindi nagfi-fix.</a:t>
            </a:r>
          </a:p>
          <a:p>
            <a:r>
              <a:rPr lang="en-US" dirty="0"/>
              <a:t>Pangalawa, Ang Limang Tinapay: pumili ng isa sa mga pangalan sa Galatians Circles at tugunan ang isang specific na pangangailangan gamit ang kung ano'ng nasa kamay mo — oras, kakayahan, pagkain, o panalangin.</a:t>
            </a:r>
          </a:p>
          <a:p>
            <a:r>
              <a:rPr lang="en-US" dirty="0"/>
              <a:t>Pangatlo, Ang Needs Walk: pitong araw, isang linya bawat araw — anong pangangailangan ang napansin mo, lantad ba o tago, at ipinanalangin mo ba; may 7-day tracker sa guide.</a:t>
            </a:r>
          </a:p>
          <a:p>
            <a:r>
              <a:rPr lang="en-US" dirty="0"/>
              <a:t>Sabihin nang malinaw: ang mga ito ang unang babalikan ng L16 look-back.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2 min (target 00:59)</a:t>
            </a:r>
          </a:p>
          <a:p>
            <a:r>
              <a:rPr lang="en-US" dirty="0"/>
              <a:t>PARTICIPANT GUIDE QUESTION.</a:t>
            </a:r>
          </a:p>
          <a:p>
            <a:r>
              <a:rPr lang="en-US" dirty="0"/>
              <a:t>Pangako Ko — ang personal commitment ng L15.</a:t>
            </a:r>
          </a:p>
          <a:p>
            <a:r>
              <a:rPr lang="en-US" dirty="0"/>
              <a:t>Pamantayan ng konkreto: magiging mas mabait ako — hindi pwede; kakausapin ko si Kuya Ben sa Martes at tatanungin ko kung ano talaga ang pinagdadaanan niya — pwede.</a:t>
            </a:r>
          </a:p>
          <a:p>
            <a:r>
              <a:rPr lang="en-US" dirty="0"/>
              <a:t>Ang pangako ay nakatali sa Galatians Circles at sa tatlong assignments — isang kilos na kayang tuparin sa loob ng pitong araw.</a:t>
            </a:r>
          </a:p>
          <a:p>
            <a:r>
              <a:rPr lang="en-US" dirty="0"/>
              <a:t>Hindi ito iko-collect — pero itatanong ito ng discipler at ng L16 look-back.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1 min (target 01:00)</a:t>
            </a:r>
          </a:p>
          <a:p>
            <a:r>
              <a:rPr lang="en-US" dirty="0"/>
              <a:t>End snapshot: balikan si Dante — sino sa paligid mo ngayon ang nakangiti pero may pako sa ulo?</a:t>
            </a:r>
          </a:p>
          <a:p>
            <a:r>
              <a:rPr lang="en-US" dirty="0"/>
              <a:t>Preview ng L16: Modelling Christlikeness — ang servant-leader ay hindi lang nakakakita; nakikita rin siya, at ang buhay niya ang unang lesson ng mga sumusunod sa kaniya.</a:t>
            </a:r>
          </a:p>
          <a:p>
            <a:r>
              <a:rPr lang="en-US" dirty="0"/>
              <a:t>Paalala: dalhin sa L16 ang Galatians Circles, ang Needs Walk tracker, ang tatlong assignments, at ang Pangako Ko — iyon ang unang tatanungin.</a:t>
            </a:r>
          </a:p>
          <a:p>
            <a:r>
              <a:rPr lang="en-US" dirty="0"/>
              <a:t>Isang maikling closing prayer: Panginoon, bigyan Mo kami ng mata Mo at puso Mo para sa mga tao — Galatians 6:10.</a:t>
            </a:r>
          </a:p>
          <a:p>
            <a:r>
              <a:rPr lang="en-US" dirty="0"/>
              <a:t>Tapos ang 60 minuto — landing sa 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Text 1"/>
          <p:cNvSpPr txBox="1"/>
          <p:nvPr/>
        </p:nvSpPr>
        <p:spPr>
          <a:xfrm>
            <a:off x="731520" y="822960"/>
            <a:ext cx="10725912" cy="365760"/>
          </a:xfrm>
          <a:prstGeom prst="rect">
            <a:avLst/>
          </a:prstGeom>
          <a:noFill/>
          <a:ln/>
        </p:spPr>
        <p:txBody>
          <a:bodyPr wrap="square" lIns="0" tIns="0" rIns="0" bIns="0" rtlCol="0" anchor="ctr"/>
          <a:lstStyle/>
          <a:p>
            <a:pPr algn="ctr" indent="0" marL="0">
              <a:buNone/>
            </a:pPr>
            <a:r>
              <a:rPr lang="en-US" sz="1600" b="1" spc="200" kern="0" dirty="0">
                <a:solidFill>
                  <a:srgbClr val="D4A854"/>
                </a:solidFill>
                <a:latin typeface="DM Sans" pitchFamily="34" charset="0"/>
                <a:ea typeface="DM Sans" pitchFamily="34" charset="-122"/>
                <a:cs typeface="DM Sans" pitchFamily="34" charset="-120"/>
              </a:rPr>
              <a:t>MULTIPLY · DISCIPLE-MAKING PIPELINE · BTLI 1 · LESSON 15</a:t>
            </a:r>
            <a:endParaRPr lang="en-US" sz="1600" dirty="0"/>
          </a:p>
        </p:txBody>
      </p:sp>
      <p:sp>
        <p:nvSpPr>
          <p:cNvPr id="4" name="Text 2"/>
          <p:cNvSpPr txBox="1"/>
          <p:nvPr/>
        </p:nvSpPr>
        <p:spPr>
          <a:xfrm>
            <a:off x="731520" y="1417320"/>
            <a:ext cx="10725912" cy="2103120"/>
          </a:xfrm>
          <a:prstGeom prst="rect">
            <a:avLst/>
          </a:prstGeom>
          <a:noFill/>
          <a:ln/>
        </p:spPr>
        <p:txBody>
          <a:bodyPr wrap="square" lIns="0" tIns="0" rIns="0" bIns="0" rtlCol="0" anchor="ctr">
            <a:normAutofit/>
          </a:bodyPr>
          <a:lstStyle/>
          <a:p>
            <a:pPr algn="ctr" indent="0" marL="0">
              <a:buNone/>
            </a:pPr>
            <a:r>
              <a:rPr lang="en-US" sz="7200" b="1" dirty="0">
                <a:solidFill>
                  <a:srgbClr val="FDFBF6"/>
                </a:solidFill>
                <a:latin typeface="Playfair Display" pitchFamily="34" charset="0"/>
                <a:ea typeface="Playfair Display" pitchFamily="34" charset="-122"/>
                <a:cs typeface="Playfair Display" pitchFamily="34" charset="-120"/>
              </a:rPr>
              <a:t>Mata ng Servant‑Leader</a:t>
            </a:r>
            <a:endParaRPr lang="en-US" sz="7200" dirty="0"/>
          </a:p>
        </p:txBody>
      </p:sp>
      <p:sp>
        <p:nvSpPr>
          <p:cNvPr id="5" name="Text 3"/>
          <p:cNvSpPr txBox="1"/>
          <p:nvPr/>
        </p:nvSpPr>
        <p:spPr>
          <a:xfrm>
            <a:off x="731520" y="3657600"/>
            <a:ext cx="10725912" cy="548640"/>
          </a:xfrm>
          <a:prstGeom prst="rect">
            <a:avLst/>
          </a:prstGeom>
          <a:noFill/>
          <a:ln/>
        </p:spPr>
        <p:txBody>
          <a:bodyPr wrap="square" lIns="0" tIns="0" rIns="0" bIns="0" rtlCol="0" anchor="ctr"/>
          <a:lstStyle/>
          <a:p>
            <a:pPr algn="ctr" indent="0" marL="0">
              <a:buNone/>
            </a:pPr>
            <a:r>
              <a:rPr lang="en-US" sz="2800" dirty="0">
                <a:solidFill>
                  <a:srgbClr val="FDFBF6"/>
                </a:solidFill>
                <a:latin typeface="DM Sans" pitchFamily="34" charset="0"/>
                <a:ea typeface="DM Sans" pitchFamily="34" charset="-122"/>
                <a:cs typeface="DM Sans" pitchFamily="34" charset="-120"/>
              </a:rPr>
              <a:t>Identifying Needs · Pagkilala sa Tunay na Pangangailangan</a:t>
            </a:r>
            <a:endParaRPr lang="en-US" sz="2800" dirty="0"/>
          </a:p>
        </p:txBody>
      </p:sp>
      <p:sp>
        <p:nvSpPr>
          <p:cNvPr id="6" name="Text 4"/>
          <p:cNvSpPr txBox="1"/>
          <p:nvPr/>
        </p:nvSpPr>
        <p:spPr>
          <a:xfrm>
            <a:off x="1371600" y="4343400"/>
            <a:ext cx="9445752" cy="731520"/>
          </a:xfrm>
          <a:prstGeom prst="rect">
            <a:avLst/>
          </a:prstGeom>
          <a:noFill/>
          <a:ln/>
        </p:spPr>
        <p:txBody>
          <a:bodyPr wrap="square" lIns="0" tIns="0" rIns="0" bIns="0" rtlCol="0" anchor="ctr"/>
          <a:lstStyle/>
          <a:p>
            <a:pPr algn="ctr" indent="0" marL="0">
              <a:buNone/>
            </a:pPr>
            <a:r>
              <a:rPr lang="en-US" sz="1800" i="1" dirty="0">
                <a:solidFill>
                  <a:srgbClr val="D4A854"/>
                </a:solidFill>
                <a:latin typeface="DM Sans" pitchFamily="34" charset="0"/>
                <a:ea typeface="DM Sans" pitchFamily="34" charset="-122"/>
                <a:cs typeface="DM Sans" pitchFamily="34" charset="-120"/>
              </a:rPr>
              <a:t>“Kaya nga, basta may pagkakataon ay gumawa tayo ng mabuti sa lahat ng tao, lalo na sa mga kapatid natin sa pananampalataya.” — Galatians 6:10</a:t>
            </a:r>
            <a:endParaRPr lang="en-US" sz="1800" dirty="0"/>
          </a:p>
        </p:txBody>
      </p:sp>
      <p:sp>
        <p:nvSpPr>
          <p:cNvPr id="7" name="Text 5"/>
          <p:cNvSpPr txBox="1"/>
          <p:nvPr/>
        </p:nvSpPr>
        <p:spPr>
          <a:xfrm>
            <a:off x="731520" y="5257800"/>
            <a:ext cx="10725912" cy="457200"/>
          </a:xfrm>
          <a:prstGeom prst="rect">
            <a:avLst/>
          </a:prstGeom>
          <a:noFill/>
          <a:ln/>
        </p:spPr>
        <p:txBody>
          <a:bodyPr wrap="square" lIns="0" tIns="0" rIns="0" bIns="0" rtlCol="0" anchor="ctr"/>
          <a:lstStyle/>
          <a:p>
            <a:pPr algn="ctr" indent="0" marL="0">
              <a:buNone/>
            </a:pPr>
            <a:r>
              <a:rPr lang="en-US" sz="1800" b="1" dirty="0">
                <a:solidFill>
                  <a:srgbClr val="FDFBF6"/>
                </a:solidFill>
                <a:latin typeface="DM Sans" pitchFamily="34" charset="0"/>
                <a:ea typeface="DM Sans" pitchFamily="34" charset="-122"/>
                <a:cs typeface="DM Sans" pitchFamily="34" charset="-120"/>
              </a:rPr>
              <a:t>🌿 Kindness · Kabaitan · ⚡ Identifying Needs · Leading Others</a:t>
            </a:r>
            <a:endParaRPr lang="en-US" sz="18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60-min lesson</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 / 29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991356" y="548640"/>
            <a:ext cx="4206240" cy="411480"/>
          </a:xfrm>
          <a:prstGeom prst="roundRect">
            <a:avLst>
              <a:gd name="adj" fmla="val 44444"/>
            </a:avLst>
          </a:prstGeom>
          <a:ln w="15875">
            <a:solidFill>
              <a:srgbClr val="D4A854"/>
            </a:solidFill>
            <a:prstDash val="solid"/>
          </a:ln>
        </p:spPr>
      </p:sp>
      <p:sp>
        <p:nvSpPr>
          <p:cNvPr id="4" name="Text 2"/>
          <p:cNvSpPr txBox="1"/>
          <p:nvPr/>
        </p:nvSpPr>
        <p:spPr>
          <a:xfrm>
            <a:off x="3991356" y="548640"/>
            <a:ext cx="420624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TALATA NG MEMORYA</a:t>
            </a:r>
            <a:endParaRPr lang="en-US" sz="2000" dirty="0"/>
          </a:p>
        </p:txBody>
      </p:sp>
      <p:sp>
        <p:nvSpPr>
          <p:cNvPr id="5" name="Text 3"/>
          <p:cNvSpPr txBox="1"/>
          <p:nvPr/>
        </p:nvSpPr>
        <p:spPr>
          <a:xfrm>
            <a:off x="731520" y="1143000"/>
            <a:ext cx="10725912" cy="2272792"/>
          </a:xfrm>
          <a:prstGeom prst="rect">
            <a:avLst/>
          </a:prstGeom>
          <a:noFill/>
          <a:ln/>
        </p:spPr>
        <p:txBody>
          <a:bodyPr wrap="square" lIns="0" tIns="0" rIns="0" bIns="0" rtlCol="0" anchor="t">
            <a:normAutofit/>
          </a:bodyPr>
          <a:lstStyle/>
          <a:p>
            <a:pPr algn="l" indent="0" marL="0">
              <a:lnSpc>
                <a:spcPct val="108000"/>
              </a:lnSpc>
              <a:buNone/>
            </a:pPr>
            <a:r>
              <a:rPr lang="en-US" sz="3700" b="1" dirty="0">
                <a:solidFill>
                  <a:srgbClr val="FDFBF6"/>
                </a:solidFill>
                <a:latin typeface="Playfair Display" pitchFamily="34" charset="0"/>
                <a:ea typeface="Playfair Display" pitchFamily="34" charset="-122"/>
                <a:cs typeface="Playfair Display" pitchFamily="34" charset="-120"/>
              </a:rPr>
              <a:t>“Kaya nga, basta may pagkakataon ay gumawa tayo ng mabuti sa lahat ng tao, lalo na sa mga kapatid natin sa pananampalataya.”</a:t>
            </a:r>
            <a:endParaRPr lang="en-US" sz="3700" dirty="0"/>
          </a:p>
        </p:txBody>
      </p:sp>
      <p:sp>
        <p:nvSpPr>
          <p:cNvPr id="6" name="Text 4"/>
          <p:cNvSpPr txBox="1"/>
          <p:nvPr/>
        </p:nvSpPr>
        <p:spPr>
          <a:xfrm>
            <a:off x="731520" y="3598672"/>
            <a:ext cx="10725912" cy="459486"/>
          </a:xfrm>
          <a:prstGeom prst="rect">
            <a:avLst/>
          </a:prstGeom>
          <a:noFill/>
          <a:ln/>
        </p:spPr>
        <p:txBody>
          <a:bodyPr wrap="square" lIns="0" tIns="0" rIns="0" bIns="0" rtlCol="0" anchor="t">
            <a:normAutofit/>
          </a:bodyPr>
          <a:lstStyle/>
          <a:p>
            <a:pPr algn="l" indent="0" marL="0">
              <a:lnSpc>
                <a:spcPct val="108000"/>
              </a:lnSpc>
              <a:buNone/>
            </a:pPr>
            <a:r>
              <a:rPr lang="en-US" sz="2700" b="1" dirty="0">
                <a:solidFill>
                  <a:srgbClr val="D4A854"/>
                </a:solidFill>
                <a:latin typeface="DM Sans" pitchFamily="34" charset="0"/>
                <a:ea typeface="DM Sans" pitchFamily="34" charset="-122"/>
                <a:cs typeface="DM Sans" pitchFamily="34" charset="-120"/>
              </a:rPr>
              <a:t>— Galatians 6:10</a:t>
            </a:r>
            <a:endParaRPr lang="en-US" sz="2700" dirty="0"/>
          </a:p>
        </p:txBody>
      </p:sp>
      <p:sp>
        <p:nvSpPr>
          <p:cNvPr id="7" name="Text 5"/>
          <p:cNvSpPr txBox="1"/>
          <p:nvPr/>
        </p:nvSpPr>
        <p:spPr>
          <a:xfrm>
            <a:off x="731520" y="4241038"/>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i="1" dirty="0">
                <a:solidFill>
                  <a:srgbClr val="FDFBF6"/>
                </a:solidFill>
                <a:latin typeface="DM Sans" pitchFamily="34" charset="0"/>
                <a:ea typeface="DM Sans" pitchFamily="34" charset="-122"/>
                <a:cs typeface="DM Sans" pitchFamily="34" charset="-120"/>
              </a:rPr>
              <a:t>“Therefore, as we have opportunity, let us do good to all people, especially to those who belong to the family of believers.”</a:t>
            </a:r>
            <a:endParaRPr lang="en-US" sz="2400" dirty="0"/>
          </a:p>
        </p:txBody>
      </p:sp>
      <p:sp>
        <p:nvSpPr>
          <p:cNvPr id="8" name="Text 6"/>
          <p:cNvSpPr txBox="1"/>
          <p:nvPr/>
        </p:nvSpPr>
        <p:spPr>
          <a:xfrm>
            <a:off x="731520" y="5198110"/>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b="1" dirty="0">
                <a:solidFill>
                  <a:srgbClr val="D4A854"/>
                </a:solidFill>
                <a:latin typeface="DM Sans" pitchFamily="34" charset="0"/>
                <a:ea typeface="DM Sans" pitchFamily="34" charset="-122"/>
                <a:cs typeface="DM Sans" pitchFamily="34" charset="-120"/>
              </a:rPr>
              <a:t>Basta may pagkakataon — hindi basta tumulong lang.</a:t>
            </a:r>
            <a:endParaRPr lang="en-US" sz="24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 / 29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357116" y="548640"/>
            <a:ext cx="3474720" cy="411480"/>
          </a:xfrm>
          <a:prstGeom prst="roundRect">
            <a:avLst>
              <a:gd name="adj" fmla="val 44444"/>
            </a:avLst>
          </a:prstGeom>
          <a:ln w="15875">
            <a:solidFill>
              <a:srgbClr val="2A5C40"/>
            </a:solidFill>
            <a:prstDash val="solid"/>
          </a:ln>
        </p:spPr>
      </p:sp>
      <p:sp>
        <p:nvSpPr>
          <p:cNvPr id="4" name="Text 2"/>
          <p:cNvSpPr txBox="1"/>
          <p:nvPr/>
        </p:nvSpPr>
        <p:spPr>
          <a:xfrm>
            <a:off x="4357116" y="548640"/>
            <a:ext cx="347472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BALIKAN · L14</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Ang Iniwan ng Lesson 14</a:t>
            </a:r>
            <a:endParaRPr lang="en-US" sz="4400" dirty="0"/>
          </a:p>
        </p:txBody>
      </p:sp>
      <p:sp>
        <p:nvSpPr>
          <p:cNvPr id="6" name="Text 4"/>
          <p:cNvSpPr txBox="1"/>
          <p:nvPr/>
        </p:nvSpPr>
        <p:spPr>
          <a:xfrm>
            <a:off x="731520" y="2040128"/>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Ang hagdan — apat na baitang + isang specific action bawat isa</a:t>
            </a:r>
            <a:endParaRPr lang="en-US" sz="2400" dirty="0"/>
          </a:p>
        </p:txBody>
      </p:sp>
      <p:sp>
        <p:nvSpPr>
          <p:cNvPr id="7" name="Text 5"/>
          <p:cNvSpPr txBox="1"/>
          <p:nvPr/>
        </p:nvSpPr>
        <p:spPr>
          <a:xfrm>
            <a:off x="731520" y="2997200"/>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Ang 7-day reading tracker — 10 minuto araw-araw</a:t>
            </a:r>
            <a:endParaRPr lang="en-US" sz="2400" dirty="0"/>
          </a:p>
        </p:txBody>
      </p:sp>
      <p:sp>
        <p:nvSpPr>
          <p:cNvPr id="8" name="Text 6"/>
          <p:cNvSpPr txBox="1"/>
          <p:nvPr/>
        </p:nvSpPr>
        <p:spPr>
          <a:xfrm>
            <a:off x="731520" y="3594608"/>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Tatlong LY-4 assignments — colleague feedback · daily reading · ministry-meeting feedback</a:t>
            </a:r>
            <a:endParaRPr lang="en-US" sz="2400" dirty="0"/>
          </a:p>
        </p:txBody>
      </p:sp>
      <p:sp>
        <p:nvSpPr>
          <p:cNvPr id="9" name="Text 7"/>
          <p:cNvSpPr txBox="1"/>
          <p:nvPr/>
        </p:nvSpPr>
        <p:spPr>
          <a:xfrm>
            <a:off x="731520" y="4551680"/>
            <a:ext cx="10725912" cy="714248"/>
          </a:xfrm>
          <a:prstGeom prst="rect">
            <a:avLst/>
          </a:prstGeom>
          <a:noFill/>
          <a:ln/>
        </p:spPr>
        <p:txBody>
          <a:bodyPr wrap="square" lIns="0" tIns="0" rIns="0" bIns="0" rtlCol="0" anchor="t">
            <a:normAutofit/>
          </a:bodyPr>
          <a:lstStyle/>
          <a:p>
            <a:pPr algn="l" indent="0" marL="0">
              <a:lnSpc>
                <a:spcPct val="108000"/>
              </a:lnSpc>
              <a:buNone/>
            </a:pPr>
            <a:r>
              <a:rPr lang="en-US" sz="2200" i="1" dirty="0">
                <a:solidFill>
                  <a:srgbClr val="1F4530"/>
                </a:solidFill>
                <a:latin typeface="DM Sans" pitchFamily="34" charset="0"/>
                <a:ea typeface="DM Sans" pitchFamily="34" charset="-122"/>
                <a:cs typeface="DM Sans" pitchFamily="34" charset="-120"/>
              </a:rPr>
              <a:t>✍️ “Dahil nais kong lumago ang aking gilas bilang lingkod, nangangako ako na ngayong linggo ay...”</a:t>
            </a:r>
            <a:endParaRPr lang="en-US" sz="2200" dirty="0"/>
          </a:p>
        </p:txBody>
      </p:sp>
      <p:sp>
        <p:nvSpPr>
          <p:cNvPr id="10" name="Text 8"/>
          <p:cNvSpPr txBox="1"/>
          <p:nvPr/>
        </p:nvSpPr>
        <p:spPr>
          <a:xfrm>
            <a:off x="731520" y="5448808"/>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b="1" dirty="0">
                <a:solidFill>
                  <a:srgbClr val="1F4530"/>
                </a:solidFill>
                <a:latin typeface="DM Sans" pitchFamily="34" charset="0"/>
                <a:ea typeface="DM Sans" pitchFamily="34" charset="-122"/>
                <a:cs typeface="DM Sans" pitchFamily="34" charset="-120"/>
              </a:rPr>
              <a:t>Collection ito, hindi correction.</a:t>
            </a:r>
            <a:endParaRPr lang="en-US" sz="2200" dirty="0"/>
          </a:p>
        </p:txBody>
      </p:sp>
      <p:sp>
        <p:nvSpPr>
          <p:cNvPr id="11" name="Shape 9"/>
          <p:cNvSpPr/>
          <p:nvPr/>
        </p:nvSpPr>
        <p:spPr>
          <a:xfrm>
            <a:off x="9948672" y="137160"/>
            <a:ext cx="2011680" cy="384048"/>
          </a:xfrm>
          <a:prstGeom prst="roundRect">
            <a:avLst>
              <a:gd name="adj" fmla="val 28571"/>
            </a:avLst>
          </a:prstGeom>
          <a:solidFill>
            <a:srgbClr val="D4AF37"/>
          </a:solidFill>
          <a:ln/>
        </p:spPr>
      </p:sp>
      <p:sp>
        <p:nvSpPr>
          <p:cNvPr id="12" name="Text 10"/>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⌛00:03</a:t>
            </a:r>
            <a:endParaRPr lang="en-US" sz="1100" dirty="0"/>
          </a:p>
        </p:txBody>
      </p:sp>
      <p:sp>
        <p:nvSpPr>
          <p:cNvPr id="13" name="Text 11"/>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3 / 29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PUKAW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Nasaang baitang ka na sa hagdan mo? Ilang araw ang nabasa mo — at anong feedback ang natanggap mo?</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1-2 sasagot bawat isa — isang baitang, isang insight, isang feedback.</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4 / 29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905756" y="548640"/>
            <a:ext cx="2377440" cy="411480"/>
          </a:xfrm>
          <a:prstGeom prst="roundRect">
            <a:avLst>
              <a:gd name="adj" fmla="val 44444"/>
            </a:avLst>
          </a:prstGeom>
          <a:ln w="15875">
            <a:solidFill>
              <a:srgbClr val="2A5C40"/>
            </a:solidFill>
            <a:prstDash val="solid"/>
          </a:ln>
        </p:spPr>
      </p:sp>
      <p:sp>
        <p:nvSpPr>
          <p:cNvPr id="4" name="Text 2"/>
          <p:cNvSpPr txBox="1"/>
          <p:nvPr/>
        </p:nvSpPr>
        <p:spPr>
          <a:xfrm>
            <a:off x="4905756" y="548640"/>
            <a:ext cx="23774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TANAW</a:t>
            </a:r>
            <a:endParaRPr lang="en-US" sz="2000" dirty="0"/>
          </a:p>
        </p:txBody>
      </p:sp>
      <p:sp>
        <p:nvSpPr>
          <p:cNvPr id="5" name="Text 3"/>
          <p:cNvSpPr txBox="1"/>
          <p:nvPr/>
        </p:nvSpPr>
        <p:spPr>
          <a:xfrm>
            <a:off x="731520" y="1143000"/>
            <a:ext cx="10725912" cy="1673352"/>
          </a:xfrm>
          <a:prstGeom prst="rect">
            <a:avLst/>
          </a:prstGeom>
          <a:noFill/>
          <a:ln/>
        </p:spPr>
        <p:txBody>
          <a:bodyPr wrap="square" lIns="0" tIns="0" rIns="0" bIns="0" rtlCol="0" anchor="t">
            <a:normAutofit/>
          </a:bodyPr>
          <a:lstStyle/>
          <a:p>
            <a:pPr algn="l" indent="0" marL="0">
              <a:lnSpc>
                <a:spcPct val="108000"/>
              </a:lnSpc>
              <a:buNone/>
            </a:pPr>
            <a:r>
              <a:rPr lang="en-US" sz="5400" b="1" dirty="0">
                <a:solidFill>
                  <a:srgbClr val="1A2E22"/>
                </a:solidFill>
                <a:latin typeface="Playfair Display" pitchFamily="34" charset="0"/>
                <a:ea typeface="Playfair Display" pitchFamily="34" charset="-122"/>
                <a:cs typeface="Playfair Display" pitchFamily="34" charset="-120"/>
              </a:rPr>
              <a:t>Ang Tatay na may Pako sa Ulo</a:t>
            </a:r>
            <a:endParaRPr lang="en-US" sz="5400" dirty="0"/>
          </a:p>
        </p:txBody>
      </p:sp>
      <p:sp>
        <p:nvSpPr>
          <p:cNvPr id="6" name="Text 4"/>
          <p:cNvSpPr txBox="1"/>
          <p:nvPr/>
        </p:nvSpPr>
        <p:spPr>
          <a:xfrm>
            <a:off x="731520" y="2999232"/>
            <a:ext cx="10725912" cy="924052"/>
          </a:xfrm>
          <a:prstGeom prst="rect">
            <a:avLst/>
          </a:prstGeom>
          <a:noFill/>
          <a:ln/>
        </p:spPr>
        <p:txBody>
          <a:bodyPr wrap="square" lIns="0" tIns="0" rIns="0" bIns="0" rtlCol="0" anchor="t">
            <a:normAutofit/>
          </a:bodyPr>
          <a:lstStyle/>
          <a:p>
            <a:pPr algn="l" indent="0" marL="0">
              <a:lnSpc>
                <a:spcPct val="108000"/>
              </a:lnSpc>
              <a:buNone/>
            </a:pPr>
            <a:r>
              <a:rPr lang="en-US" sz="2900" dirty="0">
                <a:solidFill>
                  <a:srgbClr val="1A2E22"/>
                </a:solidFill>
                <a:latin typeface="DM Sans" pitchFamily="34" charset="0"/>
                <a:ea typeface="DM Sans" pitchFamily="34" charset="-122"/>
                <a:cs typeface="DM Sans" pitchFamily="34" charset="-120"/>
              </a:rPr>
              <a:t>Simpleng repair work. Simpleng aksidente. Simpleng gasgas. Simpleng hilo.</a:t>
            </a:r>
            <a:endParaRPr lang="en-US" sz="2900" dirty="0"/>
          </a:p>
        </p:txBody>
      </p:sp>
      <p:sp>
        <p:nvSpPr>
          <p:cNvPr id="7" name="Text 5"/>
          <p:cNvSpPr txBox="1"/>
          <p:nvPr/>
        </p:nvSpPr>
        <p:spPr>
          <a:xfrm>
            <a:off x="731520" y="4106164"/>
            <a:ext cx="10725912" cy="924052"/>
          </a:xfrm>
          <a:prstGeom prst="rect">
            <a:avLst/>
          </a:prstGeom>
          <a:noFill/>
          <a:ln/>
        </p:spPr>
        <p:txBody>
          <a:bodyPr wrap="square" lIns="0" tIns="0" rIns="0" bIns="0" rtlCol="0" anchor="t">
            <a:normAutofit/>
          </a:bodyPr>
          <a:lstStyle/>
          <a:p>
            <a:pPr algn="l" indent="0" marL="0">
              <a:lnSpc>
                <a:spcPct val="108000"/>
              </a:lnSpc>
              <a:buNone/>
            </a:pPr>
            <a:r>
              <a:rPr lang="en-US" sz="2900" b="1" dirty="0">
                <a:solidFill>
                  <a:srgbClr val="1A2E22"/>
                </a:solidFill>
                <a:latin typeface="DM Sans" pitchFamily="34" charset="0"/>
                <a:ea typeface="DM Sans" pitchFamily="34" charset="-122"/>
                <a:cs typeface="DM Sans" pitchFamily="34" charset="-120"/>
              </a:rPr>
              <a:t>Simpleng check-up lang sana — pero hindi na siya pinauwi.</a:t>
            </a:r>
            <a:endParaRPr lang="en-US" sz="2900" dirty="0"/>
          </a:p>
        </p:txBody>
      </p:sp>
      <p:sp>
        <p:nvSpPr>
          <p:cNvPr id="8" name="Text 6"/>
          <p:cNvSpPr txBox="1"/>
          <p:nvPr/>
        </p:nvSpPr>
        <p:spPr>
          <a:xfrm>
            <a:off x="731520" y="5213096"/>
            <a:ext cx="10725912" cy="564388"/>
          </a:xfrm>
          <a:prstGeom prst="rect">
            <a:avLst/>
          </a:prstGeom>
          <a:noFill/>
          <a:ln/>
        </p:spPr>
        <p:txBody>
          <a:bodyPr wrap="square" lIns="0" tIns="0" rIns="0" bIns="0" rtlCol="0" anchor="t">
            <a:normAutofit/>
          </a:bodyPr>
          <a:lstStyle/>
          <a:p>
            <a:pPr algn="l" indent="0" marL="0">
              <a:lnSpc>
                <a:spcPct val="108000"/>
              </a:lnSpc>
              <a:buNone/>
            </a:pPr>
            <a:r>
              <a:rPr lang="en-US" sz="3400" b="1" dirty="0">
                <a:solidFill>
                  <a:srgbClr val="1F4530"/>
                </a:solidFill>
                <a:latin typeface="DM Sans" pitchFamily="34" charset="0"/>
                <a:ea typeface="DM Sans" pitchFamily="34" charset="-122"/>
                <a:cs typeface="DM Sans" pitchFamily="34" charset="-120"/>
              </a:rPr>
              <a:t>Bakit?</a:t>
            </a:r>
            <a:endParaRPr lang="en-US" sz="34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⌛00:07</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5 / 29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PUKAW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3600" b="1" dirty="0">
                <a:solidFill>
                  <a:srgbClr val="FEFCF8"/>
                </a:solidFill>
                <a:latin typeface="Calibri" pitchFamily="34" charset="0"/>
                <a:ea typeface="Calibri" pitchFamily="34" charset="-122"/>
                <a:cs typeface="Calibri" pitchFamily="34" charset="-120"/>
              </a:rPr>
              <a:t>May pagkakataon ba sa buhay mo, na parang si Dante, isinawalang-bahala mo ang isang “simpleng” isyu o concern — tapos natuklasan mo later on kung gaano ito kakomplikado? Paano mo ito sinolusyunan?</a:t>
            </a:r>
            <a:endParaRPr lang="en-US" sz="36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1-2 sasagot.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⌛00:08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6 / 29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814316" y="548640"/>
            <a:ext cx="2560320" cy="411480"/>
          </a:xfrm>
          <a:prstGeom prst="roundRect">
            <a:avLst>
              <a:gd name="adj" fmla="val 44444"/>
            </a:avLst>
          </a:prstGeom>
          <a:ln w="15875">
            <a:solidFill>
              <a:srgbClr val="D4A854"/>
            </a:solidFill>
            <a:prstDash val="solid"/>
          </a:ln>
        </p:spPr>
      </p:sp>
      <p:sp>
        <p:nvSpPr>
          <p:cNvPr id="4" name="Text 2"/>
          <p:cNvSpPr txBox="1"/>
          <p:nvPr/>
        </p:nvSpPr>
        <p:spPr>
          <a:xfrm>
            <a:off x="4814316" y="548640"/>
            <a:ext cx="256032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BIG IDEA</a:t>
            </a:r>
            <a:endParaRPr lang="en-US" sz="2000" dirty="0"/>
          </a:p>
        </p:txBody>
      </p:sp>
      <p:sp>
        <p:nvSpPr>
          <p:cNvPr id="5" name="Text 3"/>
          <p:cNvSpPr txBox="1"/>
          <p:nvPr/>
        </p:nvSpPr>
        <p:spPr>
          <a:xfrm>
            <a:off x="731520" y="1143000"/>
            <a:ext cx="10725912" cy="2752344"/>
          </a:xfrm>
          <a:prstGeom prst="rect">
            <a:avLst/>
          </a:prstGeom>
          <a:noFill/>
          <a:ln/>
        </p:spPr>
        <p:txBody>
          <a:bodyPr wrap="square" lIns="0" tIns="0" rIns="0" bIns="0" rtlCol="0" anchor="t">
            <a:normAutofit/>
          </a:bodyPr>
          <a:lstStyle/>
          <a:p>
            <a:pPr algn="l" indent="0" marL="0">
              <a:lnSpc>
                <a:spcPct val="108000"/>
              </a:lnSpc>
              <a:buNone/>
            </a:pPr>
            <a:r>
              <a:rPr lang="en-US" sz="4500" b="1" dirty="0">
                <a:solidFill>
                  <a:srgbClr val="FDFBF6"/>
                </a:solidFill>
                <a:latin typeface="Playfair Display" pitchFamily="34" charset="0"/>
                <a:ea typeface="Playfair Display" pitchFamily="34" charset="-122"/>
                <a:cs typeface="Playfair Display" pitchFamily="34" charset="-120"/>
              </a:rPr>
              <a:t>“Kung gusto mo talagang tumulong sa ibang tao, alamin mo ang tunay nilang pangangailangan at tugunan ito.”</a:t>
            </a:r>
            <a:endParaRPr lang="en-US" sz="4500" dirty="0"/>
          </a:p>
        </p:txBody>
      </p:sp>
      <p:sp>
        <p:nvSpPr>
          <p:cNvPr id="6" name="Text 4"/>
          <p:cNvSpPr txBox="1"/>
          <p:nvPr/>
        </p:nvSpPr>
        <p:spPr>
          <a:xfrm>
            <a:off x="731520" y="4078224"/>
            <a:ext cx="10725912" cy="549402"/>
          </a:xfrm>
          <a:prstGeom prst="rect">
            <a:avLst/>
          </a:prstGeom>
          <a:noFill/>
          <a:ln/>
        </p:spPr>
        <p:txBody>
          <a:bodyPr wrap="square" lIns="0" tIns="0" rIns="0" bIns="0" rtlCol="0" anchor="t">
            <a:normAutofit/>
          </a:bodyPr>
          <a:lstStyle/>
          <a:p>
            <a:pPr algn="l" indent="0" marL="0">
              <a:lnSpc>
                <a:spcPct val="108000"/>
              </a:lnSpc>
              <a:buNone/>
            </a:pPr>
            <a:r>
              <a:rPr lang="en-US" sz="3300" b="1" dirty="0">
                <a:solidFill>
                  <a:srgbClr val="D4A854"/>
                </a:solidFill>
                <a:latin typeface="DM Sans" pitchFamily="34" charset="0"/>
                <a:ea typeface="DM Sans" pitchFamily="34" charset="-122"/>
                <a:cs typeface="DM Sans" pitchFamily="34" charset="-120"/>
              </a:rPr>
              <a:t>Hindi lahat ng pagtulong ay nakakatulong.</a:t>
            </a:r>
            <a:endParaRPr lang="en-US" sz="3300" dirty="0"/>
          </a:p>
        </p:txBody>
      </p:sp>
      <p:sp>
        <p:nvSpPr>
          <p:cNvPr id="7" name="Text 5"/>
          <p:cNvSpPr txBox="1"/>
          <p:nvPr/>
        </p:nvSpPr>
        <p:spPr>
          <a:xfrm>
            <a:off x="731520" y="4810506"/>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i="1" dirty="0">
                <a:solidFill>
                  <a:srgbClr val="FDFBF6"/>
                </a:solidFill>
                <a:latin typeface="DM Sans" pitchFamily="34" charset="0"/>
                <a:ea typeface="DM Sans" pitchFamily="34" charset="-122"/>
                <a:cs typeface="DM Sans" pitchFamily="34" charset="-120"/>
              </a:rPr>
              <a:t>Masakit ang ulo, binigyan ng gamot sa pagtatae — “Well, at least tumulong ako!”</a:t>
            </a:r>
            <a:endParaRPr lang="en-US" sz="28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7 / 29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265676" y="548640"/>
            <a:ext cx="3657600" cy="411480"/>
          </a:xfrm>
          <a:prstGeom prst="roundRect">
            <a:avLst>
              <a:gd name="adj" fmla="val 44444"/>
            </a:avLst>
          </a:prstGeom>
          <a:ln w="15875">
            <a:solidFill>
              <a:srgbClr val="2A5C40"/>
            </a:solidFill>
            <a:prstDash val="solid"/>
          </a:ln>
        </p:spPr>
      </p:sp>
      <p:sp>
        <p:nvSpPr>
          <p:cNvPr id="4" name="Text 2"/>
          <p:cNvSpPr txBox="1"/>
          <p:nvPr/>
        </p:nvSpPr>
        <p:spPr>
          <a:xfrm>
            <a:off x="4265676" y="548640"/>
            <a:ext cx="36576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LANTAD AT TAGO</a:t>
            </a:r>
            <a:endParaRPr lang="en-US" sz="2000" dirty="0"/>
          </a:p>
        </p:txBody>
      </p:sp>
      <p:sp>
        <p:nvSpPr>
          <p:cNvPr id="5" name="Text 3"/>
          <p:cNvSpPr txBox="1"/>
          <p:nvPr/>
        </p:nvSpPr>
        <p:spPr>
          <a:xfrm>
            <a:off x="731520" y="1143000"/>
            <a:ext cx="10725912" cy="1643380"/>
          </a:xfrm>
          <a:prstGeom prst="rect">
            <a:avLst/>
          </a:prstGeom>
          <a:noFill/>
          <a:ln/>
        </p:spPr>
        <p:txBody>
          <a:bodyPr wrap="square" lIns="0" tIns="0" rIns="0" bIns="0" rtlCol="0" anchor="t">
            <a:normAutofit/>
          </a:bodyPr>
          <a:lstStyle/>
          <a:p>
            <a:pPr algn="l" indent="0" marL="0">
              <a:lnSpc>
                <a:spcPct val="108000"/>
              </a:lnSpc>
              <a:buNone/>
            </a:pPr>
            <a:r>
              <a:rPr lang="en-US" sz="5300" b="1" dirty="0">
                <a:solidFill>
                  <a:srgbClr val="1A2E22"/>
                </a:solidFill>
                <a:latin typeface="Playfair Display" pitchFamily="34" charset="0"/>
                <a:ea typeface="Playfair Display" pitchFamily="34" charset="-122"/>
                <a:cs typeface="Playfair Display" pitchFamily="34" charset="-120"/>
              </a:rPr>
              <a:t>Nakangiti, Pero May Pako sa Ulo</a:t>
            </a:r>
            <a:endParaRPr lang="en-US" sz="5300" dirty="0"/>
          </a:p>
        </p:txBody>
      </p:sp>
      <p:sp>
        <p:nvSpPr>
          <p:cNvPr id="6" name="Text 4"/>
          <p:cNvSpPr txBox="1"/>
          <p:nvPr/>
        </p:nvSpPr>
        <p:spPr>
          <a:xfrm>
            <a:off x="731520" y="2969260"/>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dirty="0">
                <a:solidFill>
                  <a:srgbClr val="1A2E22"/>
                </a:solidFill>
                <a:latin typeface="DM Sans" pitchFamily="34" charset="0"/>
                <a:ea typeface="DM Sans" pitchFamily="34" charset="-122"/>
                <a:cs typeface="DM Sans" pitchFamily="34" charset="-120"/>
              </a:rPr>
              <a:t>LANTAD na pangangailangan — madaling makita: physical at material needs.</a:t>
            </a:r>
            <a:endParaRPr lang="en-US" sz="3000" dirty="0"/>
          </a:p>
        </p:txBody>
      </p:sp>
      <p:sp>
        <p:nvSpPr>
          <p:cNvPr id="7" name="Text 5"/>
          <p:cNvSpPr txBox="1"/>
          <p:nvPr/>
        </p:nvSpPr>
        <p:spPr>
          <a:xfrm>
            <a:off x="731520" y="4106164"/>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dirty="0">
                <a:solidFill>
                  <a:srgbClr val="1A2E22"/>
                </a:solidFill>
                <a:latin typeface="DM Sans" pitchFamily="34" charset="0"/>
                <a:ea typeface="DM Sans" pitchFamily="34" charset="-122"/>
                <a:cs typeface="DM Sans" pitchFamily="34" charset="-120"/>
              </a:rPr>
              <a:t>TAGO na pangangailangan — kailangan ng malalim-lalim na hukayan at lantaran.</a:t>
            </a:r>
            <a:endParaRPr lang="en-US" sz="3000" dirty="0"/>
          </a:p>
        </p:txBody>
      </p:sp>
      <p:sp>
        <p:nvSpPr>
          <p:cNvPr id="8" name="Text 6"/>
          <p:cNvSpPr txBox="1"/>
          <p:nvPr/>
        </p:nvSpPr>
        <p:spPr>
          <a:xfrm>
            <a:off x="731520" y="5243068"/>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i="1" dirty="0">
                <a:solidFill>
                  <a:srgbClr val="1F4530"/>
                </a:solidFill>
                <a:latin typeface="DM Sans" pitchFamily="34" charset="0"/>
                <a:ea typeface="DM Sans" pitchFamily="34" charset="-122"/>
                <a:cs typeface="DM Sans" pitchFamily="34" charset="-120"/>
              </a:rPr>
              <a:t>Buhay na buhay, pero unti-unting nauupos.</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8 / 29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5400" b="1" dirty="0">
                <a:solidFill>
                  <a:srgbClr val="FEFCF8"/>
                </a:solidFill>
                <a:latin typeface="Calibri" pitchFamily="34" charset="0"/>
                <a:ea typeface="Calibri" pitchFamily="34" charset="-122"/>
                <a:cs typeface="Calibri" pitchFamily="34" charset="-120"/>
              </a:rPr>
              <a:t>Bakit mahalaga na magbigay ng tamang tulong at hindi basta tumulong lang?</a:t>
            </a:r>
            <a:endParaRPr lang="en-US" sz="5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2-3 sasagot.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⌛00:13</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9 / 29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311396" y="548640"/>
            <a:ext cx="3566160" cy="411480"/>
          </a:xfrm>
          <a:prstGeom prst="roundRect">
            <a:avLst>
              <a:gd name="adj" fmla="val 44444"/>
            </a:avLst>
          </a:prstGeom>
          <a:ln w="15875">
            <a:solidFill>
              <a:srgbClr val="D4A854"/>
            </a:solidFill>
            <a:prstDash val="solid"/>
          </a:ln>
        </p:spPr>
      </p:sp>
      <p:sp>
        <p:nvSpPr>
          <p:cNvPr id="4" name="Text 2"/>
          <p:cNvSpPr txBox="1"/>
          <p:nvPr/>
        </p:nvSpPr>
        <p:spPr>
          <a:xfrm>
            <a:off x="4311396" y="548640"/>
            <a:ext cx="356616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ANG APAT NA M</a:t>
            </a:r>
            <a:endParaRPr lang="en-US" sz="2000" dirty="0"/>
          </a:p>
        </p:txBody>
      </p:sp>
      <p:sp>
        <p:nvSpPr>
          <p:cNvPr id="5" name="Text 3"/>
          <p:cNvSpPr txBox="1"/>
          <p:nvPr/>
        </p:nvSpPr>
        <p:spPr>
          <a:xfrm>
            <a:off x="731520" y="1143000"/>
            <a:ext cx="10725912" cy="1583436"/>
          </a:xfrm>
          <a:prstGeom prst="rect">
            <a:avLst/>
          </a:prstGeom>
          <a:noFill/>
          <a:ln/>
        </p:spPr>
        <p:txBody>
          <a:bodyPr wrap="square" lIns="0" tIns="0" rIns="0" bIns="0" rtlCol="0" anchor="t">
            <a:normAutofit/>
          </a:bodyPr>
          <a:lstStyle/>
          <a:p>
            <a:pPr algn="l" indent="0" marL="0">
              <a:lnSpc>
                <a:spcPct val="108000"/>
              </a:lnSpc>
              <a:buNone/>
            </a:pPr>
            <a:r>
              <a:rPr lang="en-US" sz="5100" b="1" dirty="0">
                <a:solidFill>
                  <a:srgbClr val="FDFBF6"/>
                </a:solidFill>
                <a:latin typeface="Playfair Display" pitchFamily="34" charset="0"/>
                <a:ea typeface="Playfair Display" pitchFamily="34" charset="-122"/>
                <a:cs typeface="Playfair Display" pitchFamily="34" charset="-120"/>
              </a:rPr>
              <a:t>Ang Pagpapakain sa Limang Libo</a:t>
            </a:r>
            <a:endParaRPr lang="en-US" sz="5100" dirty="0"/>
          </a:p>
        </p:txBody>
      </p:sp>
      <p:sp>
        <p:nvSpPr>
          <p:cNvPr id="6" name="Text 4"/>
          <p:cNvSpPr txBox="1"/>
          <p:nvPr/>
        </p:nvSpPr>
        <p:spPr>
          <a:xfrm>
            <a:off x="731520" y="2909316"/>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D4A854"/>
                </a:solidFill>
                <a:latin typeface="DM Sans" pitchFamily="34" charset="0"/>
                <a:ea typeface="DM Sans" pitchFamily="34" charset="-122"/>
                <a:cs typeface="DM Sans" pitchFamily="34" charset="-120"/>
              </a:rPr>
              <a:t>Ang tanging himala na nakatala sa apat na Gospel accounts.</a:t>
            </a:r>
            <a:endParaRPr lang="en-US" sz="2800" dirty="0"/>
          </a:p>
        </p:txBody>
      </p:sp>
      <p:sp>
        <p:nvSpPr>
          <p:cNvPr id="7" name="Text 5"/>
          <p:cNvSpPr txBox="1"/>
          <p:nvPr/>
        </p:nvSpPr>
        <p:spPr>
          <a:xfrm>
            <a:off x="731520" y="3986276"/>
            <a:ext cx="10725912" cy="534416"/>
          </a:xfrm>
          <a:prstGeom prst="rect">
            <a:avLst/>
          </a:prstGeom>
          <a:noFill/>
          <a:ln/>
        </p:spPr>
        <p:txBody>
          <a:bodyPr wrap="square" lIns="0" tIns="0" rIns="0" bIns="0" rtlCol="0" anchor="t">
            <a:normAutofit/>
          </a:bodyPr>
          <a:lstStyle/>
          <a:p>
            <a:pPr algn="l" indent="0" marL="0">
              <a:lnSpc>
                <a:spcPct val="108000"/>
              </a:lnSpc>
              <a:buNone/>
            </a:pPr>
            <a:r>
              <a:rPr lang="en-US" sz="3200" b="1" dirty="0">
                <a:solidFill>
                  <a:srgbClr val="FDFBF6"/>
                </a:solidFill>
                <a:latin typeface="DM Sans" pitchFamily="34" charset="0"/>
                <a:ea typeface="DM Sans" pitchFamily="34" charset="-122"/>
                <a:cs typeface="DM Sans" pitchFamily="34" charset="-120"/>
              </a:rPr>
              <a:t>1 · Mahabaging Puso   2 · Malugod na Pagtanggap</a:t>
            </a:r>
            <a:endParaRPr lang="en-US" sz="3200" dirty="0"/>
          </a:p>
        </p:txBody>
      </p:sp>
      <p:sp>
        <p:nvSpPr>
          <p:cNvPr id="8" name="Text 6"/>
          <p:cNvSpPr txBox="1"/>
          <p:nvPr/>
        </p:nvSpPr>
        <p:spPr>
          <a:xfrm>
            <a:off x="731520" y="4703572"/>
            <a:ext cx="10725912" cy="534416"/>
          </a:xfrm>
          <a:prstGeom prst="rect">
            <a:avLst/>
          </a:prstGeom>
          <a:noFill/>
          <a:ln/>
        </p:spPr>
        <p:txBody>
          <a:bodyPr wrap="square" lIns="0" tIns="0" rIns="0" bIns="0" rtlCol="0" anchor="t">
            <a:normAutofit/>
          </a:bodyPr>
          <a:lstStyle/>
          <a:p>
            <a:pPr algn="l" indent="0" marL="0">
              <a:lnSpc>
                <a:spcPct val="108000"/>
              </a:lnSpc>
              <a:buNone/>
            </a:pPr>
            <a:r>
              <a:rPr lang="en-US" sz="3200" b="1" dirty="0">
                <a:solidFill>
                  <a:srgbClr val="FDFBF6"/>
                </a:solidFill>
                <a:latin typeface="DM Sans" pitchFamily="34" charset="0"/>
                <a:ea typeface="DM Sans" pitchFamily="34" charset="-122"/>
                <a:cs typeface="DM Sans" pitchFamily="34" charset="-120"/>
              </a:rPr>
              <a:t>3 · Matinong Pananaw   4 · Mapagtiwalang Pag-asa</a:t>
            </a:r>
            <a:endParaRPr lang="en-US" sz="32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⌛00:14</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10 / 29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717036" y="548640"/>
            <a:ext cx="4754880" cy="411480"/>
          </a:xfrm>
          <a:prstGeom prst="roundRect">
            <a:avLst>
              <a:gd name="adj" fmla="val 44444"/>
            </a:avLst>
          </a:prstGeom>
          <a:ln w="15875">
            <a:solidFill>
              <a:srgbClr val="2A5C40"/>
            </a:solidFill>
            <a:prstDash val="solid"/>
          </a:ln>
        </p:spPr>
      </p:sp>
      <p:sp>
        <p:nvSpPr>
          <p:cNvPr id="4" name="Text 2"/>
          <p:cNvSpPr txBox="1"/>
          <p:nvPr/>
        </p:nvSpPr>
        <p:spPr>
          <a:xfrm>
            <a:off x="3717036" y="548640"/>
            <a:ext cx="475488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M1 · MAHABAGING PUSO</a:t>
            </a:r>
            <a:endParaRPr lang="en-US" sz="2000" dirty="0"/>
          </a:p>
        </p:txBody>
      </p:sp>
      <p:sp>
        <p:nvSpPr>
          <p:cNvPr id="5" name="Text 3"/>
          <p:cNvSpPr txBox="1"/>
          <p:nvPr/>
        </p:nvSpPr>
        <p:spPr>
          <a:xfrm>
            <a:off x="731520" y="1143000"/>
            <a:ext cx="10725912" cy="1628394"/>
          </a:xfrm>
          <a:prstGeom prst="rect">
            <a:avLst/>
          </a:prstGeom>
          <a:noFill/>
          <a:ln/>
        </p:spPr>
        <p:txBody>
          <a:bodyPr wrap="square" lIns="0" tIns="0" rIns="0" bIns="0" rtlCol="0" anchor="t">
            <a:normAutofit/>
          </a:bodyPr>
          <a:lstStyle/>
          <a:p>
            <a:pPr algn="l" indent="0" marL="0">
              <a:lnSpc>
                <a:spcPct val="108000"/>
              </a:lnSpc>
              <a:buNone/>
            </a:pPr>
            <a:r>
              <a:rPr lang="en-US" sz="3500" b="1" dirty="0">
                <a:solidFill>
                  <a:srgbClr val="1A2E22"/>
                </a:solidFill>
                <a:latin typeface="Playfair Display" pitchFamily="34" charset="0"/>
                <a:ea typeface="Playfair Display" pitchFamily="34" charset="-122"/>
                <a:cs typeface="Playfair Display" pitchFamily="34" charset="-120"/>
              </a:rPr>
              <a:t>“Nahabag siya sa kanila at pinagaling niya ang mga maysakit na dala nila.” — Matthew 14:14</a:t>
            </a:r>
            <a:endParaRPr lang="en-US" sz="3500" dirty="0"/>
          </a:p>
        </p:txBody>
      </p:sp>
      <p:sp>
        <p:nvSpPr>
          <p:cNvPr id="6" name="Text 4"/>
          <p:cNvSpPr txBox="1"/>
          <p:nvPr/>
        </p:nvSpPr>
        <p:spPr>
          <a:xfrm>
            <a:off x="731520" y="2954274"/>
            <a:ext cx="10725912" cy="983996"/>
          </a:xfrm>
          <a:prstGeom prst="rect">
            <a:avLst/>
          </a:prstGeom>
          <a:noFill/>
          <a:ln/>
        </p:spPr>
        <p:txBody>
          <a:bodyPr wrap="square" lIns="0" tIns="0" rIns="0" bIns="0" rtlCol="0" anchor="t">
            <a:normAutofit/>
          </a:bodyPr>
          <a:lstStyle/>
          <a:p>
            <a:pPr algn="l" indent="0" marL="0">
              <a:lnSpc>
                <a:spcPct val="108000"/>
              </a:lnSpc>
              <a:buNone/>
            </a:pPr>
            <a:r>
              <a:rPr lang="en-US" sz="3100" dirty="0">
                <a:solidFill>
                  <a:srgbClr val="1A2E22"/>
                </a:solidFill>
                <a:latin typeface="DM Sans" pitchFamily="34" charset="0"/>
                <a:ea typeface="DM Sans" pitchFamily="34" charset="-122"/>
                <a:cs typeface="DM Sans" pitchFamily="34" charset="-120"/>
              </a:rPr>
              <a:t>Bago magpagaling, magturo at magpakain — minahal muna Niya sila.</a:t>
            </a:r>
            <a:endParaRPr lang="en-US" sz="3100" dirty="0"/>
          </a:p>
        </p:txBody>
      </p:sp>
      <p:sp>
        <p:nvSpPr>
          <p:cNvPr id="7" name="Text 5"/>
          <p:cNvSpPr txBox="1"/>
          <p:nvPr/>
        </p:nvSpPr>
        <p:spPr>
          <a:xfrm>
            <a:off x="731520" y="4121150"/>
            <a:ext cx="10725912" cy="983996"/>
          </a:xfrm>
          <a:prstGeom prst="rect">
            <a:avLst/>
          </a:prstGeom>
          <a:noFill/>
          <a:ln/>
        </p:spPr>
        <p:txBody>
          <a:bodyPr wrap="square" lIns="0" tIns="0" rIns="0" bIns="0" rtlCol="0" anchor="t">
            <a:normAutofit/>
          </a:bodyPr>
          <a:lstStyle/>
          <a:p>
            <a:pPr algn="l" indent="0" marL="0">
              <a:lnSpc>
                <a:spcPct val="108000"/>
              </a:lnSpc>
              <a:buNone/>
            </a:pPr>
            <a:r>
              <a:rPr lang="en-US" sz="3100" b="1" dirty="0">
                <a:solidFill>
                  <a:srgbClr val="1F4530"/>
                </a:solidFill>
                <a:latin typeface="DM Sans" pitchFamily="34" charset="0"/>
                <a:ea typeface="DM Sans" pitchFamily="34" charset="-122"/>
                <a:cs typeface="DM Sans" pitchFamily="34" charset="-120"/>
              </a:rPr>
              <a:t>Habag = splagchna — “internal organs,” lamang-loob.</a:t>
            </a:r>
            <a:endParaRPr lang="en-US" sz="3100" dirty="0"/>
          </a:p>
        </p:txBody>
      </p:sp>
      <p:sp>
        <p:nvSpPr>
          <p:cNvPr id="8" name="Text 6"/>
          <p:cNvSpPr txBox="1"/>
          <p:nvPr/>
        </p:nvSpPr>
        <p:spPr>
          <a:xfrm>
            <a:off x="731520" y="5288026"/>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1A2E22"/>
                </a:solidFill>
                <a:latin typeface="DM Sans" pitchFamily="34" charset="0"/>
                <a:ea typeface="DM Sans" pitchFamily="34" charset="-122"/>
                <a:cs typeface="DM Sans" pitchFamily="34" charset="-120"/>
              </a:rPr>
              <a:t>Nagsisimula ang lahat sa puso (2 Corinthians 5:14).</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⌛00:16</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11 / 29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722876" y="548640"/>
            <a:ext cx="2743200" cy="411480"/>
          </a:xfrm>
          <a:prstGeom prst="roundRect">
            <a:avLst>
              <a:gd name="adj" fmla="val 44444"/>
            </a:avLst>
          </a:prstGeom>
          <a:ln w="15875">
            <a:solidFill>
              <a:srgbClr val="D4A854"/>
            </a:solidFill>
            <a:prstDash val="solid"/>
          </a:ln>
        </p:spPr>
      </p:sp>
      <p:sp>
        <p:nvSpPr>
          <p:cNvPr id="4" name="Text 2"/>
          <p:cNvSpPr txBox="1"/>
          <p:nvPr/>
        </p:nvSpPr>
        <p:spPr>
          <a:xfrm>
            <a:off x="4722876" y="548640"/>
            <a:ext cx="27432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KUWENTO</a:t>
            </a:r>
            <a:endParaRPr lang="en-US" sz="2000" dirty="0"/>
          </a:p>
        </p:txBody>
      </p:sp>
      <p:sp>
        <p:nvSpPr>
          <p:cNvPr id="5" name="Text 3"/>
          <p:cNvSpPr txBox="1"/>
          <p:nvPr/>
        </p:nvSpPr>
        <p:spPr>
          <a:xfrm>
            <a:off x="731520" y="1143000"/>
            <a:ext cx="10725912" cy="1613408"/>
          </a:xfrm>
          <a:prstGeom prst="rect">
            <a:avLst/>
          </a:prstGeom>
          <a:noFill/>
          <a:ln/>
        </p:spPr>
        <p:txBody>
          <a:bodyPr wrap="square" lIns="0" tIns="0" rIns="0" bIns="0" rtlCol="0" anchor="t">
            <a:normAutofit/>
          </a:bodyPr>
          <a:lstStyle/>
          <a:p>
            <a:pPr algn="l" indent="0" marL="0">
              <a:lnSpc>
                <a:spcPct val="108000"/>
              </a:lnSpc>
              <a:buNone/>
            </a:pPr>
            <a:r>
              <a:rPr lang="en-US" sz="5200" b="1" dirty="0">
                <a:solidFill>
                  <a:srgbClr val="FDFBF6"/>
                </a:solidFill>
                <a:latin typeface="Playfair Display" pitchFamily="34" charset="0"/>
                <a:ea typeface="Playfair Display" pitchFamily="34" charset="-122"/>
                <a:cs typeface="Playfair Display" pitchFamily="34" charset="-120"/>
              </a:rPr>
              <a:t>Ang Bagong Pastor sa Bintana</a:t>
            </a:r>
            <a:endParaRPr lang="en-US" sz="5200" dirty="0"/>
          </a:p>
        </p:txBody>
      </p:sp>
      <p:sp>
        <p:nvSpPr>
          <p:cNvPr id="6" name="Text 4"/>
          <p:cNvSpPr txBox="1"/>
          <p:nvPr/>
        </p:nvSpPr>
        <p:spPr>
          <a:xfrm>
            <a:off x="731520" y="2939288"/>
            <a:ext cx="10725912" cy="1013968"/>
          </a:xfrm>
          <a:prstGeom prst="rect">
            <a:avLst/>
          </a:prstGeom>
          <a:noFill/>
          <a:ln/>
        </p:spPr>
        <p:txBody>
          <a:bodyPr wrap="square" lIns="0" tIns="0" rIns="0" bIns="0" rtlCol="0" anchor="t">
            <a:normAutofit/>
          </a:bodyPr>
          <a:lstStyle/>
          <a:p>
            <a:pPr algn="l" indent="0" marL="0">
              <a:lnSpc>
                <a:spcPct val="108000"/>
              </a:lnSpc>
              <a:buNone/>
            </a:pPr>
            <a:r>
              <a:rPr lang="en-US" sz="3200" i="1" dirty="0">
                <a:solidFill>
                  <a:srgbClr val="FDFBF6"/>
                </a:solidFill>
                <a:latin typeface="DM Sans" pitchFamily="34" charset="0"/>
                <a:ea typeface="DM Sans" pitchFamily="34" charset="-122"/>
                <a:cs typeface="DM Sans" pitchFamily="34" charset="-120"/>
              </a:rPr>
              <a:t>“Huwag po kayong mag-alala, Pastor. Masasanay din kayo.”</a:t>
            </a:r>
            <a:endParaRPr lang="en-US" sz="3200" dirty="0"/>
          </a:p>
        </p:txBody>
      </p:sp>
      <p:sp>
        <p:nvSpPr>
          <p:cNvPr id="7" name="Text 5"/>
          <p:cNvSpPr txBox="1"/>
          <p:nvPr/>
        </p:nvSpPr>
        <p:spPr>
          <a:xfrm>
            <a:off x="731520" y="4136136"/>
            <a:ext cx="10725912" cy="564388"/>
          </a:xfrm>
          <a:prstGeom prst="rect">
            <a:avLst/>
          </a:prstGeom>
          <a:noFill/>
          <a:ln/>
        </p:spPr>
        <p:txBody>
          <a:bodyPr wrap="square" lIns="0" tIns="0" rIns="0" bIns="0" rtlCol="0" anchor="t">
            <a:normAutofit/>
          </a:bodyPr>
          <a:lstStyle/>
          <a:p>
            <a:pPr algn="l" indent="0" marL="0">
              <a:lnSpc>
                <a:spcPct val="108000"/>
              </a:lnSpc>
              <a:buNone/>
            </a:pPr>
            <a:r>
              <a:rPr lang="en-US" sz="3400" b="1" dirty="0">
                <a:solidFill>
                  <a:srgbClr val="D4A854"/>
                </a:solidFill>
                <a:latin typeface="DM Sans" pitchFamily="34" charset="0"/>
                <a:ea typeface="DM Sans" pitchFamily="34" charset="-122"/>
                <a:cs typeface="DM Sans" pitchFamily="34" charset="-120"/>
              </a:rPr>
              <a:t>“Alam ko po. Kaya nga po ako umiiyak.”</a:t>
            </a:r>
            <a:endParaRPr lang="en-US" sz="3400" dirty="0"/>
          </a:p>
        </p:txBody>
      </p:sp>
      <p:sp>
        <p:nvSpPr>
          <p:cNvPr id="8" name="Text 6"/>
          <p:cNvSpPr txBox="1"/>
          <p:nvPr/>
        </p:nvSpPr>
        <p:spPr>
          <a:xfrm>
            <a:off x="731520" y="4883404"/>
            <a:ext cx="10725912" cy="864108"/>
          </a:xfrm>
          <a:prstGeom prst="rect">
            <a:avLst/>
          </a:prstGeom>
          <a:noFill/>
          <a:ln/>
        </p:spPr>
        <p:txBody>
          <a:bodyPr wrap="square" lIns="0" tIns="0" rIns="0" bIns="0" rtlCol="0" anchor="t">
            <a:normAutofit/>
          </a:bodyPr>
          <a:lstStyle/>
          <a:p>
            <a:pPr algn="l" indent="0" marL="0">
              <a:lnSpc>
                <a:spcPct val="108000"/>
              </a:lnSpc>
              <a:buNone/>
            </a:pPr>
            <a:r>
              <a:rPr lang="en-US" sz="2700" dirty="0">
                <a:solidFill>
                  <a:srgbClr val="FDFBF6"/>
                </a:solidFill>
                <a:latin typeface="DM Sans" pitchFamily="34" charset="0"/>
                <a:ea typeface="DM Sans" pitchFamily="34" charset="-122"/>
                <a:cs typeface="DM Sans" pitchFamily="34" charset="-120"/>
              </a:rPr>
              <a:t>Nababasag pa ba ang puso mo para sa kalagayan ng iyong kapwa?</a:t>
            </a:r>
            <a:endParaRPr lang="en-US" sz="27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⌛00:18</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12 / 29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Kailan huling nabasag ang puso mo para sa kalagayan ng ibang tao? Ano ang ginawa mo para matulungan siya o sila?</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Voluntary lang ang sharing.</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⌛00:19</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13 / 29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265676" y="548640"/>
            <a:ext cx="3657600" cy="411480"/>
          </a:xfrm>
          <a:prstGeom prst="roundRect">
            <a:avLst>
              <a:gd name="adj" fmla="val 44444"/>
            </a:avLst>
          </a:prstGeom>
          <a:ln w="15875">
            <a:solidFill>
              <a:srgbClr val="2A5C40"/>
            </a:solidFill>
            <a:prstDash val="solid"/>
          </a:ln>
        </p:spPr>
      </p:sp>
      <p:sp>
        <p:nvSpPr>
          <p:cNvPr id="4" name="Text 2"/>
          <p:cNvSpPr txBox="1"/>
          <p:nvPr/>
        </p:nvSpPr>
        <p:spPr>
          <a:xfrm>
            <a:off x="4265676" y="548640"/>
            <a:ext cx="36576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M2 · MALUGOD</a:t>
            </a:r>
            <a:endParaRPr lang="en-US" sz="2000" dirty="0"/>
          </a:p>
        </p:txBody>
      </p:sp>
      <p:sp>
        <p:nvSpPr>
          <p:cNvPr id="5" name="Text 3"/>
          <p:cNvSpPr txBox="1"/>
          <p:nvPr/>
        </p:nvSpPr>
        <p:spPr>
          <a:xfrm>
            <a:off x="731520" y="1143000"/>
            <a:ext cx="10725912" cy="1013968"/>
          </a:xfrm>
          <a:prstGeom prst="rect">
            <a:avLst/>
          </a:prstGeom>
          <a:noFill/>
          <a:ln/>
        </p:spPr>
        <p:txBody>
          <a:bodyPr wrap="square" lIns="0" tIns="0" rIns="0" bIns="0" rtlCol="0" anchor="t">
            <a:normAutofit/>
          </a:bodyPr>
          <a:lstStyle/>
          <a:p>
            <a:pPr algn="l" indent="0" marL="0">
              <a:lnSpc>
                <a:spcPct val="108000"/>
              </a:lnSpc>
              <a:buNone/>
            </a:pPr>
            <a:r>
              <a:rPr lang="en-US" sz="3200" b="1" dirty="0">
                <a:solidFill>
                  <a:srgbClr val="1A2E22"/>
                </a:solidFill>
                <a:latin typeface="Playfair Display" pitchFamily="34" charset="0"/>
                <a:ea typeface="Playfair Display" pitchFamily="34" charset="-122"/>
                <a:cs typeface="Playfair Display" pitchFamily="34" charset="-120"/>
              </a:rPr>
              <a:t>“Sinundan siya ng mga tao... at malugod naman silang tinanggap ni Jesus.” — Luke 9:11</a:t>
            </a:r>
            <a:endParaRPr lang="en-US" sz="3200" dirty="0"/>
          </a:p>
        </p:txBody>
      </p:sp>
      <p:sp>
        <p:nvSpPr>
          <p:cNvPr id="6" name="Text 4"/>
          <p:cNvSpPr txBox="1"/>
          <p:nvPr/>
        </p:nvSpPr>
        <p:spPr>
          <a:xfrm>
            <a:off x="731520" y="233984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Pagod sa pagsugo sa Labindalawa (Luke 9:1-5). Walang oras kumain (Mark 6:31).</a:t>
            </a:r>
            <a:endParaRPr lang="en-US" sz="2600" dirty="0"/>
          </a:p>
        </p:txBody>
      </p:sp>
      <p:sp>
        <p:nvSpPr>
          <p:cNvPr id="7" name="Text 5"/>
          <p:cNvSpPr txBox="1"/>
          <p:nvPr/>
        </p:nvSpPr>
        <p:spPr>
          <a:xfrm>
            <a:off x="731520" y="3356864"/>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Nagluluksa: pinapugutan ng ulo si John the Baptist (Matthew 14:1-12).</a:t>
            </a:r>
            <a:endParaRPr lang="en-US" sz="2600" dirty="0"/>
          </a:p>
        </p:txBody>
      </p:sp>
      <p:sp>
        <p:nvSpPr>
          <p:cNvPr id="8" name="Text 6"/>
          <p:cNvSpPr txBox="1"/>
          <p:nvPr/>
        </p:nvSpPr>
        <p:spPr>
          <a:xfrm>
            <a:off x="731520" y="4373880"/>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Pagod. Gutom. Hirap. Pero malugod — hinawakan sa kamay para i-welcome.</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⌛00:22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14 / 29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625596" y="548640"/>
            <a:ext cx="4937760" cy="411480"/>
          </a:xfrm>
          <a:prstGeom prst="roundRect">
            <a:avLst>
              <a:gd name="adj" fmla="val 44444"/>
            </a:avLst>
          </a:prstGeom>
          <a:ln w="15875">
            <a:solidFill>
              <a:srgbClr val="D4A854"/>
            </a:solidFill>
            <a:prstDash val="solid"/>
          </a:ln>
        </p:spPr>
      </p:sp>
      <p:sp>
        <p:nvSpPr>
          <p:cNvPr id="4" name="Text 2"/>
          <p:cNvSpPr txBox="1"/>
          <p:nvPr/>
        </p:nvSpPr>
        <p:spPr>
          <a:xfrm>
            <a:off x="3625596" y="548640"/>
            <a:ext cx="493776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M3 · MATINONG PANANAW</a:t>
            </a:r>
            <a:endParaRPr lang="en-US" sz="2000" dirty="0"/>
          </a:p>
        </p:txBody>
      </p:sp>
      <p:sp>
        <p:nvSpPr>
          <p:cNvPr id="5" name="Text 3"/>
          <p:cNvSpPr txBox="1"/>
          <p:nvPr/>
        </p:nvSpPr>
        <p:spPr>
          <a:xfrm>
            <a:off x="731520" y="1143000"/>
            <a:ext cx="10725912" cy="1553464"/>
          </a:xfrm>
          <a:prstGeom prst="rect">
            <a:avLst/>
          </a:prstGeom>
          <a:noFill/>
          <a:ln/>
        </p:spPr>
        <p:txBody>
          <a:bodyPr wrap="square" lIns="0" tIns="0" rIns="0" bIns="0" rtlCol="0" anchor="t">
            <a:normAutofit/>
          </a:bodyPr>
          <a:lstStyle/>
          <a:p>
            <a:pPr algn="l" indent="0" marL="0">
              <a:lnSpc>
                <a:spcPct val="108000"/>
              </a:lnSpc>
              <a:buNone/>
            </a:pPr>
            <a:r>
              <a:rPr lang="en-US" sz="5000" b="1" dirty="0">
                <a:solidFill>
                  <a:srgbClr val="FDFBF6"/>
                </a:solidFill>
                <a:latin typeface="Playfair Display" pitchFamily="34" charset="0"/>
                <a:ea typeface="Playfair Display" pitchFamily="34" charset="-122"/>
                <a:cs typeface="Playfair Display" pitchFamily="34" charset="-120"/>
              </a:rPr>
              <a:t>Isang Sitwasyon, Dalawang Pananaw</a:t>
            </a:r>
            <a:endParaRPr lang="en-US" sz="5000" dirty="0"/>
          </a:p>
        </p:txBody>
      </p:sp>
      <p:sp>
        <p:nvSpPr>
          <p:cNvPr id="6" name="Text 4"/>
          <p:cNvSpPr txBox="1"/>
          <p:nvPr/>
        </p:nvSpPr>
        <p:spPr>
          <a:xfrm>
            <a:off x="731520" y="2879344"/>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dirty="0">
                <a:solidFill>
                  <a:srgbClr val="FDFBF6"/>
                </a:solidFill>
                <a:latin typeface="DM Sans" pitchFamily="34" charset="0"/>
                <a:ea typeface="DM Sans" pitchFamily="34" charset="-122"/>
                <a:cs typeface="DM Sans" pitchFamily="34" charset="-120"/>
              </a:rPr>
              <a:t>Labindalawa: “Paalisin na po ninyo ang mga tao...” (Luke 9:12)</a:t>
            </a:r>
            <a:endParaRPr lang="en-US" sz="3000" dirty="0"/>
          </a:p>
        </p:txBody>
      </p:sp>
      <p:sp>
        <p:nvSpPr>
          <p:cNvPr id="7" name="Text 5"/>
          <p:cNvSpPr txBox="1"/>
          <p:nvPr/>
        </p:nvSpPr>
        <p:spPr>
          <a:xfrm>
            <a:off x="731520" y="4016248"/>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D4A854"/>
                </a:solidFill>
                <a:latin typeface="DM Sans" pitchFamily="34" charset="0"/>
                <a:ea typeface="DM Sans" pitchFamily="34" charset="-122"/>
                <a:cs typeface="DM Sans" pitchFamily="34" charset="-120"/>
              </a:rPr>
              <a:t>Jesus: “Hindi na sila kailangang umalis. Bigyan ninyo sila ng makakain.” (Matthew 14:16)</a:t>
            </a:r>
            <a:endParaRPr lang="en-US" sz="3000" dirty="0"/>
          </a:p>
        </p:txBody>
      </p:sp>
      <p:sp>
        <p:nvSpPr>
          <p:cNvPr id="8" name="Text 6"/>
          <p:cNvSpPr txBox="1"/>
          <p:nvPr/>
        </p:nvSpPr>
        <p:spPr>
          <a:xfrm>
            <a:off x="731520" y="5153152"/>
            <a:ext cx="10725912" cy="459486"/>
          </a:xfrm>
          <a:prstGeom prst="rect">
            <a:avLst/>
          </a:prstGeom>
          <a:noFill/>
          <a:ln/>
        </p:spPr>
        <p:txBody>
          <a:bodyPr wrap="square" lIns="0" tIns="0" rIns="0" bIns="0" rtlCol="0" anchor="t">
            <a:normAutofit/>
          </a:bodyPr>
          <a:lstStyle/>
          <a:p>
            <a:pPr algn="l" indent="0" marL="0">
              <a:lnSpc>
                <a:spcPct val="108000"/>
              </a:lnSpc>
              <a:buNone/>
            </a:pPr>
            <a:r>
              <a:rPr lang="en-US" sz="2700" i="1" dirty="0">
                <a:solidFill>
                  <a:srgbClr val="FDFBF6"/>
                </a:solidFill>
                <a:latin typeface="DM Sans" pitchFamily="34" charset="0"/>
                <a:ea typeface="DM Sans" pitchFamily="34" charset="-122"/>
                <a:cs typeface="DM Sans" pitchFamily="34" charset="-120"/>
              </a:rPr>
              <a:t>Simpleng pagtataboy — o sold out sa all out na pagtulong?</a:t>
            </a:r>
            <a:endParaRPr lang="en-US" sz="27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⌛00:25</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15 / 29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082796" y="548640"/>
            <a:ext cx="4023360" cy="411480"/>
          </a:xfrm>
          <a:prstGeom prst="roundRect">
            <a:avLst>
              <a:gd name="adj" fmla="val 44444"/>
            </a:avLst>
          </a:prstGeom>
          <a:ln w="15875">
            <a:solidFill>
              <a:srgbClr val="2A5C40"/>
            </a:solidFill>
            <a:prstDash val="solid"/>
          </a:ln>
        </p:spPr>
      </p:sp>
      <p:sp>
        <p:nvSpPr>
          <p:cNvPr id="4" name="Text 2"/>
          <p:cNvSpPr txBox="1"/>
          <p:nvPr/>
        </p:nvSpPr>
        <p:spPr>
          <a:xfrm>
            <a:off x="4082796" y="548640"/>
            <a:ext cx="402336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PARANG MGA TUPA</a:t>
            </a:r>
            <a:endParaRPr lang="en-US" sz="2000" dirty="0"/>
          </a:p>
        </p:txBody>
      </p:sp>
      <p:sp>
        <p:nvSpPr>
          <p:cNvPr id="5" name="Text 3"/>
          <p:cNvSpPr txBox="1"/>
          <p:nvPr/>
        </p:nvSpPr>
        <p:spPr>
          <a:xfrm>
            <a:off x="731520" y="1143000"/>
            <a:ext cx="10725912" cy="1493520"/>
          </a:xfrm>
          <a:prstGeom prst="rect">
            <a:avLst/>
          </a:prstGeom>
          <a:noFill/>
          <a:ln/>
        </p:spPr>
        <p:txBody>
          <a:bodyPr wrap="square" lIns="0" tIns="0" rIns="0" bIns="0" rtlCol="0" anchor="t">
            <a:normAutofit/>
          </a:bodyPr>
          <a:lstStyle/>
          <a:p>
            <a:pPr algn="l" indent="0" marL="0">
              <a:lnSpc>
                <a:spcPct val="108000"/>
              </a:lnSpc>
              <a:buNone/>
            </a:pPr>
            <a:r>
              <a:rPr lang="en-US" sz="3200" b="1" dirty="0">
                <a:solidFill>
                  <a:srgbClr val="1A2E22"/>
                </a:solidFill>
                <a:latin typeface="Playfair Display" pitchFamily="34" charset="0"/>
                <a:ea typeface="Playfair Display" pitchFamily="34" charset="-122"/>
                <a:cs typeface="Playfair Display" pitchFamily="34" charset="-120"/>
              </a:rPr>
              <a:t>“...Nahabag siya sa kanila sapagkat para silang mga tupang walang pastol...” — Mark 6:34</a:t>
            </a:r>
            <a:endParaRPr lang="en-US" sz="3200" dirty="0"/>
          </a:p>
        </p:txBody>
      </p:sp>
      <p:sp>
        <p:nvSpPr>
          <p:cNvPr id="6" name="Text 4"/>
          <p:cNvSpPr txBox="1"/>
          <p:nvPr/>
        </p:nvSpPr>
        <p:spPr>
          <a:xfrm>
            <a:off x="731520" y="2819400"/>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Hindi basurang patapon — mga tupang nangangailangan ng pastol.</a:t>
            </a:r>
            <a:endParaRPr lang="en-US" sz="2800" dirty="0"/>
          </a:p>
        </p:txBody>
      </p:sp>
      <p:sp>
        <p:nvSpPr>
          <p:cNvPr id="7" name="Text 5"/>
          <p:cNvSpPr txBox="1"/>
          <p:nvPr/>
        </p:nvSpPr>
        <p:spPr>
          <a:xfrm>
            <a:off x="731520" y="389636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Hindi pabigat, statistics, project, obligasyon, schedule load, numero o pampabida sa social media.</a:t>
            </a:r>
            <a:endParaRPr lang="en-US" sz="2600" dirty="0"/>
          </a:p>
        </p:txBody>
      </p:sp>
      <p:sp>
        <p:nvSpPr>
          <p:cNvPr id="8" name="Text 6"/>
          <p:cNvSpPr txBox="1"/>
          <p:nvPr/>
        </p:nvSpPr>
        <p:spPr>
          <a:xfrm>
            <a:off x="731520" y="4913376"/>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A2E22"/>
                </a:solidFill>
                <a:latin typeface="DM Sans" pitchFamily="34" charset="0"/>
                <a:ea typeface="DM Sans" pitchFamily="34" charset="-122"/>
                <a:cs typeface="DM Sans" pitchFamily="34" charset="-120"/>
              </a:rPr>
              <a:t>Mga tao sila — nilikha ayon sa wangis at larawan Niya.</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⌛00:27</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16 / 29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Totohanan lang: magsulat ng isang pagkakataon kung saan tiningnan mo rin ang mga taong pinaglilingkuran mo bilang pabigat o obligasyon lang, tulad ng disciples.</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Tapat. Walang makakabasa nito.</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17 / 29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991356" y="548640"/>
            <a:ext cx="4206240" cy="411480"/>
          </a:xfrm>
          <a:prstGeom prst="roundRect">
            <a:avLst>
              <a:gd name="adj" fmla="val 44444"/>
            </a:avLst>
          </a:prstGeom>
          <a:ln w="15875">
            <a:solidFill>
              <a:srgbClr val="D4A854"/>
            </a:solidFill>
            <a:prstDash val="solid"/>
          </a:ln>
        </p:spPr>
      </p:sp>
      <p:sp>
        <p:nvSpPr>
          <p:cNvPr id="4" name="Text 2"/>
          <p:cNvSpPr txBox="1"/>
          <p:nvPr/>
        </p:nvSpPr>
        <p:spPr>
          <a:xfrm>
            <a:off x="3991356" y="548640"/>
            <a:ext cx="420624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M4 · MAPAGTIWALA</a:t>
            </a:r>
            <a:endParaRPr lang="en-US" sz="2000" dirty="0"/>
          </a:p>
        </p:txBody>
      </p:sp>
      <p:sp>
        <p:nvSpPr>
          <p:cNvPr id="5" name="Text 3"/>
          <p:cNvSpPr txBox="1"/>
          <p:nvPr/>
        </p:nvSpPr>
        <p:spPr>
          <a:xfrm>
            <a:off x="731520" y="1143000"/>
            <a:ext cx="10725912" cy="1043940"/>
          </a:xfrm>
          <a:prstGeom prst="rect">
            <a:avLst/>
          </a:prstGeom>
          <a:noFill/>
          <a:ln/>
        </p:spPr>
        <p:txBody>
          <a:bodyPr wrap="square" lIns="0" tIns="0" rIns="0" bIns="0" rtlCol="0" anchor="t">
            <a:normAutofit/>
          </a:bodyPr>
          <a:lstStyle/>
          <a:p>
            <a:pPr algn="l" indent="0" marL="0">
              <a:lnSpc>
                <a:spcPct val="108000"/>
              </a:lnSpc>
              <a:buNone/>
            </a:pPr>
            <a:r>
              <a:rPr lang="en-US" sz="3300" b="1" dirty="0">
                <a:solidFill>
                  <a:srgbClr val="FDFBF6"/>
                </a:solidFill>
                <a:latin typeface="Playfair Display" pitchFamily="34" charset="0"/>
                <a:ea typeface="Playfair Display" pitchFamily="34" charset="-122"/>
                <a:cs typeface="Playfair Display" pitchFamily="34" charset="-120"/>
              </a:rPr>
              <a:t>“Saan kaya tayo makakabili ng tinapay upang makakain ang mga taong ito?” — John 6:5</a:t>
            </a:r>
            <a:endParaRPr lang="en-US" sz="3300" dirty="0"/>
          </a:p>
        </p:txBody>
      </p:sp>
      <p:sp>
        <p:nvSpPr>
          <p:cNvPr id="6" name="Text 4"/>
          <p:cNvSpPr txBox="1"/>
          <p:nvPr/>
        </p:nvSpPr>
        <p:spPr>
          <a:xfrm>
            <a:off x="731520" y="2369820"/>
            <a:ext cx="10725912" cy="924052"/>
          </a:xfrm>
          <a:prstGeom prst="rect">
            <a:avLst/>
          </a:prstGeom>
          <a:noFill/>
          <a:ln/>
        </p:spPr>
        <p:txBody>
          <a:bodyPr wrap="square" lIns="0" tIns="0" rIns="0" bIns="0" rtlCol="0" anchor="t">
            <a:normAutofit/>
          </a:bodyPr>
          <a:lstStyle/>
          <a:p>
            <a:pPr algn="l" indent="0" marL="0">
              <a:lnSpc>
                <a:spcPct val="108000"/>
              </a:lnSpc>
              <a:buNone/>
            </a:pPr>
            <a:r>
              <a:rPr lang="en-US" sz="2900" dirty="0">
                <a:solidFill>
                  <a:srgbClr val="FDFBF6"/>
                </a:solidFill>
                <a:latin typeface="DM Sans" pitchFamily="34" charset="0"/>
                <a:ea typeface="DM Sans" pitchFamily="34" charset="-122"/>
                <a:cs typeface="DM Sans" pitchFamily="34" charset="-120"/>
              </a:rPr>
              <a:t>Grade One student na tinanong tungkol sa advanced Math.</a:t>
            </a:r>
            <a:endParaRPr lang="en-US" sz="2900" dirty="0"/>
          </a:p>
        </p:txBody>
      </p:sp>
      <p:sp>
        <p:nvSpPr>
          <p:cNvPr id="7" name="Text 5"/>
          <p:cNvSpPr txBox="1"/>
          <p:nvPr/>
        </p:nvSpPr>
        <p:spPr>
          <a:xfrm>
            <a:off x="731520" y="347675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i="1" dirty="0">
                <a:solidFill>
                  <a:srgbClr val="FDFBF6"/>
                </a:solidFill>
                <a:latin typeface="DM Sans" pitchFamily="34" charset="0"/>
                <a:ea typeface="DM Sans" pitchFamily="34" charset="-122"/>
                <a:cs typeface="DM Sans" pitchFamily="34" charset="-120"/>
              </a:rPr>
              <a:t>“Kahit na po halagang dalawandaang salaping pilak ng tinapay ay di sasapat...” (John 6:7)</a:t>
            </a:r>
            <a:endParaRPr lang="en-US" sz="2600" dirty="0"/>
          </a:p>
        </p:txBody>
      </p:sp>
      <p:sp>
        <p:nvSpPr>
          <p:cNvPr id="8" name="Text 6"/>
          <p:cNvSpPr txBox="1"/>
          <p:nvPr/>
        </p:nvSpPr>
        <p:spPr>
          <a:xfrm>
            <a:off x="731520" y="4493768"/>
            <a:ext cx="10725912" cy="924052"/>
          </a:xfrm>
          <a:prstGeom prst="rect">
            <a:avLst/>
          </a:prstGeom>
          <a:noFill/>
          <a:ln/>
        </p:spPr>
        <p:txBody>
          <a:bodyPr wrap="square" lIns="0" tIns="0" rIns="0" bIns="0" rtlCol="0" anchor="t">
            <a:normAutofit/>
          </a:bodyPr>
          <a:lstStyle/>
          <a:p>
            <a:pPr algn="l" indent="0" marL="0">
              <a:lnSpc>
                <a:spcPct val="108000"/>
              </a:lnSpc>
              <a:buNone/>
            </a:pPr>
            <a:r>
              <a:rPr lang="en-US" sz="2900" b="1" dirty="0">
                <a:solidFill>
                  <a:srgbClr val="D4A854"/>
                </a:solidFill>
                <a:latin typeface="DM Sans" pitchFamily="34" charset="0"/>
                <a:ea typeface="DM Sans" pitchFamily="34" charset="-122"/>
                <a:cs typeface="DM Sans" pitchFamily="34" charset="-120"/>
              </a:rPr>
              <a:t>Tama. Praktikal. Reasonable. Pero masyadong nakaasa sa sarili.</a:t>
            </a:r>
            <a:endParaRPr lang="en-US" sz="29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⌛00:31</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18 / 29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448556" y="548640"/>
            <a:ext cx="3291840" cy="411480"/>
          </a:xfrm>
          <a:prstGeom prst="roundRect">
            <a:avLst>
              <a:gd name="adj" fmla="val 44444"/>
            </a:avLst>
          </a:prstGeom>
          <a:ln w="15875">
            <a:solidFill>
              <a:srgbClr val="2A5C40"/>
            </a:solidFill>
            <a:prstDash val="solid"/>
          </a:ln>
        </p:spPr>
      </p:sp>
      <p:sp>
        <p:nvSpPr>
          <p:cNvPr id="4" name="Text 2"/>
          <p:cNvSpPr txBox="1"/>
          <p:nvPr/>
        </p:nvSpPr>
        <p:spPr>
          <a:xfrm>
            <a:off x="4448556" y="548640"/>
            <a:ext cx="32918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ALAM NA NIYA</a:t>
            </a:r>
            <a:endParaRPr lang="en-US" sz="2000" dirty="0"/>
          </a:p>
        </p:txBody>
      </p:sp>
      <p:sp>
        <p:nvSpPr>
          <p:cNvPr id="5" name="Text 3"/>
          <p:cNvSpPr txBox="1"/>
          <p:nvPr/>
        </p:nvSpPr>
        <p:spPr>
          <a:xfrm>
            <a:off x="731520" y="1143000"/>
            <a:ext cx="10725912" cy="1763268"/>
          </a:xfrm>
          <a:prstGeom prst="rect">
            <a:avLst/>
          </a:prstGeom>
          <a:noFill/>
          <a:ln/>
        </p:spPr>
        <p:txBody>
          <a:bodyPr wrap="square" lIns="0" tIns="0" rIns="0" bIns="0" rtlCol="0" anchor="t">
            <a:normAutofit/>
          </a:bodyPr>
          <a:lstStyle/>
          <a:p>
            <a:pPr algn="l" indent="0" marL="0">
              <a:lnSpc>
                <a:spcPct val="108000"/>
              </a:lnSpc>
              <a:buNone/>
            </a:pPr>
            <a:r>
              <a:rPr lang="en-US" sz="3800" b="1" dirty="0">
                <a:solidFill>
                  <a:srgbClr val="1A2E22"/>
                </a:solidFill>
                <a:latin typeface="Playfair Display" pitchFamily="34" charset="0"/>
                <a:ea typeface="Playfair Display" pitchFamily="34" charset="-122"/>
                <a:cs typeface="Playfair Display" pitchFamily="34" charset="-120"/>
              </a:rPr>
              <a:t>“Sinabi niya iyon upang subukin si Felipe, sapagkat alam na niya ang kanyang gagawin.” — John 6:6</a:t>
            </a:r>
            <a:endParaRPr lang="en-US" sz="3800" dirty="0"/>
          </a:p>
        </p:txBody>
      </p:sp>
      <p:sp>
        <p:nvSpPr>
          <p:cNvPr id="6" name="Text 4"/>
          <p:cNvSpPr txBox="1"/>
          <p:nvPr/>
        </p:nvSpPr>
        <p:spPr>
          <a:xfrm>
            <a:off x="731520" y="3089148"/>
            <a:ext cx="10725912" cy="1043940"/>
          </a:xfrm>
          <a:prstGeom prst="rect">
            <a:avLst/>
          </a:prstGeom>
          <a:noFill/>
          <a:ln/>
        </p:spPr>
        <p:txBody>
          <a:bodyPr wrap="square" lIns="0" tIns="0" rIns="0" bIns="0" rtlCol="0" anchor="t">
            <a:normAutofit/>
          </a:bodyPr>
          <a:lstStyle/>
          <a:p>
            <a:pPr algn="l" indent="0" marL="0">
              <a:lnSpc>
                <a:spcPct val="108000"/>
              </a:lnSpc>
              <a:buNone/>
            </a:pPr>
            <a:r>
              <a:rPr lang="en-US" sz="3300" b="1" dirty="0">
                <a:solidFill>
                  <a:srgbClr val="1F4530"/>
                </a:solidFill>
                <a:latin typeface="DM Sans" pitchFamily="34" charset="0"/>
                <a:ea typeface="DM Sans" pitchFamily="34" charset="-122"/>
                <a:cs typeface="DM Sans" pitchFamily="34" charset="-120"/>
              </a:rPr>
              <a:t>Ibigay mo lang kung ano'ng meron ka. Ilagay sa mga kamay Niya.</a:t>
            </a:r>
            <a:endParaRPr lang="en-US" sz="3300" dirty="0"/>
          </a:p>
        </p:txBody>
      </p:sp>
      <p:sp>
        <p:nvSpPr>
          <p:cNvPr id="7" name="Text 5"/>
          <p:cNvSpPr txBox="1"/>
          <p:nvPr/>
        </p:nvSpPr>
        <p:spPr>
          <a:xfrm>
            <a:off x="731520" y="4315968"/>
            <a:ext cx="10725912" cy="1448562"/>
          </a:xfrm>
          <a:prstGeom prst="rect">
            <a:avLst/>
          </a:prstGeom>
          <a:noFill/>
          <a:ln/>
        </p:spPr>
        <p:txBody>
          <a:bodyPr wrap="square" lIns="0" tIns="0" rIns="0" bIns="0" rtlCol="0" anchor="t">
            <a:normAutofit/>
          </a:bodyPr>
          <a:lstStyle/>
          <a:p>
            <a:pPr algn="l" indent="0" marL="0">
              <a:lnSpc>
                <a:spcPct val="108000"/>
              </a:lnSpc>
              <a:buNone/>
            </a:pPr>
            <a:r>
              <a:rPr lang="en-US" sz="3100" dirty="0">
                <a:solidFill>
                  <a:srgbClr val="1A2E22"/>
                </a:solidFill>
                <a:latin typeface="DM Sans" pitchFamily="34" charset="0"/>
                <a:ea typeface="DM Sans" pitchFamily="34" charset="-122"/>
                <a:cs typeface="DM Sans" pitchFamily="34" charset="-120"/>
              </a:rPr>
              <a:t>5,000+ tao · 12 disipulo · 5 tinapay · 2 isda · 1 batang hindi pinangalanan · 1 Dios na makapangyarihan</a:t>
            </a:r>
            <a:endParaRPr lang="en-US" sz="31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⌛00:33</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19 / 29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722876" y="548640"/>
            <a:ext cx="2743200" cy="411480"/>
          </a:xfrm>
          <a:prstGeom prst="roundRect">
            <a:avLst>
              <a:gd name="adj" fmla="val 44444"/>
            </a:avLst>
          </a:prstGeom>
          <a:ln w="15875">
            <a:solidFill>
              <a:srgbClr val="D4A854"/>
            </a:solidFill>
            <a:prstDash val="solid"/>
          </a:ln>
        </p:spPr>
      </p:sp>
      <p:sp>
        <p:nvSpPr>
          <p:cNvPr id="4" name="Text 2"/>
          <p:cNvSpPr txBox="1"/>
          <p:nvPr/>
        </p:nvSpPr>
        <p:spPr>
          <a:xfrm>
            <a:off x="4722876" y="548640"/>
            <a:ext cx="27432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TALAKAY</a:t>
            </a:r>
            <a:endParaRPr lang="en-US" sz="2000" dirty="0"/>
          </a:p>
        </p:txBody>
      </p:sp>
      <p:sp>
        <p:nvSpPr>
          <p:cNvPr id="5" name="Text 3"/>
          <p:cNvSpPr txBox="1"/>
          <p:nvPr/>
        </p:nvSpPr>
        <p:spPr>
          <a:xfrm>
            <a:off x="731520" y="1143000"/>
            <a:ext cx="10725912" cy="983996"/>
          </a:xfrm>
          <a:prstGeom prst="rect">
            <a:avLst/>
          </a:prstGeom>
          <a:noFill/>
          <a:ln/>
        </p:spPr>
        <p:txBody>
          <a:bodyPr wrap="square" lIns="0" tIns="0" rIns="0" bIns="0" rtlCol="0" anchor="t">
            <a:normAutofit/>
          </a:bodyPr>
          <a:lstStyle/>
          <a:p>
            <a:pPr algn="l" indent="0" marL="0">
              <a:lnSpc>
                <a:spcPct val="108000"/>
              </a:lnSpc>
              <a:buNone/>
            </a:pPr>
            <a:r>
              <a:rPr lang="en-US" sz="6200" b="1" dirty="0">
                <a:solidFill>
                  <a:srgbClr val="FDFBF6"/>
                </a:solidFill>
                <a:latin typeface="Playfair Display" pitchFamily="34" charset="0"/>
                <a:ea typeface="Playfair Display" pitchFamily="34" charset="-122"/>
                <a:cs typeface="Playfair Display" pitchFamily="34" charset="-120"/>
              </a:rPr>
              <a:t>Safe-Space Sharing</a:t>
            </a:r>
            <a:endParaRPr lang="en-US" sz="6200" dirty="0"/>
          </a:p>
        </p:txBody>
      </p:sp>
      <p:sp>
        <p:nvSpPr>
          <p:cNvPr id="6" name="Text 4"/>
          <p:cNvSpPr txBox="1"/>
          <p:nvPr/>
        </p:nvSpPr>
        <p:spPr>
          <a:xfrm>
            <a:off x="731520" y="2309876"/>
            <a:ext cx="10725912" cy="1223772"/>
          </a:xfrm>
          <a:prstGeom prst="rect">
            <a:avLst/>
          </a:prstGeom>
          <a:noFill/>
          <a:ln/>
        </p:spPr>
        <p:txBody>
          <a:bodyPr wrap="square" lIns="0" tIns="0" rIns="0" bIns="0" rtlCol="0" anchor="t">
            <a:normAutofit/>
          </a:bodyPr>
          <a:lstStyle/>
          <a:p>
            <a:pPr algn="l" indent="0" marL="0">
              <a:lnSpc>
                <a:spcPct val="108000"/>
              </a:lnSpc>
              <a:buNone/>
            </a:pPr>
            <a:r>
              <a:rPr lang="en-US" sz="3900" b="1" dirty="0">
                <a:solidFill>
                  <a:srgbClr val="D4A854"/>
                </a:solidFill>
                <a:latin typeface="DM Sans" pitchFamily="34" charset="0"/>
                <a:ea typeface="DM Sans" pitchFamily="34" charset="-122"/>
                <a:cs typeface="DM Sans" pitchFamily="34" charset="-120"/>
              </a:rPr>
              <a:t>No fixing · No comparison · No preaching · Confidential</a:t>
            </a:r>
            <a:endParaRPr lang="en-US" sz="3900" dirty="0"/>
          </a:p>
        </p:txBody>
      </p:sp>
      <p:sp>
        <p:nvSpPr>
          <p:cNvPr id="7" name="Text 5"/>
          <p:cNvSpPr txBox="1"/>
          <p:nvPr/>
        </p:nvSpPr>
        <p:spPr>
          <a:xfrm>
            <a:off x="731520" y="3716528"/>
            <a:ext cx="10725912" cy="1073912"/>
          </a:xfrm>
          <a:prstGeom prst="rect">
            <a:avLst/>
          </a:prstGeom>
          <a:noFill/>
          <a:ln/>
        </p:spPr>
        <p:txBody>
          <a:bodyPr wrap="square" lIns="0" tIns="0" rIns="0" bIns="0" rtlCol="0" anchor="t">
            <a:normAutofit/>
          </a:bodyPr>
          <a:lstStyle/>
          <a:p>
            <a:pPr algn="l" indent="0" marL="0">
              <a:lnSpc>
                <a:spcPct val="108000"/>
              </a:lnSpc>
              <a:buNone/>
            </a:pPr>
            <a:r>
              <a:rPr lang="en-US" sz="3400" dirty="0">
                <a:solidFill>
                  <a:srgbClr val="FDFBF6"/>
                </a:solidFill>
                <a:latin typeface="DM Sans" pitchFamily="34" charset="0"/>
                <a:ea typeface="DM Sans" pitchFamily="34" charset="-122"/>
                <a:cs typeface="DM Sans" pitchFamily="34" charset="-120"/>
              </a:rPr>
              <a:t>Tables ng 3-4. Tatlong tanong. Isang mata para sa isa't isa.</a:t>
            </a:r>
            <a:endParaRPr lang="en-US" sz="34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⌛00:34</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20 / 29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1</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“Umasa ka dito. Ang gawain ng Dios na ginagawa sa kaparaanan ng Dios ay hindi magkukulang sa pagpapala ng Dios.” — Sang-ayon ka ba sa statement na ito? Bakit?</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Sa tables — pag-usapan. Isang kuwento ng provision kung mayroon.</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4 min · ⌛00:38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21 / 29</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2</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May healthy boundaries ba tayong puwedeng i-observe kapag nagkasabay ang demands ng mga taong nangangailangan at ang personal nating kabigatan? Ipaliwanag.</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Sa tables — pag-usapan. Gamitin ang halimbawa ni Jesus sa Luke 9 at Mark 6.</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4 min · ⌛00:42</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22 / 29</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3</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Sa Apat na M — Mahabaging Puso, Malugod na Pagtanggap, Matinong Pananaw, Mapagtiwalang Pag-asa — alin ang pinakamahirap para sa iyo ngayon? Bakit?</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Round-robin sa table — tig-isang M, tig-isang dahilan.</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⌛00:45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23 / 29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905756" y="548640"/>
            <a:ext cx="2377440" cy="411480"/>
          </a:xfrm>
          <a:prstGeom prst="roundRect">
            <a:avLst>
              <a:gd name="adj" fmla="val 44444"/>
            </a:avLst>
          </a:prstGeom>
          <a:ln w="15875">
            <a:solidFill>
              <a:srgbClr val="2A5C40"/>
            </a:solidFill>
            <a:prstDash val="solid"/>
          </a:ln>
        </p:spPr>
      </p:sp>
      <p:sp>
        <p:nvSpPr>
          <p:cNvPr id="4" name="Text 2"/>
          <p:cNvSpPr txBox="1"/>
          <p:nvPr/>
        </p:nvSpPr>
        <p:spPr>
          <a:xfrm>
            <a:off x="4905756" y="548640"/>
            <a:ext cx="23774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TUGON</a:t>
            </a:r>
            <a:endParaRPr lang="en-US" sz="2000" dirty="0"/>
          </a:p>
        </p:txBody>
      </p:sp>
      <p:sp>
        <p:nvSpPr>
          <p:cNvPr id="5" name="Text 3"/>
          <p:cNvSpPr txBox="1"/>
          <p:nvPr/>
        </p:nvSpPr>
        <p:spPr>
          <a:xfrm>
            <a:off x="731520" y="1143000"/>
            <a:ext cx="10725912" cy="924052"/>
          </a:xfrm>
          <a:prstGeom prst="rect">
            <a:avLst/>
          </a:prstGeom>
          <a:noFill/>
          <a:ln/>
        </p:spPr>
        <p:txBody>
          <a:bodyPr wrap="square" lIns="0" tIns="0" rIns="0" bIns="0" rtlCol="0" anchor="t">
            <a:normAutofit/>
          </a:bodyPr>
          <a:lstStyle/>
          <a:p>
            <a:pPr algn="l" indent="0" marL="0">
              <a:lnSpc>
                <a:spcPct val="108000"/>
              </a:lnSpc>
              <a:buNone/>
            </a:pPr>
            <a:r>
              <a:rPr lang="en-US" sz="5800" b="1" dirty="0">
                <a:solidFill>
                  <a:srgbClr val="1A2E22"/>
                </a:solidFill>
                <a:latin typeface="Playfair Display" pitchFamily="34" charset="0"/>
                <a:ea typeface="Playfair Display" pitchFamily="34" charset="-122"/>
                <a:cs typeface="Playfair Display" pitchFamily="34" charset="-120"/>
              </a:rPr>
              <a:t>Ang Almusal ng 300 Ulila</a:t>
            </a:r>
            <a:endParaRPr lang="en-US" sz="5800" dirty="0"/>
          </a:p>
        </p:txBody>
      </p:sp>
      <p:sp>
        <p:nvSpPr>
          <p:cNvPr id="6" name="Text 4"/>
          <p:cNvSpPr txBox="1"/>
          <p:nvPr/>
        </p:nvSpPr>
        <p:spPr>
          <a:xfrm>
            <a:off x="731520" y="2249932"/>
            <a:ext cx="10725912" cy="924052"/>
          </a:xfrm>
          <a:prstGeom prst="rect">
            <a:avLst/>
          </a:prstGeom>
          <a:noFill/>
          <a:ln/>
        </p:spPr>
        <p:txBody>
          <a:bodyPr wrap="square" lIns="0" tIns="0" rIns="0" bIns="0" rtlCol="0" anchor="t">
            <a:normAutofit/>
          </a:bodyPr>
          <a:lstStyle/>
          <a:p>
            <a:pPr algn="l" indent="0" marL="0">
              <a:lnSpc>
                <a:spcPct val="108000"/>
              </a:lnSpc>
              <a:buNone/>
            </a:pPr>
            <a:r>
              <a:rPr lang="en-US" sz="2900" dirty="0">
                <a:solidFill>
                  <a:srgbClr val="1A2E22"/>
                </a:solidFill>
                <a:latin typeface="DM Sans" pitchFamily="34" charset="0"/>
                <a:ea typeface="DM Sans" pitchFamily="34" charset="-122"/>
                <a:cs typeface="DM Sans" pitchFamily="34" charset="-120"/>
              </a:rPr>
              <a:t>George Müller · 5 orphan houses · 10,024 na ulila · 68 taon na walang suweldo</a:t>
            </a:r>
            <a:endParaRPr lang="en-US" sz="2900" dirty="0"/>
          </a:p>
        </p:txBody>
      </p:sp>
      <p:sp>
        <p:nvSpPr>
          <p:cNvPr id="7" name="Text 5"/>
          <p:cNvSpPr txBox="1"/>
          <p:nvPr/>
        </p:nvSpPr>
        <p:spPr>
          <a:xfrm>
            <a:off x="731520" y="3356864"/>
            <a:ext cx="10725912" cy="983996"/>
          </a:xfrm>
          <a:prstGeom prst="rect">
            <a:avLst/>
          </a:prstGeom>
          <a:noFill/>
          <a:ln/>
        </p:spPr>
        <p:txBody>
          <a:bodyPr wrap="square" lIns="0" tIns="0" rIns="0" bIns="0" rtlCol="0" anchor="t">
            <a:normAutofit/>
          </a:bodyPr>
          <a:lstStyle/>
          <a:p>
            <a:pPr algn="l" indent="0" marL="0">
              <a:lnSpc>
                <a:spcPct val="108000"/>
              </a:lnSpc>
              <a:buNone/>
            </a:pPr>
            <a:r>
              <a:rPr lang="en-US" sz="3100" b="1" dirty="0">
                <a:solidFill>
                  <a:srgbClr val="1A2E22"/>
                </a:solidFill>
                <a:latin typeface="DM Sans" pitchFamily="34" charset="0"/>
                <a:ea typeface="DM Sans" pitchFamily="34" charset="-122"/>
                <a:cs typeface="DM Sans" pitchFamily="34" charset="-120"/>
              </a:rPr>
              <a:t>Walang tinapay. Walang gatas. Walang pambili. Isang panalangin.</a:t>
            </a:r>
            <a:endParaRPr lang="en-US" sz="3100" dirty="0"/>
          </a:p>
        </p:txBody>
      </p:sp>
      <p:sp>
        <p:nvSpPr>
          <p:cNvPr id="8" name="Text 6"/>
          <p:cNvSpPr txBox="1"/>
          <p:nvPr/>
        </p:nvSpPr>
        <p:spPr>
          <a:xfrm>
            <a:off x="731520" y="4523740"/>
            <a:ext cx="10725912" cy="983996"/>
          </a:xfrm>
          <a:prstGeom prst="rect">
            <a:avLst/>
          </a:prstGeom>
          <a:noFill/>
          <a:ln/>
        </p:spPr>
        <p:txBody>
          <a:bodyPr wrap="square" lIns="0" tIns="0" rIns="0" bIns="0" rtlCol="0" anchor="t">
            <a:normAutofit/>
          </a:bodyPr>
          <a:lstStyle/>
          <a:p>
            <a:pPr algn="l" indent="0" marL="0">
              <a:lnSpc>
                <a:spcPct val="108000"/>
              </a:lnSpc>
              <a:buNone/>
            </a:pPr>
            <a:r>
              <a:rPr lang="en-US" sz="3100" b="1" dirty="0">
                <a:solidFill>
                  <a:srgbClr val="1F4530"/>
                </a:solidFill>
                <a:latin typeface="DM Sans" pitchFamily="34" charset="0"/>
                <a:ea typeface="DM Sans" pitchFamily="34" charset="-122"/>
                <a:cs typeface="DM Sans" pitchFamily="34" charset="-120"/>
              </a:rPr>
              <a:t>Isang panadero. Isang nasirang cart ng gatas. Solved!</a:t>
            </a:r>
            <a:endParaRPr lang="en-US" sz="31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⌛00:48</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24 / 29</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TUGON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Sa apat na bilog — Pamilya, Work/School, Friends, Church — sino ang specific na taong ipinapakita sa iyo ni Lord? Ano ang specific na tulong na kaya mong ibigay?</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sa Galatians Circles ng participant guide. Pangalan + tulong.</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4 min · ⌛00:52</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25 / 29</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TUGON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Identifying Needs Preassessment: bigyan ang sarili ng A, B, C, D o E sa limang proficiencies sa participant guide.</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Tapat lang. A = modelo para sa iba · E = wala pang mastery.</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⌛00:55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26 / 29</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265676" y="548640"/>
            <a:ext cx="3657600" cy="411480"/>
          </a:xfrm>
          <a:prstGeom prst="roundRect">
            <a:avLst>
              <a:gd name="adj" fmla="val 44444"/>
            </a:avLst>
          </a:prstGeom>
          <a:ln w="15875">
            <a:solidFill>
              <a:srgbClr val="2A5C40"/>
            </a:solidFill>
            <a:prstDash val="solid"/>
          </a:ln>
        </p:spPr>
      </p:sp>
      <p:sp>
        <p:nvSpPr>
          <p:cNvPr id="4" name="Text 2"/>
          <p:cNvSpPr txBox="1"/>
          <p:nvPr/>
        </p:nvSpPr>
        <p:spPr>
          <a:xfrm>
            <a:off x="4265676" y="548640"/>
            <a:ext cx="36576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TAKDANG-ARALIN</a:t>
            </a:r>
            <a:endParaRPr lang="en-US" sz="2000" dirty="0"/>
          </a:p>
        </p:txBody>
      </p:sp>
      <p:sp>
        <p:nvSpPr>
          <p:cNvPr id="5" name="Text 3"/>
          <p:cNvSpPr txBox="1"/>
          <p:nvPr/>
        </p:nvSpPr>
        <p:spPr>
          <a:xfrm>
            <a:off x="731520" y="1143000"/>
            <a:ext cx="10725912" cy="774192"/>
          </a:xfrm>
          <a:prstGeom prst="rect">
            <a:avLst/>
          </a:prstGeom>
          <a:noFill/>
          <a:ln/>
        </p:spPr>
        <p:txBody>
          <a:bodyPr wrap="square" lIns="0" tIns="0" rIns="0" bIns="0" rtlCol="0" anchor="t">
            <a:normAutofit/>
          </a:bodyPr>
          <a:lstStyle/>
          <a:p>
            <a:pPr algn="l" indent="0" marL="0">
              <a:lnSpc>
                <a:spcPct val="108000"/>
              </a:lnSpc>
              <a:buNone/>
            </a:pPr>
            <a:r>
              <a:rPr lang="en-US" sz="4800" b="1" dirty="0">
                <a:solidFill>
                  <a:srgbClr val="1A2E22"/>
                </a:solidFill>
                <a:latin typeface="Playfair Display" pitchFamily="34" charset="0"/>
                <a:ea typeface="Playfair Display" pitchFamily="34" charset="-122"/>
                <a:cs typeface="Playfair Display" pitchFamily="34" charset="-120"/>
              </a:rPr>
              <a:t>Tatlong Practice Assignments</a:t>
            </a:r>
            <a:endParaRPr lang="en-US" sz="4800" dirty="0"/>
          </a:p>
        </p:txBody>
      </p:sp>
      <p:sp>
        <p:nvSpPr>
          <p:cNvPr id="6" name="Text 4"/>
          <p:cNvSpPr txBox="1"/>
          <p:nvPr/>
        </p:nvSpPr>
        <p:spPr>
          <a:xfrm>
            <a:off x="731520" y="210007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1. Ang Pangalawang Tanong — sa tatlong tao, pagkatapos ng “Kumusta?”, magtanong pa ng isang mas malalim, at makinig.</a:t>
            </a:r>
            <a:endParaRPr lang="en-US" sz="2600" dirty="0"/>
          </a:p>
        </p:txBody>
      </p:sp>
      <p:sp>
        <p:nvSpPr>
          <p:cNvPr id="7" name="Text 5"/>
          <p:cNvSpPr txBox="1"/>
          <p:nvPr/>
        </p:nvSpPr>
        <p:spPr>
          <a:xfrm>
            <a:off x="731520" y="3117088"/>
            <a:ext cx="10725912" cy="1223772"/>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2. Ang Limang Tinapay — tugunan ang isang specific na pangangailangan mula sa Galatians Circles gamit ang kung ano'ng nasa kamay mo.</a:t>
            </a:r>
            <a:endParaRPr lang="en-US" sz="2600" dirty="0"/>
          </a:p>
        </p:txBody>
      </p:sp>
      <p:sp>
        <p:nvSpPr>
          <p:cNvPr id="8" name="Text 6"/>
          <p:cNvSpPr txBox="1"/>
          <p:nvPr/>
        </p:nvSpPr>
        <p:spPr>
          <a:xfrm>
            <a:off x="731520" y="452374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3. Ang Needs Walk — 7 araw: isulat ang isang pangangailangang napansin mo (lantad o tago) at ipanalangin ito.</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⌛00:57</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27 / 29</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DALHIN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“Dahil nais kong makita ang tunay na pangangailangan ng iba gaya ng pagtingin ni Jesus, nangangako ako na ngayong linggo ay...” — tapusin at isulat.</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Konkreto. Hindi vague. Nakasulat.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⌛00:59</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28 / 29</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448556" y="548640"/>
            <a:ext cx="3291840" cy="411480"/>
          </a:xfrm>
          <a:prstGeom prst="roundRect">
            <a:avLst>
              <a:gd name="adj" fmla="val 44444"/>
            </a:avLst>
          </a:prstGeom>
          <a:ln w="15875">
            <a:solidFill>
              <a:srgbClr val="D4A854"/>
            </a:solidFill>
            <a:prstDash val="solid"/>
          </a:ln>
        </p:spPr>
      </p:sp>
      <p:sp>
        <p:nvSpPr>
          <p:cNvPr id="4" name="Text 2"/>
          <p:cNvSpPr txBox="1"/>
          <p:nvPr/>
        </p:nvSpPr>
        <p:spPr>
          <a:xfrm>
            <a:off x="4448556" y="548640"/>
            <a:ext cx="329184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L16 PREVIEW</a:t>
            </a:r>
            <a:endParaRPr lang="en-US" sz="2000" dirty="0"/>
          </a:p>
        </p:txBody>
      </p:sp>
      <p:sp>
        <p:nvSpPr>
          <p:cNvPr id="5" name="Text 3"/>
          <p:cNvSpPr txBox="1"/>
          <p:nvPr/>
        </p:nvSpPr>
        <p:spPr>
          <a:xfrm>
            <a:off x="731520" y="1143000"/>
            <a:ext cx="10725912" cy="909066"/>
          </a:xfrm>
          <a:prstGeom prst="rect">
            <a:avLst/>
          </a:prstGeom>
          <a:noFill/>
          <a:ln/>
        </p:spPr>
        <p:txBody>
          <a:bodyPr wrap="square" lIns="0" tIns="0" rIns="0" bIns="0" rtlCol="0" anchor="t">
            <a:normAutofit/>
          </a:bodyPr>
          <a:lstStyle/>
          <a:p>
            <a:pPr algn="l" indent="0" marL="0">
              <a:lnSpc>
                <a:spcPct val="108000"/>
              </a:lnSpc>
              <a:buNone/>
            </a:pPr>
            <a:r>
              <a:rPr lang="en-US" sz="5700" b="1" dirty="0">
                <a:solidFill>
                  <a:srgbClr val="FDFBF6"/>
                </a:solidFill>
                <a:latin typeface="Playfair Display" pitchFamily="34" charset="0"/>
                <a:ea typeface="Playfair Display" pitchFamily="34" charset="-122"/>
                <a:cs typeface="Playfair Display" pitchFamily="34" charset="-120"/>
              </a:rPr>
              <a:t>Modelling Christlikeness</a:t>
            </a:r>
            <a:endParaRPr lang="en-US" sz="5700" dirty="0"/>
          </a:p>
        </p:txBody>
      </p:sp>
      <p:sp>
        <p:nvSpPr>
          <p:cNvPr id="6" name="Text 4"/>
          <p:cNvSpPr txBox="1"/>
          <p:nvPr/>
        </p:nvSpPr>
        <p:spPr>
          <a:xfrm>
            <a:off x="731520" y="2234946"/>
            <a:ext cx="10725912" cy="1673352"/>
          </a:xfrm>
          <a:prstGeom prst="rect">
            <a:avLst/>
          </a:prstGeom>
          <a:noFill/>
          <a:ln/>
        </p:spPr>
        <p:txBody>
          <a:bodyPr wrap="square" lIns="0" tIns="0" rIns="0" bIns="0" rtlCol="0" anchor="t">
            <a:normAutofit/>
          </a:bodyPr>
          <a:lstStyle/>
          <a:p>
            <a:pPr algn="l" indent="0" marL="0">
              <a:lnSpc>
                <a:spcPct val="108000"/>
              </a:lnSpc>
              <a:buNone/>
            </a:pPr>
            <a:r>
              <a:rPr lang="en-US" sz="3600" dirty="0">
                <a:solidFill>
                  <a:srgbClr val="FDFBF6"/>
                </a:solidFill>
                <a:latin typeface="DM Sans" pitchFamily="34" charset="0"/>
                <a:ea typeface="DM Sans" pitchFamily="34" charset="-122"/>
                <a:cs typeface="DM Sans" pitchFamily="34" charset="-120"/>
              </a:rPr>
              <a:t>Nakita na natin ang pangangailangan ng iba — sa L16, titingnan natin kung ano ang nakikita NG IBA sa atin.</a:t>
            </a:r>
            <a:endParaRPr lang="en-US" sz="3600" dirty="0"/>
          </a:p>
        </p:txBody>
      </p:sp>
      <p:sp>
        <p:nvSpPr>
          <p:cNvPr id="7" name="Text 5"/>
          <p:cNvSpPr txBox="1"/>
          <p:nvPr/>
        </p:nvSpPr>
        <p:spPr>
          <a:xfrm>
            <a:off x="731520" y="4091178"/>
            <a:ext cx="10725912" cy="983996"/>
          </a:xfrm>
          <a:prstGeom prst="rect">
            <a:avLst/>
          </a:prstGeom>
          <a:noFill/>
          <a:ln/>
        </p:spPr>
        <p:txBody>
          <a:bodyPr wrap="square" lIns="0" tIns="0" rIns="0" bIns="0" rtlCol="0" anchor="t">
            <a:normAutofit/>
          </a:bodyPr>
          <a:lstStyle/>
          <a:p>
            <a:pPr algn="l" indent="0" marL="0">
              <a:lnSpc>
                <a:spcPct val="108000"/>
              </a:lnSpc>
              <a:buNone/>
            </a:pPr>
            <a:r>
              <a:rPr lang="en-US" sz="3100" i="1" dirty="0">
                <a:solidFill>
                  <a:srgbClr val="D4A854"/>
                </a:solidFill>
                <a:latin typeface="DM Sans" pitchFamily="34" charset="0"/>
                <a:ea typeface="DM Sans" pitchFamily="34" charset="-122"/>
                <a:cs typeface="DM Sans" pitchFamily="34" charset="-120"/>
              </a:rPr>
              <a:t>“Tularan ninyo ako, gaya ng pagtulad ko kay Cristo.” — 1 Corinthians 11:1</a:t>
            </a:r>
            <a:endParaRPr lang="en-US" sz="31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⌛01:00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29 / 29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2026-10-09T03:46:46Z</dcterms:created>
  <dcterms:modified xsi:type="dcterms:W3CDTF">2026-10-09T03:46:46Z</dcterms:modified>
</cp:coreProperties>
</file>
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Begin with a brief prayer. Welcome the group warmly. Mention this is the OPENER of a 20-lesson year-long journey. No pressure — just presence.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PUKAW opener. Don't show the video yet — first ask the question verbally. Let them think 5-10 sec before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Grayson video (~2 min). YouTube ID: GhC_By9GMv0. Watch the group watch the video. When the child reacts, you'll see eyes water in the room. Do NOT speak during the video. After it plays, click forward.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the video — pause. Then ask the question. Don't pressure everyone to answer publicly. 2-3 voluntary shares max, then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BIG IDEA slowly. PAUSE. Don't elaborate yet — let the words land. Then transition with: 'Para gumana ang relasyon, kailangan ng usapan.'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'equation' slide. The mnemonic does the work. Some will smile — let them. Then: 'Walang COMMUNICATION, walang COMMUNION.'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4 cards LEFT to RIGHT. Don't read each verse word-for-word — give the SITUATION first, then the verse. Each card ~45 seconds. Total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ANCHOR. Faithfulness — the Galatians fruit for this lesson. Read 1 Thes 5:17. Then explain: 'Walang patid' is not literal non-stop praying — it's an estado ng puso, a state of the heart. Anumang oras, lugar, sitwasyon — dependent.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TALAKAY. Brief — DON'Ts first (Pabanal, Mechanical) — wala sa slide ito; sabihin verbally. Then introduce the 5 POSTURA.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all 5 in full. Quick walk-through (~30 sec each). The participant book has the depth. You're just showing the architecture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 DISCUSSION QUESTION. Give 60 seconds for silent thought, then voluntary shares. NO right/wrong answer. The goal is wrestling, not consensus.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GAWIN. State plainly: 'Hindi kami uuwi nang hindi natin sinimulan.' Set expectations: silent writing, voluntary sharing, no judgment.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them through one letter at a time. ~90 sec silent write per letter. ~30 sec optional share. Total ~8 min. DO NOT RUSH. Silence is sacred.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competence anchor: ACTS-Anchored Conversational Prayer. Explain: 'Ito ang skill we're building for the year ahead.'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EOLO bridge. This is the moment prayer becomes mission. Names + ACTS letter assignment. ~2 min for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PACT. Get a CONCRETE answer — time, platform, point person — BEFORE leaving the room. Pre-warn: 'Bawal sa GC nalang later.'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Memorize Jeremiah 29:12. Recite together one time as a group. Soft, not performative.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closing prayer. Mention what's coming in Lesson 2: Bible Meditation — the other half of two-way conversation. Send them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GhC_By9GMv0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D4A9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BTLI 1 · LESSON 1 · USAD BOOK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11247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Pananalangin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>
                    <a:alpha val="7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"Walang Usap, Walang Usad."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>
                    <a:alpha val="3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MULTIPLY · Disciple-Making · BTLI 1 · L1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>
                    <a:alpha val="3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/ 18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D4A9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PUKAW · AWAKEN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1247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Sino ang pinakagusto</a:t>
            </a:r>
            <a:endParaRPr lang="en-US" sz="6400" dirty="0"/>
          </a:p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mong kausap?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>
                    <a:alpha val="67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Bago tayo magpunta sa Dios — anong tinig ang pinakamamahal mong marinig?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>
                    <a:alpha val="3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PUKAW · 1/3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>
                    <a:alpha val="3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/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D4A9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PUKAW · TANAW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508760" y="1097280"/>
            <a:ext cx="9144000" cy="5143500"/>
          </a:xfrm>
          <a:prstGeom prst="rect">
            <a:avLst/>
          </a:prstGeom>
          <a:solidFill>
            <a:srgbClr val="000000"/>
          </a:solidFill>
          <a:ln w="38100">
            <a:solidFill>
              <a:srgbClr val="D4A9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08760" y="109728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D4A9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▶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508760" y="5303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>
                    <a:alpha val="67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Play YouTube video: GhC_By9GMv0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Grayson Clamp · 3 years old · first time hearing his father's voice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>
                    <a:alpha val="3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PUKAW · 2/3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>
                    <a:alpha val="3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/ 18</a:t>
            </a:r>
            <a:endParaRPr lang="en-US" sz="10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1508760" y="109728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u="sng" dirty="0">
                <a:solidFill>
                  <a:srgbClr val="1E3A5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youtube.com/watch?v=GhC_By9GMv0</a:t>
            </a:r>
            <a:endParaRPr lang="en-US" sz="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B888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REFLECT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941832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38100">
            <a:solidFill>
              <a:srgbClr val="D4A9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82880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800" b="1" dirty="0">
                <a:solidFill>
                  <a:srgbClr val="1A161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 lahat ng tao sa buhay mo,</a:t>
            </a:r>
            <a:endParaRPr lang="en-US" sz="38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3800" b="1" dirty="0">
                <a:solidFill>
                  <a:srgbClr val="1A161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sino ang pinakagusto mong kausap?</a:t>
            </a:r>
            <a:endParaRPr lang="en-US" sz="3800" dirty="0"/>
          </a:p>
          <a:p>
            <a:pPr algn="ctr" indent="0" marL="0">
              <a:spcAft>
                <a:spcPts val="800"/>
              </a:spcAft>
              <a:buNone/>
            </a:pPr>
            <a:endParaRPr lang="en-US" sz="38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3800" b="1" dirty="0">
                <a:solidFill>
                  <a:srgbClr val="1A161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Bakit?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1A1612">
                    <a:alpha val="44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PUKAW · 3/3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612">
                    <a:alpha val="44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/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D4A9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TUKLAS · DISCOVER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Ang puso ng pananalangin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ay ang pakikipagniig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ng ating puso sa Dios.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>
                    <a:alpha val="3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TUKLAS · 1/4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>
                    <a:alpha val="3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D4A9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EQUATION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D4A93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Walang USAP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>
                    <a:alpha val="47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=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Walang USAD.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>
                    <a:alpha val="67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Walang COMMUNICATION, walang COMMUNION.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>
                    <a:alpha val="3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TUKLAS · 2/4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>
                    <a:alpha val="3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B888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 Hesus at ang Pananalangin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61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Anumang sandali — manalangin.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DF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11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8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BUSY DAYS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61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Mark 1:35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A16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"Madaling-araw pa'y bumangon na si Jesus... at doon ay nanalangin siya."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82880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DF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011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8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DECISIONS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9000" y="24688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61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Luke 6:12-13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29000" y="30632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A16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"Magdamag siyang nanalangin... Kinaumagahan, pumili siya ng labindalawa..."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89320" y="182880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DF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2011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8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CRISIS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72200" y="24688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61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John 11:41-42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72200" y="30632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A16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"Tumingala si Jesus sa langit at sinabi, 'Ama, nagpapasalamat ako sa iyo...'"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732520" y="182880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DF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2011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8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DEMANDS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15400" y="24688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61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Mark 6:41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15400" y="30632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A16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"Kinuha ni Jesus ang limang tinapay... tumingala siya sa langit at nagpasalamat."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1A1612">
                    <a:alpha val="44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TUKLAS · 3/4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612">
                    <a:alpha val="44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4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500" kern="0" dirty="0">
                <a:solidFill>
                  <a:srgbClr val="D4A9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CHARACTER ANCHOR · GAL 5:22-23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D4A93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Faithfulness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"Magsipanalangin kayong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walang patid."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500" kern="0" dirty="0">
                <a:solidFill>
                  <a:srgbClr val="D4A9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Thessalonians 5:17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>
                    <a:alpha val="3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TUKLAS · 4/4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>
                    <a:alpha val="3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D4A9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TALAKAY · DISCUSS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1247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Ang 5 Postura ng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Pananalangin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>
                    <a:alpha val="7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Mula sa Lord's Prayer · Luke 11 / Matthew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>
                    <a:alpha val="3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TALAKAY · 1/3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>
                    <a:alpha val="3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 /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B888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Postura · Manalangin tayo ng may...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9418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097280"/>
            <a:ext cx="118872" cy="960120"/>
          </a:xfrm>
          <a:prstGeom prst="rect">
            <a:avLst/>
          </a:prstGeom>
          <a:solidFill>
            <a:srgbClr val="B8882A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11704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88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POSTURE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0" y="142646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6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Paggalang at Pagmamahal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1737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6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"Ama naming nasa langit, sambahin nawa ang iyong pangalan." (v.9)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371600" y="2148840"/>
            <a:ext cx="9418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148840"/>
            <a:ext cx="118872" cy="960120"/>
          </a:xfrm>
          <a:prstGeom prst="rect">
            <a:avLst/>
          </a:prstGeom>
          <a:solidFill>
            <a:srgbClr val="B8882A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2221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88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POSTURE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247802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6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Pagpapakumbaba at Pagpapasakop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45920" y="2788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6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"Masunod nawa ang iyong kalooban..." (v.10)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371600" y="3200400"/>
            <a:ext cx="9418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3200400"/>
            <a:ext cx="118872" cy="960120"/>
          </a:xfrm>
          <a:prstGeom prst="rect">
            <a:avLst/>
          </a:prstGeom>
          <a:solidFill>
            <a:srgbClr val="B8882A"/>
          </a:solidFill>
          <a:ln/>
        </p:spPr>
      </p:sp>
      <p:sp>
        <p:nvSpPr>
          <p:cNvPr id="15" name="Text 13"/>
          <p:cNvSpPr/>
          <p:nvPr/>
        </p:nvSpPr>
        <p:spPr>
          <a:xfrm>
            <a:off x="1645920" y="32735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88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POSTURE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45920" y="352958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6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Pagtitiwala at Pagdepende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45920" y="3840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6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"Bigyan mo kami ng aming pagkain sa araw-araw." (v.11)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371600" y="4251960"/>
            <a:ext cx="9418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4251960"/>
            <a:ext cx="118872" cy="960120"/>
          </a:xfrm>
          <a:prstGeom prst="rect">
            <a:avLst/>
          </a:prstGeom>
          <a:solidFill>
            <a:srgbClr val="B8882A"/>
          </a:solidFill>
          <a:ln/>
        </p:spPr>
      </p:sp>
      <p:sp>
        <p:nvSpPr>
          <p:cNvPr id="20" name="Text 18"/>
          <p:cNvSpPr/>
          <p:nvPr/>
        </p:nvSpPr>
        <p:spPr>
          <a:xfrm>
            <a:off x="1645920" y="43251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88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POSTURE 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458114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6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Paghingi ng Tawad at Pagpapatawad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45920" y="4892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6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"Patawarin mo kami... tulad ng pagpapatawad namin..." (v.12)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371600" y="5303520"/>
            <a:ext cx="9418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71600" y="5303520"/>
            <a:ext cx="118872" cy="960120"/>
          </a:xfrm>
          <a:prstGeom prst="rect">
            <a:avLst/>
          </a:prstGeom>
          <a:solidFill>
            <a:srgbClr val="B8882A"/>
          </a:solidFill>
          <a:ln/>
        </p:spPr>
      </p:sp>
      <p:sp>
        <p:nvSpPr>
          <p:cNvPr id="25" name="Text 23"/>
          <p:cNvSpPr/>
          <p:nvPr/>
        </p:nvSpPr>
        <p:spPr>
          <a:xfrm>
            <a:off x="1645920" y="5376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88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POSTURE 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45920" y="563270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6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Pag-adya sa Tukso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645920" y="5943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6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"Iligtas mo kami sa Masama." (v.13)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1A1612">
                    <a:alpha val="44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TALAKAY · 2/3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612">
                    <a:alpha val="44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B888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DISCUSS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371600" y="1463040"/>
            <a:ext cx="941832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38100">
            <a:solidFill>
              <a:srgbClr val="D4A9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463040"/>
            <a:ext cx="9418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61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"Hindi binabago ng panalangin natin ang Dios.</a:t>
            </a:r>
            <a:endParaRPr lang="en-US" sz="3000" dirty="0"/>
          </a:p>
          <a:p>
            <a:pPr algn="ctr" indent="0" marL="0">
              <a:buNone/>
            </a:pP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A161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Binabago tayo ng Dios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A161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 pamamagitan ng pananalangin."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5A66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Agree o disagree?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1A1612">
                    <a:alpha val="44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TALAKAY · 3/3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612">
                    <a:alpha val="44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D4A9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GAWIN · PRACTICE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· C · T · S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4937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>
                    <a:alpha val="7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Hindi kami uuwi nang hindi nasimulan.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>
                    <a:alpha val="3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GAWIN · 1/3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>
                    <a:alpha val="3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/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B888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ACTS Prayer Journal — gawin natin ngayon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94360" y="1463040"/>
            <a:ext cx="2606040" cy="3931920"/>
          </a:xfrm>
          <a:prstGeom prst="roundRect">
            <a:avLst>
              <a:gd name="adj" fmla="val 5263"/>
            </a:avLst>
          </a:prstGeom>
          <a:solidFill>
            <a:srgbClr val="B888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0020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Adoration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"Sinasamba at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pinupuri kita O Dios..."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19272" y="1463040"/>
            <a:ext cx="2606040" cy="3931920"/>
          </a:xfrm>
          <a:prstGeom prst="roundRect">
            <a:avLst>
              <a:gd name="adj" fmla="val 5263"/>
            </a:avLst>
          </a:prstGeom>
          <a:solidFill>
            <a:srgbClr val="B8882A"/>
          </a:solidFill>
          <a:ln/>
        </p:spPr>
      </p:sp>
      <p:sp>
        <p:nvSpPr>
          <p:cNvPr id="8" name="Text 6"/>
          <p:cNvSpPr/>
          <p:nvPr/>
        </p:nvSpPr>
        <p:spPr>
          <a:xfrm>
            <a:off x="3456432" y="160020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</a:t>
            </a:r>
            <a:endParaRPr lang="en-US" sz="13000" dirty="0"/>
          </a:p>
        </p:txBody>
      </p:sp>
      <p:sp>
        <p:nvSpPr>
          <p:cNvPr id="9" name="Text 7"/>
          <p:cNvSpPr/>
          <p:nvPr/>
        </p:nvSpPr>
        <p:spPr>
          <a:xfrm>
            <a:off x="3456432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Confession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56432" y="37947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"Ama, patawarin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 po ako..."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44184" y="1463040"/>
            <a:ext cx="2606040" cy="3931920"/>
          </a:xfrm>
          <a:prstGeom prst="roundRect">
            <a:avLst>
              <a:gd name="adj" fmla="val 5263"/>
            </a:avLst>
          </a:prstGeom>
          <a:solidFill>
            <a:srgbClr val="B8882A"/>
          </a:solidFill>
          <a:ln/>
        </p:spPr>
      </p:sp>
      <p:sp>
        <p:nvSpPr>
          <p:cNvPr id="12" name="Text 10"/>
          <p:cNvSpPr/>
          <p:nvPr/>
        </p:nvSpPr>
        <p:spPr>
          <a:xfrm>
            <a:off x="6181344" y="160020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</a:t>
            </a:r>
            <a:endParaRPr lang="en-US" sz="13000" dirty="0"/>
          </a:p>
        </p:txBody>
      </p:sp>
      <p:sp>
        <p:nvSpPr>
          <p:cNvPr id="13" name="Text 11"/>
          <p:cNvSpPr/>
          <p:nvPr/>
        </p:nvSpPr>
        <p:spPr>
          <a:xfrm>
            <a:off x="6181344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Thanksgiving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81344" y="37947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"Ama, maraming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salamat po..."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769096" y="1463040"/>
            <a:ext cx="2606040" cy="3931920"/>
          </a:xfrm>
          <a:prstGeom prst="roundRect">
            <a:avLst>
              <a:gd name="adj" fmla="val 5263"/>
            </a:avLst>
          </a:prstGeom>
          <a:solidFill>
            <a:srgbClr val="B8882A"/>
          </a:solidFill>
          <a:ln/>
        </p:spPr>
      </p:sp>
      <p:sp>
        <p:nvSpPr>
          <p:cNvPr id="16" name="Text 14"/>
          <p:cNvSpPr/>
          <p:nvPr/>
        </p:nvSpPr>
        <p:spPr>
          <a:xfrm>
            <a:off x="8906256" y="160020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</a:t>
            </a:r>
            <a:endParaRPr lang="en-US" sz="13000" dirty="0"/>
          </a:p>
        </p:txBody>
      </p:sp>
      <p:sp>
        <p:nvSpPr>
          <p:cNvPr id="17" name="Text 15"/>
          <p:cNvSpPr/>
          <p:nvPr/>
        </p:nvSpPr>
        <p:spPr>
          <a:xfrm>
            <a:off x="8906256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Supplication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06256" y="37947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"Panginoon, nagsusumamo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 ako na..."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66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1.5 min silent writing per letter. Voluntary sharing.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1A1612">
                    <a:alpha val="44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GAWIN · 2/3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612">
                    <a:alpha val="44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4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500" kern="0" dirty="0">
                <a:solidFill>
                  <a:srgbClr val="D4A9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COMPETENCE ANCHOR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1247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ACTS-Anchored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Conversational Prayer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>
                    <a:alpha val="7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Mula sa episodic prayer → sustained 2-way conversation.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>
                    <a:alpha val="3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GAWIN · 3/3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>
                    <a:alpha val="3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B888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DALHIN · CARRY · EOLO BRIDGE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371600" y="1463040"/>
            <a:ext cx="941832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38100">
            <a:solidFill>
              <a:srgbClr val="D4A9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463040"/>
            <a:ext cx="94183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161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Sino sa 3-5 mong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1A161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EOLO names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1A161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ang ipananalangin mo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1A161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ngayong linggo?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A66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Saan sa ACTS sila lulugar — C, T, o 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1A1612">
                    <a:alpha val="44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DALHIN · 1/3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612">
                    <a:alpha val="44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500" kern="0" dirty="0">
                <a:solidFill>
                  <a:srgbClr val="D4A9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DALHIN · 2-WEEK GROUP PRAYER PACT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Anong oras?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Anong platform?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Sino ang point person?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4A9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Itakda ngayon. Bawal sa "GC nalang later."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>
                    <a:alpha val="3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DALHIN · 2/3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>
                    <a:alpha val="3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4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D4A9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MEMORY VERSE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1828800"/>
            <a:ext cx="11612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"Tatawag kayo sa akin,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paroroon kayo at mananalangin sa akin,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at didinggin ko kayo."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600" kern="0" dirty="0">
                <a:solidFill>
                  <a:srgbClr val="D4A9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Jeremiah 29:12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>
                    <a:alpha val="3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DALHIN · 3/3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>
                    <a:alpha val="3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 /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D4A9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HANGGANG SA LESSON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11247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Bible Meditation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>
                    <a:alpha val="7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Nakipag-usap tayo kay God ngayong linggo.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FFFFF">
                    <a:alpha val="7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 susunod, Siya naman ang makikinggan natin.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>
                    <a:alpha val="3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MULTIPLY · Disciple-Making · BTLI 1 · L1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>
                    <a:alpha val="3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 / 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MULTIPLY · Disciple-Making Pipeline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BTLI 1 · Lesson 1 · Pananalangin</dc:title>
  <dc:subject>BTLI 1 Lesson 1</dc:subject>
  <dc:creator>MULTIPLY · Disciple-Making Pipeline</dc:creator>
  <cp:lastModifiedBy>MULTIPLY · Disciple-Making Pipeline</cp:lastModifiedBy>
  <cp:revision>1</cp:revision>
  <dcterms:created xsi:type="dcterms:W3CDTF">2026-05-15T00:31:34Z</dcterms:created>
  <dcterms:modified xsi:type="dcterms:W3CDTF">2026-05-15T00:31:34Z</dcterms:modified>
</cp:coreProperties>
</file>
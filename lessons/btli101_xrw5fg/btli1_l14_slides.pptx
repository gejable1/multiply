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· cover</a:t>
            </a:r>
          </a:p>
          <a:p>
            <a:r>
              <a:rPr lang="en-US" dirty="0"/>
              <a:t>Bukas: noong L13, ang PUSO ng servant-leader — ang Apat na Marka mula sa Philippians 2.</a:t>
            </a:r>
          </a:p>
          <a:p>
            <a:r>
              <a:rPr lang="en-US" dirty="0"/>
              <a:t>Ngayon ang ikalawang kalahati ng arc: ang GILAS — ang mga kasanayan ng servant-leader.</a:t>
            </a:r>
          </a:p>
          <a:p>
            <a:r>
              <a:rPr lang="en-US" dirty="0"/>
              <a:t>Ang gabay natin: si Nehemiah, ang lalaking may pinagsamang puso at gilas.</a:t>
            </a:r>
          </a:p>
          <a:p>
            <a:r>
              <a:rPr lang="en-US" dirty="0"/>
              <a:t>Character anchor ngayon: Openness — Bukas ang Isip — dahil walang gilas na natututunan ng saradong isip.</a:t>
            </a:r>
          </a:p>
          <a:p>
            <a:r>
              <a:rPr lang="en-US" dirty="0"/>
              <a:t>Sabihin nang maaga: ang teachable ay ang T ng FATLESS — faithful, available, TEACHABLE, selfless.</a:t>
            </a:r>
          </a:p>
          <a:p>
            <a:r>
              <a:rPr lang="en-US" dirty="0"/>
              <a:t>Opening prayer bago mag-verse.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2 min (target 00:02)</a:t>
            </a:r>
          </a:p>
          <a:p>
            <a:r>
              <a:rPr lang="en-US" dirty="0"/>
              <a:t>Basahin nang malakas nang dalawang beses — unang basa ikaw, pangalawa sabay-sabay.</a:t>
            </a:r>
          </a:p>
          <a:p>
            <a:r>
              <a:rPr lang="en-US" dirty="0"/>
              <a:t>Ito ang verse na nag-uugnay sa dalawang lesson: ang true heart ay ang L13 (puso), ang skillful hands ay ang L14 (gilas).</a:t>
            </a:r>
          </a:p>
          <a:p>
            <a:r>
              <a:rPr lang="en-US" dirty="0"/>
              <a:t>Si David ang tinutukoy dito — ang pastol na naging hari.</a:t>
            </a:r>
          </a:p>
          <a:p>
            <a:r>
              <a:rPr lang="en-US" dirty="0"/>
              <a:t>Huwag munang i-explain nang mahaba; ang buong lesson ang mag-u-unpack.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1 min (target 00:03)</a:t>
            </a:r>
          </a:p>
          <a:p>
            <a:r>
              <a:rPr lang="en-US" dirty="0"/>
              <a:t>Ito ang pinaka-loaded na look-back sa cycle — dalawang lesson ang inaani.</a:t>
            </a:r>
          </a:p>
          <a:p>
            <a:r>
              <a:rPr lang="en-US" dirty="0"/>
              <a:t>Una, ang L2 30-Day S.O.A.P.S Challenge — ang pangmatagalang pangako ng grupo mula pa noong Bible Meditation lesson.</a:t>
            </a:r>
          </a:p>
          <a:p>
            <a:r>
              <a:rPr lang="en-US" dirty="0"/>
              <a:t>Pangalawa, ang mga iniwan ng L13: ang pitong araw ng Ikaw Muna Bago Ako, ang tatlong practice assignments ng Leading Yourself Module 3, at ang Pangako Ko.</a:t>
            </a:r>
          </a:p>
          <a:p>
            <a:r>
              <a:rPr lang="en-US" dirty="0"/>
              <a:t>Ang tono: pag-ani, hindi paghuhusga — i-celebrate ang bawat natapos, ngitian ang bawat kulang.</a:t>
            </a:r>
          </a:p>
          <a:p>
            <a:r>
              <a:rPr lang="en-US" dirty="0"/>
              <a:t>Ang hindi nakatapos ay follow-up ng discipler sa linggo, hindi public correction 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2 min (target 00:05)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Itaas ang kamay: sino ang umabot ng 20+ days sa S.O.A.P.S? Sino ang kumpleto ang IMBA 7?</a:t>
            </a:r>
          </a:p>
          <a:p>
            <a:r>
              <a:rPr lang="en-US" dirty="0"/>
              <a:t>Humingi ng ISANG konkretong IMBA kuwento — saan mo pinauna ang iba ngayong linggo?</a:t>
            </a:r>
          </a:p>
          <a:p>
            <a:r>
              <a:rPr lang="en-US" dirty="0"/>
              <a:t>Humingi ng ISANG S.O.A.P.S insight na tumatak.</a:t>
            </a:r>
          </a:p>
          <a:p>
            <a:r>
              <a:rPr lang="en-US" dirty="0"/>
              <a:t>Bantayan ang oras — dalawang minuto lang; ang mahahabang kuwento ay pang-LCG.</a:t>
            </a:r>
          </a:p>
          <a:p>
            <a:r>
              <a:rPr lang="en-US" dirty="0"/>
              <a:t>Itala ng interns kung sino ang walang dala — para sa gentle catch-up, hindi pagsabihan.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2 min (target 00:07)</a:t>
            </a:r>
          </a:p>
          <a:p>
            <a:r>
              <a:rPr lang="en-US" dirty="0"/>
              <a:t>Ikuwento nang buo, Chicken Soup style: halos isang siglo na ang nakararaan, isang 22-year-old na bankrupt na cartoonist ang nangutang ng ilang daang dolyar sa kaniyang tiyuhin at kapatid para magtayo ng sariling animation studio.</a:t>
            </a:r>
          </a:p>
          <a:p>
            <a:r>
              <a:rPr lang="en-US" dirty="0"/>
              <a:t>Palpak siya para sa iba at baliw para sa iilan, pero hindi siya nagpatinag at itinuloy lang ang adhikaing nasa kaniyang puso.</a:t>
            </a:r>
          </a:p>
          <a:p>
            <a:r>
              <a:rPr lang="en-US" dirty="0"/>
              <a:t>Matapos ang ilang taon ng pangangarap at pagsusumikap, lumaki nang husto ang maliit niyang studio — ngayon kinikilala itong pinakamalaking media company sa buong mundo na may total assets na 100 billion dollars at 60 billion na kita kada taon.</a:t>
            </a:r>
          </a:p>
          <a:p>
            <a:r>
              <a:rPr lang="en-US" dirty="0"/>
              <a:t>Ang katangi-tanging leader na ito ay walang iba kundi si Walter Elias Disney, founder ng Walt Disney Company.</a:t>
            </a:r>
          </a:p>
          <a:p>
            <a:r>
              <a:rPr lang="en-US" dirty="0"/>
              <a:t>Ang hindi matatawarang innovation mindset niya ang naghihiwalay sa kaniya: hindi siya kuntento sa pwede na at ordinaryo — laging naghahanap ng paraan para mahasa, mapaganda, mapalawak.</a:t>
            </a:r>
          </a:p>
          <a:p>
            <a:r>
              <a:rPr lang="en-US" dirty="0"/>
              <a:t>Patunay: ang kauna-unahang full-length animated film sa kasaysayan, at ang Disneyland — the happiest place on earth.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1 min (target 00:08)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mismo sa UNLAD workbook ang tanong na ito.</a:t>
            </a:r>
          </a:p>
          <a:p>
            <a:r>
              <a:rPr lang="en-US" dirty="0"/>
              <a:t>Hintayin ang sagot na: hindi lang siya ang maiiwan — pati ang mga pinamumunuan niya.</a:t>
            </a:r>
          </a:p>
          <a:p>
            <a:r>
              <a:rPr lang="en-US" dirty="0"/>
              <a:t>Ito ang perpektong tulay sa Big Idea at sa Law of the Lid mamaya.</a:t>
            </a:r>
          </a:p>
          <a:p>
            <a:r>
              <a:rPr lang="en-US" dirty="0"/>
              <a:t>Isang minuto lang — mabilisang popcorn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00:10)</a:t>
            </a:r>
          </a:p>
          <a:p>
            <a:r>
              <a:rPr lang="en-US" dirty="0"/>
              <a:t>Basahin nang dahan-dahan at ipaulit sa grupo.</a:t>
            </a:r>
          </a:p>
          <a:p>
            <a:r>
              <a:rPr lang="en-US" dirty="0"/>
              <a:t>I-unpack: ang puso ang simula — walang gilas na makakapagtakip sa sirang ugali.</a:t>
            </a:r>
          </a:p>
          <a:p>
            <a:r>
              <a:rPr lang="en-US" dirty="0"/>
              <a:t>Pero ang puso lang ay hindi sapat — ang mundo ay nangangailangan ng servant-leaders na parehong may puso AT husay.</a:t>
            </a:r>
          </a:p>
          <a:p>
            <a:r>
              <a:rPr lang="en-US" dirty="0"/>
              <a:t>Ito ang buong thesis ng dalawang-lesson arc.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00:12)</a:t>
            </a:r>
          </a:p>
          <a:p>
            <a:r>
              <a:rPr lang="en-US" dirty="0"/>
              <a:t>Ito ang illustration ng UNLAD mismo — gamitin nang buo.</a:t>
            </a:r>
          </a:p>
          <a:p>
            <a:r>
              <a:rPr lang="en-US" dirty="0"/>
              <a:t>Bago ka pumayag na operahan, gusto mong mabait, maasikaso, at maayos kausap ang doktor.</a:t>
            </a:r>
          </a:p>
          <a:p>
            <a:r>
              <a:rPr lang="en-US" dirty="0"/>
              <a:t>Pero sa mismong operasyon, ang tanong ay hindi na kabaitan — kundi kahusayan ng kamay.</a:t>
            </a:r>
          </a:p>
          <a:p>
            <a:r>
              <a:rPr lang="en-US" dirty="0"/>
              <a:t>Ganiyan din sa ministry: ang mga taong pinaglilingkuran natin ay nangangailangan ng parehong mabait AT mahusay na lingkod.</a:t>
            </a:r>
          </a:p>
          <a:p>
            <a:r>
              <a:rPr lang="en-US" dirty="0"/>
              <a:t>Itanong nang pabiro: sino sa inyo ang papayag sa mabait na surgeon na bagsak sa board exam?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00:14)</a:t>
            </a:r>
          </a:p>
          <a:p>
            <a:r>
              <a:rPr lang="en-US" dirty="0"/>
              <a:t>Sa Psalm 78:70-71 makikita kung paano pinili ng Dios si David na Kaniyang lingkod para maghari sa Israel.</a:t>
            </a:r>
          </a:p>
          <a:p>
            <a:r>
              <a:rPr lang="en-US" dirty="0"/>
              <a:t>Pansinin ang sequence: lingkod muna siya bago napanguna, pastol muna bago hari, mababa muna bago itinaas — kapareho ng omega-daan ni Jesus sa L13.</a:t>
            </a:r>
          </a:p>
          <a:p>
            <a:r>
              <a:rPr lang="en-US" dirty="0"/>
              <a:t>Hindi agad-agad naging mahusay si David — hinubog siya ng Panginoon sa pamamagitan ng iba't ibang karanasan at hamon sa paglipas ng panahon; nag-improve siya habang dine-develop ni Lord.</a:t>
            </a:r>
          </a:p>
          <a:p>
            <a:r>
              <a:rPr lang="en-US" dirty="0"/>
              <a:t>Umasenso ang bansa dahil umunlad ang leader.</a:t>
            </a:r>
          </a:p>
          <a:p>
            <a:r>
              <a:rPr lang="en-US" dirty="0"/>
              <a:t>Ang Law of the Lid ni John Maxwell: ang leader ang lid o takip na maaaring humadlang sa paglago ng mga pinamumunuan niya.</a:t>
            </a:r>
          </a:p>
          <a:p>
            <a:r>
              <a:rPr lang="en-US" dirty="0"/>
              <a:t>Kaya ang pag-improve ng sarili ay hindi pagka-makasarili — paglilingkod ito sa mga taong dadalhin 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00:15)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Margin question ito ng UNLAD workbook.</a:t>
            </a:r>
          </a:p>
          <a:p>
            <a:r>
              <a:rPr lang="en-US" dirty="0"/>
              <a:t>Hintayin ang Law-of-the-Lid na sagot: ang taas ng leader ang taas ng buong grupo.</a:t>
            </a:r>
          </a:p>
          <a:p>
            <a:r>
              <a:rPr lang="en-US" dirty="0"/>
              <a:t>Ikonekta sa church: ang paglago ng ating mga ministry ay nakatali sa paglago ng ating mga lingkod.</a:t>
            </a:r>
          </a:p>
          <a:p>
            <a:r>
              <a:rPr lang="en-US" dirty="0"/>
              <a:t>Isang minuto — mabilisan.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00:17)</a:t>
            </a:r>
          </a:p>
          <a:p>
            <a:r>
              <a:rPr lang="en-US" dirty="0"/>
              <a:t>Si Nehemiah ang isa sa mga best examples pagdating sa usaping puso at gilas.</a:t>
            </a:r>
          </a:p>
          <a:p>
            <a:r>
              <a:rPr lang="en-US" dirty="0"/>
              <a:t>Isa siyang political statesman, engineer, architect, military tactician — at siyempre, servant-leader.</a:t>
            </a:r>
          </a:p>
          <a:p>
            <a:r>
              <a:rPr lang="en-US" dirty="0"/>
              <a:t>Ginamit siya ni Lord para ma-accomplish ang halos imposibleng task ng pag-rebuild sa Walls of Jerusalem, at take note — ginawa niya ito sa gitna ng napakaraming oposisyon, in record time: 52 days.</a:t>
            </a:r>
          </a:p>
          <a:p>
            <a:r>
              <a:rPr lang="en-US" dirty="0"/>
              <a:t>Sabihin: sa susunod na 20 minuto, uusisain natin ang WALONG kasanayan na taglay niya — at hahanapin natin kung alin ang kulang sa atin.</a:t>
            </a:r>
          </a:p>
          <a:p>
            <a:r>
              <a:rPr lang="en-US" dirty="0"/>
              <a:t>May checklist sa participant guide — habang dumadaan tayo, lagyan ng tsek ang malakas sa iyo at ekis ang mahina.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00:19)</a:t>
            </a:r>
          </a:p>
          <a:p>
            <a:r>
              <a:rPr lang="en-US" dirty="0"/>
              <a:t>Basic ito pero sobrang mahalaga — ang isang servant-leader ay marunong dapat mangumusta.</a:t>
            </a:r>
          </a:p>
          <a:p>
            <a:r>
              <a:rPr lang="en-US" dirty="0"/>
              <a:t>Nagmumula ito sa matinding pakielam at malasakit mo para sa iba, lalo na sa mga taong hinahayaan ni Lord na maabot at ma-disciple mo.</a:t>
            </a:r>
          </a:p>
          <a:p>
            <a:r>
              <a:rPr lang="en-US" dirty="0"/>
              <a:t>Konteksto: nasa Susa si Nehemiah — 1,230 kilometro ang layo ng Jerusalem; buwan ng Chislev o Disyembre, matindi ang snow, hindi komportableng tumulong, mas masarap mag-chill.</a:t>
            </a:r>
          </a:p>
          <a:p>
            <a:r>
              <a:rPr lang="en-US" dirty="0"/>
              <a:t>Cup bearer siya ng hari — katumbas ng senior security officer sa palasyo; kahit kamag-anak ay hindi basta makakapasok sa hari.</a:t>
            </a:r>
          </a:p>
          <a:p>
            <a:r>
              <a:rPr lang="en-US" dirty="0"/>
              <a:t>Totoong mataas ang katungkulan niya, pero alam niyang mas mataas ang pananagutan niya sa Dios at sa kapwa.</a:t>
            </a:r>
          </a:p>
          <a:p>
            <a:r>
              <a:rPr lang="en-US" dirty="0"/>
              <a:t>Ang problema natin: e sadsad na expression na lang ang mga salitang Musta na — pero wala namang talagang concern; may mga legit needs na kaya naman nating aksyunan, binabalewala lang natin.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00:20)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Margin question ito ng workbook — huwag i-share agad, pasulatin muna.</a:t>
            </a:r>
          </a:p>
          <a:p>
            <a:r>
              <a:rPr lang="en-US" dirty="0"/>
              <a:t>Kung may 1-2 na gustong magbahagi, payagan — pero huwag pilitin; personal ito.</a:t>
            </a:r>
          </a:p>
          <a:p>
            <a:r>
              <a:rPr lang="en-US" dirty="0"/>
              <a:t>Ikonekta sa EOLO: ang Each One Love One ay nagsisimula sa tunay na pangungumusta.</a:t>
            </a:r>
          </a:p>
          <a:p>
            <a:r>
              <a:rPr lang="en-US" dirty="0"/>
              <a:t>Isang minuto 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00:22)</a:t>
            </a:r>
          </a:p>
          <a:p>
            <a:r>
              <a:rPr lang="en-US" dirty="0"/>
              <a:t>Napakahalagang kasanayan o habitual practice ng isang servant-leader ang pananalangin — balikan ang ating L1.</a:t>
            </a:r>
          </a:p>
          <a:p>
            <a:r>
              <a:rPr lang="en-US" dirty="0"/>
              <a:t>Hindi lang basta pinasan ni Nehemiah ang nararamdamang kabigatan — pinasa niya ito sa Kalangitan.</a:t>
            </a:r>
          </a:p>
          <a:p>
            <a:r>
              <a:rPr lang="en-US" dirty="0"/>
              <a:t>Hindi siya umakto ayon sa silakbo ng damdamin; hinanap niya ang kalooban ng Dios; hindi siya sumusugod nang hindi sumusukob; lumuhod muna bago lumakad.</a:t>
            </a:r>
          </a:p>
          <a:p>
            <a:r>
              <a:rPr lang="en-US" dirty="0"/>
              <a:t>Umasa siya sa walang hanggang katapatan at pag-ibig ng Panginoon, sumuko sa Kaniyang habag at kapatawaran, sumandal sa mga pangako Niyang walang palya.</a:t>
            </a:r>
          </a:p>
          <a:p>
            <a:r>
              <a:rPr lang="en-US" dirty="0"/>
              <a:t>Narinig niya ang bad news sa buwan ng Chislev — Disyembre — pero umakto lang siya pagdating ng Nisan — Abril o Mayo.</a:t>
            </a:r>
          </a:p>
          <a:p>
            <a:r>
              <a:rPr lang="en-US" dirty="0"/>
              <a:t>Apat na buwan ng pananalangin at paghihintay sa Panginoon — hindi niya ni-rush ang kaniyang mga desisyon.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00:24)</a:t>
            </a:r>
          </a:p>
          <a:p>
            <a:r>
              <a:rPr lang="en-US" dirty="0"/>
              <a:t>Malaking parte ang gagampanan ng hari sa rehabilitation ng Jerusalem — at nang magtanong ito, make-or-break ang sandali: Ano ang nais mo? May plano ka na ba? Pinaghandaan mo na ba ito?</a:t>
            </a:r>
          </a:p>
          <a:p>
            <a:r>
              <a:rPr lang="en-US" dirty="0"/>
              <a:t>Ang sagot ni Nehemiah sa Nehemiah 2:6 — I presented him with a prepared plan.</a:t>
            </a:r>
          </a:p>
          <a:p>
            <a:r>
              <a:rPr lang="en-US" dirty="0"/>
              <a:t>Planado, preparado, plantsado — na-impress ang hari kay Nehemiah at ibinigay nito ang lahat ng kakailanganin niya para maisakatuparan ang plano.</a:t>
            </a:r>
          </a:p>
          <a:p>
            <a:r>
              <a:rPr lang="en-US" dirty="0"/>
              <a:t>Ganiyang kumilos ang Panginoon sa buhay ng mga lingkod Niyang handang maghanda.</a:t>
            </a:r>
          </a:p>
          <a:p>
            <a:r>
              <a:rPr lang="en-US" dirty="0"/>
              <a:t>Dalawang quotation na itatanong natin mamaya: If you fail to plan, you plan to fail — Benjamin Franklin; A goal without a plan is just a wish — Antoine de Saint-Exupéry.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sa workbook ang dalawang quotation.</a:t>
            </a:r>
          </a:p>
          <a:p>
            <a:r>
              <a:rPr lang="en-US" dirty="0"/>
              <a:t>Hintayin ang tension: paano pinagsasabay ang pagplano at ang pananampalataya sa leading ng Spirit?</a:t>
            </a:r>
          </a:p>
          <a:p>
            <a:r>
              <a:rPr lang="en-US" dirty="0"/>
              <a:t>Ang sagot ni Nehemiah: apat na buwan ng dasal AT isang prepared plan — hindi magkalaban ang dalawa.</a:t>
            </a:r>
          </a:p>
          <a:p>
            <a:r>
              <a:rPr lang="en-US" dirty="0"/>
              <a:t>Isang minuto 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00:27)</a:t>
            </a:r>
          </a:p>
          <a:p>
            <a:r>
              <a:rPr lang="en-US" dirty="0"/>
              <a:t>Malaking bahagi ng pagiging isang servant-leader ang pagtukoy sa tunay na lagay ng mga bagay-bagay at sa totoong lawak ng mga problemang kinakaharap.</a:t>
            </a:r>
          </a:p>
          <a:p>
            <a:r>
              <a:rPr lang="en-US" dirty="0"/>
              <a:t>Hindi ibinase ni Nehemiah ang evaluation at diagnosis niya sa mga sabi-sabi lang — siya mismo ang nagpunta at nagsuri.</a:t>
            </a:r>
          </a:p>
          <a:p>
            <a:r>
              <a:rPr lang="en-US" dirty="0"/>
              <a:t>Pasikreto ang ginawa niyang inspection para mas accurate ang assessment — hindi niya ito in-expose prematurely para hindi ma-spoil; less talk, less mistake.</a:t>
            </a:r>
          </a:p>
          <a:p>
            <a:r>
              <a:rPr lang="en-US" dirty="0"/>
              <a:t>Nang makita niya ang totoong sira, nalaman niya rin kung paano ito kukumpunihin.</a:t>
            </a:r>
          </a:p>
          <a:p>
            <a:r>
              <a:rPr lang="en-US" dirty="0"/>
              <a:t>Aplikasyon: bago mag-launch ng ministry o solusyon, suriin muna nang personal ang totoong kalagayan — huwag umasa sa ulat-ulat 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00:28)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Margin question ito ng workbook.</a:t>
            </a:r>
          </a:p>
          <a:p>
            <a:r>
              <a:rPr lang="en-US" dirty="0"/>
              <a:t>Hintayin: takot tayong makita ang totoong sira dahil parang kabiguan ito.</a:t>
            </a:r>
          </a:p>
          <a:p>
            <a:r>
              <a:rPr lang="en-US" dirty="0"/>
              <a:t>Tulay pabalik sa L14 character anchor: kailangan ng OPENNESS para tanggapin ang totoong sukat ng problema.</a:t>
            </a:r>
          </a:p>
          <a:p>
            <a:r>
              <a:rPr lang="en-US" dirty="0"/>
              <a:t>Ikonekta rin sa A-E preassessment mamaya — honest self-evaluation ang buong TUGON natin.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00:29)</a:t>
            </a:r>
          </a:p>
          <a:p>
            <a:r>
              <a:rPr lang="en-US" dirty="0"/>
              <a:t>140 years na silang lugmok sa kalagayang iyon — sa tagal ng kanilang pagkakasadlak, nabulag na sila sa kapangitan ng kinalalagyan nila; dumilim na ang kanilang sense of vision.</a:t>
            </a:r>
          </a:p>
          <a:p>
            <a:r>
              <a:rPr lang="en-US" dirty="0"/>
              <a:t>Mahusay na servant-leader si Nehemiah dahil ang pangit at madilim ay ginawa niyang magandang pangitain.</a:t>
            </a:r>
          </a:p>
          <a:p>
            <a:r>
              <a:rPr lang="en-US" dirty="0"/>
              <a:t>Itinuon niya ang paningin nila sa obvious na common vision — ang paghango ng Jerusalem mula sa kahihiyan — at binigyan sila ng specific action step: itayo nating muli ang pader.</a:t>
            </a:r>
          </a:p>
          <a:p>
            <a:r>
              <a:rPr lang="en-US" dirty="0"/>
              <a:t>Hindi niya sinarili ang vision — hinikayat niya ang iba na sumali 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00:30)</a:t>
            </a:r>
          </a:p>
          <a:p>
            <a:r>
              <a:rPr lang="en-US" dirty="0"/>
              <a:t>Walang mangyayari sa isang servant-leader na hindi marunong pumartner — dinesign ni Lord ang gawain para makipagtulungan tayo sa iba tungo sa katuparan ng vision na bigay ni Lord.</a:t>
            </a:r>
          </a:p>
          <a:p>
            <a:r>
              <a:rPr lang="en-US" dirty="0"/>
              <a:t>Kapag binasa mo ang Nehemiah 3, matutuklasan mo na ang mga nagtayo ng Jerusalem wall ay hindi naman mga natural na mason o karpintero.</a:t>
            </a:r>
          </a:p>
          <a:p>
            <a:r>
              <a:rPr lang="en-US" dirty="0"/>
              <a:t>Sila ay mga ordinaryong tao na may iba't ibang trabaho: may mga alahero, perfume-makers, businessmen, singers, priests at noblemen.</a:t>
            </a:r>
          </a:p>
          <a:p>
            <a:r>
              <a:rPr lang="en-US" dirty="0"/>
              <a:t>Nagsimula si Nehemiah sa mga taong sold out sa vision at available para magtrabaho.</a:t>
            </a:r>
          </a:p>
          <a:p>
            <a:r>
              <a:rPr lang="en-US" dirty="0"/>
              <a:t>Huwag solohin ang gawain; pumartner — pero huwag ding basta pumartner: pumartner sa mga tamang tao.</a:t>
            </a:r>
          </a:p>
          <a:p>
            <a:r>
              <a:rPr lang="en-US" dirty="0"/>
              <a:t>Amos 3:3 ang susi — makakalakad ba nang magkasama ang dalawa kung hindi sila magkasundo?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00:32)</a:t>
            </a:r>
          </a:p>
          <a:p>
            <a:r>
              <a:rPr lang="en-US" dirty="0"/>
              <a:t>Normal sa paglilingkod ang pangungutya at pamumuna — sa narinig na oposisyon, ang una niyang ginawa ay nanalangin: Tingnan mo kami, O Diyos, kung paano kami kinukutya — Nehemiah 4:4.</a:t>
            </a:r>
          </a:p>
          <a:p>
            <a:r>
              <a:rPr lang="en-US" dirty="0"/>
              <a:t>Sabi ni Dr. Gavino S. Tica: the greatest compliment to your Christian life is opposition.</a:t>
            </a:r>
          </a:p>
          <a:p>
            <a:r>
              <a:rPr lang="en-US" dirty="0"/>
              <a:t>Paano naging compliment? Kasi ang isang taong lumalakad sa kalooban ng Dios ay kinokontra ng kalaban ng Dios — si Satan; kung may demonic opposition, ibig sabihin tunay kang nasa panig ni God.</a:t>
            </a:r>
          </a:p>
          <a:p>
            <a:r>
              <a:rPr lang="en-US" dirty="0"/>
              <a:t>Nagsanib-pwersa ang mga alagad ng diablo — sina Sanballat, Geshem at Tobiah — para pahintuin ang gawaing sinisimulan: gumamit sila ng panunuya, pananakit at pagbabanta, pero hindi nagpadala sina Nehemiah dito.</a:t>
            </a:r>
          </a:p>
          <a:p>
            <a:r>
              <a:rPr lang="en-US" dirty="0"/>
              <a:t>Ang gusto ng Diablo ay tumigil ka — kaya wag na wag mong tuparin ang kalooban niya.</a:t>
            </a:r>
          </a:p>
          <a:p>
            <a:r>
              <a:rPr lang="en-US" dirty="0"/>
              <a:t>Tandaan: ang pinakamabisang tugon sa oposisyon ay kasipagan — tapusin mo kung ano ang iyong sinimulan.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00:33)</a:t>
            </a:r>
          </a:p>
          <a:p>
            <a:r>
              <a:rPr lang="en-US" dirty="0"/>
              <a:t>Malaking bahagi ng servant-leadership ang pagsaway at pagtatama sa mga taong kailangang maituwid.</a:t>
            </a:r>
          </a:p>
          <a:p>
            <a:r>
              <a:rPr lang="en-US" dirty="0"/>
              <a:t>True love hates — it does not tolerate; sold out ito sa tapikan, hindi sa takipan.</a:t>
            </a:r>
          </a:p>
          <a:p>
            <a:r>
              <a:rPr lang="en-US" dirty="0"/>
              <a:t>Sabi sa 1 Corinthians 13:6, ang tunay na pag-ibig ay hindi natutuwa sa masama — kapag mahal mo, kinapapakielaman mo, hindi hinahayaan sa kalokohan.</a:t>
            </a:r>
          </a:p>
          <a:p>
            <a:r>
              <a:rPr lang="en-US" dirty="0"/>
              <a:t>Nakita ni Nehemiah kung paano abusuhin ng mayayamang Hudyo ang mahihirap nilang kababayan kaya kinailangan niyang harapin ang mga ito nang maayos.</a:t>
            </a:r>
          </a:p>
          <a:p>
            <a:r>
              <a:rPr lang="en-US" dirty="0"/>
              <a:t>Kapag hindi mo dineal nang maayos ang mga gusot na nalaman mo, mas lalong lalala ito at mapipigil pa ang pag-unlad ng gawain.</a:t>
            </a:r>
          </a:p>
          <a:p>
            <a:r>
              <a:rPr lang="en-US" dirty="0"/>
              <a:t>Pangwakas ng walo: hasain ang servant-leadership sa mga kasanayang ito at ituring itong parte ng pagsamba — what you are is God’s gift to you, what you become is your gift to God.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1 min (target 00:34)</a:t>
            </a:r>
          </a:p>
          <a:p>
            <a:r>
              <a:rPr lang="en-US" dirty="0"/>
              <a:t>Parehong rules ng L13 — mabilisang paalala lang.</a:t>
            </a:r>
          </a:p>
          <a:p>
            <a:r>
              <a:rPr lang="en-US" dirty="0"/>
              <a:t>Kung higit sa 8 ang grupo, hatiin sa tables ng 3-4.</a:t>
            </a:r>
          </a:p>
          <a:p>
            <a:r>
              <a:rPr lang="en-US" dirty="0"/>
              <a:t>Ang unang tanong ay ang interact question mismo ng UNLAD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4 min (target 00:38)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interact question ng UNLAD mismo — walang tamang sagot, pero may direksyon.</a:t>
            </a:r>
          </a:p>
          <a:p>
            <a:r>
              <a:rPr lang="en-US" dirty="0"/>
              <a:t>Hayaang mag-away nang magiliw ang table — ito ang pinaka-buhay na tanong ng gabi.</a:t>
            </a:r>
          </a:p>
          <a:p>
            <a:r>
              <a:rPr lang="en-US" dirty="0"/>
              <a:t>Ang landing: hindi ito either-or — ang tunay na servant-leader ay pinagsamang puso at gilas, tulad ni Nehemiah.</a:t>
            </a:r>
          </a:p>
          <a:p>
            <a:r>
              <a:rPr lang="en-US" dirty="0"/>
              <a:t>Kung may nagsabing character ang pipiliin, itanong: hanggang kailan mo kakayanin ang mabait pero palpak?</a:t>
            </a:r>
          </a:p>
          <a:p>
            <a:r>
              <a:rPr lang="en-US" dirty="0"/>
              <a:t>Kung competence, itanong: ano ang mangyayari kapag ginamit ang galing sa maling puso?</a:t>
            </a:r>
          </a:p>
          <a:p>
            <a:r>
              <a:rPr lang="en-US" dirty="0"/>
              <a:t>Apat na minuto — timer hayagan.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4 min (target 00:42)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Balikan ang checklist na tsinekan nila habang dumadaan ang walong kasanayan.</a:t>
            </a:r>
          </a:p>
          <a:p>
            <a:r>
              <a:rPr lang="en-US" dirty="0"/>
              <a:t>Round-robin: isang malakas, isang mahina, isang konkretong halimbawa.</a:t>
            </a:r>
          </a:p>
          <a:p>
            <a:r>
              <a:rPr lang="en-US" dirty="0"/>
              <a:t>Optional na L12 callback: ikonekta ang top gift o strength nila sa pinakamalakas na kasanayan — madalas magkatugma.</a:t>
            </a:r>
          </a:p>
          <a:p>
            <a:r>
              <a:rPr lang="en-US" dirty="0"/>
              <a:t>Interns: itala ang pinakamahinang kasanayan ng bawat miyembro — raw material ito ng hagdan sa TUGON at ng LCG deep-dives.</a:t>
            </a:r>
          </a:p>
          <a:p>
            <a:r>
              <a:rPr lang="en-US" dirty="0"/>
              <a:t>Apat na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3 min (target 00:45)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Margin question ito ng workbook sa Pakiki-Partner.</a:t>
            </a:r>
          </a:p>
          <a:p>
            <a:r>
              <a:rPr lang="en-US" dirty="0"/>
              <a:t>Amos 3:3 — makakalakad ba nang magkasama ang dalawa kung hindi sila magkasundo?</a:t>
            </a:r>
          </a:p>
          <a:p>
            <a:r>
              <a:rPr lang="en-US" dirty="0"/>
              <a:t>Hintayin ang nuance: puwedeng iba ang gifting at style, pero hindi puwedeng iba ang vision.</a:t>
            </a:r>
          </a:p>
          <a:p>
            <a:r>
              <a:rPr lang="en-US" dirty="0"/>
              <a:t>Aplikasyon sa church: bago mag-recruit sa ministry, i-share muna ang vision — ang sold-out sa vision ang unang katangian ng katrabaho ni Nehemiah.</a:t>
            </a:r>
          </a:p>
          <a:p>
            <a:r>
              <a:rPr lang="en-US" dirty="0"/>
              <a:t>Tatlong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3 min (target 00:48)</a:t>
            </a:r>
          </a:p>
          <a:p>
            <a:r>
              <a:rPr lang="en-US" dirty="0"/>
              <a:t>Kinikilala ng maraming tao ang Banaue Rice Terraces sa Ifugao bilang Eight Wonder of the World.</a:t>
            </a:r>
          </a:p>
          <a:p>
            <a:r>
              <a:rPr lang="en-US" dirty="0"/>
              <a:t>Makalaglag-panga ito hindi lang dahil sa angkin nitong ganda kundi dahil sa paraan kung paano ito ginawa — wala pang modern machineries 2,000 hanggang 4,000 years ago, kaya malamang mano-mano lang ang diskarte dito.</a:t>
            </a:r>
          </a:p>
          <a:p>
            <a:r>
              <a:rPr lang="en-US" dirty="0"/>
              <a:t>Hindi natin alam kung ilang daang taon itong trinabaho ng ating mga ninuno, pero mapapatunayan nating sobrang tibay nito.</a:t>
            </a:r>
          </a:p>
          <a:p>
            <a:r>
              <a:rPr lang="en-US" dirty="0"/>
              <a:t>Noong 1990, winasak ng isang bayolenteng lindol ang lahat ng kalsada sa Baguio — pero hindi natinag ang Rice Terraces.</a:t>
            </a:r>
          </a:p>
          <a:p>
            <a:r>
              <a:rPr lang="en-US" dirty="0"/>
              <a:t>Kaya mapapatanong ka na lang talaga: sino kaya ang nakaisip gumawa nito? Paano niya kaya nakumbinsi ang napakaraming trabahador na sobrang worth it na humulma ng palayan sa bundok gamit ang kamay?</a:t>
            </a:r>
          </a:p>
          <a:p>
            <a:r>
              <a:rPr lang="en-US" dirty="0"/>
              <a:t>Hindi man natin malaman ang pangalan niya, pero for sure, mayroong isang mala-Nehemiah na servant-leader na nanguna sa project na ito.</a:t>
            </a:r>
          </a:p>
          <a:p>
            <a:r>
              <a:rPr lang="en-US" dirty="0"/>
              <a:t>Tulay sa challenge: ngayon, gagawa tayo ng sarili nating hagdan — hindi sa bundok, kundi sa sariling paglago.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4 min (target 00:52)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CHALLENGE mismo ng UNLAD workbook: balikan ang walong kasanayan ni Nehemiah, pumili ng top 4 na dapat i-develop personally, at isulat sa mga steps ng hagdan.</a:t>
            </a:r>
          </a:p>
          <a:p>
            <a:r>
              <a:rPr lang="en-US" dirty="0"/>
              <a:t>Sa bawat baitang: ang kasanayan at isang specific action na puwedeng magawa ngayong week para ma-improve ito.</a:t>
            </a:r>
          </a:p>
          <a:p>
            <a:r>
              <a:rPr lang="en-US" dirty="0"/>
              <a:t>Ang pinakamababang baitang ang unang aakyatin — doon ilagay ang pinaka-urgent.</a:t>
            </a:r>
          </a:p>
          <a:p>
            <a:r>
              <a:rPr lang="en-US" dirty="0"/>
              <a:t>Guard the silence — ito ang pinaka-personal na sandali ng gabi.</a:t>
            </a:r>
          </a:p>
          <a:p>
            <a:r>
              <a:rPr lang="en-US" dirty="0"/>
              <a:t>Interns: obserbahan kung sino ang hindi nakakapagsulat — gentle check-in pagkatapos, hindi pagsabihan.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3 min (target 00:55)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Limang proficiencies ng Leading Yourself Module 4, verbatim sa participant guide: regular self-reflection, seeking constructive feedback, asking questions, active listening, at daily reading.</a:t>
            </a:r>
          </a:p>
          <a:p>
            <a:r>
              <a:rPr lang="en-US" dirty="0"/>
              <a:t>Parehong mekanismo ng L13: honest self-grade, walang tama o mali, ire-retake bilang post-assessment pagkatapos ng module.</a:t>
            </a:r>
          </a:p>
          <a:p>
            <a:r>
              <a:rPr lang="en-US" dirty="0"/>
              <a:t>Ikonekta sa Kasanayan 4 kanina: ang honest evaluation ay nagsisimula sa sarili.</a:t>
            </a:r>
          </a:p>
          <a:p>
            <a:r>
              <a:rPr lang="en-US" dirty="0"/>
              <a:t>Ito rin ang openness sa praktika — ang saradong isip ay hindi makakapag-grade ng E sa sarili.</a:t>
            </a:r>
          </a:p>
          <a:p>
            <a:r>
              <a:rPr lang="en-US" dirty="0"/>
              <a:t>Tatlong minuto — tahimik pa 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2 min (target 00:57)</a:t>
            </a:r>
          </a:p>
          <a:p>
            <a:r>
              <a:rPr lang="en-US" dirty="0"/>
              <a:t>Tatlong practice assignments ng Leading Yourself Module 4 — lahat tungkol sa teachability sa praktika.</a:t>
            </a:r>
          </a:p>
          <a:p>
            <a:r>
              <a:rPr lang="en-US" dirty="0"/>
              <a:t>Una: identify a colleague whose skills you admire — ask them for feedback on your performance in a specific area and implement their suggestions.</a:t>
            </a:r>
          </a:p>
          <a:p>
            <a:r>
              <a:rPr lang="en-US" dirty="0"/>
              <a:t>Pangalawa: read something every day — dedicate ten minutes each day to reading a book on personal development or a subject that interests you, at i-share ang isang insight sa isang kaibigan o kapamilya; may 7-day reading tracker sa participant guide.</a:t>
            </a:r>
          </a:p>
          <a:p>
            <a:r>
              <a:rPr lang="en-US" dirty="0"/>
              <a:t>Pangatlo: during your next volunteer meeting, ask a leader or fellow volunteer for feedback on how you can improve your contributions — act on their advice and monitor your progress.</a:t>
            </a:r>
          </a:p>
          <a:p>
            <a:r>
              <a:rPr lang="en-US" dirty="0"/>
              <a:t>Idagdag ang hagdan actions — ang apat na specific actions na isinulat sa TUGON ay bahagi rin ng linggong ito.</a:t>
            </a:r>
          </a:p>
          <a:p>
            <a:r>
              <a:rPr lang="en-US" dirty="0"/>
              <a:t>Sabihin nang malinaw: ang mga ito ang unang babalikan ng L15 look-back.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2 min (target 00:59)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Pangako Ko — ang personal commitment ng L14.</a:t>
            </a:r>
          </a:p>
          <a:p>
            <a:r>
              <a:rPr lang="en-US" dirty="0"/>
              <a:t>Pamantayan ng konkreto: mag-i-improve ako — hindi pwede; sisimulan ko ang unang baitang ng hagdan ko sa Lunes at hihingi ako ng feedback kay Ate Grace sa Miyerkules — pwede.</a:t>
            </a:r>
          </a:p>
          <a:p>
            <a:r>
              <a:rPr lang="en-US" dirty="0"/>
              <a:t>Ang pangako ay nakatali sa hagdan at sa tatlong assignments — isang kilos na kayang tuparin sa loob ng pitong araw.</a:t>
            </a:r>
          </a:p>
          <a:p>
            <a:r>
              <a:rPr lang="en-US" dirty="0"/>
              <a:t>Hindi ito iko-collect — pero itatanong ito ng discipler at ng L15 look-back.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1 min (target 01:00)</a:t>
            </a:r>
          </a:p>
          <a:p>
            <a:r>
              <a:rPr lang="en-US" dirty="0"/>
              <a:t>End snapshot: balikan ang Disney question — anong isang bagay ang hindi mo na hahayaang manatili sa pwede na?</a:t>
            </a:r>
          </a:p>
          <a:p>
            <a:r>
              <a:rPr lang="en-US" dirty="0"/>
              <a:t>Preview ng L15: Identifying Needs — ang unang hakbang ng paglilingkod sa iba ay ang pagkapansin sa kanilang tunay na pangangailangan, gaya ng pakielam ni Nehemiah.</a:t>
            </a:r>
          </a:p>
          <a:p>
            <a:r>
              <a:rPr lang="en-US" dirty="0"/>
              <a:t>Paalala: dalhin sa L15 ang hagdan, ang 7-day reading tracker, ang tatlong assignments, at ang Pangako Ko — iyon ang unang tatanungin.</a:t>
            </a:r>
          </a:p>
          <a:p>
            <a:r>
              <a:rPr lang="en-US" dirty="0"/>
              <a:t>Isang maikling closing prayer — hilingin ang true heart at skillful hands, Psalm 78:72.</a:t>
            </a:r>
          </a:p>
          <a:p>
            <a:r>
              <a:rPr lang="en-US" dirty="0"/>
              <a:t>Tapos ang 60 minuto — landing sa 01:00.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MULTIPLY · DISCIPLE-MAKING PIPELINE · BTLI 1 · LESSON 14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107259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Gilas ng Servant-Leader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Learning Servant-Leadership (Pt. 2)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34340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“Matuwid na namahala, namalakad nang mahusay; lubos silang kinalinga sa tulong niya at patnubay.” — Psalm 78:72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578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🌿 Openness · Bukas ang Isip · ⚡ Teachability + Walong Kasanayan (LY Module 4)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60-min lesson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/ 32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991356" y="548640"/>
            <a:ext cx="42062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991356" y="548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TALATA NG MEMORYA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“Matuwid na namahala, namalakad nang mahusay; lubos silang kinalinga sa tulong niya at patnubay.”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99232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Psalm 78:72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26612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NLT: “He cared for them with a true heart and led them with skillful hands.”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83684"/>
            <a:ext cx="10725912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True heart + skillful hands — puso at gilas. Ito ang memory verse ng L13–L14 cycle.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32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991356" y="548640"/>
            <a:ext cx="42062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991356" y="548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BALIKAN · L2 AT L13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37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Dalawang Ani ang Kokolektahin Natin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9512"/>
            <a:ext cx="10725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① L2 · 30-Day S.O.A.P.S Challenge — “Sa susunod na 30 araw, babasahin ko ang Salita at magsusulat ng S.O.A.P.S journal araw-araw...” (Awit 1:2)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16248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② L13 · I.M.B.A. 7-day log · tatlong LY-3 assignments · Pangako Ko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73320"/>
            <a:ext cx="10725912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Kumusta ang mga pangako? Collection ito, hindi correction.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⌛00:03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32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PUKAW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Kumusta ang 30-Day S.O.A.P.S mo — at ang pitong araw ng I.M.B.A.? Anong isang kuwento ang dala mo?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sasagot bawat isa — isang IMBA moment o isang S.O.A.P.S na tumatak.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548640"/>
            <a:ext cx="23774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905756" y="548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TANAW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Bankrupt na Cartoonist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0072"/>
            <a:ext cx="10725912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 anyos, bagsak ang negosyo, umutang ng ilang daang dolyar sa tiyuhin at kapatid para magtayo ng maliit na animation studio.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06724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Palpak para sa iba, baliw para sa iilan — pero hindi nagpatinag.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2374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Ngayon: pinakamalaking media company sa mundo — si Walter Elias Disney.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32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PUKAW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Gaano kahalaga ang constant improvement para sa isang servant-leader? Ano ang mangyayari kapag tumigil na siyang mag-improve?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sa participant guide — 1-2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⌛00:08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814316" y="548640"/>
            <a:ext cx="256032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14316" y="548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BIG IDEA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209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“Ang paglilingkod at pamumuno ay nagsisimula sa tamang ugali at puso, pero lumalago ito sa pamamagitan ng pagpapayabong ng husay at talino.”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18840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Nagsisimula sa PUSO (L13) — lumalago sa GILAS (L14).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32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539996" y="548640"/>
            <a:ext cx="310896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39996" y="548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PUSO O GILAS?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Mabait na Surgeon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0072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Kapag magpapa-opera ka, malaking kagaanan ng loob na MABAIT ang doktor mo.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17088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Pero kapag nasa operating table ka na — dapat MAHUSAY ang surgeon mo. Hindi sapat na mabait lang siya.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34104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lang puro puso — dapat may gilas. Hindi lang character — dapat may competence.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32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448556" y="548640"/>
            <a:ext cx="32918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48556" y="548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PSALM 78:70-72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Pastol Muna Bago Hari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0072"/>
            <a:ext cx="10725912" cy="11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David: lingkod muna bago nanguna, pastol muna bago hari, mababa muna bago itinaas — at hinubog ng Panginoon sa karanasan at hamon.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61766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John Maxwell, Law of the Lid: “Hinding-hindi malalagpasan ng mga nasasakupan ang kakayahang manguna ng namumuno.”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18838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mo madadala ang mga tao sa lebel na hindi mo pa nararating.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32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5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Bakit mahalaga ang leadership skill sa success ng isang grupo o organization?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sa participant guide bago i-share — 2-3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⌛00:15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722876" y="548640"/>
            <a:ext cx="27432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22876" y="548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NEHEMIAH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Pinagsamang Puso at Gilas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001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Political statesman · engineer · architect · military tactician · at higit sa lahat — servant-leader.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77032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halos imposibleng misyon: i-rebuild ang Walls of Jerusalem sa gitna ng napakaraming oposisyon.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94048"/>
            <a:ext cx="10725912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Natapos in record time — 52 DAYS.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32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991356" y="548640"/>
            <a:ext cx="42062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991356" y="548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 1 · PAKIELAM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Hindi Lang “Musta Na?”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0072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“Kinumusta ko sila tungkol sa Jerusalem at sa mga Judiong nagbalik...” — Nehemiah 1:2-3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57144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1,230 km ang layo, Disyembre at matindi ang snow, sobrang busy sa palasyo — pero naglaan siya ng oras magtanong at makinig.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14216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“Musta na?” natin ay madalas expression na lang — walang tunay na concern.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32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yung huling tao na nakumusta mo talaga at napakinggan ang saloobin? Nagawa mo ba siyang tulungan?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sa participant guide — tahimik na sandali ito.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625596" y="548640"/>
            <a:ext cx="493776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25596" y="548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 2 · PANANALANGIN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Hindi Lang Pinasan — Pinasa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0072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“Naupo ako at napaiyak... nagdalamhati at nag-ayuno. Nanalangin ako sa Diyos ng kalangitan.” — Nehemiah 1:4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57144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Lumuhod muna bago lumakad. Hindi umakto sa silakbo ng damdamin.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7416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Bad news noong Disyembre — kumilos lang noong Abril. Apat na buwan ng pananalangin at paghihintay.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⌛00:22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32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808476" y="548640"/>
            <a:ext cx="45720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08476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 3 · PAGPAPLANO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Planado. Preparado. Plantsado.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194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“The king thought it was a good idea to send me, so I PRESENTED HIM WITH A PREPARED PLAN.” — Nehemiah 2:6 (ISV)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76472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Nang tanungin ng hari — handa na ang sagot. Na-impress ang hari at ibinigay ang LAHAT ng kakailanganin.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733544"/>
            <a:ext cx="10725912" cy="74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mga nakahandang pagpapala ng Dios ay nakalaan para sa mga taong nakahandang pagpalain.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⌛00:24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/ 32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fail to plan, you plan to fail.” · “A goal without a plan is just a wish.” — Naniniwala ka ba? Bakit?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at Saint-Exupéry — isulat muna, 1-2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808476" y="548640"/>
            <a:ext cx="45720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08476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 4 · PAGSUSURI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Siya Mismo ang Nagpunta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0072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“Sinuri kong mabuti ang giba-gibang pader ng Jerusalem at ang mga nasunog nitong pintuan...” — Nehemiah 2:13,15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57144"/>
            <a:ext cx="10725912" cy="8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ibinase sa sabi-sabi — pasikretong inspection para sa tunay na lawak ng problema.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44188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Less talk, less mistake. Nang makita ang totoong sira, nalaman kung paano kukumpunihin.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⌛00:27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 / 32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Bakit madalas hirap tayong magkaroon ng honest evaluation lalo sa mga bagay na personal sa atin — ugali, relasyon, ministry?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sa participant guide — 2-3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899916" y="548640"/>
            <a:ext cx="438912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99916" y="548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 5 · PANGITAIN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4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Pangit, Ginawang Pangitain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701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“Itayo nating muli ang pader ng lunsod upang mahango na tayo sa kahihiyan.” — Nehemiah 2:17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27172"/>
            <a:ext cx="10725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140 taon silang lugmok — nabulag na sa kapangitan ng kinalalagyan. Ibinalik niya ang paningin: “Heto tayo ngayon, pero puwede tayong maging ganito bukas.”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908"/>
            <a:ext cx="10725912" cy="74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Malinaw na vision + specific action step — at hindi niya ito sinarili.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 / 32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534156" y="548640"/>
            <a:ext cx="51206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534156" y="548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 6 · PAKIKI-PARTNER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433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Hindi Mason ang Nagtayo ng Pader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59456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“‘Kung gayon, simulan na natin ang pagtatayo,’ ang sagot nila.” — Nehemiah 2:18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16528"/>
            <a:ext cx="10725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Nehemiah 3: mga alahero, perfume-makers, businessmen, singers, priests, noblemen — ordinaryong tao na sold out sa vision at available.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033264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Huwag solohin. Pumartner — pero sa tamang tao. (Amos 3:3)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⌛00:30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/ 32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899916" y="548640"/>
            <a:ext cx="438912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99916" y="548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 7 · OPOSISYON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Papuri ng Kalaban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30044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i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“The greatest compliment to your Christian life is opposition.” — Dr. Gavino S. Tica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47060"/>
            <a:ext cx="10725912" cy="8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Sina Sanballat, Geshem at Tobiah: panunuya, pananakit, pagbabanta — pero hindi nagpadala si Nehemiah.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34104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pinakamabisang tugon sa oposisyon ay KASIPAGAN — tapusin mo ang sinimulan mo.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⌛00:32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 / 32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991356" y="548640"/>
            <a:ext cx="42062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991356" y="548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 8 · PAGSAWAY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4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Tapikan, Hindi Takipan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70100"/>
            <a:ext cx="10725912" cy="74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“Labis akong nagalit nang marinig ko ang mga reklamong ito. Nagpasya akong harapin sila...” — Nehemiah 5:6-7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97200"/>
            <a:ext cx="10725912" cy="1088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True love hates... it does not tolerate. Ang tunay na pag-ibig ay hindi natutuwa sa masama (1 Cor 13:6) — kapag mahal, kinapapakielaman.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68978"/>
            <a:ext cx="10725912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i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“What you are is God’s gift to you; what you become is your gift to God.” — Hans Urs von Balthasar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⌛00:33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 / 32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448556" y="548640"/>
            <a:ext cx="32918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48556" y="548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TALAKAY · 12 MIN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1F453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Safe-Space Sharing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001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rules: no fixing · no comparison · no preaching · confidential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77032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I-share ang mga personal na sagot sa TANAW at TUKLAS portion.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⌛00:34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 / 32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Kanino ka mas willing sumunod — sa leader na lagpak ang character pero sobrang competent, o sa lagpak ang competence pero maganda ang character? Bakit?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— round-robin, isang minuto bawat isa.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 · ⌛00:38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walong kasanayan ni Nehemiah — alin ang pinakamalakas mo? Alin ang pinakamahina? Saan ito nakikita sa buhay mo ngayon?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Gamitin ang checklist sa participant guide — totoo lang, walang husga.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 · ⌛00:42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5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lang bang pumartner sa isang taong hindi kapareho ng vision? Bakit?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Basahin muna ang Amos 3:3 — 2-3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⌛00:45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539996" y="548640"/>
            <a:ext cx="310896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39996" y="548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TUGON · 10 MIN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D4A85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Hagdan sa Bundok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0016"/>
            <a:ext cx="10725912" cy="11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Banaue Rice Terraces — Eight Wonder of the World. Walang makinarya 2,000–4,000 taon na ang nakalipas — malamang mano-mano lang.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1710"/>
            <a:ext cx="10725912" cy="8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1990: winasak ng lindol ang mga kalsada sa Baguio — pero hindi natinag ang Rice Terraces.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08754"/>
            <a:ext cx="10725912" cy="8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 isang mala-Nehemiah na servant-leader na nanguna sa project na ito.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⌛00:48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 / 32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TUGON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Hagdan Challenge: pumili ng TOP 4 kasanayan na dapat mong i-develop — isulat sa apat na baitang, at isang specific action ngayong linggo para sa bawat isa.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writing sa participant guide — apat na minuto, may hagdan doon.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 · ⌛00:52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TUGON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Teachability Preassessment — bigyan ang sarili ng grade na A, B, C, D o E sa limang proficiencies sa participant guide.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model para sa iba · E = wala pang mastery. Para sa sarili — hindi ito iko-collect.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⌛00:55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265676" y="548640"/>
            <a:ext cx="36576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65676" y="548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TAKDANG-ARALIN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Tatlong Practice Assignments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40128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Lapitan ang isang colleague na hinahangaan mo ang skills — humingi ng feedback sa isang specific area at i-implement.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972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Magbasa ng 10 minuto araw-araw — at i-share ang isang insight sa kaibigan o pamilya. May 7-day tracker sa guide.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54272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Sa susunod na ministry meeting, humingi ng feedback sa isang leader o kapwa volunteer — aksyunan at i-monitor.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⌛00:57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/ 32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DALHIN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“Dahil nais kong lumago ang aking gilas bilang lingkod, nangangako ako na ngayong linggo ay...” — tapusin at isulat.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writing. Konkreto. Hindi vague. Nakasulat.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⌛00:59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808476" y="548640"/>
            <a:ext cx="45720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08476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L15 PREVIEW · SUSUNOD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37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Identifying Needs — Pagsisimula ng Leading Others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9512"/>
            <a:ext cx="10725912" cy="1733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Tapos na ang Leading Yourself arc ng puso at gilas — sa L15, matututo tayong TUMINGIN SA IBA: ang pagkilala sa mga pangangailangan ng mga taong ipinagkatiwala sa atin.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615688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“A student who is fully trained will be like his teacher.” — Luke 6:40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⌛01:00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32 / 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2026-09-22T14:18:54Z</dcterms:created>
  <dcterms:modified xsi:type="dcterms:W3CDTF">2026-09-22T14:18:54Z</dcterms:modified>
</cp:coreProperties>
</file>
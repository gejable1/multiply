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· cover</a:t>
            </a:r>
          </a:p>
          <a:p>
            <a:r>
              <a:rPr lang="en-US" dirty="0"/>
              <a:t>Arc ng Leading Others: L13 ang puso, L14 ang gilas, L15 ang mata — at ngayong gabi, L16, ang salamin.</a:t>
            </a:r>
          </a:p>
          <a:p>
            <a:r>
              <a:rPr lang="en-US" dirty="0"/>
              <a:t>Noong L15, natuto tayong tumingin sa pangangailangan ng iba.</a:t>
            </a:r>
          </a:p>
          <a:p>
            <a:r>
              <a:rPr lang="en-US" dirty="0"/>
              <a:t>Ngayong gabi, titingnan natin ang kabaligtaran: ano ang nakikita ng iba kapag tumitingin sila sa atin?</a:t>
            </a:r>
          </a:p>
          <a:p>
            <a:r>
              <a:rPr lang="en-US" dirty="0"/>
              <a:t>Character anchor: Goodness o Kabutihan — ang kabutihang nakikita ng iba, at ang honor na ibinibigay natin sa bawat tao.</a:t>
            </a:r>
          </a:p>
          <a:p>
            <a:r>
              <a:rPr lang="en-US" dirty="0"/>
              <a:t>Competence anchor: Developing Influence — mula sa Leading Yourself ni Mac Lake, Module 6.</a:t>
            </a:r>
          </a:p>
          <a:p>
            <a:r>
              <a:rPr lang="en-US" dirty="0"/>
              <a:t>Ang tanong ng lesson: Paano ako mabubuhay na katulad ni Cristo?</a:t>
            </a:r>
          </a:p>
          <a:p>
            <a:r>
              <a:rPr lang="en-US" dirty="0"/>
              <a:t>Opening prayer bago mag-verse.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PUKAW · 2 min (target 00:02)</a:t>
            </a:r>
          </a:p>
          <a:p>
            <a:r>
              <a:rPr lang="en-US" dirty="0"/>
              <a:t>Basahin nang malakas nang dalawang beses — unang basa ikaw, pangalawa sabay-sabay.</a:t>
            </a:r>
          </a:p>
          <a:p>
            <a:r>
              <a:rPr lang="en-US" dirty="0"/>
              <a:t>Pansinin ang matapang na pahayag ni Paul: Tularan ninyo ako.</a:t>
            </a:r>
          </a:p>
          <a:p>
            <a:r>
              <a:rPr lang="en-US" dirty="0"/>
              <a:t>Hindi niya sinabing perpekto siya — sinabi niyang tumutulad siya kay Cristo, kaya ligtas siyang tularan.</a:t>
            </a:r>
          </a:p>
          <a:p>
            <a:r>
              <a:rPr lang="en-US" dirty="0"/>
              <a:t>Ito ang kadena ng discipleship: si Cristo, si Paul, ang mga taga-Corinto, at ang mga susunod sa kanila.</a:t>
            </a:r>
          </a:p>
          <a:p>
            <a:r>
              <a:rPr lang="en-US" dirty="0"/>
              <a:t>Huwag munang i-explain nang mahaba; babalikan natin ito sa dulo.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PUKAW · 1 min (target 00:03)</a:t>
            </a:r>
          </a:p>
          <a:p>
            <a:r>
              <a:rPr lang="en-US" dirty="0"/>
              <a:t>Ito ang mga iniwan ng L15 na unang babalikan ngayong gabi.</a:t>
            </a:r>
          </a:p>
          <a:p>
            <a:r>
              <a:rPr lang="en-US" dirty="0"/>
              <a:t>Una, Ang Pangalawang Tanong: sa tatlong tao, pagkatapos ng Kumusta, isang mas malalim na tanong — at nakinig nang hindi nagfi-fix.</a:t>
            </a:r>
          </a:p>
          <a:p>
            <a:r>
              <a:rPr lang="en-US" dirty="0"/>
              <a:t>Pangalawa, Ang Limang Tinapay: isang specific na pangangailangan mula sa Galatians Circles, tinugunan gamit ang kung ano'ng nasa kamay.</a:t>
            </a:r>
          </a:p>
          <a:p>
            <a:r>
              <a:rPr lang="en-US" dirty="0"/>
              <a:t>Pangatlo, ang 7-Day Needs Walk: isang linya bawat araw ng napansing pangangailangan, lantad man o tago.</a:t>
            </a:r>
          </a:p>
          <a:p>
            <a:r>
              <a:rPr lang="en-US" dirty="0"/>
              <a:t>Basahin nang malakas ang Pangako Ko ng L15: Dahil nais kong makita ang tunay na pangangailangan ng iba gaya ng pagtingin ni Jesus, nangangako ako na ngayong linggo ay...</a:t>
            </a:r>
          </a:p>
          <a:p>
            <a:r>
              <a:rPr lang="en-US" dirty="0"/>
              <a:t>Ang tono: pag-ani, hindi paghuhusga — i-celebrate ang bawat natapos, ngitian ang bawat kulang.</a:t>
            </a:r>
          </a:p>
          <a:p>
            <a:r>
              <a:rPr lang="en-US" dirty="0"/>
              <a:t>Tulay: noong L15, tinitigan natin ang iba; ngayong gabi, tayo naman ang titigan.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PUKAW · 2 min (target 00:05)</a:t>
            </a:r>
          </a:p>
          <a:p>
            <a:r>
              <a:rPr lang="en-US" dirty="0"/>
              <a:t>PARTICIPANT GUIDE QUESTION.</a:t>
            </a:r>
          </a:p>
          <a:p>
            <a:r>
              <a:rPr lang="en-US" dirty="0"/>
              <a:t>Itaas ang kamay: sino ang nakatapos ng kahit tatlong araw ng Needs Walk?</a:t>
            </a:r>
          </a:p>
          <a:p>
            <a:r>
              <a:rPr lang="en-US" dirty="0"/>
              <a:t>Sino ang kumpleto ang pitong araw?</a:t>
            </a:r>
          </a:p>
          <a:p>
            <a:r>
              <a:rPr lang="en-US" dirty="0"/>
              <a:t>Humingi ng ISANG kuwento ng Pangalawang Tanong — ano ang natuklasan nang makinig nang hindi nagfi-fix?</a:t>
            </a:r>
          </a:p>
          <a:p>
            <a:r>
              <a:rPr lang="en-US" dirty="0"/>
              <a:t>Humingi ng ISANG kuwento ng Limang Tinapay — ano ang nasa kamay, at ano ang ginawa ng Dios dito?</a:t>
            </a:r>
          </a:p>
          <a:p>
            <a:r>
              <a:rPr lang="en-US" dirty="0"/>
              <a:t>Bantayan ang oras — dalawang minuto lang; ang mahahabang kuwento ay pang-LCG.</a:t>
            </a:r>
          </a:p>
          <a:p>
            <a:r>
              <a:rPr lang="en-US" dirty="0"/>
              <a:t>Itala ng interns kung sino ang walang dala — para sa gentle catch-up, hindi pagsabihan.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PUKAW · 2 min (target 00:07)</a:t>
            </a:r>
          </a:p>
          <a:p>
            <a:r>
              <a:rPr lang="en-US" dirty="0"/>
              <a:t>KUWENTO — Ang Lalaking Nagtayo ng Church of Satan (basahin nang buo, Chicken Soup style).</a:t>
            </a:r>
          </a:p>
          <a:p>
            <a:r>
              <a:rPr lang="en-US" dirty="0"/>
              <a:t>Kinatatakutan ng maraming tao ang pangalang Anton Szandor LaVey.</a:t>
            </a:r>
          </a:p>
          <a:p>
            <a:r>
              <a:rPr lang="en-US" dirty="0"/>
              <a:t>Siya ang founder ng Church of Satan.</a:t>
            </a:r>
          </a:p>
          <a:p>
            <a:r>
              <a:rPr lang="en-US" dirty="0"/>
              <a:t>Iugnay mo ba naman ang pangalan mo kay Satan — e kakatakutan ka talaga.</a:t>
            </a:r>
          </a:p>
          <a:p>
            <a:r>
              <a:rPr lang="en-US" dirty="0"/>
              <a:t>Pero may detalye sa biography niya na hindi natin inaasahan.</a:t>
            </a:r>
          </a:p>
          <a:p>
            <a:r>
              <a:rPr lang="en-US" dirty="0"/>
              <a:t>Ayon dito, nagsimula siyang ma-hook sa occult at dark arts dahil mismo sa mga Kristyano.</a:t>
            </a:r>
          </a:p>
          <a:p>
            <a:r>
              <a:rPr lang="en-US" dirty="0"/>
              <a:t>Bata pa lang si LaVey, outcast na talaga siya.</a:t>
            </a:r>
          </a:p>
          <a:p>
            <a:r>
              <a:rPr lang="en-US" dirty="0"/>
              <a:t>May isang pagkakataon na sinaksak siya sa mukha ng kaklase niya.</a:t>
            </a:r>
          </a:p>
          <a:p>
            <a:r>
              <a:rPr lang="en-US" dirty="0"/>
              <a:t>Huminto siya sa high school, at lumayas sa bahay para sumama sa isang circus group.</a:t>
            </a:r>
          </a:p>
          <a:p>
            <a:r>
              <a:rPr lang="en-US" dirty="0"/>
              <a:t>Noong una, nagtrabaho siya bilang manual labourer at taga-alaga ng mga leon at tigre.</a:t>
            </a:r>
          </a:p>
          <a:p>
            <a:r>
              <a:rPr lang="en-US" dirty="0"/>
              <a:t>Dahil hasang-hasa siya sa pagtugtog ng piano mula pagkabata, ginawa niyang full-time career ang pagiging nightclub organist — kasabay ng pagiging isang psychic.</a:t>
            </a:r>
          </a:p>
          <a:p>
            <a:r>
              <a:rPr lang="en-US" dirty="0"/>
              <a:t>At doon, sa likod ng organ, may napansin siya.</a:t>
            </a:r>
          </a:p>
          <a:p>
            <a:r>
              <a:rPr lang="en-US" dirty="0"/>
              <a:t>Ang mga kalalakihang umaattend sa bulgar at bastos na nightclub shows tuwing Sabado ng gabi...</a:t>
            </a:r>
          </a:p>
          <a:p>
            <a:r>
              <a:rPr lang="en-US" dirty="0"/>
              <a:t>...ay ang parehong mga kalalakihang posturang-postura na umaattend sa worship gatherings kapag Linggo ng umaga.</a:t>
            </a:r>
          </a:p>
          <a:p>
            <a:r>
              <a:rPr lang="en-US" dirty="0"/>
              <a:t>Diumano, doon niya isinuka ang Christianity.</a:t>
            </a:r>
          </a:p>
          <a:p>
            <a:r>
              <a:rPr lang="en-US" dirty="0"/>
              <a:t>Para sa kaniya, ang mga Kristyano ay mga hipokritong may double standard, na nabubuhay sa kasinungalingan.</a:t>
            </a:r>
          </a:p>
          <a:p>
            <a:r>
              <a:rPr lang="en-US" dirty="0"/>
              <a:t>Hindi magkatugma ang paniniwala sa pamumuhay.</a:t>
            </a:r>
          </a:p>
          <a:p>
            <a:r>
              <a:rPr lang="en-US" dirty="0"/>
              <a:t>Hindi sermon ang tumaboy sa kaniya palayo sa Dios.</a:t>
            </a:r>
          </a:p>
          <a:p>
            <a:r>
              <a:rPr lang="en-US" dirty="0"/>
              <a:t>Ang tumaboy sa kaniya ay ang nakita niya sa buhay ng mga nagsesermon tungkol sa Dios.</a:t>
            </a:r>
          </a:p>
          <a:p>
            <a:r>
              <a:rPr lang="en-US" dirty="0"/>
              <a:t>Basahin nang dahan-dahan; huminto sandali pagkatapos ng Linggo ng umaga.</a:t>
            </a:r>
          </a:p>
          <a:p>
            <a:r>
              <a:rPr lang="en-US" dirty="0"/>
              <a:t>Huwag pang ipaliwanag ang aral — hayaang tumama ang kuwento.</a:t>
            </a:r>
          </a:p>
          <a:p>
            <a:r>
              <a:rPr lang="en-US" dirty="0"/>
              <a:t>Sabihin lang: Hindi ito para ipagtanggol si LaVey — ang pinili niya ay pananagutan niya sa Dios; pero ang tanong ngayong gabi ay para sa atin.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PUKAW · 1 min (target 00:08)</a:t>
            </a:r>
          </a:p>
          <a:p>
            <a:r>
              <a:rPr lang="en-US" dirty="0"/>
              <a:t>PARTICIPANT GUIDE QUESTION.</a:t>
            </a:r>
          </a:p>
          <a:p>
            <a:r>
              <a:rPr lang="en-US" dirty="0"/>
              <a:t>Mula mismo sa UNLAD workbook ang tanong na ito.</a:t>
            </a:r>
          </a:p>
          <a:p>
            <a:r>
              <a:rPr lang="en-US" dirty="0"/>
              <a:t>Silent writing muna, tapos 1-2 sasagot lang.</a:t>
            </a:r>
          </a:p>
          <a:p>
            <a:r>
              <a:rPr lang="en-US" dirty="0"/>
              <a:t>Asahan ang mga sagot na: mapagkunwari, mapanghusga, plastik, banal-banalan, iba sa simbahan at iba sa bahay.</a:t>
            </a:r>
          </a:p>
          <a:p>
            <a:r>
              <a:rPr lang="en-US" dirty="0"/>
              <a:t>Kapag may umaming nagbago na ang tingin niya, itanong nang mahinahon: Dahil ba nakilala mo na si Cristo — o dahil isa ka na rin sa kanila?</a:t>
            </a:r>
          </a:p>
          <a:p>
            <a:r>
              <a:rPr lang="en-US" dirty="0"/>
              <a:t>Huwag sagutin; hayaan munang nakabitin ang tanong.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TUKLAS · 2 min (target 00:10)</a:t>
            </a:r>
          </a:p>
          <a:p>
            <a:r>
              <a:rPr lang="en-US" dirty="0"/>
              <a:t>Basahin ang Big Idea nang dahan-dahan, tapos ipabasa sa lahat.</a:t>
            </a:r>
          </a:p>
          <a:p>
            <a:r>
              <a:rPr lang="en-US" dirty="0"/>
              <a:t>Layunin ng isang ligtas na maging kagaya ng kaniyang Tagapagligtas.</a:t>
            </a:r>
          </a:p>
          <a:p>
            <a:r>
              <a:rPr lang="en-US" dirty="0"/>
              <a:t>Ito ay dahil uhaw ang mundo para sa totoo, gigil naman ito sa peke.</a:t>
            </a:r>
          </a:p>
          <a:p>
            <a:r>
              <a:rPr lang="en-US" dirty="0"/>
              <a:t>Tandaan na ang mga eroplanong bumabandera sa mga balita ay hindi yung mga lumilipad nang maayos kundi yung mga bumabagsak.</a:t>
            </a:r>
          </a:p>
          <a:p>
            <a:r>
              <a:rPr lang="en-US" dirty="0"/>
              <a:t>Sa kaparehong paraan, ang mga Kristyano na mas madalas pag-usapan ng mundo ay hindi yung mga nakatayong matayog kundi yung mga masalimuot na gumiba.</a:t>
            </a:r>
          </a:p>
          <a:p>
            <a:r>
              <a:rPr lang="en-US" dirty="0"/>
              <a:t>Kung hindi nila makikita si Kristo, kahit ano'ng sabihin at gawin natin ay magiging kaplastikan lang para sa kanila.</a:t>
            </a:r>
          </a:p>
          <a:p>
            <a:r>
              <a:rPr lang="en-US" dirty="0"/>
              <a:t>Sabihin sa participants: may mga patlang sa guide ninyo — punan habang nakikinig.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TUKLAS · 2 min (target 00:12)</a:t>
            </a:r>
          </a:p>
          <a:p>
            <a:r>
              <a:rPr lang="en-US" dirty="0"/>
              <a:t>Yan ang dahilan kung bakit ramdam mo ang bigat ng pagsaway ni Apostle Paul sa mga talatang ito.</a:t>
            </a:r>
          </a:p>
          <a:p>
            <a:r>
              <a:rPr lang="en-US" dirty="0"/>
              <a:t>Basahin ang Romans 2:23-24: Ipinagmamalaki mong saklaw ka ng Kautusan, ngunit nilalapastangan mo naman ang Diyos sa pamamagitan ng paglabag mo sa Kautusan!</a:t>
            </a:r>
          </a:p>
          <a:p>
            <a:r>
              <a:rPr lang="en-US" dirty="0"/>
              <a:t>Ayon nga sa nasusulat, Ang pangalan ng Diyos ay nilalait ng mga Hentil dahil sa inyo.</a:t>
            </a:r>
          </a:p>
          <a:p>
            <a:r>
              <a:rPr lang="en-US" dirty="0"/>
              <a:t>Sa tuwing hindi tayo nagiging katulad ni Kristo, nagiging kalait-lait ang pangalan ng Dios sa mga 'di mananampalataya dahil sa atin.</a:t>
            </a:r>
          </a:p>
          <a:p>
            <a:r>
              <a:rPr lang="en-US" dirty="0"/>
              <a:t>Mas mataas talaga ang standard of accountability natin kaysa sa mundo, kaya dapat ingatan natin ang ating mga patotoo.</a:t>
            </a:r>
          </a:p>
          <a:p>
            <a:r>
              <a:rPr lang="en-US" dirty="0"/>
              <a:t>Mas kapani-paniwala ang katotohanan kapag kapani-paniwala ang nagpapatotoo.</a:t>
            </a:r>
          </a:p>
          <a:p>
            <a:r>
              <a:rPr lang="en-US" dirty="0"/>
              <a:t>Ibalik sa TANAW: iyan mismo ang nangyari kay LaVey.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TUKLAS · 1 min (target 00:13)</a:t>
            </a:r>
          </a:p>
          <a:p>
            <a:r>
              <a:rPr lang="en-US" dirty="0"/>
              <a:t>PARTICIPANT GUIDE QUESTION.</a:t>
            </a:r>
          </a:p>
          <a:p>
            <a:r>
              <a:rPr lang="en-US" dirty="0"/>
              <a:t>Ito ang margin question ng UNLAD sa bahaging ito.</a:t>
            </a:r>
          </a:p>
          <a:p>
            <a:r>
              <a:rPr lang="en-US" dirty="0"/>
              <a:t>Hanapin ang balanse: hindi nakadepende sa atin kung totoo ang Gospel — totoo ito kahit sino pa ang nagdadala.</a:t>
            </a:r>
          </a:p>
          <a:p>
            <a:r>
              <a:rPr lang="en-US" dirty="0"/>
              <a:t>Pero nakadepende sa atin kung madaling paniwalaan ito ng nakikinig.</a:t>
            </a:r>
          </a:p>
          <a:p>
            <a:r>
              <a:rPr lang="en-US" dirty="0"/>
              <a:t>Isang minuto lang — ang malalim na pag-uusap ay sa TALAKAY.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TUKLAS · 2 min (target 00:15)</a:t>
            </a:r>
          </a:p>
          <a:p>
            <a:r>
              <a:rPr lang="en-US" dirty="0"/>
              <a:t>Sabi ng nineteenth-century British evangelist na si Rodney Gipsy Smith, Mayroong limang Gospels — Matthew, Mark, Luke, John at ang Christian... pero maraming taong hindi babasahin ang unang apat.</a:t>
            </a:r>
          </a:p>
          <a:p>
            <a:r>
              <a:rPr lang="en-US" dirty="0"/>
              <a:t>Kapag hindi kapani-paniwala ang Gospel sa ating buhay, mapapagal lang tayo kakapangaral sa iba.</a:t>
            </a:r>
          </a:p>
          <a:p>
            <a:r>
              <a:rPr lang="en-US" dirty="0"/>
              <a:t>Attractive ang Gospel sa mga 'di mananampalataya dahil nakikita, naririnig at nadarama ito sa buhay ng mga mananampalataya.</a:t>
            </a:r>
          </a:p>
          <a:p>
            <a:r>
              <a:rPr lang="en-US" dirty="0"/>
              <a:t>Nakakalungkot lang na minsan, tinatrato natin ang ating Christianity na parang mamahaling pinggan — dekorasyon lang sa estante, at inilalabas lang kapag may special occasions o kapag may bisitang kailangang i-impress.</a:t>
            </a:r>
          </a:p>
          <a:p>
            <a:r>
              <a:rPr lang="en-US" dirty="0"/>
              <a:t>Wag ganun.</a:t>
            </a:r>
          </a:p>
          <a:p>
            <a:r>
              <a:rPr lang="en-US" dirty="0"/>
              <a:t>Itanong nang mabilis: Kung ikaw ang ikalimang Gospel na babasahin ng kapitbahay mo ngayong linggo, ano ang mababasa niya? Huwag nang sumagot — isipin lang.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TUKLAS · 2 min (target 00:17)</a:t>
            </a:r>
          </a:p>
          <a:p>
            <a:r>
              <a:rPr lang="en-US" dirty="0"/>
              <a:t>Walang katulad ang Dios at walang papantay sa Kaniya (Isaiah 40:18, 25).</a:t>
            </a:r>
          </a:p>
          <a:p>
            <a:r>
              <a:rPr lang="en-US" dirty="0"/>
              <a:t>Kaya kapag narinig natin ang challenge na maging katulad tayo ng Dios, hindi nito sinasabi na magpaka-Diyos tayo kundi maging maka-Diyos.</a:t>
            </a:r>
          </a:p>
          <a:p>
            <a:r>
              <a:rPr lang="en-US" dirty="0"/>
              <a:t>Para mangyari ito, may dalawang mahalagang pointers si Apostle Paul.</a:t>
            </a:r>
          </a:p>
          <a:p>
            <a:r>
              <a:rPr lang="en-US" dirty="0"/>
              <a:t>Una, kinakailangan mo munang maging anak Niya (John 1:12).</a:t>
            </a:r>
          </a:p>
          <a:p>
            <a:r>
              <a:rPr lang="en-US" dirty="0"/>
              <a:t>Ang pagiging katulad ng Dios ay hindi sa pamamagitan ng ating sariling-sikap kundi sa pamamagitan ng nag-uumapaw na relasyon natin sa Ama.</a:t>
            </a:r>
          </a:p>
          <a:p>
            <a:r>
              <a:rPr lang="en-US" dirty="0"/>
              <a:t>Kung tayo ay konektado at araw-araw na nagpapasakop sa Kaniya, natural na lumalabas sa ating mga buhay ang bunga ng Holy Spirit (Galatians 5:22-23).</a:t>
            </a:r>
          </a:p>
          <a:p>
            <a:r>
              <a:rPr lang="en-US" dirty="0"/>
              <a:t>Kasama sa bungang iyan ang kabutihan — ang character anchor natin ngayong gabi: kabutihang nakikita ng iba.</a:t>
            </a:r>
          </a:p>
          <a:p>
            <a:r>
              <a:rPr lang="en-US" dirty="0"/>
              <a:t>Pangalawa, dapat tularan natin si Jesus: si Cristo ay nag-iwan sa inyo ng isang halimbawa na dapat ninyong lubos na tularan (1 Peter 2:21).</a:t>
            </a:r>
          </a:p>
          <a:p>
            <a:r>
              <a:rPr lang="en-US" dirty="0"/>
              <a:t>Si Jesus ang ating Halimbawa! Pero ano ang practical demonstration nito sa Christian living? Atras lang tayo ng ilang verses — Ephesians 4:22-32.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TUKLAS · 2 min (target 00:19)</a:t>
            </a:r>
          </a:p>
          <a:p>
            <a:r>
              <a:rPr lang="en-US" dirty="0"/>
              <a:t>Minsan may isang bata na nag-pray: Lord, sana po yung mga masasamang tao maging mabuti, tapos yung mga mabubuting tao naman maging mabait.</a:t>
            </a:r>
          </a:p>
          <a:p>
            <a:r>
              <a:rPr lang="en-US" dirty="0"/>
              <a:t>May reputasyon na kasi yung mga mabubuting tao na mahihirap pakisamahan at malalamig sa kapwa — puro pagbabawal, konti ang pagmamahal.</a:t>
            </a:r>
          </a:p>
          <a:p>
            <a:r>
              <a:rPr lang="en-US" dirty="0"/>
              <a:t>Nalilimutan yata ng mga tagasunod ni Cristo na masaya ang ibang tao kapag kasama si Jesus sa mga social gatherings.</a:t>
            </a:r>
          </a:p>
          <a:p>
            <a:r>
              <a:rPr lang="en-US" dirty="0"/>
              <a:t>Siya rin yung tipo ng teacher na kinagigiliwan ng mga bata — malaking proof na sobrang attracted ang mga tao sa Kaniyang kabaitan.</a:t>
            </a:r>
          </a:p>
          <a:p>
            <a:r>
              <a:rPr lang="en-US" dirty="0"/>
              <a:t>Totoong may mga negatibong bagay na dapat patayin, pero alalahanin din natin na kadikit nito ang mga positibong bagay na dapat ipamuhay.</a:t>
            </a:r>
          </a:p>
          <a:p>
            <a:r>
              <a:rPr lang="en-US" dirty="0"/>
              <a:t>Basahin ang Ephesians 4:22-24 at ipabilog sa guide ang mga contrast na isinaad ni Apostle Paul.</a:t>
            </a:r>
          </a:p>
          <a:p>
            <a:r>
              <a:rPr lang="en-US" dirty="0"/>
              <a:t>Apat na pares ang titingnan natin, at bawat isa ay may kapares na kasanayan mula sa Developing Influence ni Mac Lake — dahil ang buhay na hinubog ni Cristo ang may impluwensiya.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TUKLAS · 2 min (target 00:21)</a:t>
            </a:r>
          </a:p>
          <a:p>
            <a:r>
              <a:rPr lang="en-US" dirty="0"/>
              <a:t>KUWENTO — Ang Assignment sa Mark 17 (basahin nang buo, Chicken Soup style).</a:t>
            </a:r>
          </a:p>
          <a:p>
            <a:r>
              <a:rPr lang="en-US" dirty="0"/>
              <a:t>Isang Linggo, ginulat ng isang pastor ang kaniyang mga miyembro.</a:t>
            </a:r>
          </a:p>
          <a:p>
            <a:r>
              <a:rPr lang="en-US" dirty="0"/>
              <a:t>Sabi niya, "Next week, magpi-preach ako tungkol sa pagsisinungaling."</a:t>
            </a:r>
          </a:p>
          <a:p>
            <a:r>
              <a:rPr lang="en-US" dirty="0"/>
              <a:t>"Kaya bilang assignment, basahin ninyong lahat ang Mark 17."</a:t>
            </a:r>
          </a:p>
          <a:p>
            <a:r>
              <a:rPr lang="en-US" dirty="0"/>
              <a:t>Tumango ang lahat; may ilang nagsulat pa sa bulletin.</a:t>
            </a:r>
          </a:p>
          <a:p>
            <a:r>
              <a:rPr lang="en-US" dirty="0"/>
              <a:t>Dumating ang sumunod na Linggo.</a:t>
            </a:r>
          </a:p>
          <a:p>
            <a:r>
              <a:rPr lang="en-US" dirty="0"/>
              <a:t>Bago magsimula ang sermon, tinanong niya ang congregation: "Nabasa n'yo po ba? Lahat ng nakabasa ng Mark 17, pakitaas ang kamay."</a:t>
            </a:r>
          </a:p>
          <a:p>
            <a:r>
              <a:rPr lang="en-US" dirty="0"/>
              <a:t>Halos lahat ay nagtaas ng kamay.</a:t>
            </a:r>
          </a:p>
          <a:p>
            <a:r>
              <a:rPr lang="en-US" dirty="0"/>
              <a:t>Ngumiti ang pastor.</a:t>
            </a:r>
          </a:p>
          <a:p>
            <a:r>
              <a:rPr lang="en-US" dirty="0"/>
              <a:t>"Salamat po," sabi niya.</a:t>
            </a:r>
          </a:p>
          <a:p>
            <a:r>
              <a:rPr lang="en-US" dirty="0"/>
              <a:t>"Kasi ang Mark ay hanggang chapter 16 lang."</a:t>
            </a:r>
          </a:p>
          <a:p>
            <a:r>
              <a:rPr lang="en-US" dirty="0"/>
              <a:t>Bistado.</a:t>
            </a:r>
          </a:p>
          <a:p>
            <a:r>
              <a:rPr lang="en-US" dirty="0"/>
              <a:t>Honestly, may Christians na talagang magagaling magsinungaling — mga biglang nagdi-disappear sa bahay o nagkakasakit kapag may unwanted visitors na kumakatok sa pinto.</a:t>
            </a:r>
          </a:p>
          <a:p>
            <a:r>
              <a:rPr lang="en-US" dirty="0"/>
              <a:t>Mga mahilig magbigay ng drawing na pangako o magkulay ng mga hinabing istorya.</a:t>
            </a:r>
          </a:p>
          <a:p>
            <a:r>
              <a:rPr lang="en-US" dirty="0"/>
              <a:t>Ayon sa isang American survey noong 1992, 91% sa respondents ang regular kung magsinungaling tungkol sa maliliit na bagay, at 36% naman sa mga importanteng bagay.</a:t>
            </a:r>
          </a:p>
          <a:p>
            <a:r>
              <a:rPr lang="en-US" dirty="0"/>
              <a:t>86% ang nagsisinungaling sa mga magulang, 75% sa mga kaibigan, 73% sa mga kapatid, at 69% sa mga asawa.</a:t>
            </a:r>
          </a:p>
          <a:p>
            <a:r>
              <a:rPr lang="en-US" dirty="0"/>
              <a:t>Normal ito sa mundo pero hindi dapat sa mga Kristyano.</a:t>
            </a:r>
          </a:p>
          <a:p>
            <a:r>
              <a:rPr lang="en-US" dirty="0"/>
              <a:t>Kasanayan ng impluwensiya: Tunay na Relasyon — ayon kay Mac Lake, nabubuo ang authentic relationship sa pagpapakita ng tunay na interes, pagiging present, bukas, at supportive.</a:t>
            </a:r>
          </a:p>
          <a:p>
            <a:r>
              <a:rPr lang="en-US" dirty="0"/>
              <a:t>Walang tunay na relasyon kung saan may kasinungalingan; ang tiwala ang pundasyon ng anumang impluwensiya.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TUKLAS · 3 min (target 00:24)</a:t>
            </a:r>
          </a:p>
          <a:p>
            <a:r>
              <a:rPr lang="en-US" dirty="0"/>
              <a:t>Basahin ang Ephesians 4:26-27 at 31.</a:t>
            </a:r>
          </a:p>
          <a:p>
            <a:r>
              <a:rPr lang="en-US" dirty="0"/>
              <a:t>Hindi kasalanang magalit sa mga bagay na dapat talagang kagalitan, pero nagiging kasalanan ang galit kapag pinatagal mo ito sa iyong buhay.</a:t>
            </a:r>
          </a:p>
          <a:p>
            <a:r>
              <a:rPr lang="en-US" dirty="0"/>
              <a:t>Parang matamis na grape juice na kapag binuro mo nang husto ay nagiging mapait na alak — lalasingin ka nito hanggang sa mawalan ka na ng control.</a:t>
            </a:r>
          </a:p>
          <a:p>
            <a:r>
              <a:rPr lang="en-US" dirty="0"/>
              <a:t>May dalawang salita na ginamit sa verse 31 na konektado sa galit: sama ng loob, o bitterness, at poot, o wrath.</a:t>
            </a:r>
          </a:p>
          <a:p>
            <a:r>
              <a:rPr lang="en-US" dirty="0"/>
              <a:t>Galing ang bitterness sa Greek word na nangangahulugang mapait na apdo, matinding pagkamuhi, o nakakasukang lason.</a:t>
            </a:r>
          </a:p>
          <a:p>
            <a:r>
              <a:rPr lang="en-US" dirty="0"/>
              <a:t>Kapag ang isang rattlesnake ay na-corner, minsan tinutuklaw nito ang sarili sa sobrang galit.</a:t>
            </a:r>
          </a:p>
          <a:p>
            <a:r>
              <a:rPr lang="en-US" dirty="0"/>
              <a:t>Kapag ang isang tao ay nagtanim ng sama ng loob sa kaniyang puso, para na rin niyang nilalason ang sarili niya, tulad ng isang rattlesnake.</a:t>
            </a:r>
          </a:p>
          <a:p>
            <a:r>
              <a:rPr lang="en-US" dirty="0"/>
              <a:t>Ang poot o wrath naman ay literal na nangangahulugan na pagkulo ng dugo, pagkawala ng pasensya o pagsabog — dito nanggaling ang salitang thermos.</a:t>
            </a:r>
          </a:p>
          <a:p>
            <a:r>
              <a:rPr lang="en-US" dirty="0"/>
              <a:t>Para itong apoy na tumutupok sa kalooban ng isang tao at sumisira sa kaniyang buong pagkatao.</a:t>
            </a:r>
          </a:p>
          <a:p>
            <a:r>
              <a:rPr lang="en-US" dirty="0"/>
              <a:t>Ginagamit itong pagkakataon ng Diablo para maghasik ng binhi ng paghihiganti na nagbibigay-daan sa pambubulyaw, panlalait at pananakit — verbally, emotionally o physically.</a:t>
            </a:r>
          </a:p>
          <a:p>
            <a:r>
              <a:rPr lang="en-US" dirty="0"/>
              <a:t>Dapat itong kontrahin ng Ephesians 4:32: maging mabait kayo at maawain; magpatawad kayo sa isa't isa tulad ng pagpapatawad sa inyo ng Diyos dahil kay Cristo.</a:t>
            </a:r>
          </a:p>
          <a:p>
            <a:r>
              <a:rPr lang="en-US" dirty="0"/>
              <a:t>Parang pag-akyat sa isang mataas na bundok ang pagpapatawad — mahirap, pero magagawa mo ito kapag sinimulan mo sa bundok ng Kalbaryo, sa Krus ni Kristo.</a:t>
            </a:r>
          </a:p>
          <a:p>
            <a:r>
              <a:rPr lang="en-US" dirty="0"/>
              <a:t>Sa totoo lang, napakapangit na patotoo sa mundo ang mga mananampalatayang nag-aaway-away, nagsisiraan, at nagkakagatan at nagsasakmalan (Galatians 5:15).</a:t>
            </a:r>
          </a:p>
          <a:p>
            <a:r>
              <a:rPr lang="en-US" dirty="0"/>
              <a:t>Kasanayan ng impluwensiya: Mahusay na Pakikinig — madalas, ang galit ay ipinanganak sa hindi pakikinig.</a:t>
            </a:r>
          </a:p>
          <a:p>
            <a:r>
              <a:rPr lang="en-US" dirty="0"/>
              <a:t>Ayon kay Mac Lake, ang influencer ay nakikinig nang mabuti, inuunawa ang pananaw ng iba, at maingat sa body language at facial expressions — kasama ang ating mukha kapag naiinis tayo.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TUKLAS · 1 min (target 00:25)</a:t>
            </a:r>
          </a:p>
          <a:p>
            <a:r>
              <a:rPr lang="en-US" dirty="0"/>
              <a:t>PARTICIPANT GUIDE QUESTION.</a:t>
            </a:r>
          </a:p>
          <a:p>
            <a:r>
              <a:rPr lang="en-US" dirty="0"/>
              <a:t>Ito ang margin question ng UNLAD sa bahaging ito.</a:t>
            </a:r>
          </a:p>
          <a:p>
            <a:r>
              <a:rPr lang="en-US" dirty="0"/>
              <a:t>Asahan ang mga sagot na: natural sa laman; gusto nating makaganti ng hustisya; ang pagpapatawad ay parang pagpapatalo.</a:t>
            </a:r>
          </a:p>
          <a:p>
            <a:r>
              <a:rPr lang="en-US" dirty="0"/>
              <a:t>Landing: mas madali ang paghihiganti dahil sa laman ito nanggagaling; ang pagpapatawad ay bunga ng Espiritu at nagsisimula sa Krus.</a:t>
            </a:r>
          </a:p>
          <a:p>
            <a:r>
              <a:rPr lang="en-US" dirty="0"/>
              <a:t>Isang minuto lang.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TUKLAS · 2 min (target 00:27)</a:t>
            </a:r>
          </a:p>
          <a:p>
            <a:r>
              <a:rPr lang="en-US" dirty="0"/>
              <a:t>May dahilan kung bakit sinabi sa 1 Timothy 6:10 na ang pag-ibig sa salapi ay ugat ng lahat ng kasamaan.</a:t>
            </a:r>
          </a:p>
          <a:p>
            <a:r>
              <a:rPr lang="en-US" dirty="0"/>
              <a:t>Lahat naman siguro ng tao, Christian o hindi, ay nakapang-umit na ng kahit isang pisong duling.</a:t>
            </a:r>
          </a:p>
          <a:p>
            <a:r>
              <a:rPr lang="en-US" dirty="0"/>
              <a:t>Pero ang masakit na katotohanan, marami na ring nabalitang professing believers na involved sa mga high profile na pagnanakaw — at marami sa kanila ay mga pastors at religious leaders.</a:t>
            </a:r>
          </a:p>
          <a:p>
            <a:r>
              <a:rPr lang="en-US" dirty="0"/>
              <a:t>Lahat naman ng tao ay may pangangailangan pero dapat natin itong pagtrabahuhan sa marangal na paraan.</a:t>
            </a:r>
          </a:p>
          <a:p>
            <a:r>
              <a:rPr lang="en-US" dirty="0"/>
              <a:t>Ang pagnanakaw ay nanggagaling sa makasariling kagustuhan na makalamang sa iba; ang pagiging marangal ay nanggagaling sa kagustuhang makatulong sa kapwa.</a:t>
            </a:r>
          </a:p>
          <a:p>
            <a:r>
              <a:rPr lang="en-US" dirty="0"/>
              <a:t>Tandaan: ang pagnanakaw ay tungkol sa pagkuha ng anumang bagay na hindi sa iyo, at hindi lang ito tungkol sa pera.</a:t>
            </a:r>
          </a:p>
          <a:p>
            <a:r>
              <a:rPr lang="en-US" dirty="0"/>
              <a:t>Pangongopya ng assignment, seatwork o test answers — pagnanakaw.</a:t>
            </a:r>
          </a:p>
          <a:p>
            <a:r>
              <a:rPr lang="en-US" dirty="0"/>
              <a:t>Madalas na pagka-late sa trabaho at pag-undertime — pagnanakaw.</a:t>
            </a:r>
          </a:p>
          <a:p>
            <a:r>
              <a:rPr lang="en-US" dirty="0"/>
              <a:t>Pagpapanggap na sa iyo galing ang idea na hindi naman sa iyo — counted.</a:t>
            </a:r>
          </a:p>
          <a:p>
            <a:r>
              <a:rPr lang="en-US" dirty="0"/>
              <a:t>Pag-angkin sa taong hindi naman sa iyo, o pangangalunya — pagnanakaw.</a:t>
            </a:r>
          </a:p>
          <a:p>
            <a:r>
              <a:rPr lang="en-US" dirty="0"/>
              <a:t>Hindi pagbabayad nang tama sa mga empleyado o pagtakas sa tamang tax — qualified magnanakaw.</a:t>
            </a:r>
          </a:p>
          <a:p>
            <a:r>
              <a:rPr lang="en-US" dirty="0"/>
              <a:t>At kung sinasabi mong Christian ka, tigilan mo na — tama na!</a:t>
            </a:r>
          </a:p>
          <a:p>
            <a:r>
              <a:rPr lang="en-US" dirty="0"/>
              <a:t>Kasanayan ng impluwensiya: Pare-parehong Halimbawa — ayon kay Mac Lake, ang influencer ay consistent na nagpapakita ng Christlike na buhay; may nakatingin palagi, sa opisina man o sa bahay.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TUKLAS · 1 min (target 00:28)</a:t>
            </a:r>
          </a:p>
          <a:p>
            <a:r>
              <a:rPr lang="en-US" dirty="0"/>
              <a:t>PARTICIPANT GUIDE QUESTION.</a:t>
            </a:r>
          </a:p>
          <a:p>
            <a:r>
              <a:rPr lang="en-US" dirty="0"/>
              <a:t>Ito ang margin question ng UNLAD sa bahaging ito.</a:t>
            </a:r>
          </a:p>
          <a:p>
            <a:r>
              <a:rPr lang="en-US" dirty="0"/>
              <a:t>Asahan ang mga sagot na: pagnanakaw ng oras sa trabaho, ng credit, ng tiwala, ng Wi-Fi o load, ng pirated na pelikula at software.</a:t>
            </a:r>
          </a:p>
          <a:p>
            <a:r>
              <a:rPr lang="en-US" dirty="0"/>
              <a:t>Huwag gawing biruan; hayaang tumama sa konsensya — kasama ang sa iyo bilang lead.</a:t>
            </a:r>
          </a:p>
          <a:p>
            <a:r>
              <a:rPr lang="en-US" dirty="0"/>
              <a:t>Isang minuto lang.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TUKLAS · 2 min (target 00:30)</a:t>
            </a:r>
          </a:p>
          <a:p>
            <a:r>
              <a:rPr lang="en-US" dirty="0"/>
              <a:t>Madalas nating marinig ang kasabihang: Ang isda'y nahuhuli sa kaniyang labi at ang tao nama'y sa salita't sabi.</a:t>
            </a:r>
          </a:p>
          <a:p>
            <a:r>
              <a:rPr lang="en-US" dirty="0"/>
              <a:t>Applicable din ito sa mga Kristyano kuno na madalas katisuran dahil sa kanilang pananalita.</a:t>
            </a:r>
          </a:p>
          <a:p>
            <a:r>
              <a:rPr lang="en-US" dirty="0"/>
              <a:t>Ang Greek word para sa masamang salita ay sapros, na ang ibig sabihin literally ay bulok, panis, inaagnas.</a:t>
            </a:r>
          </a:p>
          <a:p>
            <a:r>
              <a:rPr lang="en-US" dirty="0"/>
              <a:t>Kadiri. Kakasuka. Karimarimarim.</a:t>
            </a:r>
          </a:p>
          <a:p>
            <a:r>
              <a:rPr lang="en-US" dirty="0"/>
              <a:t>Simpleng bad breath nga inaayawan natin, paano pa kaya ang amoy inaagnas na bangkay ang bibig!</a:t>
            </a:r>
          </a:p>
          <a:p>
            <a:r>
              <a:rPr lang="en-US" dirty="0"/>
              <a:t>Ganyan ang comparison ng Bible sa isang taong walang renda sa dila.</a:t>
            </a:r>
          </a:p>
          <a:p>
            <a:r>
              <a:rPr lang="en-US" dirty="0"/>
              <a:t>Big deal ang usapang dila dahil si Jesus mismo ang nagsabi: Kung ano ang nag-uumapaw sa puso ay siyang sinasabi ng labi (Luke 6:45).</a:t>
            </a:r>
          </a:p>
          <a:p>
            <a:r>
              <a:rPr lang="en-US" dirty="0"/>
              <a:t>Bibig ang stethoscope ng puso: kung gusto mong marinig ang pintig ng puso ng isang tao, sundan mo ang kaniyang bibig.</a:t>
            </a:r>
          </a:p>
          <a:p>
            <a:r>
              <a:rPr lang="en-US" dirty="0"/>
              <a:t>Ano ba ang madalas mamutawi? Ano ang lagi niyang sinasabi pag walang ibang tao? Magandang diagnosis yan ng kaniyang spiritual health.</a:t>
            </a:r>
          </a:p>
          <a:p>
            <a:r>
              <a:rPr lang="en-US" dirty="0"/>
              <a:t>Kasama sa category na ito ang lahat ng uri ng tsismis, paninirang-puri, backstabbing, panlalait, kabastusan, discouragement, pagmumura at kung ano-ano pa.</a:t>
            </a:r>
          </a:p>
          <a:p>
            <a:r>
              <a:rPr lang="en-US" dirty="0"/>
              <a:t>Bago ibuka ang bibig, tanungin muna ang sarili: Ito ba'y magpapalakas sa makakarinig? Ito ba ay angkop sa pagkakataon o wala sa lugar? Magdudulot ba ito ng kabutihan sa iba?</a:t>
            </a:r>
          </a:p>
          <a:p>
            <a:r>
              <a:rPr lang="en-US" dirty="0"/>
              <a:t>Kung hindi, itikom na lang natin ang ating mga bibig.</a:t>
            </a:r>
          </a:p>
          <a:p>
            <a:r>
              <a:rPr lang="en-US" dirty="0"/>
              <a:t>Kasanayan ng impluwensiya: Salitang Nagpapalakas — ayon kay Mac Lake, ang influencer ay nag-e-encourage at nag-a-uplift sa iba, tinutulungan silang makita ang sarili nilang lakas at potensiyal.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TUKLAS · 1 min (target 00:31)</a:t>
            </a:r>
          </a:p>
          <a:p>
            <a:r>
              <a:rPr lang="en-US" dirty="0"/>
              <a:t>Hindi ito simpleng DOs and DON'Ts list para sa isang mananampalataya.</a:t>
            </a:r>
          </a:p>
          <a:p>
            <a:r>
              <a:rPr lang="en-US" dirty="0"/>
              <a:t>Ang primary motivation kung bakit natin gagawin ang mga positibong bagay at hindi gagawin ang mga negatibo ay dahil sa talatang ito: At huwag ninyong saktan ang kalooban ng Espiritu Santo.</a:t>
            </a:r>
          </a:p>
          <a:p>
            <a:r>
              <a:rPr lang="en-US" dirty="0"/>
              <a:t>Kung nabubuhay tayo para pasayahin ang Panginoon, hindi tayo gagawa ng anumang bagay na makakasakit sa kalooban Niya o magpapalungkot sa Kaniya.</a:t>
            </a:r>
          </a:p>
          <a:p>
            <a:r>
              <a:rPr lang="en-US" dirty="0"/>
              <a:t>Namatay, inilibing at nabuhay-muli si Jesus para sa atin; mamatay nawa tayo sa ating lumang gawi at mabuhay na para sa Kaniya.</a:t>
            </a:r>
          </a:p>
          <a:p>
            <a:r>
              <a:rPr lang="en-US" dirty="0"/>
              <a:t>Pause — hayaang lumapat.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TUKLAS · 2 min (target 00:33)</a:t>
            </a:r>
          </a:p>
          <a:p>
            <a:r>
              <a:rPr lang="en-US" dirty="0"/>
              <a:t>Ito ang competence ng aralin: Developing Influence — positibong pag-impluwensya at pag-inspire sa iba sa pamamagitan ng ating mga gawa, salita, at character.</a:t>
            </a:r>
          </a:p>
          <a:p>
            <a:r>
              <a:rPr lang="en-US" dirty="0"/>
              <a:t>Basahin ang 1 Peter 2:12 mula sa Bible ninyo: mamuhay nang mabuti sa harap ng mga hindi mananampalataya, para makita nila ang inyong mabubuting gawa at luwalhatiin nila ang Diyos.</a:t>
            </a:r>
          </a:p>
          <a:p>
            <a:r>
              <a:rPr lang="en-US" dirty="0"/>
              <a:t>Iyan ang kabutihang nakikita — ang character anchor natin.</a:t>
            </a:r>
          </a:p>
          <a:p>
            <a:r>
              <a:rPr lang="en-US" dirty="0"/>
              <a:t>Tapos ang verse 17: igalang ang lahat ng tao, mahalin ang mga kapatid, matakot sa Diyos, at igalang ang namumuno.</a:t>
            </a:r>
          </a:p>
          <a:p>
            <a:r>
              <a:rPr lang="en-US" dirty="0"/>
              <a:t>Ang honor ay paggalang sa bawat tao sa salita, saloobin, at gawa — dahil bawat isa ay nilikhang kalarawan ng Dios.</a:t>
            </a:r>
          </a:p>
          <a:p>
            <a:r>
              <a:rPr lang="en-US" dirty="0"/>
              <a:t>Ang kabutihang hindi marunong gumalang ay nagiging pagmamataas; ang kabutihang may honor ay nagiging impluwensiya.</a:t>
            </a:r>
          </a:p>
          <a:p>
            <a:r>
              <a:rPr lang="en-US" dirty="0"/>
              <a:t>Balikan ang apat na kasanayan: Tunay na Relasyon, Pare-parehong Halimbawa, Mahusay na Pakikinig, at Salitang Nagpapalakas.</a:t>
            </a:r>
          </a:p>
          <a:p>
            <a:r>
              <a:rPr lang="en-US" dirty="0"/>
              <a:t>Ang influence ay hindi posisyon; ito ay buhay na nakikita at pinagkakatiwalaan.</a:t>
            </a:r>
          </a:p>
          <a:p>
            <a:r>
              <a:rPr lang="en-US" dirty="0"/>
              <a:t>Tulay sa TALAKAY: ngayon, pag-usapan natin kung ano ang nakikita ng iba sa atin.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TALAKAY · 1 min (target 00:34)</a:t>
            </a:r>
          </a:p>
          <a:p>
            <a:r>
              <a:rPr lang="en-US" dirty="0"/>
              <a:t>Parehong apat na rules ng TALAKAY: no fixing, no comparison, no preaching, confidential.</a:t>
            </a:r>
          </a:p>
          <a:p>
            <a:r>
              <a:rPr lang="en-US" dirty="0"/>
              <a:t>Tables ng tatlo hanggang apat.</a:t>
            </a:r>
          </a:p>
          <a:p>
            <a:r>
              <a:rPr lang="en-US" dirty="0"/>
              <a:t>Magsimula ka — ikuwento nang maikli ang isang pagkakataong ang buhay mo ay hindi tumugma sa paniniwala mo, at kung paano ka binago ng Dios.</a:t>
            </a:r>
          </a:p>
          <a:p>
            <a:r>
              <a:rPr lang="en-US" dirty="0"/>
              <a:t>Ang vulnerability ng lead ang nagbubukas ng pinto para sa iba.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TALAKAY · 4 min (target 00:38)</a:t>
            </a:r>
          </a:p>
          <a:p>
            <a:r>
              <a:rPr lang="en-US" dirty="0"/>
              <a:t>PARTICIPANT GUIDE QUESTION.</a:t>
            </a:r>
          </a:p>
          <a:p>
            <a:r>
              <a:rPr lang="en-US" dirty="0"/>
              <a:t>Ito ang interact question ng UNLAD mismo.</a:t>
            </a:r>
          </a:p>
          <a:p>
            <a:r>
              <a:rPr lang="en-US" dirty="0"/>
              <a:t>Asahan ang pagsang-ayon; hamunin nang marahan: Totoo ba ito sa atin, hindi lang sa ibang Kristyano?</a:t>
            </a:r>
          </a:p>
          <a:p>
            <a:r>
              <a:rPr lang="en-US" dirty="0"/>
              <a:t>Kapag may nagsabing hindi patas na husgahan ang Dios dahil sa mga Kristyano, sang-ayunan — pero ibalik: hindi patas, pero totoo.</a:t>
            </a:r>
          </a:p>
          <a:p>
            <a:r>
              <a:rPr lang="en-US" dirty="0"/>
              <a:t>Ibalik kay LaVey at sa ikalimang Gospel.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TALAKAY · 3 min (target 00:41)</a:t>
            </a:r>
          </a:p>
          <a:p>
            <a:r>
              <a:rPr lang="en-US" dirty="0"/>
              <a:t>PARTICIPANT GUIDE QUESTION.</a:t>
            </a:r>
          </a:p>
          <a:p>
            <a:r>
              <a:rPr lang="en-US" dirty="0"/>
              <a:t>Mula ito sa Leading Yourself ni Mac Lake, Module 6: Be a Consistent Model.</a:t>
            </a:r>
          </a:p>
          <a:p>
            <a:r>
              <a:rPr lang="en-US" dirty="0"/>
              <a:t>Tulungan silang pangalanan ang tatlong audience: pamilya, LCG o church, at trabaho o school.</a:t>
            </a:r>
          </a:p>
          <a:p>
            <a:r>
              <a:rPr lang="en-US" dirty="0"/>
              <a:t>Hanapin ang dalawang klase ng sagot: ang maganda nang naipapakita, at ang hindi pa pare-pareho.</a:t>
            </a:r>
          </a:p>
          <a:p>
            <a:r>
              <a:rPr lang="en-US" dirty="0"/>
              <a:t>I-celebrate muna ang maganda bago ang lalago — honor muna sa isa't isa.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TALAKAY · 4 min (target 00:45)</a:t>
            </a:r>
          </a:p>
          <a:p>
            <a:r>
              <a:rPr lang="en-US" dirty="0"/>
              <a:t>PARTICIPANT GUIDE QUESTION.</a:t>
            </a:r>
          </a:p>
          <a:p>
            <a:r>
              <a:rPr lang="en-US" dirty="0"/>
              <a:t>Mula ito sa Scripture reflection ng Mac Lake Module 6, batay sa 1 Peter 2:11-17.</a:t>
            </a:r>
          </a:p>
          <a:p>
            <a:r>
              <a:rPr lang="en-US" dirty="0"/>
              <a:t>PASTORAL CARE: may mga taong mahirap i-honor dahil sinaktan tayo nila; ang honor ay hindi pagsang-ayon sa mali, kundi pagkilala na sila rin ay nilikhang kalarawan ng Dios.</a:t>
            </a:r>
          </a:p>
          <a:p>
            <a:r>
              <a:rPr lang="en-US" dirty="0"/>
              <a:t>Huwag hayaang maging tsismis ang sharing — walang pangalan kung hindi kailangan.</a:t>
            </a:r>
          </a:p>
          <a:p>
            <a:r>
              <a:rPr lang="en-US" dirty="0"/>
              <a:t>Kung may usaping pang-abuso o panganib, hindi ito ang lugar — i-flag sa lead para sa pribadong pastoral care.</a:t>
            </a:r>
          </a:p>
          <a:p>
            <a:r>
              <a:rPr lang="en-US" dirty="0"/>
              <a:t>Isara ang TALAKAY sa isang pangungusap na panalangin ng isang miyembro ng bawat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TUGON · 2 min (target 00:47)</a:t>
            </a:r>
          </a:p>
          <a:p>
            <a:r>
              <a:rPr lang="en-US" dirty="0"/>
              <a:t>KUWENTO — Ang Bracelet na may Apat na Letra (basahin nang buo, Chicken Soup style).</a:t>
            </a:r>
          </a:p>
          <a:p>
            <a:r>
              <a:rPr lang="en-US" dirty="0"/>
              <a:t>Noong 1990s, sumikat ang isang maliit na bracelet na may apat na letra: W.W.J.D.</a:t>
            </a:r>
          </a:p>
          <a:p>
            <a:r>
              <a:rPr lang="en-US" dirty="0"/>
              <a:t>What Would Jesus Do?</a:t>
            </a:r>
          </a:p>
          <a:p>
            <a:r>
              <a:rPr lang="en-US" dirty="0"/>
              <a:t>Makikita ito kahit saan — sa bracelets, sa car stickers, sa t-shirts, at kung ano-ano pa.</a:t>
            </a:r>
          </a:p>
          <a:p>
            <a:r>
              <a:rPr lang="en-US" dirty="0"/>
              <a:t>Ginawa itong pattern at standard sa pamumuhay ng maraming Christians at churches noon.</a:t>
            </a:r>
          </a:p>
          <a:p>
            <a:r>
              <a:rPr lang="en-US" dirty="0"/>
              <a:t>Kahit nga mga unbelievers ay nagsusuot din ng WWJD bracelets, dahil maganda naman talaga ang mensahe.</a:t>
            </a:r>
          </a:p>
          <a:p>
            <a:r>
              <a:rPr lang="en-US" dirty="0"/>
              <a:t>Of course, Biblical concept ito.</a:t>
            </a:r>
          </a:p>
          <a:p>
            <a:r>
              <a:rPr lang="en-US" dirty="0"/>
              <a:t>Pero ang pinagmulan nito ay mas matanda pa sa bracelet.</a:t>
            </a:r>
          </a:p>
          <a:p>
            <a:r>
              <a:rPr lang="en-US" dirty="0"/>
              <a:t>Hango ito sa isang aklat na isinulat ni Thomas à Kempis noong 1400s — ang Imitatio Christi, o The Imitation of Christ.</a:t>
            </a:r>
          </a:p>
          <a:p>
            <a:r>
              <a:rPr lang="en-US" dirty="0"/>
              <a:t>Higit limang daang taon nang itinatanong ng mga mananampalataya ang parehong tanong: paano ako mabubuhay na katulad ni Cristo?</a:t>
            </a:r>
          </a:p>
          <a:p>
            <a:r>
              <a:rPr lang="en-US" dirty="0"/>
              <a:t>Magandang buhayin natin ang movement na ito ngayon.</a:t>
            </a:r>
          </a:p>
          <a:p>
            <a:r>
              <a:rPr lang="en-US" dirty="0"/>
              <a:t>Pero higit pa sa pagtatanong ng "What would Jesus do?" — gawin nating practice ang WALKING WITH JESUS DAILY.</a:t>
            </a:r>
          </a:p>
          <a:p>
            <a:r>
              <a:rPr lang="en-US" dirty="0"/>
              <a:t>Kung bawat araw ng buhay natin ay gigising at mabubuhay tayo kasama si Jesus, magiging natural na sa atin ang lumakad ayon sa Kaniyang yapak.</a:t>
            </a:r>
          </a:p>
          <a:p>
            <a:r>
              <a:rPr lang="en-US" dirty="0"/>
              <a:t>Ihanda ang participants sa chart ng guide: Lakad Kasama si Jesus.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TUGON · 5 min (target 00:52)</a:t>
            </a:r>
          </a:p>
          <a:p>
            <a:r>
              <a:rPr lang="en-US" dirty="0"/>
              <a:t>PARTICIPANT GUIDE QUESTION.</a:t>
            </a:r>
          </a:p>
          <a:p>
            <a:r>
              <a:rPr lang="en-US" dirty="0"/>
              <a:t>Ito ang TUGON ng UNLAD: gawing gabay ang chart sa pang-araw-araw na pamumuhay.</a:t>
            </a:r>
          </a:p>
          <a:p>
            <a:r>
              <a:rPr lang="en-US" dirty="0"/>
              <a:t>Apat na hanay: Kasinungalingan at Katotohanan, Galit at Pagpapatawad, Pagnanakaw at Marangal na Paggawa, Masama at Mabuting Pananalita.</a:t>
            </a:r>
          </a:p>
          <a:p>
            <a:r>
              <a:rPr lang="en-US" dirty="0"/>
              <a:t>Sa bawat hanay: ano ang huhubarin, ano ang isusuot, at isang specific na sitwasyon ngayong linggo.</a:t>
            </a:r>
          </a:p>
          <a:p>
            <a:r>
              <a:rPr lang="en-US" dirty="0"/>
              <a:t>Halimbawa: Huhubarin ko ang pagdadahilan kapag late; isusuot ko ang pagsasabi ng totoo; sa Lunes ng umaga sa opisina.</a:t>
            </a:r>
          </a:p>
          <a:p>
            <a:r>
              <a:rPr lang="en-US" dirty="0"/>
              <a:t>GUARD THE SILENCE — huwag sumilip sa sinusulat.</a:t>
            </a:r>
          </a:p>
          <a:p>
            <a:r>
              <a:rPr lang="en-US" dirty="0"/>
              <a:t>Pagkatapos, tahimik na ipanalangin ang apat na sitwasyon.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TUGON · 3 min (target 00:55)</a:t>
            </a:r>
          </a:p>
          <a:p>
            <a:r>
              <a:rPr lang="en-US" dirty="0"/>
              <a:t>PARTICIPANT GUIDE QUESTION.</a:t>
            </a:r>
          </a:p>
          <a:p>
            <a:r>
              <a:rPr lang="en-US" dirty="0"/>
              <a:t>Ito ang preassessment ng Mac Lake Module 6, Developing Influence.</a:t>
            </a:r>
          </a:p>
          <a:p>
            <a:r>
              <a:rPr lang="en-US" dirty="0"/>
              <a:t>Limang proficiencies: tunay na relasyon; Christlike na halimbawa; mahusay na pakikinig; non-verbal communication; at salitang nagpapalakas.</a:t>
            </a:r>
          </a:p>
          <a:p>
            <a:r>
              <a:rPr lang="en-US" dirty="0"/>
              <a:t>Tapat na grado, walang tama o mali; ire-retake ito sa dulo ng Leading Others arc.</a:t>
            </a:r>
          </a:p>
          <a:p>
            <a:r>
              <a:rPr lang="en-US" dirty="0"/>
              <a:t>Pagkatapos, isang pangungusap sa katabi: Ang pinakamalaking insight ko ay...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DALHIN · 2 min (target 00:57)</a:t>
            </a:r>
          </a:p>
          <a:p>
            <a:r>
              <a:rPr lang="en-US" dirty="0"/>
              <a:t>Apat na practice assignments mula sa Leading Yourself ni Mac Lake, Module 6.</a:t>
            </a:r>
          </a:p>
          <a:p>
            <a:r>
              <a:rPr lang="en-US" dirty="0"/>
              <a:t>Una, Araw-araw na Pampalakas-loob: sa loob ng isang linggo, i-encourage ang kahit isang tao bawat araw — text, tawag, sulat-kamay na note, o harapang usapan.</a:t>
            </a:r>
          </a:p>
          <a:p>
            <a:r>
              <a:rPr lang="en-US" dirty="0"/>
              <a:t>Pangalawa, Active Listening: pumili ng isang usapan bawat araw na buong atensyon kang makikinig, ipapakita mong nakikinig ka sa non-verbal cues, at ire-restate mo ang sinabi niya.</a:t>
            </a:r>
          </a:p>
          <a:p>
            <a:r>
              <a:rPr lang="en-US" dirty="0"/>
              <a:t>Pangatlo, Isang Halimbawa: pumili ng isang area — sa bahay, trabaho, o komunidad — kung saan puwede kang maging mas mabuting halimbawa, at isang specific na ugaling pagbubutihin.</a:t>
            </a:r>
          </a:p>
          <a:p>
            <a:r>
              <a:rPr lang="en-US" dirty="0"/>
              <a:t>Pang-apat, Honor sa Hindi Napapansin: bawat araw, i-honor ang isang taong madalas hindi nakikilala — guard, janitor, tindera, driver — sa papuri, paglilingkod, o simpleng pagkilala.</a:t>
            </a:r>
          </a:p>
          <a:p>
            <a:r>
              <a:rPr lang="en-US" dirty="0"/>
              <a:t>May 7-araw na tracker sa guide para sa una at pang-apat: isang linya bawat araw.</a:t>
            </a:r>
          </a:p>
          <a:p>
            <a:r>
              <a:rPr lang="en-US" dirty="0"/>
              <a:t>Memorize ang 1 Corinthians 11:1.</a:t>
            </a:r>
          </a:p>
          <a:p>
            <a:r>
              <a:rPr lang="en-US" dirty="0"/>
              <a:t>Sabihin nang malinaw: ang mga ito ang unang babalikan ng L17.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DALHIN · 2 min (target 00:59)</a:t>
            </a:r>
          </a:p>
          <a:p>
            <a:r>
              <a:rPr lang="en-US" dirty="0"/>
              <a:t>PARTICIPANT GUIDE QUESTION.</a:t>
            </a:r>
          </a:p>
          <a:p>
            <a:r>
              <a:rPr lang="en-US" dirty="0"/>
              <a:t>Isulat muna sa guide, tapos bigkasin sa katabi.</a:t>
            </a:r>
          </a:p>
          <a:p>
            <a:r>
              <a:rPr lang="en-US" dirty="0"/>
              <a:t>Konkreto: hindi magiging mabait ako, kundi pupuntahan ko si ganito at sasabihin ko ang ganito.</a:t>
            </a:r>
          </a:p>
          <a:p>
            <a:r>
              <a:rPr lang="en-US" dirty="0"/>
              <a:t>Ikabit sa chart na Lakad Kasama si Jesus at sa apat na assignments.</a:t>
            </a:r>
          </a:p>
          <a:p>
            <a:r>
              <a:rPr lang="en-US" dirty="0"/>
              <a:t>Ito ang pangakong babalikan ng discipler mo at ng L17.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DALHIN · 1 min (target 01:00)</a:t>
            </a:r>
          </a:p>
          <a:p>
            <a:r>
              <a:rPr lang="en-US" dirty="0"/>
              <a:t>Preview ng L17: Pursuing Right Relationships — kung ang L16 ay tungkol sa nakikita ng iba sa atin, ang L17 ay tungkol sa mga relasyong humuhubog sa atin.</a:t>
            </a:r>
          </a:p>
          <a:p>
            <a:r>
              <a:rPr lang="en-US" dirty="0"/>
              <a:t>Paalala: dalhin sa L17 ang chart na Lakad Kasama si Jesus, ang 7-araw na tracker, ang A–E, at ang Pangako Ko.</a:t>
            </a:r>
          </a:p>
          <a:p>
            <a:r>
              <a:rPr lang="en-US" dirty="0"/>
              <a:t>Closing ritual: Disciples who make disciples.</a:t>
            </a:r>
          </a:p>
          <a:p>
            <a:r>
              <a:rPr lang="en-US" dirty="0"/>
              <a:t>Isang maikling closing prayer: Panginoon, kapag tumingin sila sa amin, si Cristo sana ang makita nila.</a:t>
            </a:r>
          </a:p>
          <a:p>
            <a:r>
              <a:rPr lang="en-US" dirty="0"/>
              <a:t>Tapos ang 60 minuto — landing sa 01:00.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A5C4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82296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D4A8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MULTIPLY · DISCIPLE-MAKING PIPELINE · BTLI 1 · LESSON 16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417320"/>
            <a:ext cx="1072591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DFBF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Salamin ng Servant-Leader</a:t>
            </a:r>
            <a:endParaRPr lang="en-US" sz="5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65760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DFB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Modelling Christlikeness · Paano Ako Mabubuhay na Katulad ni Cristo?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4343400"/>
            <a:ext cx="9445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D4A8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“Tularan ninyo ako, gaya ng pagtulad ko kay Cristo.” — 1 Corinthians 11:1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25780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DFB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🌿 Goodness · Kabutihan · ⚡ Developing Influence · Leading Others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60-min lesson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1228832" y="635508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DFB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 / 30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A5C40"/>
          </a:solidFill>
          <a:ln/>
        </p:spPr>
      </p:sp>
      <p:sp>
        <p:nvSpPr>
          <p:cNvPr id="3" name="Shape 1"/>
          <p:cNvSpPr/>
          <p:nvPr/>
        </p:nvSpPr>
        <p:spPr>
          <a:xfrm>
            <a:off x="3991356" y="548640"/>
            <a:ext cx="4206240" cy="411480"/>
          </a:xfrm>
          <a:prstGeom prst="roundRect">
            <a:avLst>
              <a:gd name="adj" fmla="val 44444"/>
            </a:avLst>
          </a:prstGeom>
          <a:ln w="15875">
            <a:solidFill>
              <a:srgbClr val="D4A85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991356" y="5486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8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TALATA NG MEMORYA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143000"/>
            <a:ext cx="10725912" cy="149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dirty="0">
                <a:solidFill>
                  <a:srgbClr val="FDFBF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“Tularan ninyo ako, gaya ng pagtulad ko kay Cristo.”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819400"/>
            <a:ext cx="10725912" cy="474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D4A8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— 1 Corinthians 11:1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476752"/>
            <a:ext cx="10725912" cy="834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00" dirty="0">
                <a:solidFill>
                  <a:srgbClr val="FDFB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 Paul ay tumutulad kay Cristo — kaya puwede siyang tularan.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493768"/>
            <a:ext cx="10725912" cy="504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D4A8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Sino ang tumutulad sa iyo?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2 min · ⌛00:02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228832" y="635508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DFB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 / 30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2E7"/>
          </a:solidFill>
          <a:ln/>
        </p:spPr>
      </p:sp>
      <p:sp>
        <p:nvSpPr>
          <p:cNvPr id="3" name="Shape 1"/>
          <p:cNvSpPr/>
          <p:nvPr/>
        </p:nvSpPr>
        <p:spPr>
          <a:xfrm>
            <a:off x="4448556" y="548640"/>
            <a:ext cx="3291840" cy="411480"/>
          </a:xfrm>
          <a:prstGeom prst="roundRect">
            <a:avLst>
              <a:gd name="adj" fmla="val 44444"/>
            </a:avLst>
          </a:prstGeom>
          <a:ln w="15875">
            <a:solidFill>
              <a:srgbClr val="2A5C4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448556" y="5486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5C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BALIKAN · L15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143000"/>
            <a:ext cx="10725912" cy="714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1A2E2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Ang Iniwan ng Lesson 15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66976"/>
            <a:ext cx="10725912" cy="774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❓ Ang Pangalawang Tanong — mas malalim na tanong pagkatapos ng “Kumusta?”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924048"/>
            <a:ext cx="10725912" cy="774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🍞 Ang Limang Tinapay — isang specific na tulong mula sa Galatians Circles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881120"/>
            <a:ext cx="10725912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👣 Ang 7-Day Needs Walk — isang linya bawat araw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478528"/>
            <a:ext cx="10725912" cy="714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i="1" dirty="0">
                <a:solidFill>
                  <a:srgbClr val="1F453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✍️ “Dahil nais kong makita ang tunay na pangangailangan ng iba gaya ng pagtingin ni Jesus...”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5375656"/>
            <a:ext cx="10725912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b="1" dirty="0">
                <a:solidFill>
                  <a:srgbClr val="1F453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Collection ito, hindi correction.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 min · ⌛00:03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1228832" y="635508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 / 30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C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1645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· DISCIPLE-MAKING PIPELINE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658368"/>
            <a:ext cx="10360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PUKAW · TANONG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813048" y="1444752"/>
            <a:ext cx="4572000" cy="502920"/>
          </a:xfrm>
          <a:prstGeom prst="roundRect">
            <a:avLst>
              <a:gd name="adj" fmla="val 27273"/>
            </a:avLst>
          </a:prstGeom>
          <a:solidFill>
            <a:srgbClr val="D4AF3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813048" y="144475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Participant Guide Question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148840"/>
            <a:ext cx="1036015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4400" b="1" dirty="0">
                <a:solidFill>
                  <a:srgbClr val="FEF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Ilang araw ang natapos mo sa Needs Walk? At ano ang ginawa mo sa Pangalawang Tanong at sa Limang Tinapay?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566928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sasagot bawat isa — isang araw, isang gawa, isang kuwento.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2 min · ⌛00:05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091672" y="635508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30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2E7"/>
          </a:solidFill>
          <a:ln/>
        </p:spPr>
      </p:sp>
      <p:sp>
        <p:nvSpPr>
          <p:cNvPr id="3" name="Shape 1"/>
          <p:cNvSpPr/>
          <p:nvPr/>
        </p:nvSpPr>
        <p:spPr>
          <a:xfrm>
            <a:off x="4905756" y="548640"/>
            <a:ext cx="2377440" cy="411480"/>
          </a:xfrm>
          <a:prstGeom prst="roundRect">
            <a:avLst>
              <a:gd name="adj" fmla="val 44444"/>
            </a:avLst>
          </a:prstGeom>
          <a:ln w="15875">
            <a:solidFill>
              <a:srgbClr val="2A5C4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905756" y="548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5C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TANAW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143000"/>
            <a:ext cx="10725912" cy="1373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1A2E2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Ang Lalaking Nagtayo ng Church of Satan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699512"/>
            <a:ext cx="10725912" cy="474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1F453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Anton Szandor LaVey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356864"/>
            <a:ext cx="10725912" cy="474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800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Sabado ng gabi: sa bulgar na nightclub shows.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014216"/>
            <a:ext cx="10725912" cy="894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800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Linggo ng umaga: sa worship gatherings — parehong mga lalaki.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5091176"/>
            <a:ext cx="10725912" cy="504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F453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Hindi magkatugma ang paniniwala sa pamumuhay.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2 min · ⌛00:07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1228832" y="635508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 / 30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C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1645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· DISCIPLE-MAKING PIPELINE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658368"/>
            <a:ext cx="10360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PUKAW · TANONG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813048" y="1444752"/>
            <a:ext cx="4572000" cy="502920"/>
          </a:xfrm>
          <a:prstGeom prst="roundRect">
            <a:avLst>
              <a:gd name="adj" fmla="val 27273"/>
            </a:avLst>
          </a:prstGeom>
          <a:solidFill>
            <a:srgbClr val="D4AF3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813048" y="144475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Participant Guide Question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148840"/>
            <a:ext cx="1036015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4400" b="1" dirty="0">
                <a:solidFill>
                  <a:srgbClr val="FEF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Bago ka naging Christian, ano ang pinaka-inaayawan mo sa mga Christians? Nagbago ba ito pagkatapos mong maging Christian?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566928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Isulat muna sa participant guide — 1-2 sasagot.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 min · ⌛00:08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091672" y="635508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30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A5C40"/>
          </a:solidFill>
          <a:ln/>
        </p:spPr>
      </p:sp>
      <p:sp>
        <p:nvSpPr>
          <p:cNvPr id="3" name="Shape 1"/>
          <p:cNvSpPr/>
          <p:nvPr/>
        </p:nvSpPr>
        <p:spPr>
          <a:xfrm>
            <a:off x="4814316" y="548640"/>
            <a:ext cx="2560320" cy="411480"/>
          </a:xfrm>
          <a:prstGeom prst="roundRect">
            <a:avLst>
              <a:gd name="adj" fmla="val 44444"/>
            </a:avLst>
          </a:prstGeom>
          <a:ln w="15875">
            <a:solidFill>
              <a:srgbClr val="D4A85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814316" y="548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8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BIG IDEA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143000"/>
            <a:ext cx="10725912" cy="185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DFBF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“Ang tunay na serbisyong-Kristiyano ay nag-uugat sa pagiging katulad ni Hesukristo.”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179064"/>
            <a:ext cx="10725912" cy="474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D4A8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Uhaw ang mundo sa totoo; gigil ito sa peke.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836416"/>
            <a:ext cx="10725912" cy="834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00" dirty="0">
                <a:solidFill>
                  <a:srgbClr val="FDFB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Ang laman ng balita: hindi ang mga eroplanong lumilipad nang maayos — kundi ang mga bumabagsak.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2 min · ⌛00:10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1228832" y="635508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DFB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 / 30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2E7"/>
          </a:solidFill>
          <a:ln/>
        </p:spPr>
      </p:sp>
      <p:sp>
        <p:nvSpPr>
          <p:cNvPr id="3" name="Shape 1"/>
          <p:cNvSpPr/>
          <p:nvPr/>
        </p:nvSpPr>
        <p:spPr>
          <a:xfrm>
            <a:off x="3808476" y="548640"/>
            <a:ext cx="4572000" cy="411480"/>
          </a:xfrm>
          <a:prstGeom prst="roundRect">
            <a:avLst>
              <a:gd name="adj" fmla="val 44444"/>
            </a:avLst>
          </a:prstGeom>
          <a:ln w="15875">
            <a:solidFill>
              <a:srgbClr val="2A5C4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808476" y="548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5C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ANG PAGSAWAY NI PAUL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143000"/>
            <a:ext cx="10725912" cy="185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A2E2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“...nilalapastangan mo naman ang Diyos sa pamamagitan ng paglabag mo sa Kautusan! ...‘Ang pangalan ng Diyos ay nilalait ng mga Hentil dahil sa inyo.’”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179064"/>
            <a:ext cx="10725912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F453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— Romans 2:23-24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776472"/>
            <a:ext cx="10725912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00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 tuwing hindi tayo nagiging katulad ni Kristo, nagiging kalait-lait ang pangalan ng Dios sa mga 'di mananampalataya dahil sa atin.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5183124"/>
            <a:ext cx="10725912" cy="894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1F453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Mas mataas ang standard of accountability natin kaysa sa mundo.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2 min · ⌛00:12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228832" y="635508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 / 30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C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1645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· DISCIPLE-MAKING PIPELINE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658368"/>
            <a:ext cx="10360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TUKLAS · TANONG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813048" y="1444752"/>
            <a:ext cx="4572000" cy="502920"/>
          </a:xfrm>
          <a:prstGeom prst="roundRect">
            <a:avLst>
              <a:gd name="adj" fmla="val 27273"/>
            </a:avLst>
          </a:prstGeom>
          <a:solidFill>
            <a:srgbClr val="D4AF3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813048" y="144475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Participant Guide Question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148840"/>
            <a:ext cx="1036015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4400" b="1" dirty="0">
                <a:solidFill>
                  <a:srgbClr val="FEF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Totoo ang katotohanan kahit na ano'ng gawin mo dito. Pero mas magiging kapani-paniwala ba ang katotohanan kapag kapani-paniwala ang nagpapatotoo? Bakit?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566928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Isulat muna sa participant guide — 2-3 sasagot.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 min · ⌛00:13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091672" y="635508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30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A5C40"/>
          </a:solidFill>
          <a:ln/>
        </p:spPr>
      </p:sp>
      <p:sp>
        <p:nvSpPr>
          <p:cNvPr id="3" name="Shape 1"/>
          <p:cNvSpPr/>
          <p:nvPr/>
        </p:nvSpPr>
        <p:spPr>
          <a:xfrm>
            <a:off x="3808476" y="548640"/>
            <a:ext cx="4572000" cy="411480"/>
          </a:xfrm>
          <a:prstGeom prst="roundRect">
            <a:avLst>
              <a:gd name="adj" fmla="val 44444"/>
            </a:avLst>
          </a:prstGeom>
          <a:ln w="15875">
            <a:solidFill>
              <a:srgbClr val="D4A85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808476" y="548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8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ANG IKALIMANG GOSPEL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143000"/>
            <a:ext cx="10725912" cy="149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FDFBF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“Mayroong limang Gospels — Matthew, Mark, Luke, John at ang Christian... pero maraming taong hindi babasahin ang unang apat.”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819400"/>
            <a:ext cx="10725912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D4A8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— Rodney “Gipsy” Smith, British evangelist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416808"/>
            <a:ext cx="10725912" cy="894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DFB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Ang Kristyanismo ay hindi mamahaling pinggan na inilalabas lang kapag may bisita.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2 min · ⌛00:15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1228832" y="635508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DFB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 / 30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2E7"/>
          </a:solidFill>
          <a:ln/>
        </p:spPr>
      </p:sp>
      <p:sp>
        <p:nvSpPr>
          <p:cNvPr id="3" name="Shape 1"/>
          <p:cNvSpPr/>
          <p:nvPr/>
        </p:nvSpPr>
        <p:spPr>
          <a:xfrm>
            <a:off x="3259836" y="548640"/>
            <a:ext cx="5669280" cy="411480"/>
          </a:xfrm>
          <a:prstGeom prst="roundRect">
            <a:avLst>
              <a:gd name="adj" fmla="val 44444"/>
            </a:avLst>
          </a:prstGeom>
          <a:ln w="15875">
            <a:solidFill>
              <a:srgbClr val="2A5C4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259836" y="54864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5C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TULARAN ANG WALANG KATULAD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143000"/>
            <a:ext cx="10725912" cy="1313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1A2E2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“Yamang kayo'y mga anak na minamahal ng Diyos, tularan ninyo siya. Mamuhay kayo nang may pagmamahal tulad ni Cristo...” — Ephesians 5:1-2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639568"/>
            <a:ext cx="10725912" cy="504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F453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Hindi magpaka-Diyos — kundi maging maka-Diyos.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326892"/>
            <a:ext cx="10725912" cy="834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00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① Maging anak Niya muna (John 1:12) — relasyon, hindi sariling-sikap.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343908"/>
            <a:ext cx="10725912" cy="834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00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② Tularan si Jesus — “nag-iwan sa inyo ng isang halimbawa” (1 Peter 2:21).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2 min · ⌛00:17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228832" y="635508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11 / 30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A5C40"/>
          </a:solidFill>
          <a:ln/>
        </p:spPr>
      </p:sp>
      <p:sp>
        <p:nvSpPr>
          <p:cNvPr id="3" name="Shape 1"/>
          <p:cNvSpPr/>
          <p:nvPr/>
        </p:nvSpPr>
        <p:spPr>
          <a:xfrm>
            <a:off x="4311396" y="548640"/>
            <a:ext cx="3566160" cy="411480"/>
          </a:xfrm>
          <a:prstGeom prst="roundRect">
            <a:avLst>
              <a:gd name="adj" fmla="val 44444"/>
            </a:avLst>
          </a:prstGeom>
          <a:ln w="15875">
            <a:solidFill>
              <a:srgbClr val="D4A85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311396" y="5486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8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HUBARIN · ISUOT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143000"/>
            <a:ext cx="10725912" cy="1313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DFBF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“Hubarin na ninyo ang inyong dating pagkatao... at ang dapat ninyong isuot ay ang bagong pagkatao na nilikhang kalarawan ng Diyos...”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639568"/>
            <a:ext cx="10725912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D4A8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— Ephesians 4:22-24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236976"/>
            <a:ext cx="10725912" cy="834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00" dirty="0">
                <a:solidFill>
                  <a:srgbClr val="FDFB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May mga dapat iwan, may mga dapat yakapin. May mga dapat hubarin, may mga dapat isuot.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253992"/>
            <a:ext cx="10725912" cy="474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D4A8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Apat na pares — at apat na kasanayan ng impluwensiya.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2 min · ⌛00:19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228832" y="635508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DFB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 / 30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2E7"/>
          </a:solidFill>
          <a:ln/>
        </p:spPr>
      </p:sp>
      <p:sp>
        <p:nvSpPr>
          <p:cNvPr id="3" name="Shape 1"/>
          <p:cNvSpPr/>
          <p:nvPr/>
        </p:nvSpPr>
        <p:spPr>
          <a:xfrm>
            <a:off x="2619756" y="548640"/>
            <a:ext cx="6949440" cy="411480"/>
          </a:xfrm>
          <a:prstGeom prst="roundRect">
            <a:avLst>
              <a:gd name="adj" fmla="val 44444"/>
            </a:avLst>
          </a:prstGeom>
          <a:ln w="15875">
            <a:solidFill>
              <a:srgbClr val="2A5C4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619756" y="54864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5C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① KASINUNGALINGAN → KATOTOHANAN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143000"/>
            <a:ext cx="10725912" cy="1733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1A2E2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“...itakwil na natin ang pagsisinungaling at tayong lahat ay magsabi ng totoo sa isa't isa, sapagkat tayo'y bahagi ng iisang katawan.” — Ephesians 4:25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059176"/>
            <a:ext cx="10725912" cy="774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1F453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Ang Assignment sa Mark 17 · 91% ang regular na nagsisinungaling (US survey, 1992)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016248"/>
            <a:ext cx="10725912" cy="834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Kasanayan: TUNAY NA RELASYON — tapat, bukas, at totoong naroroon.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2 min · ⌛00:21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1228832" y="635508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13 / 30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A5C40"/>
          </a:solidFill>
          <a:ln/>
        </p:spPr>
      </p:sp>
      <p:sp>
        <p:nvSpPr>
          <p:cNvPr id="3" name="Shape 1"/>
          <p:cNvSpPr/>
          <p:nvPr/>
        </p:nvSpPr>
        <p:spPr>
          <a:xfrm>
            <a:off x="3534156" y="548640"/>
            <a:ext cx="5120640" cy="411480"/>
          </a:xfrm>
          <a:prstGeom prst="roundRect">
            <a:avLst>
              <a:gd name="adj" fmla="val 44444"/>
            </a:avLst>
          </a:prstGeom>
          <a:ln w="15875">
            <a:solidFill>
              <a:srgbClr val="D4A85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534156" y="5486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8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② GALIT → PAGPAPATAWAD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143000"/>
            <a:ext cx="10725912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FDFBF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“Kung magagalit man kayo, iwasan ninyo ang kayo'y magkasala. Huwag ninyong hayaang lumubog ang araw na galit pa rin kayo.” — Ephesians 4:26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549652"/>
            <a:ext cx="10725912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D4A8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Sama ng loob = mapait na apdo · Poot = pagkulo ng dugo (thermos)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147060"/>
            <a:ext cx="10725912" cy="774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i="1" dirty="0">
                <a:solidFill>
                  <a:srgbClr val="FDFB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“...magpatawad kayo sa isa't isa tulad ng pagpapatawad sa inyo ng Diyos dahil kay Cristo.” — Ephesians 4:32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104132"/>
            <a:ext cx="10725912" cy="834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FDFB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Kasanayan: MAHUSAY NA PAKIKINIG — mabilis makinig, mabagal magalit (James 1:19).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3 min · ⌛00:24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228832" y="635508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DFB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14 / 30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C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1645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· DISCIPLE-MAKING PIPELINE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658368"/>
            <a:ext cx="10360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TUKLAS · TANONG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813048" y="1444752"/>
            <a:ext cx="4572000" cy="502920"/>
          </a:xfrm>
          <a:prstGeom prst="roundRect">
            <a:avLst>
              <a:gd name="adj" fmla="val 27273"/>
            </a:avLst>
          </a:prstGeom>
          <a:solidFill>
            <a:srgbClr val="D4AF3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813048" y="144475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Participant Guide Question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148840"/>
            <a:ext cx="1036015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5400" b="1" dirty="0">
                <a:solidFill>
                  <a:srgbClr val="FEF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Bakit mas madaling maghiganti kaysa magpatawad?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566928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Isulat muna sa participant guide — 2-3 sasagot.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 min · ⌛00:25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091672" y="635508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30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2E7"/>
          </a:solidFill>
          <a:ln/>
        </p:spPr>
      </p:sp>
      <p:sp>
        <p:nvSpPr>
          <p:cNvPr id="3" name="Shape 1"/>
          <p:cNvSpPr/>
          <p:nvPr/>
        </p:nvSpPr>
        <p:spPr>
          <a:xfrm>
            <a:off x="2436876" y="548640"/>
            <a:ext cx="7315200" cy="411480"/>
          </a:xfrm>
          <a:prstGeom prst="roundRect">
            <a:avLst>
              <a:gd name="adj" fmla="val 44444"/>
            </a:avLst>
          </a:prstGeom>
          <a:ln w="15875">
            <a:solidFill>
              <a:srgbClr val="2A5C4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436876" y="5486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5C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③ PAGNANAKAW → MARANGAL NA PAGGAWA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143000"/>
            <a:ext cx="10725912" cy="1733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1A2E2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“Ang magnanakaw ay huwag nang magnakaw; sa halip, magtrabaho siya nang marangal para sa sariling ikabubuhay at makatulong sa mga nangangailangan.” — Ephesians 4:28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059176"/>
            <a:ext cx="10725912" cy="834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00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Ang pagnanakaw ay pagkuha ng anumang hindi sa iyo — hindi lang pera.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076192"/>
            <a:ext cx="10725912" cy="834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1F453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Kasanayan: PARE-PAREHONG HALIMBAWA — iisa ka sa simbahan, sa trabaho, at sa bahay.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2 min · ⌛00:27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1228832" y="635508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16 / 30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C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1645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· DISCIPLE-MAKING PIPELINE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658368"/>
            <a:ext cx="10360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TUKLAS · TANONG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813048" y="1444752"/>
            <a:ext cx="4572000" cy="502920"/>
          </a:xfrm>
          <a:prstGeom prst="roundRect">
            <a:avLst>
              <a:gd name="adj" fmla="val 27273"/>
            </a:avLst>
          </a:prstGeom>
          <a:solidFill>
            <a:srgbClr val="D4AF3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813048" y="144475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Participant Guide Question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148840"/>
            <a:ext cx="1036015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4400" b="1" dirty="0">
                <a:solidFill>
                  <a:srgbClr val="FEF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Magbigay ng isa pang halimbawa ng pagnanakaw na ginagawa natin maliban sa pang-uumit ng pera.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566928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Isulat muna sa participant guide — 2-3 sasagot.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 min · ⌛00:28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091672" y="635508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30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A5C40"/>
          </a:solidFill>
          <a:ln/>
        </p:spPr>
      </p:sp>
      <p:sp>
        <p:nvSpPr>
          <p:cNvPr id="3" name="Shape 1"/>
          <p:cNvSpPr/>
          <p:nvPr/>
        </p:nvSpPr>
        <p:spPr>
          <a:xfrm>
            <a:off x="2619756" y="548640"/>
            <a:ext cx="6949440" cy="411480"/>
          </a:xfrm>
          <a:prstGeom prst="roundRect">
            <a:avLst>
              <a:gd name="adj" fmla="val 44444"/>
            </a:avLst>
          </a:prstGeom>
          <a:ln w="15875">
            <a:solidFill>
              <a:srgbClr val="D4A85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619756" y="54864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8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④ MASAMANG → MABUTING PANANALITA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143000"/>
            <a:ext cx="10725912" cy="1613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FDFBF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“Huwag kayong gumamit ng masasamang salita kundi iyong makapagpapalakas at angkop sa pagkakataon upang makapagdulot ng mabuti sa mga nakakarinig.” — Ephesians 4:29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939288"/>
            <a:ext cx="10725912" cy="774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D4A8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Sapros: bulok, panis, inaagnas · Ang bibig ang stethoscope ng puso (Luke 6:45).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896360"/>
            <a:ext cx="1072591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00" dirty="0">
                <a:solidFill>
                  <a:srgbClr val="FDFB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Nakakapagpalakas ba? Angkop ba? Magdudulot ba ng kabutihan?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523740"/>
            <a:ext cx="10725912" cy="834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FDFB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Kasanayan: SALITANG NAGPAPALAKAS — nakikita mo ang lakas at potensiyal ng iba.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2 min · ⌛00:30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228832" y="635508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DFB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18 / 30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2E7"/>
          </a:solidFill>
          <a:ln/>
        </p:spPr>
      </p:sp>
      <p:sp>
        <p:nvSpPr>
          <p:cNvPr id="3" name="Shape 1"/>
          <p:cNvSpPr/>
          <p:nvPr/>
        </p:nvSpPr>
        <p:spPr>
          <a:xfrm>
            <a:off x="3991356" y="548640"/>
            <a:ext cx="4206240" cy="411480"/>
          </a:xfrm>
          <a:prstGeom prst="roundRect">
            <a:avLst>
              <a:gd name="adj" fmla="val 44444"/>
            </a:avLst>
          </a:prstGeom>
          <a:ln w="15875">
            <a:solidFill>
              <a:srgbClr val="2A5C4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991356" y="5486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5C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MAHALAGANG PAALALA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143000"/>
            <a:ext cx="10725912" cy="1253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1A2E2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“At huwag ninyong saktan ang kalooban ng Espiritu Santo...”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579624"/>
            <a:ext cx="1072591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1F453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— Ephesians 4:30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207004"/>
            <a:ext cx="10725912" cy="474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800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Hindi ito simpleng DOs and DON'Ts list.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864356"/>
            <a:ext cx="10725912" cy="834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1F453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Namatay at nabuhay-muli si Jesus para sa atin — mamatay nawa tayo sa lumang gawi at mabuhay para sa Kaniya.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 min · ⌛00:31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228832" y="635508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19 / 30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A5C40"/>
          </a:solidFill>
          <a:ln/>
        </p:spPr>
      </p:sp>
      <p:sp>
        <p:nvSpPr>
          <p:cNvPr id="3" name="Shape 1"/>
          <p:cNvSpPr/>
          <p:nvPr/>
        </p:nvSpPr>
        <p:spPr>
          <a:xfrm>
            <a:off x="3808476" y="548640"/>
            <a:ext cx="4572000" cy="411480"/>
          </a:xfrm>
          <a:prstGeom prst="roundRect">
            <a:avLst>
              <a:gd name="adj" fmla="val 44444"/>
            </a:avLst>
          </a:prstGeom>
          <a:ln w="15875">
            <a:solidFill>
              <a:srgbClr val="D4A85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808476" y="548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8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DEVELOPING INFLUENCE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143000"/>
            <a:ext cx="1072591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600" b="1" dirty="0">
                <a:solidFill>
                  <a:srgbClr val="FDFBF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“Igalang ninyo ang lahat ng tao...” — 1 Peter 2:17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459736"/>
            <a:ext cx="10725912" cy="834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D4A8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Kabutihang nakikita → honor sa bawat tao → impluwensiyang nagtuturo kay Cristo.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476752"/>
            <a:ext cx="10725912" cy="774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FDFB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🤝 Tunay na Relasyon · 🪞 Pare-parehong Halimbawa · 👂 Mahusay na Pakikinig · 💬 Salitang Nagpapalakas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2 min · ⌛00:33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1228832" y="635508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DFB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/ 30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2E7"/>
          </a:solidFill>
          <a:ln/>
        </p:spPr>
      </p:sp>
      <p:sp>
        <p:nvSpPr>
          <p:cNvPr id="3" name="Shape 1"/>
          <p:cNvSpPr/>
          <p:nvPr/>
        </p:nvSpPr>
        <p:spPr>
          <a:xfrm>
            <a:off x="4814316" y="548640"/>
            <a:ext cx="2560320" cy="411480"/>
          </a:xfrm>
          <a:prstGeom prst="roundRect">
            <a:avLst>
              <a:gd name="adj" fmla="val 44444"/>
            </a:avLst>
          </a:prstGeom>
          <a:ln w="15875">
            <a:solidFill>
              <a:srgbClr val="2A5C4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814316" y="548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5C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TALAKAY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143000"/>
            <a:ext cx="10725912" cy="774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dirty="0">
                <a:solidFill>
                  <a:srgbClr val="1A2E2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Safe-Space Sharing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00072"/>
            <a:ext cx="10725912" cy="954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F453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fixing · No comparison · No preaching · Confidential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236976"/>
            <a:ext cx="10725912" cy="834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00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Tables ng 3-4. Tatlong tanong. Ang katapatan mo ang pinakamagandang patotoo.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 min · ⌛00:34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1228832" y="635508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21 / 30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C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1645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· DISCIPLE-MAKING PIPELINE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658368"/>
            <a:ext cx="10360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TALAKAY · TANONG 1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813048" y="1444752"/>
            <a:ext cx="4572000" cy="502920"/>
          </a:xfrm>
          <a:prstGeom prst="roundRect">
            <a:avLst>
              <a:gd name="adj" fmla="val 27273"/>
            </a:avLst>
          </a:prstGeom>
          <a:solidFill>
            <a:srgbClr val="D4AF3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813048" y="144475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Participant Guide Question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148840"/>
            <a:ext cx="1036015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3600" b="1" dirty="0">
                <a:solidFill>
                  <a:srgbClr val="FEF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Sang-ayon ka ba kay Brennan Manning: "Ang pinakamalaking rason kung bakit maraming 'di naniniwala sa Dios ay ang mga Kristyanong kinikilala si Jesus sa salita pero kinakaila Siya sa pamumuhay"? Bakit?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566928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tables — isang sagot bawat isa, isang halimbawa mula sa buhay.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4 min · ⌛00:38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091672" y="635508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30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C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1645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· DISCIPLE-MAKING PIPELINE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658368"/>
            <a:ext cx="10360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TALAKAY · TANONG 2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813048" y="1444752"/>
            <a:ext cx="4572000" cy="502920"/>
          </a:xfrm>
          <a:prstGeom prst="roundRect">
            <a:avLst>
              <a:gd name="adj" fmla="val 27273"/>
            </a:avLst>
          </a:prstGeom>
          <a:solidFill>
            <a:srgbClr val="D4AF3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813048" y="144475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Participant Guide Question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148840"/>
            <a:ext cx="1036015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4400" b="1" dirty="0">
                <a:solidFill>
                  <a:srgbClr val="FEF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Sino ang nakatingin sa iyo? Ano ang maganda mong naipapakita sa kanila — at saan ka pa kailangang lumago bilang pare-parehong halimbawa?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566928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Pangalanan ang 2-3 taong nakatingin — anak, katrabaho, LCG member.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3 min · ⌛00:41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091672" y="635508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30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C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1645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· DISCIPLE-MAKING PIPELINE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658368"/>
            <a:ext cx="10360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TALAKAY · TANONG 3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813048" y="1444752"/>
            <a:ext cx="4572000" cy="502920"/>
          </a:xfrm>
          <a:prstGeom prst="roundRect">
            <a:avLst>
              <a:gd name="adj" fmla="val 27273"/>
            </a:avLst>
          </a:prstGeom>
          <a:solidFill>
            <a:srgbClr val="D4AF3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813048" y="144475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Participant Guide Question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148840"/>
            <a:ext cx="1036015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4400" b="1" dirty="0">
                <a:solidFill>
                  <a:srgbClr val="FEF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Sino ang taong pinakamahirap para sa iyo na i-honor ngayon? Bakit? Ano ang susunod na hakbang na ipinapagawa sa iyo ng Dios para maipakita mo sa kaniya ang honor?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566928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Walang pangalan kung hindi kailangan — sapat na ang “isang katrabaho” o “isang kamag-anak.”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4 min · ⌛00:45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091672" y="635508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30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2E7"/>
          </a:solidFill>
          <a:ln/>
        </p:spPr>
      </p:sp>
      <p:sp>
        <p:nvSpPr>
          <p:cNvPr id="3" name="Shape 1"/>
          <p:cNvSpPr/>
          <p:nvPr/>
        </p:nvSpPr>
        <p:spPr>
          <a:xfrm>
            <a:off x="4905756" y="548640"/>
            <a:ext cx="2377440" cy="411480"/>
          </a:xfrm>
          <a:prstGeom prst="roundRect">
            <a:avLst>
              <a:gd name="adj" fmla="val 44444"/>
            </a:avLst>
          </a:prstGeom>
          <a:ln w="15875">
            <a:solidFill>
              <a:srgbClr val="2A5C4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905756" y="548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5C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TUGON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143000"/>
            <a:ext cx="10725912" cy="1373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1A2E2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Ang Bracelet na may Apat na Letra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699512"/>
            <a:ext cx="10725912" cy="504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F453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W.W.J.D. — What Would Jesus Do?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386836"/>
            <a:ext cx="1072591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00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Hango sa Imitatio Christi ni Thomas à Kempis (1400s).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014216"/>
            <a:ext cx="10725912" cy="504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F453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Higit pa sa tanong: WALKING WITH JESUS DAILY.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2 min · ⌛00:47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228832" y="635508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25 / 30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C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1645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· DISCIPLE-MAKING PIPELINE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658368"/>
            <a:ext cx="10360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🙌 TUGON · TANONG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813048" y="1444752"/>
            <a:ext cx="4572000" cy="502920"/>
          </a:xfrm>
          <a:prstGeom prst="roundRect">
            <a:avLst>
              <a:gd name="adj" fmla="val 27273"/>
            </a:avLst>
          </a:prstGeom>
          <a:solidFill>
            <a:srgbClr val="D4AF3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813048" y="144475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Participant Guide Question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148840"/>
            <a:ext cx="1036015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4400" b="1" dirty="0">
                <a:solidFill>
                  <a:srgbClr val="FEF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chart na "Lakad Kasama si Jesus": ano ang huhubarin mo, ano ang isusuot mo, at saang sitwasyon mo ito gagawin ngayong linggo?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566928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writing. Specific na sitwasyon — hindi general na pangako.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 min · ⌛00:52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091672" y="635508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30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C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1645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· DISCIPLE-MAKING PIPELINE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658368"/>
            <a:ext cx="10360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🙌 TUGON · TANONG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813048" y="1444752"/>
            <a:ext cx="4572000" cy="502920"/>
          </a:xfrm>
          <a:prstGeom prst="roundRect">
            <a:avLst>
              <a:gd name="adj" fmla="val 27273"/>
            </a:avLst>
          </a:prstGeom>
          <a:solidFill>
            <a:srgbClr val="D4AF3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813048" y="144475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Participant Guide Question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148840"/>
            <a:ext cx="1036015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4400" b="1" dirty="0">
                <a:solidFill>
                  <a:srgbClr val="FEF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Developing Influence Preassessment: bigyan ang iyong sarili ng A, B, C, D, o E sa limang proficiencies. Ano ang pinakamalaking insight mo?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566928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modelo para sa iba · E = wala pang mastery. Tapat lang, walang tama o mali.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3 min · ⌛00:55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091672" y="635508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30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A5C40"/>
          </a:solidFill>
          <a:ln/>
        </p:spPr>
      </p:sp>
      <p:sp>
        <p:nvSpPr>
          <p:cNvPr id="3" name="Shape 1"/>
          <p:cNvSpPr/>
          <p:nvPr/>
        </p:nvSpPr>
        <p:spPr>
          <a:xfrm>
            <a:off x="4265676" y="548640"/>
            <a:ext cx="3657600" cy="411480"/>
          </a:xfrm>
          <a:prstGeom prst="roundRect">
            <a:avLst>
              <a:gd name="adj" fmla="val 44444"/>
            </a:avLst>
          </a:prstGeom>
          <a:ln w="15875">
            <a:solidFill>
              <a:srgbClr val="D4A85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265676" y="5486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8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TAKDANG-ARALIN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143000"/>
            <a:ext cx="10725912" cy="714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FDFBF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Dalhin sa Linggong Ito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40128"/>
            <a:ext cx="10725912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dirty="0">
                <a:solidFill>
                  <a:srgbClr val="FDFB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💬 Araw-araw na Pampalakas-loob — isang tao bawat araw.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637536"/>
            <a:ext cx="10725912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dirty="0">
                <a:solidFill>
                  <a:srgbClr val="FDFB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👂 Active Listening — isang usapan bawat araw, buong atensyon.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234944"/>
            <a:ext cx="10725912" cy="774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dirty="0">
                <a:solidFill>
                  <a:srgbClr val="FDFB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🪞 Isang Halimbawa — isang ugaling pagbubutihin (pasensya, katapatan, kabukas-palad).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192016"/>
            <a:ext cx="10725912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dirty="0">
                <a:solidFill>
                  <a:srgbClr val="FDFB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🎖 Honor sa Hindi Napapansin — isang tao bawat araw.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4789424"/>
            <a:ext cx="10725912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D4A8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📖 Memorize: 1 Corinthians 11:1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2 min · ⌛00:57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1228832" y="635508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DFB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28 / 30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C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1645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· DISCIPLE-MAKING PIPELINE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658368"/>
            <a:ext cx="10360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DALHIN · TANONG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813048" y="1444752"/>
            <a:ext cx="4572000" cy="502920"/>
          </a:xfrm>
          <a:prstGeom prst="roundRect">
            <a:avLst>
              <a:gd name="adj" fmla="val 27273"/>
            </a:avLst>
          </a:prstGeom>
          <a:solidFill>
            <a:srgbClr val="D4AF3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813048" y="144475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Participant Guide Question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148840"/>
            <a:ext cx="1036015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4400" b="1" dirty="0">
                <a:solidFill>
                  <a:srgbClr val="FEF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Pangako Ko: "Dahil nais kong makita ng iba si Cristo sa aking buhay, nangangako ako na ngayong linggo ay..."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566928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Konkreto. Isang kilos na kayang tuparin sa loob ng 7 araw.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2 min · ⌛00:59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091672" y="635508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30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2E7"/>
          </a:solidFill>
          <a:ln/>
        </p:spPr>
      </p:sp>
      <p:sp>
        <p:nvSpPr>
          <p:cNvPr id="3" name="Shape 1"/>
          <p:cNvSpPr/>
          <p:nvPr/>
        </p:nvSpPr>
        <p:spPr>
          <a:xfrm>
            <a:off x="4448556" y="548640"/>
            <a:ext cx="3291840" cy="411480"/>
          </a:xfrm>
          <a:prstGeom prst="roundRect">
            <a:avLst>
              <a:gd name="adj" fmla="val 44444"/>
            </a:avLst>
          </a:prstGeom>
          <a:ln w="15875">
            <a:solidFill>
              <a:srgbClr val="2A5C4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448556" y="5486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5C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L17 PREVIEW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143000"/>
            <a:ext cx="10725912" cy="1253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1A2E2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Lesson 17 — Pursuing Right Relationships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579624"/>
            <a:ext cx="10725912" cy="474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800" i="1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Bakal na nagpapatalas sa kapwa bakal — Proverbs 27:17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236976"/>
            <a:ext cx="1072591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1F453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Memorize: 1 Corinthians 11:1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 min · ⌛01:00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1228832" y="635508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30 / 30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2026-10-19T10:52:32Z</dcterms:created>
  <dcterms:modified xsi:type="dcterms:W3CDTF">2026-10-19T10:52:32Z</dcterms:modified>
</cp:coreProperties>
</file>
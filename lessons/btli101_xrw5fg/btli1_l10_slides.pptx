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Bukas tayo sa BTLI 1 Lesson 10 — ang FINALE ng unang kalahati (USAD spine). Sundin ang USAD-L10 source (4-movement: TANAW/TUKLAS/TALAKAY/TUGON). Sa BTLI ay 5-movement (PUKAW/TUKLAS/TALAKAY/TUGON/DALHIN) — PUKAW at DALHIN ay Claude-added wrappers per Invariant #76. Total 60 min. Character anchor: Goodness (Kabutihan). Competence: The Bondservant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Basahin ang Marcos 10:45 nang sabay-sabay. Ito ang cover verse ng buong lesson at ang me-memorize nila sa loob ng linggo. I-anchor sa puso: si Hesus mismo ay naparito para MAGLINGKOD, hindi para paglingkuran.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PUKAW step 2 (~3 min): ikuwento ang Polycarp (156 A.D., disciple ni Apostol Juan). Tapusin sa tanong: mamatay-naglilingkod o mabuhay-tumatalikod? WATCHOUT: hindi guilt-trip — inspirasyon. Karamihan hindi haharap sa martyrdom, pero lahat haharap sa daily choice: bondservant ba ako o hindi?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PUKAW step 3 (~3.5 min): 1-10 service snapshot sa Participant Guide. PARA SA SARILI LANG MUNA — hindi shi-share. Huwag tanungin ang numero sa harap; humihiya kapag mababa. Step 1 (L9 callback) ay ginawa bago ang slide na ito — 1.5 min lang.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step 1 (Big Idea, bahagi ng 4 min): sabay-sabay basahin. Ang tanong ay hindi KUNG maglilingkod ka — bawat tao naglilingkod sa kung sino-sino. Ang tanong: KANINO? Si Cristo ba ang Master mo, o ang sarili mo?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step 1 (DNA, bahagi ng 4 min): ipakita na ang salitang 'ministry' ay literal na lingkod+alipin (diakoneo + douleuo). Roma 12:11 — maningas (lumalagablab, kumukulo). Emphasize: ang umuusad na mananampalataya ay naglilingkod — hindi optional, hindi para lang sa pastor o church worker.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step 2 (5 min): dumaan sa 4 classes — Slave (napipilitan), Hireling (para sa pera), Servant (may expiration), Bondservant (Lingkod-for-Life). Itanong: 'Saan ka ngayon, honestly?' Para sa TALAKAY Q1 ang sagot — hindi pa kailangang i-share dito.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step 2 close (~1 min): ang bondservant ay HINDI takot-na-alipin. Pinili dahil 'mahal niya ang amo' (Exo 21:5-6). Paboritong tawag ni Pablo sa sarili. I-emphasize: pag-ibig ang pinagmumulan, hindi obligasyon. Ito ang North Star ng buong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step 3 (3 min): ang malaking pagkakaiba — volunteer namimili kung kailan/paano; servant humahataw anumang oras. Volunteer may 'quit'; servant wala. Bitawan ang tanong: 'Ikaw — volunteer ka lang ba, o servant?' Hayaan tumimo bago lumipat.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step 4 (4 min): apat na dahilan — binigyang-BUHAY (hindi kailangan ng Dios ang serbisyo mo, pero saysay lang ng buhay kapag para sa Kaniya), binigyang-KALAYAAN (binili ka mula slave market of sin), binigyang-PAGPAPALA (McKinney: 'is my Master satisfied with me?'), binigyang-HALIMBAWA (Hesus na naghugas ng paa).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TUKLAS step 5 (2 min): tatlong paraan — may kagalakan, may pag-ibig, ayon sa gift. Ang huli (spiritual gifts) ang BRIDGE sa TUGON. Emphasize 1 Pet 4:10 — hindi para sa'yo ang gift, para sa benefit ng iba.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TALAKAY (12 min): safe-space reset muna (1 min) — walang husga, confidential, kusang-loob. Q1 self-assessment (4 min, ang load-bearing — sino aamin ng totoong servant-type?). Q2 excuse (3 min). Q3 kawalan (4 min). Magsimula ka — pastor-led vulnerability. WATCHOUT: kung may umamin na hireling/volunteer lang — salamatan ang honesty, huwag i-shame.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TUGON (12 min): ang competence ng lesson — 4 hakbang. Suriin (balikan Q1). Tuklasin (Spiritual Gift Survey KASAMA ang LCG, 1 Cor 12:11 — kung kulang oras, simulan dito + homework). Itugma (tanong sa LCL/pastor + panalangin). Ipangako (SGA Appendix B + Ministry Covenant Appendix C). WATCHOUT: huwag pilitin ang pirma — kusang-loob dapat.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TUGON close (~1-2 min): awitin/pakinggan ang 'Kailan Pa?' ng Papuri Singers (YouTube). Gawing prayer of commitment. Isulat sa Participant Guide ang sagot: 'Ngayon, Panginoon. Magsisimula ako sa...' Hayaan ang weight ng tanong na 'kung hindi ngayon, kailan pa?'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DALHIN step 1 (3 min): ikuwento ang 5 martyrs (Auca/Waodani, 1956). Service unto death → multiplication (bumalik si Elisabeth Elliot, nakilala ng buong tribo si Hesus). Basahin ang quote ni Jim Elliot. PASTORAL CARE: ang martyrdom theme ay maaaring bumuhay ng tunay na sugat — bantayan ang biglang katahimikan/luha, private follow-up pagkatapos. Conviction tungo sa pag-asa, hindi guilt-trip.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DALHIN step 3-4 (4 min): Tumayo lahat, sabay-sabay bigkasin ang Pangako Ko. Sa katabi: 'Saksi ka.' / 'Saksi ako.' (Structural Motivation.) Tapos end snapshot (volunteer→bondservant), ihambing sa PUKAW. CELEBRATION: ito ang USAD-half finale — kilalanin ang bawat disciple na nakatapos ng unang 10 lessons. L11 preview: leadership formation magsisimula na (UNLAD spine). Dalhin ang gift + Ministry Covenant.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4A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BTLI 1 · LESSON 10 · CULTIVATE → EXTEND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" y="24688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DFB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Paglilingkod sa Dios at Kapwa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37947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0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Ministry — Ano ang Tunay na Kahulugan ng Paglilingkod?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0" y="63093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VERSE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10698480" cy="3566160"/>
          </a:xfrm>
          <a:prstGeom prst="rect">
            <a:avLst/>
          </a:prstGeom>
          <a:solidFill>
            <a:srgbClr val="FDFBF6"/>
          </a:solidFill>
          <a:ln w="19050">
            <a:solidFill>
              <a:srgbClr val="B8882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54480"/>
            <a:ext cx="109728" cy="3566160"/>
          </a:xfrm>
          <a:prstGeom prst="rect">
            <a:avLst/>
          </a:prstGeom>
          <a:solidFill>
            <a:srgbClr val="B8882A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18288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Marcos 10:45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2468880"/>
            <a:ext cx="10058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800" i="1" dirty="0">
                <a:solidFill>
                  <a:srgbClr val="1A2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"Sapagkat ang Anak ng Tao ay naparito hindi upang paglingkuran kundi upang maglingkod at upang mag-alay ng kanyang buhay bilang pantubos sa marami."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058400" y="63093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3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D4A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PUKAW · ANG TANONG NI POLYCARP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DFB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156 A.D. — Polycarp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Inalok ng Romanong gobernador: </a:t>
            </a:r>
            <a:pPr indent="0" marL="0">
              <a:buNone/>
            </a:pPr>
            <a:r>
              <a:rPr lang="en-US" sz="2000" i="1" dirty="0">
                <a:solidFill>
                  <a:srgbClr val="E8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"Maawa ka sa sarili mo! Sumpain mo si Kristo at palalayain kita!"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292608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Sagot ni Polycarp: </a:t>
            </a:r>
            <a:pPr indent="0" marL="0">
              <a:buNone/>
            </a:pPr>
            <a:r>
              <a:rPr lang="en-US" sz="2000" i="1" dirty="0">
                <a:solidFill>
                  <a:srgbClr val="E8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"Walumput-anim na taon kong pinaglingkuran si Kristo... Paano ko lalapastanganin ang aking Hari at Tagapagligtas?"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43891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D4A8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Mamatay nang naglilingkod, o mabuhay na tumatalikod?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0" y="63093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A5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PUKAW · SERVICE SNAPSHOT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Saan ka ngayon?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puso mo ngayon — 1 hanggang 10, gaano ka-tapat ang paglilingkod mo sa Panginoon? Para sa sarili mo lang muna ang numero.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3749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= halos walang serbisyo     ·     10 = bondservant na, like Polycarp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0" y="63093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4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D4A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TUKLAS · BIG IDEA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DFB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Ang Big Idea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377440"/>
            <a:ext cx="10332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200" i="1" dirty="0">
                <a:solidFill>
                  <a:srgbClr val="FDFB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Bawat mananampalataya ay tinawag na maging </a:t>
            </a:r>
            <a:pPr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D4A8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manggagawa</a:t>
            </a:r>
            <a:pPr indent="0" marL="0">
              <a:lnSpc>
                <a:spcPct val="130000"/>
              </a:lnSpc>
              <a:buNone/>
            </a:pPr>
            <a:r>
              <a:rPr lang="en-US" sz="3200" i="1" dirty="0">
                <a:solidFill>
                  <a:srgbClr val="FDFB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Ang tanong ay hindi </a:t>
            </a:r>
            <a:pPr indent="0" marL="0">
              <a:lnSpc>
                <a:spcPct val="130000"/>
              </a:lnSpc>
              <a:buNone/>
            </a:pPr>
            <a:r>
              <a:rPr lang="en-US" sz="3200" i="1" dirty="0">
                <a:solidFill>
                  <a:srgbClr val="FDFB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kung</a:t>
            </a:r>
            <a:pPr indent="0" marL="0">
              <a:lnSpc>
                <a:spcPct val="130000"/>
              </a:lnSpc>
              <a:buNone/>
            </a:pPr>
            <a:r>
              <a:rPr lang="en-US" sz="3200" i="1" dirty="0">
                <a:solidFill>
                  <a:srgbClr val="FDFB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maglilingkod ka — kundi </a:t>
            </a:r>
            <a:pPr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D4A8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kanino</a:t>
            </a:r>
            <a:pPr indent="0" marL="0">
              <a:lnSpc>
                <a:spcPct val="130000"/>
              </a:lnSpc>
              <a:buNone/>
            </a:pPr>
            <a:r>
              <a:rPr lang="en-US" sz="3200" i="1" dirty="0">
                <a:solidFill>
                  <a:srgbClr val="FDFB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0058400" y="63093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TUKLAS · DNA NG MINISTRY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"Ministry" = Lingkod + Alipin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Hango sa dalawang Griyegong salita: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2377440"/>
            <a:ext cx="5120640" cy="1371600"/>
          </a:xfrm>
          <a:prstGeom prst="roundRect">
            <a:avLst>
              <a:gd name="adj" fmla="val 6667"/>
            </a:avLst>
          </a:prstGeom>
          <a:solidFill>
            <a:srgbClr val="FDFBF6"/>
          </a:solidFill>
          <a:ln w="19050">
            <a:solidFill>
              <a:srgbClr val="2A5C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56032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diakoneo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31546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maglingkod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09360" y="2377440"/>
            <a:ext cx="5120640" cy="1371600"/>
          </a:xfrm>
          <a:prstGeom prst="roundRect">
            <a:avLst>
              <a:gd name="adj" fmla="val 6667"/>
            </a:avLst>
          </a:prstGeom>
          <a:solidFill>
            <a:srgbClr val="FDFBF6"/>
          </a:solidFill>
          <a:ln w="19050">
            <a:solidFill>
              <a:srgbClr val="2A5C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09360" y="256032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douleuo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309360" y="31546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magsilbi bilang alipin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 12:11 — </a:t>
            </a:r>
            <a:pPr indent="0" marL="0">
              <a:buNone/>
            </a:pPr>
            <a:r>
              <a:rPr lang="en-US" sz="1800" b="1" dirty="0">
                <a:solidFill>
                  <a:srgbClr val="1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maningas</a:t>
            </a:r>
            <a:pPr indent="0" marL="0">
              <a:buNone/>
            </a:pPr>
            <a:r>
              <a:rPr lang="en-US" sz="1800" dirty="0">
                <a:solidFill>
                  <a:srgbClr val="1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gigil na gigil, hot na hot. Hindi papetiks-petiks.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0" y="63093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A5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TUKLAS · 4 URI NG LINGKOD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Saan ka mapapabilang?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2514600" cy="2377440"/>
          </a:xfrm>
          <a:prstGeom prst="roundRect">
            <a:avLst>
              <a:gd name="adj" fmla="val 3846"/>
            </a:avLst>
          </a:prstGeom>
          <a:solidFill>
            <a:srgbClr val="F6F2E7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5176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Slave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329184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napipilitan lang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74720" y="2103120"/>
            <a:ext cx="2514600" cy="2377440"/>
          </a:xfrm>
          <a:prstGeom prst="roundRect">
            <a:avLst>
              <a:gd name="adj" fmla="val 3846"/>
            </a:avLst>
          </a:prstGeom>
          <a:solidFill>
            <a:srgbClr val="F6F2E7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265176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Hireling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566160" y="329184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sa pera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103120"/>
            <a:ext cx="2514600" cy="2377440"/>
          </a:xfrm>
          <a:prstGeom prst="roundRect">
            <a:avLst>
              <a:gd name="adj" fmla="val 3846"/>
            </a:avLst>
          </a:prstGeom>
          <a:solidFill>
            <a:srgbClr val="F6F2E7"/>
          </a:solidFill>
          <a:ln w="19050">
            <a:solidFill>
              <a:srgbClr val="D8D0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265176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Servant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09360" y="329184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expiration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61120" y="2103120"/>
            <a:ext cx="2514600" cy="2377440"/>
          </a:xfrm>
          <a:prstGeom prst="roundRect">
            <a:avLst>
              <a:gd name="adj" fmla="val 3846"/>
            </a:avLst>
          </a:prstGeom>
          <a:solidFill>
            <a:srgbClr val="F3E6C8"/>
          </a:solidFill>
          <a:ln w="31750">
            <a:solidFill>
              <a:srgbClr val="B888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0" y="265176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88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Bondservant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052560" y="329184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Lingkod-for-Life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0" y="63093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3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D4A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TUKLAS · BONDSERVANT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DFB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Lingkod dahil sa Pag-ibig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i="1" dirty="0">
                <a:solidFill>
                  <a:srgbClr val="E8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"...ayaw na niyang umalis sapagkat mahal niya ang kanyang amo... magiging alipin siya habang-buhay." — Exodo 21:5-6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39319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D4A8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Ito ang paboritong tawag ni Pablo sa sarili: bondservant ni Cristo for life.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058400" y="63093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B888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F4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TUKLAS · VOLUNTEER VS SERVANT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Volunteer ba o Servant?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5212080" cy="1463040"/>
          </a:xfrm>
          <a:prstGeom prst="roundRect">
            <a:avLst>
              <a:gd name="adj" fmla="val 6250"/>
            </a:avLst>
          </a:prstGeom>
          <a:solidFill>
            <a:srgbClr val="FDFBF6"/>
          </a:solidFill>
          <a:ln w="19050">
            <a:solidFill>
              <a:srgbClr val="A046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286000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046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Volunteer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namimili kung kailan · may "quit"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2103120"/>
            <a:ext cx="5212080" cy="1463040"/>
          </a:xfrm>
          <a:prstGeom prst="roundRect">
            <a:avLst>
              <a:gd name="adj" fmla="val 6250"/>
            </a:avLst>
          </a:prstGeom>
          <a:solidFill>
            <a:srgbClr val="FDFBF6"/>
          </a:solidFill>
          <a:ln w="19050">
            <a:solidFill>
              <a:srgbClr val="2A5C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63640" y="2286000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Servant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355080" y="288036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humahataw anumang oras · walang "quit"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Ikaw — volunteer ka lang ba, o servant?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0" y="63093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B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TUKLAS · BAKIT MAGLINGKOD?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Maglingkod ka dahil ika'y...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FDFBF6"/>
          </a:solidFill>
          <a:ln w="19050">
            <a:solidFill>
              <a:srgbClr val="2A5C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6888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Binigyang-BUHAY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04672" y="36576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 17:25,28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4720" y="210312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FDFBF6"/>
          </a:solidFill>
          <a:ln w="19050">
            <a:solidFill>
              <a:srgbClr val="2A5C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47872" y="246888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Binigyang-KALAYAAN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547872" y="36576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Cor 6:19-20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210312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FDFBF6"/>
          </a:solidFill>
          <a:ln w="19050">
            <a:solidFill>
              <a:srgbClr val="2A5C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91072" y="246888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Binigyang-PAGPAPALA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291072" y="36576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Psalm 116:12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961120" y="210312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FDFBF6"/>
          </a:solidFill>
          <a:ln w="19050">
            <a:solidFill>
              <a:srgbClr val="2A5C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34272" y="246888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Binigyang-HALIMBAWA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034272" y="36576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Jn 13:14-15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0" y="63093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A5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TUKLAS · PAANO MAGLINGKOD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Kalugod-lugod na Paglilingkod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2194560"/>
            <a:ext cx="10058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lnSpc>
                <a:spcPct val="160000"/>
              </a:lnSpc>
              <a:buSzPct val="100000"/>
              <a:buChar char="•"/>
            </a:pPr>
            <a:r>
              <a:rPr lang="en-US" sz="2400" b="1" dirty="0">
                <a:solidFill>
                  <a:srgbClr val="1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kagalakan</a:t>
            </a:r>
            <a:pPr indent="0" marL="0">
              <a:lnSpc>
                <a:spcPct val="160000"/>
              </a:lnSpc>
              <a:buNone/>
            </a:pPr>
            <a:r>
              <a:rPr lang="en-US" sz="2400" dirty="0">
                <a:solidFill>
                  <a:srgbClr val="1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'wag busangot (Eph 6:7)
</a:t>
            </a:r>
            <a:pPr indent="0" marL="0">
              <a:lnSpc>
                <a:spcPct val="160000"/>
              </a:lnSpc>
              <a:buNone/>
            </a:pPr>
            <a:r>
              <a:rPr lang="en-US" sz="2400" b="1" dirty="0">
                <a:solidFill>
                  <a:srgbClr val="1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pag-ibig</a:t>
            </a:r>
            <a:pPr indent="0" marL="0">
              <a:lnSpc>
                <a:spcPct val="160000"/>
              </a:lnSpc>
              <a:buNone/>
            </a:pPr>
            <a:r>
              <a:rPr lang="en-US" sz="2400" dirty="0">
                <a:solidFill>
                  <a:srgbClr val="1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sa diwa ng pag-ibig (Gal 5:13)
</a:t>
            </a:r>
            <a:pPr indent="0" marL="0">
              <a:lnSpc>
                <a:spcPct val="160000"/>
              </a:lnSpc>
              <a:buNone/>
            </a:pPr>
            <a:r>
              <a:rPr lang="en-US" sz="2400" b="1" dirty="0">
                <a:solidFill>
                  <a:srgbClr val="1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Ayon sa gift ni Lord</a:t>
            </a:r>
            <a:pPr indent="0" marL="0">
              <a:lnSpc>
                <a:spcPct val="160000"/>
              </a:lnSpc>
              <a:buNone/>
            </a:pPr>
            <a:r>
              <a:rPr lang="en-US" sz="2400" dirty="0">
                <a:solidFill>
                  <a:srgbClr val="1A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para sa benefit ng iba (1 Cor 12:11 · 1 Pet 4:10)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058400" y="63093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D4A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TALAKAY · SAFE SPACE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DFB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Tatlong Tanong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2194560"/>
            <a:ext cx="10332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17500" indent="-317500">
              <a:lnSpc>
                <a:spcPct val="160000"/>
              </a:lnSpc>
              <a:buSzPct val="100000"/>
              <a:buFont typeface="+mj-lt"/>
              <a:buAutoNum type="arabicPeriod" startAt="1"/>
            </a:pPr>
            <a:r>
              <a:rPr lang="en-US" sz="2300" dirty="0">
                <a:solidFill>
                  <a:srgbClr val="E8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Anong klase ng lingkod ako ngayon? Bakit?
</a:t>
            </a:r>
            <a:pPr indent="0" marL="0">
              <a:lnSpc>
                <a:spcPct val="160000"/>
              </a:lnSpc>
              <a:buNone/>
            </a:pPr>
            <a:r>
              <a:rPr lang="en-US" sz="2300" dirty="0">
                <a:solidFill>
                  <a:srgbClr val="E8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ang madalas na excuse kung bakit hindi involved sa ministry?
</a:t>
            </a:r>
            <a:pPr indent="0" marL="0">
              <a:lnSpc>
                <a:spcPct val="160000"/>
              </a:lnSpc>
              <a:buNone/>
            </a:pPr>
            <a:r>
              <a:rPr lang="en-US" sz="2300" dirty="0">
                <a:solidFill>
                  <a:srgbClr val="E8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ang nawawala — sa church AT sa Christian — kapag hindi involved?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63093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A5C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TUGON · THE BONDSERVANT PATH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Mula Puso Patungong Ministry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F6F2E7"/>
          </a:solidFill>
          <a:ln w="19050">
            <a:solidFill>
              <a:srgbClr val="2A5C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37360" y="2331720"/>
            <a:ext cx="502920" cy="502920"/>
          </a:xfrm>
          <a:prstGeom prst="ellipse">
            <a:avLst/>
          </a:prstGeom>
          <a:solidFill>
            <a:srgbClr val="2A5C40"/>
          </a:solidFill>
          <a:ln/>
        </p:spPr>
      </p:sp>
      <p:sp>
        <p:nvSpPr>
          <p:cNvPr id="6" name="Text 4"/>
          <p:cNvSpPr/>
          <p:nvPr/>
        </p:nvSpPr>
        <p:spPr>
          <a:xfrm>
            <a:off x="173736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DFB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9718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Suriin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04672" y="35204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anong lingkod ako?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74720" y="210312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F6F2E7"/>
          </a:solidFill>
          <a:ln w="19050">
            <a:solidFill>
              <a:srgbClr val="2A5C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2331720"/>
            <a:ext cx="502920" cy="502920"/>
          </a:xfrm>
          <a:prstGeom prst="ellipse">
            <a:avLst/>
          </a:prstGeom>
          <a:solidFill>
            <a:srgbClr val="2A5C40"/>
          </a:solidFill>
          <a:ln/>
        </p:spPr>
      </p:sp>
      <p:sp>
        <p:nvSpPr>
          <p:cNvPr id="11" name="Text 9"/>
          <p:cNvSpPr/>
          <p:nvPr/>
        </p:nvSpPr>
        <p:spPr>
          <a:xfrm>
            <a:off x="448056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DFB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74720" y="29718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Tuklasin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547872" y="35204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anong gift ko?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210312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F6F2E7"/>
          </a:solidFill>
          <a:ln w="19050">
            <a:solidFill>
              <a:srgbClr val="2A5C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23760" y="2331720"/>
            <a:ext cx="502920" cy="502920"/>
          </a:xfrm>
          <a:prstGeom prst="ellipse">
            <a:avLst/>
          </a:prstGeom>
          <a:solidFill>
            <a:srgbClr val="2A5C40"/>
          </a:solidFill>
          <a:ln/>
        </p:spPr>
      </p:sp>
      <p:sp>
        <p:nvSpPr>
          <p:cNvPr id="16" name="Text 14"/>
          <p:cNvSpPr/>
          <p:nvPr/>
        </p:nvSpPr>
        <p:spPr>
          <a:xfrm>
            <a:off x="722376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DFB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217920" y="29718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Itugma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291072" y="35204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saang ministry?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961120" y="2103120"/>
            <a:ext cx="2514600" cy="2286000"/>
          </a:xfrm>
          <a:prstGeom prst="roundRect">
            <a:avLst>
              <a:gd name="adj" fmla="val 4000"/>
            </a:avLst>
          </a:prstGeom>
          <a:solidFill>
            <a:srgbClr val="F6F2E7"/>
          </a:solidFill>
          <a:ln w="19050">
            <a:solidFill>
              <a:srgbClr val="2A5C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966960" y="2331720"/>
            <a:ext cx="502920" cy="502920"/>
          </a:xfrm>
          <a:prstGeom prst="ellipse">
            <a:avLst/>
          </a:prstGeom>
          <a:solidFill>
            <a:srgbClr val="2A5C40"/>
          </a:solidFill>
          <a:ln/>
        </p:spPr>
      </p:sp>
      <p:sp>
        <p:nvSpPr>
          <p:cNvPr id="21" name="Text 19"/>
          <p:cNvSpPr/>
          <p:nvPr/>
        </p:nvSpPr>
        <p:spPr>
          <a:xfrm>
            <a:off x="996696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DFB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961120" y="29718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Ipangako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9034272" y="35204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 Covenant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0" y="63093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B888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F4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TUGON · "KAILAN PA?"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Prayer of Commitment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400" i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Kailan pa kaya maglilingkod sa Dios —
</a:t>
            </a:r>
            <a:pPr algn="ctr" indent="0" marL="0">
              <a:lnSpc>
                <a:spcPct val="130000"/>
              </a:lnSpc>
              <a:buNone/>
            </a:pPr>
            <a:r>
              <a:rPr lang="en-US" sz="3400" b="1" dirty="0">
                <a:solidFill>
                  <a:srgbClr val="1F45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kung hindi ngayon, kailan pa?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Papuri Singers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0" y="63093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D4A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DALHIN · JIM ELLIOT AT ANG LIMA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DFB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Service Unto Death → Multiplication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E8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Enero 8, 1956 — 5 misyonero, pinaslang ng tribong Auca. Pero bumalik si Elisabeth Elliot — at nakilala ng buong tribo si Hesus.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2834640"/>
            <a:ext cx="10515600" cy="2011680"/>
          </a:xfrm>
          <a:prstGeom prst="rect">
            <a:avLst/>
          </a:prstGeom>
          <a:solidFill>
            <a:srgbClr val="1A3A28"/>
          </a:solidFill>
          <a:ln w="12700">
            <a:solidFill>
              <a:srgbClr val="D4A85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34640"/>
            <a:ext cx="91440" cy="2011680"/>
          </a:xfrm>
          <a:prstGeom prst="rect">
            <a:avLst/>
          </a:prstGeom>
          <a:solidFill>
            <a:srgbClr val="D4A854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3063240"/>
            <a:ext cx="9966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DFB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"Hindi mangmang ang taong nag-aalay ng hindi niya kayang ariin upang matamo ang yaong sa kaniya'y hindi maaagaw."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097280" y="438912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Jim Elliot · 28 taong gulang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0" y="63093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F4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D4A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DALHIN · PANGAKO KO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DFB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Bondservant ako ni Cristo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219456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2800" i="1" dirty="0">
                <a:solidFill>
                  <a:srgbClr val="FDFB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Hindi ako volunteer na pumipili kung kailan maglilingkod.
</a:t>
            </a:r>
            <a:pPr indent="0" marL="0">
              <a:lnSpc>
                <a:spcPct val="140000"/>
              </a:lnSpc>
              <a:buNone/>
            </a:pPr>
            <a:r>
              <a:rPr lang="en-US" sz="2800" b="1" dirty="0">
                <a:solidFill>
                  <a:srgbClr val="D4A8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Walang "quit" sa diksyunaryo ko.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4297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Susunod — </a:t>
            </a:r>
            <a:pPr indent="0" marL="0">
              <a:buNone/>
            </a:pPr>
            <a:r>
              <a:rPr lang="en-US" sz="1800" b="1" dirty="0">
                <a:solidFill>
                  <a:srgbClr val="E8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L11 · Fulfilling God's Purpose</a:t>
            </a:r>
            <a:pPr indent="0" marL="0">
              <a:buNone/>
            </a:pPr>
            <a:r>
              <a:rPr lang="en-US" sz="1800" dirty="0">
                <a:solidFill>
                  <a:srgbClr val="E8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Leadership Formation magsisimula na.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0" y="63093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2026-05-22T07:26:41Z</dcterms:created>
  <dcterms:modified xsi:type="dcterms:W3CDTF">2026-05-22T07:26:41Z</dcterms:modified>
</cp:coreProperties>
</file>
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cover</a:t>
            </a:r>
          </a:p>
          <a:p>
            <a:r>
              <a:rPr lang="en-US" dirty="0"/>
              <a:t>Ito ang huling aralin ng USAD — ang unang kalahati ng BTLI 1.</a:t>
            </a:r>
          </a:p>
          <a:p>
            <a:r>
              <a:rPr lang="en-US" dirty="0"/>
              <a:t>Mula sa panalangin (L1) hanggang sa paghayo at paghubog (L9), ngayong gabi ay paglilingkod: saan ka ilalagay ng Panginoon?</a:t>
            </a:r>
          </a:p>
          <a:p>
            <a:r>
              <a:rPr lang="en-US" dirty="0"/>
              <a:t>Character anchor: Goodness o Kabutihan — ang kabutihang nagiging kapaki-pakinabang sa iba (1 Peter 4:10).</a:t>
            </a:r>
          </a:p>
          <a:p>
            <a:r>
              <a:rPr lang="en-US" dirty="0"/>
              <a:t>Competence anchor: The Bondservant Path — Suriin, Tuklasin, Itugma, Ipangako.</a:t>
            </a:r>
          </a:p>
          <a:p>
            <a:r>
              <a:rPr lang="en-US" dirty="0"/>
              <a:t>Ang tanong ng lesson: Ano ang tunay na kahulugan ng paglilingkod?</a:t>
            </a:r>
          </a:p>
          <a:p>
            <a:r>
              <a:rPr lang="en-US" dirty="0"/>
              <a:t>Opening prayer bago mag-verse.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00:02)</a:t>
            </a:r>
          </a:p>
          <a:p>
            <a:r>
              <a:rPr lang="en-US" dirty="0"/>
              <a:t>Basahin nang malakas nang dalawang beses — unang basa ikaw, pangalawa sabay-sabay.</a:t>
            </a:r>
          </a:p>
          <a:p>
            <a:r>
              <a:rPr lang="en-US" dirty="0"/>
              <a:t>Ipabilog sa guide ang dalawang dahilan ni Jesus sa pagparito sa mundo: maglingkod, at mag-alay ng buhay.</a:t>
            </a:r>
          </a:p>
          <a:p>
            <a:r>
              <a:rPr lang="en-US" dirty="0"/>
              <a:t>Pansinin ang hindi Niya ginawa: hindi Siya naparito para paglingkuran.</a:t>
            </a:r>
          </a:p>
          <a:p>
            <a:r>
              <a:rPr lang="en-US" dirty="0"/>
              <a:t>Babalikan natin ito sa ikaapat na dahilan — Binigyang-Halimbawa.</a:t>
            </a:r>
          </a:p>
          <a:p>
            <a:r>
              <a:rPr lang="en-US" dirty="0"/>
              <a:t>Huwag munang i-explain nang mahaba.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1 min (target 00:03)</a:t>
            </a:r>
          </a:p>
          <a:p>
            <a:r>
              <a:rPr lang="en-US" dirty="0"/>
              <a:t>Ito ang mga iniwan ng L9 na unang babalikan ngayong gabi.</a:t>
            </a:r>
          </a:p>
          <a:p>
            <a:r>
              <a:rPr lang="en-US" dirty="0"/>
              <a:t>Una, ang EOLO Bridge: ang isang pangalang hindi mo lang i-share-an ng Gospel, kundi commit kang hindi iiwan.</a:t>
            </a:r>
          </a:p>
          <a:p>
            <a:r>
              <a:rPr lang="en-US" dirty="0"/>
              <a:t>Pangalawa, ang 7-Araw na Bantay-Puso: isang maliit na hakbang ng paghayo o pagkalinga bawat araw.</a:t>
            </a:r>
          </a:p>
          <a:p>
            <a:r>
              <a:rPr lang="en-US" dirty="0"/>
              <a:t>Pangatlo, ang Romans 6:23 drawing para sa isang tao.</a:t>
            </a:r>
          </a:p>
          <a:p>
            <a:r>
              <a:rPr lang="en-US" dirty="0"/>
              <a:t>Basahin nang malakas ang Pangako Ko ng L9: Hindi ako magiging S.S.S. Christian. Hahayo ako — saksi at sugo. At ang isisilang ko sa pananampalataya, hindi ko iiwan hanggang siya'y lumago.</a:t>
            </a:r>
          </a:p>
          <a:p>
            <a:r>
              <a:rPr lang="en-US" dirty="0"/>
              <a:t>Ang tono: pag-ani, hindi paghuhusga — i-celebrate ang bawat natapos, ngitian ang bawat kulang.</a:t>
            </a:r>
          </a:p>
          <a:p>
            <a:r>
              <a:rPr lang="en-US" dirty="0"/>
              <a:t>Tulay: noong L9, hinayo natin ang iba; ngayong gabi, tatanungin natin kung paano tayo maglilingkod sa Kaniyang katawan.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00:05)</a:t>
            </a:r>
          </a:p>
          <a:p>
            <a:r>
              <a:rPr lang="en-US" dirty="0"/>
              <a:t>PARTICIPANT GUIDE QUESTION.</a:t>
            </a:r>
          </a:p>
          <a:p>
            <a:r>
              <a:rPr lang="en-US" dirty="0"/>
              <a:t>Itaas ang kamay: sino ang nakatapos ng kahit tatlong araw ng Bantay-Puso?</a:t>
            </a:r>
          </a:p>
          <a:p>
            <a:r>
              <a:rPr lang="en-US" dirty="0"/>
              <a:t>Sino ang kumpleto ang pitong araw?</a:t>
            </a:r>
          </a:p>
          <a:p>
            <a:r>
              <a:rPr lang="en-US" dirty="0"/>
              <a:t>Humingi ng ISANG kuwento ng Romans 6:23 drawing — ano ang naging tugon ng tao?</a:t>
            </a:r>
          </a:p>
          <a:p>
            <a:r>
              <a:rPr lang="en-US" dirty="0"/>
              <a:t>Hindi kailangang sabihin ang pangalan ng EOLO — sapat na ang kuwento.</a:t>
            </a:r>
          </a:p>
          <a:p>
            <a:r>
              <a:rPr lang="en-US" dirty="0"/>
              <a:t>Bantayan ang oras — dalawang minuto lang; ang mahahabang kuwento ay pang-LCG.</a:t>
            </a:r>
          </a:p>
          <a:p>
            <a:r>
              <a:rPr lang="en-US" dirty="0"/>
              <a:t>Itala ng interns kung sino ang walang dala — para sa gentle catch-up, hindi pagsabihan.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2 min (target 00:07)</a:t>
            </a:r>
          </a:p>
          <a:p>
            <a:r>
              <a:rPr lang="en-US" dirty="0"/>
              <a:t>KUWENTO — Walumpu't Anim na Taon (basahin nang buo, Chicken Soup style).</a:t>
            </a:r>
          </a:p>
          <a:p>
            <a:r>
              <a:rPr lang="en-US" dirty="0"/>
              <a:t>Taong 156 A.D.</a:t>
            </a:r>
          </a:p>
          <a:p>
            <a:r>
              <a:rPr lang="en-US" dirty="0"/>
              <a:t>Kinakaladkad ng mga sundalo ang isang matandang lalaki papunta sa Roman stadium.</a:t>
            </a:r>
          </a:p>
          <a:p>
            <a:r>
              <a:rPr lang="en-US" dirty="0"/>
              <a:t>Ang pangalan niya ay Polycarp.</a:t>
            </a:r>
          </a:p>
          <a:p>
            <a:r>
              <a:rPr lang="en-US" dirty="0"/>
              <a:t>Personal disciple siya ni Apostle John, at pastor ng Church of Smyrna.</a:t>
            </a:r>
          </a:p>
          <a:p>
            <a:r>
              <a:rPr lang="en-US" dirty="0"/>
              <a:t>Pagpasok niya sa stadium, magkahalong panunuya at pagkamuhi ang sumalubong sa kaniya.</a:t>
            </a:r>
          </a:p>
          <a:p>
            <a:r>
              <a:rPr lang="en-US" dirty="0"/>
              <a:t>Gusto siyang sentensyahan ng mga tao at ng gobyerno dahil sa dalawang bagay.</a:t>
            </a:r>
          </a:p>
          <a:p>
            <a:r>
              <a:rPr lang="en-US" dirty="0"/>
              <a:t>Una, ang pagtindig niya para kay Kristo.</a:t>
            </a:r>
          </a:p>
          <a:p>
            <a:r>
              <a:rPr lang="en-US" dirty="0"/>
              <a:t>Pangalawa, ang hindi niya pagyuko kay Caesar.</a:t>
            </a:r>
          </a:p>
          <a:p>
            <a:r>
              <a:rPr lang="en-US" dirty="0"/>
              <a:t>Lumapit ang Roman governor at nag-alok.</a:t>
            </a:r>
          </a:p>
          <a:p>
            <a:r>
              <a:rPr lang="en-US" dirty="0"/>
              <a:t>"Maawa ka sa sarili mo! Sumpain mo si Kristo at palalayain kita!"</a:t>
            </a:r>
          </a:p>
          <a:p>
            <a:r>
              <a:rPr lang="en-US" dirty="0"/>
              <a:t>Mataimtim na tumitig si Polycarp sa kaniya.</a:t>
            </a:r>
          </a:p>
          <a:p>
            <a:r>
              <a:rPr lang="en-US" dirty="0"/>
              <a:t>At ito ang isinagot niya.</a:t>
            </a:r>
          </a:p>
          <a:p>
            <a:r>
              <a:rPr lang="en-US" dirty="0"/>
              <a:t>"Walumpu't anim na taon kong pinaglingkuran si Kristo, at wala Siyang ginawang kahit anong kamalian sa akin."</a:t>
            </a:r>
          </a:p>
          <a:p>
            <a:r>
              <a:rPr lang="en-US" dirty="0"/>
              <a:t>"Paano ko lalapastanganin ang aking Hari at Tagapagligtas?"</a:t>
            </a:r>
          </a:p>
          <a:p>
            <a:r>
              <a:rPr lang="en-US" dirty="0"/>
              <a:t>Nanggigil ang Romano.</a:t>
            </a:r>
          </a:p>
          <a:p>
            <a:r>
              <a:rPr lang="en-US" dirty="0"/>
              <a:t>Tinalian ang mga kamay ni Polycarp, sinilaban siya nang buhay, at sinaksak hanggang sa mamatay.</a:t>
            </a:r>
          </a:p>
          <a:p>
            <a:r>
              <a:rPr lang="en-US" dirty="0"/>
              <a:t>Natameme ang lahat ng naroroon — dahil sa tibay ng kaniyang paglilingkod at patotoo.</a:t>
            </a:r>
          </a:p>
          <a:p>
            <a:r>
              <a:rPr lang="en-US" dirty="0"/>
              <a:t>Simula noon, nagmarka sa isip at puso ng lahat ang buhay at kamatayan ni Polycarp.</a:t>
            </a:r>
          </a:p>
          <a:p>
            <a:r>
              <a:rPr lang="en-US" dirty="0"/>
              <a:t>Ang unang Kristyanong martir ng ikalawang siglo.</a:t>
            </a:r>
          </a:p>
          <a:p>
            <a:r>
              <a:rPr lang="en-US" dirty="0"/>
              <a:t>Walumpu't anim na taon ng paglilingkod — at hindi niya ito ipinagpalit sa isang araw pa ng buhay.</a:t>
            </a:r>
          </a:p>
          <a:p>
            <a:r>
              <a:rPr lang="en-US" dirty="0"/>
              <a:t>Basahin nang dahan-dahan; huminto sandali pagkatapos ng sagot ni Polycarp.</a:t>
            </a:r>
          </a:p>
          <a:p>
            <a:r>
              <a:rPr lang="en-US" dirty="0"/>
              <a:t>Huwag pang ipaliwanag ang aral — hayaang tumama ang kuwento.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PUKAW · 1 min (target 00:08)</a:t>
            </a:r>
          </a:p>
          <a:p>
            <a:r>
              <a:rPr lang="en-US" dirty="0"/>
              <a:t>PARTICIPANT GUIDE QUESTION.</a:t>
            </a:r>
          </a:p>
          <a:p>
            <a:r>
              <a:rPr lang="en-US" dirty="0"/>
              <a:t>Mula mismo sa USAD workbook ang tanong na ito.</a:t>
            </a:r>
          </a:p>
          <a:p>
            <a:r>
              <a:rPr lang="en-US" dirty="0"/>
              <a:t>Silent writing muna, tapos 1-2 sasagot lang.</a:t>
            </a:r>
          </a:p>
          <a:p>
            <a:r>
              <a:rPr lang="en-US" dirty="0"/>
              <a:t>Huwag hayaang maging madaling sagot ang Opo, kaya ko — hayaang maging tapat.</a:t>
            </a:r>
          </a:p>
          <a:p>
            <a:r>
              <a:rPr lang="en-US" dirty="0"/>
              <a:t>Itanong nang mahinahon: Kung hindi pa natin kayang maglingkod sa maliliit na bagay ngayon, paano tayo titindig sa malaki?</a:t>
            </a:r>
          </a:p>
          <a:p>
            <a:r>
              <a:rPr lang="en-US" dirty="0"/>
              <a:t>Huwag sagutin; hayaan munang nakabitin ang tanong.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00:10)</a:t>
            </a:r>
          </a:p>
          <a:p>
            <a:r>
              <a:rPr lang="en-US" dirty="0"/>
              <a:t>Basahin ang Big Idea nang dahan-dahan, tapos ipabasa sa lahat.</a:t>
            </a:r>
          </a:p>
          <a:p>
            <a:r>
              <a:rPr lang="en-US" dirty="0"/>
              <a:t>Bawat tao ay naglilingkod; ang tanong lang ay kung sino ang pinaglilingkuran niya.</a:t>
            </a:r>
          </a:p>
          <a:p>
            <a:r>
              <a:rPr lang="en-US" dirty="0"/>
              <a:t>Honestly, hindi natural para sa atin ang maglingkod sa Dios at kapwa dahil makasarili tayo — mas gusto nating tayo ang pinaglilingkuran.</a:t>
            </a:r>
          </a:p>
          <a:p>
            <a:r>
              <a:rPr lang="en-US" dirty="0"/>
              <a:t>Allergic tayong maging SERVANT; ang gusto natin, maging SIR o boss.</a:t>
            </a:r>
          </a:p>
          <a:p>
            <a:r>
              <a:rPr lang="en-US" dirty="0"/>
              <a:t>Kahit nga ang mga public servants na bisyo ang mag-serbisyo kuno tuwing kumakampanya, nagiging madaling lapitan, mahirap hanapin ang slogan kapag nakaupo na sa puwesto.</a:t>
            </a:r>
          </a:p>
          <a:p>
            <a:r>
              <a:rPr lang="en-US" dirty="0"/>
              <a:t>Pero para sa isang Kristyano, natural na dapat ang paglilingkod.</a:t>
            </a:r>
          </a:p>
          <a:p>
            <a:r>
              <a:rPr lang="en-US" dirty="0"/>
              <a:t>Sabihin sa participants: may mga patlang sa guide ninyo — punan habang nakikinig.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00:12)</a:t>
            </a:r>
          </a:p>
          <a:p>
            <a:r>
              <a:rPr lang="en-US" dirty="0"/>
              <a:t>Sabi ni Jesus sa Luke 17:10: kapag nagawa na ninyo ang lahat ng iniuutos sa inyo, sabihin ninyo, Kami'y mga aliping walang kabuluhan; tumutupad lamang kami sa aming tungkulin.</a:t>
            </a:r>
          </a:p>
          <a:p>
            <a:r>
              <a:rPr lang="en-US" dirty="0"/>
              <a:t>The mere fact na tinatawag mong Panginoon si Christ, kinikilala mo ang status Niya bilang Master mo at ang status mo bilang lingkod at alipin Niya.</a:t>
            </a:r>
          </a:p>
          <a:p>
            <a:r>
              <a:rPr lang="en-US" dirty="0"/>
              <a:t>Ito ang DNA ng term na MINISTRY.</a:t>
            </a:r>
          </a:p>
          <a:p>
            <a:r>
              <a:rPr lang="en-US" dirty="0"/>
              <a:t>Hango ang salitang ministry sa Greek words na diakoneo, maglingkod, at douleuo, magsilbi bilang alipin.</a:t>
            </a:r>
          </a:p>
          <a:p>
            <a:r>
              <a:rPr lang="en-US" dirty="0"/>
              <a:t>At tulad ni Polycarp, dalawa lang ang option mo — tumalikod o maglingkod. Walang middle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00:14)</a:t>
            </a:r>
          </a:p>
          <a:p>
            <a:r>
              <a:rPr lang="en-US" dirty="0"/>
              <a:t>Ipalagay sa guide: ekis sa salitang tamad, check sa magpakasipag at maglingkod.</a:t>
            </a:r>
          </a:p>
          <a:p>
            <a:r>
              <a:rPr lang="en-US" dirty="0"/>
              <a:t>Maningas ang translation ng buong puso sa ibang Bible versions.</a:t>
            </a:r>
          </a:p>
          <a:p>
            <a:r>
              <a:rPr lang="en-US" dirty="0"/>
              <a:t>Sa Greek, ito ay nangangahulugang lumalagablab at kumukulo.</a:t>
            </a:r>
          </a:p>
          <a:p>
            <a:r>
              <a:rPr lang="en-US" dirty="0"/>
              <a:t>In other words, dapat gigil na gigil, atat na atat, at hot na hot tayong maglingkod — at hindi papatay-patay o papetiks-petiks sa gawain!</a:t>
            </a:r>
          </a:p>
          <a:p>
            <a:r>
              <a:rPr lang="en-US" dirty="0"/>
              <a:t>Utos ito para sa lahat ng disciples ni Jesus at hindi lang para sa mga pastor o church workers.</a:t>
            </a:r>
          </a:p>
          <a:p>
            <a:r>
              <a:rPr lang="en-US" dirty="0"/>
              <a:t>Ang isang mananampalatayang umuusad ay isang mananampalatayang naglilingkod.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00:16)</a:t>
            </a:r>
          </a:p>
          <a:p>
            <a:r>
              <a:rPr lang="en-US" dirty="0"/>
              <a:t>Apat na pangunahing rason kung bakit nararapat tayong maglingkod sa Dios — ang una: Ika'y binigyang-buhay.</a:t>
            </a:r>
          </a:p>
          <a:p>
            <a:r>
              <a:rPr lang="en-US" dirty="0"/>
              <a:t>Sabi ni P.T. Forsyth: Ang tungkulin ng bawat tao ay hindi hanapin ang kaniyang kalayaan kundi ang kaniyang paglilingkuran.</a:t>
            </a:r>
          </a:p>
          <a:p>
            <a:r>
              <a:rPr lang="en-US" dirty="0"/>
              <a:t>Maraming nabubuhay para masumpungan ang pansariling kalayaan pero nauuwi sa kawalan ng direksyon at layunin sa buhay.</a:t>
            </a:r>
          </a:p>
          <a:p>
            <a:r>
              <a:rPr lang="en-US" dirty="0"/>
              <a:t>Minsan para tayong mga turumpo na tuloy-tuloy ang pag-ikot pero wala namang nararating, dahil mali tayo ng niluluhuran.</a:t>
            </a:r>
          </a:p>
          <a:p>
            <a:r>
              <a:rPr lang="en-US" dirty="0"/>
              <a:t>Reality check mula kay Apostle Paul sa mga taga-Athens (Acts 17:25): hindi Siya nangangailangan ng anumang tulong o paglilingkod ng tao.</a:t>
            </a:r>
          </a:p>
          <a:p>
            <a:r>
              <a:rPr lang="en-US" dirty="0"/>
              <a:t>Tandaan mo na hindi kailangan ng Dios ang serbisyo mo; Dios Siya maglingkod ka man o hindi.</a:t>
            </a:r>
          </a:p>
          <a:p>
            <a:r>
              <a:rPr lang="en-US" dirty="0"/>
              <a:t>Sa kabilang banda, nagkakaroon lang ng saysay ang ating limitadong buhay kapag ito ay ginugol para sa Dios (Acts 17:28) — binigyan tayo ng regalo ng buhay, gamitin natin ito para sa Kaniya na Nagbigay-buhay.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00:17)</a:t>
            </a:r>
          </a:p>
          <a:p>
            <a:r>
              <a:rPr lang="en-US" dirty="0"/>
              <a:t>PARTICIPANT GUIDE QUESTION.</a:t>
            </a:r>
          </a:p>
          <a:p>
            <a:r>
              <a:rPr lang="en-US" dirty="0"/>
              <a:t>Mula mismo sa USAD workbook ang tanong na ito.</a:t>
            </a:r>
          </a:p>
          <a:p>
            <a:r>
              <a:rPr lang="en-US" dirty="0"/>
              <a:t>Isulat muna, 2-3 sasagot.</a:t>
            </a:r>
          </a:p>
          <a:p>
            <a:r>
              <a:rPr lang="en-US" dirty="0"/>
              <a:t>Hanapin ang sagot na: may puwang sa puso na Dios lang ang makakapuno; ang paglilingkod sa ibang bagay ay nag-iiwan ng kaligaligan.</a:t>
            </a:r>
          </a:p>
          <a:p>
            <a:r>
              <a:rPr lang="en-US" dirty="0"/>
              <a:t>Ikabit sa turumpo: umiikot nang umiikot, pero walang pahinga hangga't hindi sa Kaniya nanganganlong.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3 min (target 00:20)</a:t>
            </a:r>
          </a:p>
          <a:p>
            <a:r>
              <a:rPr lang="en-US" dirty="0"/>
              <a:t>Noon, tayo ay mga bihag at alipin ng kasalanan; pero dahil tinubos na tayo ni Christ Jesus mula sa slave market of sin, malaya na tayo!</a:t>
            </a:r>
          </a:p>
          <a:p>
            <a:r>
              <a:rPr lang="en-US" dirty="0"/>
              <a:t>Nangangahulugan din ito na hindi natin pag-aari ang ating katawan, sapagkat binili na tayo sa isang halaga (1 Corinthians 6:19-20a) — ang ating buhay, lakas, talino, at pag-aari ay sa Kaniya, at dapat gamitin upang maparangalan ang Diyos.</a:t>
            </a:r>
          </a:p>
          <a:p>
            <a:r>
              <a:rPr lang="en-US" dirty="0"/>
              <a:t>Noong ancient times, may apat na klase ng naglilingkod.</a:t>
            </a:r>
          </a:p>
          <a:p>
            <a:r>
              <a:rPr lang="en-US" dirty="0"/>
              <a:t>Una, Slaves — pinakamababang-uri; kadalasan prisoners-of-war mula sa natalong bansa; itinuturing na ari-arian; walang karapatang umangal o mamili; napipilitan lang.</a:t>
            </a:r>
          </a:p>
          <a:p>
            <a:r>
              <a:rPr lang="en-US" dirty="0"/>
              <a:t>Pangalawa, Hirelings — mga bayarang manggagawa na naglilingkod lang para sa pera, kita, o anumang benepisyo mula sa amo.</a:t>
            </a:r>
          </a:p>
          <a:p>
            <a:r>
              <a:rPr lang="en-US" dirty="0"/>
              <a:t>Pangatlo, Servant — naging alipin dahil sa pansariling utang o utang ng magulang; limitadong panahon lang, kadalasan anim na taon; may expiration date ang serbisyo; nagbabayad-utang lang.</a:t>
            </a:r>
          </a:p>
          <a:p>
            <a:r>
              <a:rPr lang="en-US" dirty="0"/>
              <a:t>Pang-apat, Bondservant — isang legit na Lingkod-for-Life: tapos na ang panahon ng serbisyo niya, pero ayaw na niyang umalis sapagkat mahal niya ang kaniyang amo, kaya magiging alipin siya habang buhay (Exodus 21:5-6).</a:t>
            </a:r>
          </a:p>
          <a:p>
            <a:r>
              <a:rPr lang="en-US" dirty="0"/>
              <a:t>Ito ang paglilingkod na nag-uugat sa pagmamahal at pagpapasalamat — at ito ang favorite na designation ni Apostle Paul sa kaniyang sarili: bondservant ni Christ for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00:22)</a:t>
            </a:r>
          </a:p>
          <a:p>
            <a:r>
              <a:rPr lang="en-US" dirty="0"/>
              <a:t>Nakakapagtakang usong-uso ang salitang volunteers sa churches ngayon.</a:t>
            </a:r>
          </a:p>
          <a:p>
            <a:r>
              <a:rPr lang="en-US" dirty="0"/>
              <a:t>Pero dapat nating maunawaan ang pagkakaiba ng volunteer sa servant.</a:t>
            </a:r>
          </a:p>
          <a:p>
            <a:r>
              <a:rPr lang="en-US" dirty="0"/>
              <a:t>Ang volunteers, namimili kung kailan at paano sila maglilingkod; ang servants, humahataw anumang oras, anumang gawain, basta kagustuhan ng Master.</a:t>
            </a:r>
          </a:p>
          <a:p>
            <a:r>
              <a:rPr lang="en-US" dirty="0"/>
              <a:t>Ang volunteers, anytime puwedeng umayaw, kasi personal choice naman nila ang paglilingkod.</a:t>
            </a:r>
          </a:p>
          <a:p>
            <a:r>
              <a:rPr lang="en-US" dirty="0"/>
              <a:t>Ang servants, walang salitang quit sa dictionary nila, dahil alam nilang Panginoon ang tumawag sa kanila, at Siya rin ang magsasabi kung tapos na Siya sa pinapagawa Niya.</a:t>
            </a:r>
          </a:p>
          <a:p>
            <a:r>
              <a:rPr lang="en-US" dirty="0"/>
              <a:t>Itanong at hayaang nakabitin: Ikaw, volunteer ka lang ba o servant?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00:23)</a:t>
            </a:r>
          </a:p>
          <a:p>
            <a:r>
              <a:rPr lang="en-US" dirty="0"/>
              <a:t>PARTICIPANT GUIDE QUESTION.</a:t>
            </a:r>
          </a:p>
          <a:p>
            <a:r>
              <a:rPr lang="en-US" dirty="0"/>
              <a:t>Mula mismo sa USAD workbook ang tanong na ito.</a:t>
            </a:r>
          </a:p>
          <a:p>
            <a:r>
              <a:rPr lang="en-US" dirty="0"/>
              <a:t>Silent writing; isang minuto.</a:t>
            </a:r>
          </a:p>
          <a:p>
            <a:r>
              <a:rPr lang="en-US" dirty="0"/>
              <a:t>Huwag ipilit na i-share — ito ang unang hakbang ng Bondservant Path sa TUGON: Suriin.</a:t>
            </a:r>
          </a:p>
          <a:p>
            <a:r>
              <a:rPr lang="en-US" dirty="0"/>
              <a:t>Kapag may nag-share na hireling o servant pa lang siya, i-affirm ang katapatan; ang bondservant ay nagsisimula sa pag-amin.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00:25)</a:t>
            </a:r>
          </a:p>
          <a:p>
            <a:r>
              <a:rPr lang="en-US" dirty="0"/>
              <a:t>Magandang pag-isipan ang tanong ni B.B. McKinney sa kaniyang awit: I am satisfied with Jesus, but is my Master satisfied with me?</a:t>
            </a:r>
          </a:p>
          <a:p>
            <a:r>
              <a:rPr lang="en-US" dirty="0"/>
              <a:t>Sa dami ng pagpapalang tinatamasa natin mula sa Kaniya, hindi ba't karapat-dapat lang na paglingkuran natin Siya?</a:t>
            </a:r>
          </a:p>
          <a:p>
            <a:r>
              <a:rPr lang="en-US" dirty="0"/>
              <a:t>Ang isang taong umuusad sa pananampalataya ay hindi na lang tungkol sa kung ano ang maibibigay ng Panginoon sa kaniya, kundi kung ano ang maibibigay niya sa Panginoon.</a:t>
            </a:r>
          </a:p>
          <a:p>
            <a:r>
              <a:rPr lang="en-US" dirty="0"/>
              <a:t>Tama ang tanong ng Psalmist sa Psalm 116:12: Kay Yahweh na aking Diyos, ano'ng aking ihahandog sa lahat ng kabutihan na sa akin ay kaloob?</a:t>
            </a:r>
          </a:p>
          <a:p>
            <a:r>
              <a:rPr lang="en-US" dirty="0"/>
              <a:t>Pansinin ang salitang kabutihan — ang character anchor natin: ang kabutihang tinanggap ay nagiging kabutihang ibinibigay.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3 min (target 00:28)</a:t>
            </a:r>
          </a:p>
          <a:p>
            <a:r>
              <a:rPr lang="en-US" dirty="0"/>
              <a:t>Karangalang matulad ang alagad sa kaniyang guro, at ang alipin sa kaniyang panginoon (Matthew 10:25).</a:t>
            </a:r>
          </a:p>
          <a:p>
            <a:r>
              <a:rPr lang="en-US" dirty="0"/>
              <a:t>Bilang tagasunod ni Christ Jesus, goal natin na maging kagaya Niya at lumakad sa halimbawang iniwan Niya.</a:t>
            </a:r>
          </a:p>
          <a:p>
            <a:r>
              <a:rPr lang="en-US" dirty="0"/>
              <a:t>Balikan ang Mark 10:45 — kung ang Anak ng Dios ay naging Anak ng tao para maglingkod at mag-alay ng buhay, ano'ng rason natin para hindi gawin ang ginawa Niya?</a:t>
            </a:r>
          </a:p>
          <a:p>
            <a:r>
              <a:rPr lang="en-US" dirty="0"/>
              <a:t>Ini-illustrate ito ni Jesus nang maigi nang hugasan Niya ang mga paa ng disciples.</a:t>
            </a:r>
          </a:p>
          <a:p>
            <a:r>
              <a:rPr lang="en-US" dirty="0"/>
              <a:t>KUWENTO — Ang Alila ng mga Alipin (basahin nang buo, Chicken Soup style).</a:t>
            </a:r>
          </a:p>
          <a:p>
            <a:r>
              <a:rPr lang="en-US" dirty="0"/>
              <a:t>Isipin mo ang mga daan noong panahon ni Jesus.</a:t>
            </a:r>
          </a:p>
          <a:p>
            <a:r>
              <a:rPr lang="en-US" dirty="0"/>
              <a:t>Walang semento. Walang sasakyan.</a:t>
            </a:r>
          </a:p>
          <a:p>
            <a:r>
              <a:rPr lang="en-US" dirty="0"/>
              <a:t>Mga asno at camel ang primary mode of transportation — kaya punong-puno ng dumi ng mga hayop ang daan.</a:t>
            </a:r>
          </a:p>
          <a:p>
            <a:r>
              <a:rPr lang="en-US" dirty="0"/>
              <a:t>At ang suot ng lahat sa paa? Open sandals.</a:t>
            </a:r>
          </a:p>
          <a:p>
            <a:r>
              <a:rPr lang="en-US" dirty="0"/>
              <a:t>Kaya pagdating mo sa isang bahay, may kailangang maghugas ng mga paa mo.</a:t>
            </a:r>
          </a:p>
          <a:p>
            <a:r>
              <a:rPr lang="en-US" dirty="0"/>
              <a:t>Hindi iyon basta trabaho ng kahit sinong alipin.</a:t>
            </a:r>
          </a:p>
          <a:p>
            <a:r>
              <a:rPr lang="en-US" dirty="0"/>
              <a:t>Trabaho iyon ng pinakamababang alipin sa bahay — ang alila ng mga alipin.</a:t>
            </a:r>
          </a:p>
          <a:p>
            <a:r>
              <a:rPr lang="en-US" dirty="0"/>
              <a:t>Medyo kadiring gawain — hindi lang dahil wala pang pedicure noon.</a:t>
            </a:r>
          </a:p>
          <a:p>
            <a:r>
              <a:rPr lang="en-US" dirty="0"/>
              <a:t>Isang gabi, bago ang Pista ng Paskuwa, nasa hapunan si Jesus kasama ang Kaniyang mga disciples (John 13:1-4).</a:t>
            </a:r>
          </a:p>
          <a:p>
            <a:r>
              <a:rPr lang="en-US" dirty="0"/>
              <a:t>Tumayo si Jesus.</a:t>
            </a:r>
          </a:p>
          <a:p>
            <a:r>
              <a:rPr lang="en-US" dirty="0"/>
              <a:t>Ang Panginoon. Ang Guro.</a:t>
            </a:r>
          </a:p>
          <a:p>
            <a:r>
              <a:rPr lang="en-US" dirty="0"/>
              <a:t>Kinuha Niya ang tubig — at isa-isa Niyang hinugasan ang maruruming paa ng Kaniyang mga disciples.</a:t>
            </a:r>
          </a:p>
          <a:p>
            <a:r>
              <a:rPr lang="en-US" dirty="0"/>
              <a:t>Imagine: si Jesus ang gumawa ng kaaba-abang gawain na iyon para sa kanila.</a:t>
            </a:r>
          </a:p>
          <a:p>
            <a:r>
              <a:rPr lang="en-US" dirty="0"/>
              <a:t>At pagkatapos, sinabi Niya kung bakit.</a:t>
            </a:r>
          </a:p>
          <a:p>
            <a:r>
              <a:rPr lang="en-US" dirty="0"/>
              <a:t>"Kung ako ngang Panginoon at Guro ninyo ay naghugas ng inyong mga paa, dapat din ninyong hugasan ang mga paa ng isa't isa."</a:t>
            </a:r>
          </a:p>
          <a:p>
            <a:r>
              <a:rPr lang="en-US" dirty="0"/>
              <a:t>"Binigyan ko kayo ng halimbawa upang inyong tularan." (John 13:14-15)</a:t>
            </a:r>
          </a:p>
          <a:p>
            <a:r>
              <a:rPr lang="en-US" dirty="0"/>
              <a:t>Ipaguhitan sa guide ang dahilan kung bakit ginawa ni Jesus ang Kaniyang ginawa: binigyan ko kayo ng halimbawa upang inyong tularan.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00:29)</a:t>
            </a:r>
          </a:p>
          <a:p>
            <a:r>
              <a:rPr lang="en-US" dirty="0"/>
              <a:t>PARTICIPANT GUIDE QUESTION.</a:t>
            </a:r>
          </a:p>
          <a:p>
            <a:r>
              <a:rPr lang="en-US" dirty="0"/>
              <a:t>Mula mismo sa USAD workbook ang tanong na ito.</a:t>
            </a:r>
          </a:p>
          <a:p>
            <a:r>
              <a:rPr lang="en-US" dirty="0"/>
              <a:t>Isulat muna, 2-3 sasagot.</a:t>
            </a:r>
          </a:p>
          <a:p>
            <a:r>
              <a:rPr lang="en-US" dirty="0"/>
              <a:t>I-celebrate ang mga pinangalanan — puwede silang pasalamatan ngayong linggo.</a:t>
            </a:r>
          </a:p>
          <a:p>
            <a:r>
              <a:rPr lang="en-US" dirty="0"/>
              <a:t>Pansinin kung gaano kadalas ang mga nahahalintulad ay mga taong tahimik at hindi napapansin.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2 min (target 00:31)</a:t>
            </a:r>
          </a:p>
          <a:p>
            <a:r>
              <a:rPr lang="en-US" dirty="0"/>
              <a:t>Granted, hindi optional para sa atin ang paglilingkod — matic na dapat ito; pero paano ko ito gagawin nang kalugod-lugod sa Panginoon?</a:t>
            </a:r>
          </a:p>
          <a:p>
            <a:r>
              <a:rPr lang="en-US" dirty="0"/>
              <a:t>Una, may kagalakan: opportunity ang paglilingkod, kaya huwag kang busangot kapag nagmi-ministry (Ephesians 6:7).</a:t>
            </a:r>
          </a:p>
          <a:p>
            <a:r>
              <a:rPr lang="en-US" dirty="0"/>
              <a:t>Pangalawa, may pag-ibig: maglingkod ka dahil mahal mo ang Panginoon at ang iyong kapwa (Galatians 5:13).</a:t>
            </a:r>
          </a:p>
          <a:p>
            <a:r>
              <a:rPr lang="en-US" dirty="0"/>
              <a:t>Pangatlo, ayon sa kakayahang ibinigay ni Lord: tayong lahat ay bahagi ng Katawan ni Kristo, at may specific na assignment Siya ayon sa spiritual gifts at abilities na ipinagkaloob Niya (1 Corinthians 12:11).</a:t>
            </a:r>
          </a:p>
          <a:p>
            <a:r>
              <a:rPr lang="en-US" dirty="0"/>
              <a:t>Siya ang namili kung ano ang iyong matatanggap, pero ikaw ang responsableng magpayabong nito.</a:t>
            </a:r>
          </a:p>
          <a:p>
            <a:r>
              <a:rPr lang="en-US" dirty="0"/>
              <a:t>Tandaang hindi para sa iyo ang spiritual giftings mula kay Lord kundi para sa benefit ng iba (1 Peter 4:10) — iyan ang kabutihan: kabutihang nagiging kapaki-pakinabang sa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00:32)</a:t>
            </a:r>
          </a:p>
          <a:p>
            <a:r>
              <a:rPr lang="en-US" dirty="0"/>
              <a:t>Sabi sa John 12:26: Ang naghahangad na maglingkod sa akin ay dapat sumunod sa akin, at saanman ako naroroon ay naroroon din siya. Pararangalan ng Ama ang sinumang naglilingkod sa akin.</a:t>
            </a:r>
          </a:p>
          <a:p>
            <a:r>
              <a:rPr lang="en-US" dirty="0"/>
              <a:t>Naghihintay sa isang tapat na lingkod ang pangako ng presensya at parangal ng Dios.</a:t>
            </a:r>
          </a:p>
          <a:p>
            <a:r>
              <a:rPr lang="en-US" dirty="0"/>
              <a:t>Wala nang mas hihigit pa sa ligaya na marinig mula sa Panginoon: Magaling! Tapat at mabuting lingkod!</a:t>
            </a:r>
          </a:p>
          <a:p>
            <a:r>
              <a:rPr lang="en-US" dirty="0"/>
              <a:t>Pansinin: mabuting lingkod — kabutihan ang hinahanap ng Master sa Kaniyang lingkod.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TUKLAS · 1 min (target 00:33)</a:t>
            </a:r>
          </a:p>
          <a:p>
            <a:r>
              <a:rPr lang="en-US" dirty="0"/>
              <a:t>Ito ang competence natin ngayong gabi: The Bondservant Path — apat na hakbang mula sa pagiging volunteer tungo sa pagiging bondservant.</a:t>
            </a:r>
          </a:p>
          <a:p>
            <a:r>
              <a:rPr lang="en-US" dirty="0"/>
              <a:t>Suriin: anong uri ng lingkod ako ngayon — slave, hireling, servant, o bondservant?</a:t>
            </a:r>
          </a:p>
          <a:p>
            <a:r>
              <a:rPr lang="en-US" dirty="0"/>
              <a:t>Tuklasin: anong kaloob ang ibinigay sa akin? Ang Spiritual Gift Survey ang tutulong dito (1 Corinthians 12:11).</a:t>
            </a:r>
          </a:p>
          <a:p>
            <a:r>
              <a:rPr lang="en-US" dirty="0"/>
              <a:t>Itugma: saang ministry kasya ang kaloob ko? Itatanong ito sa LCG leader o pastor, at ipapanalangin.</a:t>
            </a:r>
          </a:p>
          <a:p>
            <a:r>
              <a:rPr lang="en-US" dirty="0"/>
              <a:t>Ipangako: ang Spiritual Growth Assessment at ang Ministry Covenant — kapag handa ka nang mag-commit kay Lord.</a:t>
            </a:r>
          </a:p>
          <a:p>
            <a:r>
              <a:rPr lang="en-US" dirty="0"/>
              <a:t>Ang character anchor, Kabutihan: ang mabuting lingkod ay ginagamit ang natanggap niya para sa kapakinabangan ng lahat.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1 min (target 00:34)</a:t>
            </a:r>
          </a:p>
          <a:p>
            <a:r>
              <a:rPr lang="en-US" dirty="0"/>
              <a:t>Parehong apat na rules ng TALAKAY: no fixing, no comparison, no preaching, confidential.</a:t>
            </a:r>
          </a:p>
          <a:p>
            <a:r>
              <a:rPr lang="en-US" dirty="0"/>
              <a:t>Tables ng tatlo hanggang apat.</a:t>
            </a:r>
          </a:p>
          <a:p>
            <a:r>
              <a:rPr lang="en-US" dirty="0"/>
              <a:t>Magsimula ka — ikuwento nang maikli ang isang panahong naging volunteer ka lang, at kung paano ka tinawag ng Dios na maging servant.</a:t>
            </a:r>
          </a:p>
          <a:p>
            <a:r>
              <a:rPr lang="en-US" dirty="0"/>
              <a:t>Ang vulnerability ng lead ang nagbubukas ng pinto para sa 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4 min (target 00:38)</a:t>
            </a:r>
          </a:p>
          <a:p>
            <a:r>
              <a:rPr lang="en-US" dirty="0"/>
              <a:t>PARTICIPANT GUIDE QUESTION.</a:t>
            </a:r>
          </a:p>
          <a:p>
            <a:r>
              <a:rPr lang="en-US" dirty="0"/>
              <a:t>Ito ang unang interact question ng USAD mismo.</a:t>
            </a:r>
          </a:p>
          <a:p>
            <a:r>
              <a:rPr lang="en-US" dirty="0"/>
              <a:t>Asahan: wala akong oras, hindi ako magaling, hindi ako kilala, pagod sa trabaho, may nakasakit sa akin sa ministry.</a:t>
            </a:r>
          </a:p>
          <a:p>
            <a:r>
              <a:rPr lang="en-US" dirty="0"/>
              <a:t>Hamunin nang marahan: Alin sa mga ito ang naging excuse ko rin?</a:t>
            </a:r>
          </a:p>
          <a:p>
            <a:r>
              <a:rPr lang="en-US" dirty="0"/>
              <a:t>Huwag i-fix — pangalanan muna.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3 min (target 00:41)</a:t>
            </a:r>
          </a:p>
          <a:p>
            <a:r>
              <a:rPr lang="en-US" dirty="0"/>
              <a:t>PARTICIPANT GUIDE QUESTION.</a:t>
            </a:r>
          </a:p>
          <a:p>
            <a:r>
              <a:rPr lang="en-US" dirty="0"/>
              <a:t>Ito ang pangalawang interact question ng USAD.</a:t>
            </a:r>
          </a:p>
          <a:p>
            <a:r>
              <a:rPr lang="en-US" dirty="0"/>
              <a:t>Asahan: paglago, kagalakan, samahan, ang presensya at parangal ng Dios, ang pakiramdam na may saysay ang buhay.</a:t>
            </a:r>
          </a:p>
          <a:p>
            <a:r>
              <a:rPr lang="en-US" dirty="0"/>
              <a:t>Ibalik sa turumpo: umiikot, pero walang nararating.</a:t>
            </a:r>
          </a:p>
          <a:p>
            <a:r>
              <a:rPr lang="en-US" dirty="0"/>
              <a:t>At sa Katawan ni Kristo: may parteng hindi gumagalaw, kaya kulang ang buong katawan.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TALAKAY · 4 min (target 00:45)</a:t>
            </a:r>
          </a:p>
          <a:p>
            <a:r>
              <a:rPr lang="en-US" dirty="0"/>
              <a:t>PARTICIPANT GUIDE QUESTION.</a:t>
            </a:r>
          </a:p>
          <a:p>
            <a:r>
              <a:rPr lang="en-US" dirty="0"/>
              <a:t>Ibalik sa kuwento ng paghuhugas ng paa.</a:t>
            </a:r>
          </a:p>
          <a:p>
            <a:r>
              <a:rPr lang="en-US" dirty="0"/>
              <a:t>Ang pinakamahirap na paglilingkod ay kadalasan ang mababa, ang hindi napapansin, at ang hindi natin gusto.</a:t>
            </a:r>
          </a:p>
          <a:p>
            <a:r>
              <a:rPr lang="en-US" dirty="0"/>
              <a:t>PASTORAL CARE: may mga taong nasaktan sa ministry; ang paglilingkod ay hindi pananatili sa mapang-abusong sitwasyon — i-flag sa lead kung may ganitong usapin.</a:t>
            </a:r>
          </a:p>
          <a:p>
            <a:r>
              <a:rPr lang="en-US" dirty="0"/>
              <a:t>Isara ang TALAKAY sa isang pangungusap na panalangin ng isang miyembro ng bawat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2 min (target 00:47)</a:t>
            </a:r>
          </a:p>
          <a:p>
            <a:r>
              <a:rPr lang="en-US" dirty="0"/>
              <a:t>KUWENTO — Limang Binata sa Dalampasigan (basahin nang buo, Chicken Soup style).</a:t>
            </a:r>
          </a:p>
          <a:p>
            <a:r>
              <a:rPr lang="en-US" dirty="0"/>
              <a:t>Limang binatang misyonero: Roger Youderian, Pete Fleming, Jim Elliot, Nate Saint, at Ed McCully.</a:t>
            </a:r>
          </a:p>
          <a:p>
            <a:r>
              <a:rPr lang="en-US" dirty="0"/>
              <a:t>Naunawaan nilang mainam na walang saysay ang buhay na hindi ginugol para sa paglilingkod.</a:t>
            </a:r>
          </a:p>
          <a:p>
            <a:r>
              <a:rPr lang="en-US" dirty="0"/>
              <a:t>Walang ibang tibok ang puso nila kundi ang maglingkod sa Dios at kapwa, at maipangaral ang Mabuting Balita.</a:t>
            </a:r>
          </a:p>
          <a:p>
            <a:r>
              <a:rPr lang="en-US" dirty="0"/>
              <a:t>Kaya pinili nilang abutin ang isang liblib at mapanganib na tribo sa Ecuador — ang mga Auca, na ngayon ay tinatawag na Waodani.</a:t>
            </a:r>
          </a:p>
          <a:p>
            <a:r>
              <a:rPr lang="en-US" dirty="0"/>
              <a:t>Alam na alam nilang wala pang dayong pumasok sa teritoryo ng mga Auca na lumabas nang buhay.</a:t>
            </a:r>
          </a:p>
          <a:p>
            <a:r>
              <a:rPr lang="en-US" dirty="0"/>
              <a:t>Pero itinuloy pa rin nila ang paghayo.</a:t>
            </a:r>
          </a:p>
          <a:p>
            <a:r>
              <a:rPr lang="en-US" dirty="0"/>
              <a:t>Lumapag ang eroplano nila sa dalampasigan ng mga Auca, at nagsimula silang makipagkaibigan.</a:t>
            </a:r>
          </a:p>
          <a:p>
            <a:r>
              <a:rPr lang="en-US" dirty="0"/>
              <a:t>Nagbigay sila ng mga regalo sa unang tatlong Auca na lumapit.</a:t>
            </a:r>
          </a:p>
          <a:p>
            <a:r>
              <a:rPr lang="en-US" dirty="0"/>
              <a:t>Nakipagkuwentuhan sila gamit ang kaunting alam nila sa Auca language.</a:t>
            </a:r>
          </a:p>
          <a:p>
            <a:r>
              <a:rPr lang="en-US" dirty="0"/>
              <a:t>Isinakay pa nila ang isang lalaking Auca sa eroplano, at manghang-mangha ito habang inililibot sa himpapawid.</a:t>
            </a:r>
          </a:p>
          <a:p>
            <a:r>
              <a:rPr lang="en-US" dirty="0"/>
              <a:t>Maganda ang unang pagkikita, kaya binilinan nila ang tatlo na magsama pa ng ibang katribo.</a:t>
            </a:r>
          </a:p>
          <a:p>
            <a:r>
              <a:rPr lang="en-US" dirty="0"/>
              <a:t>Pagkatapos ng anim na araw, dumating nga ang iba pang Auca.</a:t>
            </a:r>
          </a:p>
          <a:p>
            <a:r>
              <a:rPr lang="en-US" dirty="0"/>
              <a:t>Pero wala silang intensyong makipagkaibigan.</a:t>
            </a:r>
          </a:p>
          <a:p>
            <a:r>
              <a:rPr lang="en-US" dirty="0"/>
              <a:t>Armado ng mga patalim at sibat, brutal nilang pinaslang ang limang batang misyonero noong January 8, 1956.</a:t>
            </a:r>
          </a:p>
          <a:p>
            <a:r>
              <a:rPr lang="en-US" dirty="0"/>
              <a:t>Nagluksa ang mga naiwang mahal sa buhay nang marinig ang balita.</a:t>
            </a:r>
          </a:p>
          <a:p>
            <a:r>
              <a:rPr lang="en-US" dirty="0"/>
              <a:t>Pero makalipas ang dalawang taon, bumalik sa mga Auca si Elisabeth Elliot — ang maybahay ni Jim.</a:t>
            </a:r>
          </a:p>
          <a:p>
            <a:r>
              <a:rPr lang="en-US" dirty="0"/>
              <a:t>Bumalik siya para ipagpatuloy ang nasimulan ng kaniyang yumaong kabiyak.</a:t>
            </a:r>
          </a:p>
          <a:p>
            <a:r>
              <a:rPr lang="en-US" dirty="0"/>
              <a:t>Dahil dito, nakilala ng buong tribo si Jesus — at nagkaroon ng isang malagong church sa mga Auca.</a:t>
            </a:r>
          </a:p>
          <a:p>
            <a:r>
              <a:rPr lang="en-US" dirty="0"/>
              <a:t>Bago mag-alay ng buhay, may isinulat ang 28-anyos na si Jim Elliot sa kaniyang personal journal.</a:t>
            </a:r>
          </a:p>
          <a:p>
            <a:r>
              <a:rPr lang="en-US" dirty="0"/>
              <a:t>"Hindi mangmang ang taong nag-aalay ng hindi niya kayang ariin upang matamo ang yaong sa kaniya'y hindi maaagaw."</a:t>
            </a:r>
          </a:p>
          <a:p>
            <a:r>
              <a:rPr lang="en-US" dirty="0"/>
              <a:t>Huminto sandali pagkatapos ng quote ni Jim Elliot — hayaang lumapat.</a:t>
            </a:r>
          </a:p>
          <a:p>
            <a:r>
              <a:rPr lang="en-US" dirty="0"/>
              <a:t>Tulay sa Bondservant Path: hindi lahat ay tatawagin sa Ecuador — pero lahat ay tinawag na maging manggagawa.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5 min (target 00:52)</a:t>
            </a:r>
          </a:p>
          <a:p>
            <a:r>
              <a:rPr lang="en-US" dirty="0"/>
              <a:t>PARTICIPANT GUIDE QUESTION.</a:t>
            </a:r>
          </a:p>
          <a:p>
            <a:r>
              <a:rPr lang="en-US" dirty="0"/>
              <a:t>Ito ang challenge ng aralin — gaya ng Hagdan ng L14, pero apat na hakbang.</a:t>
            </a:r>
          </a:p>
          <a:p>
            <a:r>
              <a:rPr lang="en-US" dirty="0"/>
              <a:t>Suriin: isulat ang klase ng lingkod mo ngayon, at kung bakit.</a:t>
            </a:r>
          </a:p>
          <a:p>
            <a:r>
              <a:rPr lang="en-US" dirty="0"/>
              <a:t>Tuklasin: isulat ang kaloob na sa tingin mo ay ibinigay sa iyo — o isulat na sasagutan mo ang Spiritual Gift Survey ngayong linggo.</a:t>
            </a:r>
          </a:p>
          <a:p>
            <a:r>
              <a:rPr lang="en-US" dirty="0"/>
              <a:t>Itugma: isulat ang isang ministry na ipapanalangin mo, at kung sino ang tatanungin mo — LCG leader o pastor.</a:t>
            </a:r>
          </a:p>
          <a:p>
            <a:r>
              <a:rPr lang="en-US" dirty="0"/>
              <a:t>Ipangako: isulat kung handa ka nang pumirma ng Ministry Covenant, o kung ano pa ang kailangan mong ipanalangin.</a:t>
            </a:r>
          </a:p>
          <a:p>
            <a:r>
              <a:rPr lang="en-US" dirty="0"/>
              <a:t>Silent writing. GUARD THE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TUGON · 3 min (target 00:55)</a:t>
            </a:r>
          </a:p>
          <a:p>
            <a:r>
              <a:rPr lang="en-US" dirty="0"/>
              <a:t>PARTICIPANT GUIDE QUESTION.</a:t>
            </a:r>
          </a:p>
          <a:p>
            <a:r>
              <a:rPr lang="en-US" dirty="0"/>
              <a:t>Limang pahayag mula mismo sa aralin: may kagalakan, may pag-ibig, para sa kapakinabangan ng iba, maningas, at walang quit.</a:t>
            </a:r>
          </a:p>
          <a:p>
            <a:r>
              <a:rPr lang="en-US" dirty="0"/>
              <a:t>A ay modelo para sa iba; E ay hindi pa nagsisimula.</a:t>
            </a:r>
          </a:p>
          <a:p>
            <a:r>
              <a:rPr lang="en-US" dirty="0"/>
              <a:t>Walang tama o mali — tapat lang; babalikan ito sa LCG.</a:t>
            </a:r>
          </a:p>
          <a:p>
            <a:r>
              <a:rPr lang="en-US" dirty="0"/>
              <a:t>Pagkatapos, isang pangungusap sa katabi: Ang pinakamalaking insight ko 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2 min (target 00:57)</a:t>
            </a:r>
          </a:p>
          <a:p>
            <a:r>
              <a:rPr lang="en-US" dirty="0"/>
              <a:t>Tatlong practice assignments, mula mismo sa TUGON ng USAD.</a:t>
            </a:r>
          </a:p>
          <a:p>
            <a:r>
              <a:rPr lang="en-US" dirty="0"/>
              <a:t>Una, tanungin ang iyong small group leader o pastor kung ano-ano ang areas of ministry na maaari mong salihan, at ipanalanging maigi kung ano ang specific ministry na gusto ng Panginoon na ipagawa sa iyo.</a:t>
            </a:r>
          </a:p>
          <a:p>
            <a:r>
              <a:rPr lang="en-US" dirty="0"/>
              <a:t>Pangalawa, sagutan ang Spiritual Gift Survey kasama ang iyong mga ka-small group.</a:t>
            </a:r>
          </a:p>
          <a:p>
            <a:r>
              <a:rPr lang="en-US" dirty="0"/>
              <a:t>Pangatlo, sagutan ang Spiritual Growth Assessment form sa Appendix B; kung handa ka nang mag-commit kay Lord na mag-ministry, fill-upan ang Ministry Covenant sa Appendix C.</a:t>
            </a:r>
          </a:p>
          <a:p>
            <a:r>
              <a:rPr lang="en-US" dirty="0"/>
              <a:t>Pakinggan ang awit na Kailan Pa? ng Papuri Singers sa YouTube, personal o kasama ang small group — namnamin ang bawat salita at gawin itong prayer of commitment.</a:t>
            </a:r>
          </a:p>
          <a:p>
            <a:r>
              <a:rPr lang="en-US" dirty="0"/>
              <a:t>At ang 7-Day Reading sa guide: isang passage tungkol sa paglilingkod bawat araw, at isang linya ng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2 min (target 00:59)</a:t>
            </a:r>
          </a:p>
          <a:p>
            <a:r>
              <a:rPr lang="en-US" dirty="0"/>
              <a:t>PARTICIPANT GUIDE QUESTION.</a:t>
            </a:r>
          </a:p>
          <a:p>
            <a:r>
              <a:rPr lang="en-US" dirty="0"/>
              <a:t>Isulat muna sa guide, tapos bigkasin sa katabi.</a:t>
            </a:r>
          </a:p>
          <a:p>
            <a:r>
              <a:rPr lang="en-US" dirty="0"/>
              <a:t>Konkreto: hindi maglilingkod ako, kundi kakausapin ko si Pastor sa Linggo tungkol sa ministry na ito.</a:t>
            </a:r>
          </a:p>
          <a:p>
            <a:r>
              <a:rPr lang="en-US" dirty="0"/>
              <a:t>Ikabit sa Bondservant Path at sa tatlong assignments.</a:t>
            </a:r>
          </a:p>
          <a:p>
            <a:r>
              <a:rPr lang="en-US" dirty="0"/>
              <a:t>Ito ang pangakong babalikan ng discipler mo at ng 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DALHIN · 1 min (target 01:00)</a:t>
            </a:r>
          </a:p>
          <a:p>
            <a:r>
              <a:rPr lang="en-US" dirty="0"/>
              <a:t>Ito ang huling aralin ng USAD; sa L11 magsisimula ang UNLAD — Buhay May Misyon.</a:t>
            </a:r>
          </a:p>
          <a:p>
            <a:r>
              <a:rPr lang="en-US" dirty="0"/>
              <a:t>Kung ang L10 ay tungkol sa paglilingkod, ang L11 ay tungkol sa misyon ng buong buhay.</a:t>
            </a:r>
          </a:p>
          <a:p>
            <a:r>
              <a:rPr lang="en-US" dirty="0"/>
              <a:t>Paalala: dalhin sa L11 ang Bondservant Path, ang Self-Check, ang 7-Day Reading, ang tatlong assignments, at ang Pangako Ko.</a:t>
            </a:r>
          </a:p>
          <a:p>
            <a:r>
              <a:rPr lang="en-US" dirty="0"/>
              <a:t>Closing ritual: Disciples who make disciples.</a:t>
            </a:r>
          </a:p>
          <a:p>
            <a:r>
              <a:rPr lang="en-US" dirty="0"/>
              <a:t>Isang maikling closing prayer: Panginoon, gawin Mo kaming mabuting lingkod — hindi volunteer, kundi bondservant habang buhay.</a:t>
            </a:r>
          </a:p>
          <a:p>
            <a:r>
              <a:rPr lang="en-US" dirty="0"/>
              <a:t>Tapos ang 60 minuto — landing sa 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Text 1"/>
          <p:cNvSpPr txBox="1"/>
          <p:nvPr/>
        </p:nvSpPr>
        <p:spPr>
          <a:xfrm>
            <a:off x="731520" y="822960"/>
            <a:ext cx="10725912" cy="365760"/>
          </a:xfrm>
          <a:prstGeom prst="rect">
            <a:avLst/>
          </a:prstGeom>
          <a:noFill/>
          <a:ln/>
        </p:spPr>
        <p:txBody>
          <a:bodyPr wrap="square" lIns="0" tIns="0" rIns="0" bIns="0" rtlCol="0" anchor="ctr"/>
          <a:lstStyle/>
          <a:p>
            <a:pPr algn="ctr" indent="0" marL="0">
              <a:buNone/>
            </a:pPr>
            <a:r>
              <a:rPr lang="en-US" sz="1600" b="1" spc="200" kern="0" dirty="0">
                <a:solidFill>
                  <a:srgbClr val="D4A854"/>
                </a:solidFill>
                <a:latin typeface="DM Sans" pitchFamily="34" charset="0"/>
                <a:ea typeface="DM Sans" pitchFamily="34" charset="-122"/>
                <a:cs typeface="DM Sans" pitchFamily="34" charset="-120"/>
              </a:rPr>
              <a:t>MULTIPLY · DISCIPLE-MAKING PIPELINE · BTLI 1 · LESSON 10</a:t>
            </a:r>
            <a:endParaRPr lang="en-US" sz="1600" dirty="0"/>
          </a:p>
        </p:txBody>
      </p:sp>
      <p:sp>
        <p:nvSpPr>
          <p:cNvPr id="4" name="Text 2"/>
          <p:cNvSpPr txBox="1"/>
          <p:nvPr/>
        </p:nvSpPr>
        <p:spPr>
          <a:xfrm>
            <a:off x="731520" y="1417320"/>
            <a:ext cx="10725912" cy="2103120"/>
          </a:xfrm>
          <a:prstGeom prst="rect">
            <a:avLst/>
          </a:prstGeom>
          <a:noFill/>
          <a:ln/>
        </p:spPr>
        <p:txBody>
          <a:bodyPr wrap="square" lIns="0" tIns="0" rIns="0" bIns="0" rtlCol="0" anchor="ctr">
            <a:normAutofit/>
          </a:bodyPr>
          <a:lstStyle/>
          <a:p>
            <a:pPr algn="ctr" indent="0" marL="0">
              <a:buNone/>
            </a:pPr>
            <a:r>
              <a:rPr lang="en-US" sz="5800" b="1" dirty="0">
                <a:solidFill>
                  <a:srgbClr val="FDFBF6"/>
                </a:solidFill>
                <a:latin typeface="Playfair Display" pitchFamily="34" charset="0"/>
                <a:ea typeface="Playfair Display" pitchFamily="34" charset="-122"/>
                <a:cs typeface="Playfair Display" pitchFamily="34" charset="-120"/>
              </a:rPr>
              <a:t>Paglilingkod sa Dios at Kapwa</a:t>
            </a:r>
            <a:endParaRPr lang="en-US" sz="5800" dirty="0"/>
          </a:p>
        </p:txBody>
      </p:sp>
      <p:sp>
        <p:nvSpPr>
          <p:cNvPr id="5" name="Text 3"/>
          <p:cNvSpPr txBox="1"/>
          <p:nvPr/>
        </p:nvSpPr>
        <p:spPr>
          <a:xfrm>
            <a:off x="731520" y="3657600"/>
            <a:ext cx="10725912" cy="548640"/>
          </a:xfrm>
          <a:prstGeom prst="rect">
            <a:avLst/>
          </a:prstGeom>
          <a:noFill/>
          <a:ln/>
        </p:spPr>
        <p:txBody>
          <a:bodyPr wrap="square" lIns="0" tIns="0" rIns="0" bIns="0" rtlCol="0" anchor="ctr"/>
          <a:lstStyle/>
          <a:p>
            <a:pPr algn="ctr" indent="0" marL="0">
              <a:buNone/>
            </a:pPr>
            <a:r>
              <a:rPr lang="en-US" sz="2600" dirty="0">
                <a:solidFill>
                  <a:srgbClr val="FDFBF6"/>
                </a:solidFill>
                <a:latin typeface="DM Sans" pitchFamily="34" charset="0"/>
                <a:ea typeface="DM Sans" pitchFamily="34" charset="-122"/>
                <a:cs typeface="DM Sans" pitchFamily="34" charset="-120"/>
              </a:rPr>
              <a:t>Ministry · Ano ang Tunay na Kahulugan ng Paglilingkod?</a:t>
            </a:r>
            <a:endParaRPr lang="en-US" sz="2600" dirty="0"/>
          </a:p>
        </p:txBody>
      </p:sp>
      <p:sp>
        <p:nvSpPr>
          <p:cNvPr id="6" name="Text 4"/>
          <p:cNvSpPr txBox="1"/>
          <p:nvPr/>
        </p:nvSpPr>
        <p:spPr>
          <a:xfrm>
            <a:off x="1097280" y="4343400"/>
            <a:ext cx="9994392" cy="731520"/>
          </a:xfrm>
          <a:prstGeom prst="rect">
            <a:avLst/>
          </a:prstGeom>
          <a:noFill/>
          <a:ln/>
        </p:spPr>
        <p:txBody>
          <a:bodyPr wrap="square" lIns="0" tIns="0" rIns="0" bIns="0" rtlCol="0" anchor="ctr"/>
          <a:lstStyle/>
          <a:p>
            <a:pPr algn="ctr" indent="0" marL="0">
              <a:buNone/>
            </a:pPr>
            <a:r>
              <a:rPr lang="en-US" sz="2000" i="1" dirty="0">
                <a:solidFill>
                  <a:srgbClr val="D4A854"/>
                </a:solidFill>
                <a:latin typeface="DM Sans" pitchFamily="34" charset="0"/>
                <a:ea typeface="DM Sans" pitchFamily="34" charset="-122"/>
                <a:cs typeface="DM Sans" pitchFamily="34" charset="-120"/>
              </a:rPr>
              <a:t>“...ang Anak ng Tao ay naparito hindi upang paglingkuran kundi upang maglingkod...” — Mark 10:45</a:t>
            </a:r>
            <a:endParaRPr lang="en-US" sz="2000" dirty="0"/>
          </a:p>
        </p:txBody>
      </p:sp>
      <p:sp>
        <p:nvSpPr>
          <p:cNvPr id="7" name="Text 5"/>
          <p:cNvSpPr txBox="1"/>
          <p:nvPr/>
        </p:nvSpPr>
        <p:spPr>
          <a:xfrm>
            <a:off x="731520" y="5257800"/>
            <a:ext cx="10725912" cy="457200"/>
          </a:xfrm>
          <a:prstGeom prst="rect">
            <a:avLst/>
          </a:prstGeom>
          <a:noFill/>
          <a:ln/>
        </p:spPr>
        <p:txBody>
          <a:bodyPr wrap="square" lIns="0" tIns="0" rIns="0" bIns="0" rtlCol="0" anchor="ctr"/>
          <a:lstStyle/>
          <a:p>
            <a:pPr algn="ctr" indent="0" marL="0">
              <a:buNone/>
            </a:pPr>
            <a:r>
              <a:rPr lang="en-US" sz="1800" b="1" dirty="0">
                <a:solidFill>
                  <a:srgbClr val="FDFBF6"/>
                </a:solidFill>
                <a:latin typeface="DM Sans" pitchFamily="34" charset="0"/>
                <a:ea typeface="DM Sans" pitchFamily="34" charset="-122"/>
                <a:cs typeface="DM Sans" pitchFamily="34" charset="-120"/>
              </a:rPr>
              <a:t>🌿 Goodness · Kabutihan · ⚡ The Bondservant Path</a:t>
            </a:r>
            <a:endParaRPr lang="en-US" sz="18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60-min lesson</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 /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991356" y="548640"/>
            <a:ext cx="4206240" cy="411480"/>
          </a:xfrm>
          <a:prstGeom prst="roundRect">
            <a:avLst>
              <a:gd name="adj" fmla="val 44444"/>
            </a:avLst>
          </a:prstGeom>
          <a:ln w="15875">
            <a:solidFill>
              <a:srgbClr val="D4A854"/>
            </a:solidFill>
            <a:prstDash val="solid"/>
          </a:ln>
        </p:spPr>
      </p:sp>
      <p:sp>
        <p:nvSpPr>
          <p:cNvPr id="4" name="Text 2"/>
          <p:cNvSpPr txBox="1"/>
          <p:nvPr/>
        </p:nvSpPr>
        <p:spPr>
          <a:xfrm>
            <a:off x="3991356" y="548640"/>
            <a:ext cx="420624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TALATA NG MEMORYA</a:t>
            </a:r>
            <a:endParaRPr lang="en-US" sz="2000" dirty="0"/>
          </a:p>
        </p:txBody>
      </p:sp>
      <p:sp>
        <p:nvSpPr>
          <p:cNvPr id="5" name="Text 3"/>
          <p:cNvSpPr txBox="1"/>
          <p:nvPr/>
        </p:nvSpPr>
        <p:spPr>
          <a:xfrm>
            <a:off x="731520" y="1143000"/>
            <a:ext cx="10725912" cy="2332736"/>
          </a:xfrm>
          <a:prstGeom prst="rect">
            <a:avLst/>
          </a:prstGeom>
          <a:noFill/>
          <a:ln/>
        </p:spPr>
        <p:txBody>
          <a:bodyPr wrap="square" lIns="0" tIns="0" rIns="0" bIns="0" rtlCol="0" anchor="t">
            <a:normAutofit/>
          </a:bodyPr>
          <a:lstStyle/>
          <a:p>
            <a:pPr algn="l" indent="0" marL="0">
              <a:lnSpc>
                <a:spcPct val="108000"/>
              </a:lnSpc>
              <a:buNone/>
            </a:pPr>
            <a:r>
              <a:rPr lang="en-US" sz="3800" b="1" dirty="0">
                <a:solidFill>
                  <a:srgbClr val="FDFBF6"/>
                </a:solidFill>
                <a:latin typeface="Playfair Display" pitchFamily="34" charset="0"/>
                <a:ea typeface="Playfair Display" pitchFamily="34" charset="-122"/>
                <a:cs typeface="Playfair Display" pitchFamily="34" charset="-120"/>
              </a:rPr>
              <a:t>“Sapagkat ang Anak ng Tao ay naparito hindi upang paglingkuran kundi upang maglingkod at upang mag-alay ng kanyang buhay bilang pantubos sa marami.”</a:t>
            </a:r>
            <a:endParaRPr lang="en-US" sz="3800" dirty="0"/>
          </a:p>
        </p:txBody>
      </p:sp>
      <p:sp>
        <p:nvSpPr>
          <p:cNvPr id="6" name="Text 4"/>
          <p:cNvSpPr txBox="1"/>
          <p:nvPr/>
        </p:nvSpPr>
        <p:spPr>
          <a:xfrm>
            <a:off x="731520" y="3658616"/>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 Mark 10:45</a:t>
            </a:r>
            <a:endParaRPr lang="en-US" sz="2800" dirty="0"/>
          </a:p>
        </p:txBody>
      </p:sp>
      <p:sp>
        <p:nvSpPr>
          <p:cNvPr id="7" name="Text 5"/>
          <p:cNvSpPr txBox="1"/>
          <p:nvPr/>
        </p:nvSpPr>
        <p:spPr>
          <a:xfrm>
            <a:off x="731520" y="431596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Dalawang dahilan ng Kaniyang pagparito: maglingkod, at mag-alay ng buhay.</a:t>
            </a:r>
            <a:endParaRPr lang="en-US" sz="2600" dirty="0"/>
          </a:p>
        </p:txBody>
      </p:sp>
      <p:sp>
        <p:nvSpPr>
          <p:cNvPr id="8" name="Text 6"/>
          <p:cNvSpPr txBox="1"/>
          <p:nvPr/>
        </p:nvSpPr>
        <p:spPr>
          <a:xfrm>
            <a:off x="731520" y="5332984"/>
            <a:ext cx="10725912" cy="50444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D4A854"/>
                </a:solidFill>
                <a:latin typeface="DM Sans" pitchFamily="34" charset="0"/>
                <a:ea typeface="DM Sans" pitchFamily="34" charset="-122"/>
                <a:cs typeface="DM Sans" pitchFamily="34" charset="-120"/>
              </a:rPr>
              <a:t>Ikaw — pinaglilingkuran, o naglilingkod?</a:t>
            </a:r>
            <a:endParaRPr lang="en-US" sz="30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 / 30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539996" y="548640"/>
            <a:ext cx="3108960" cy="411480"/>
          </a:xfrm>
          <a:prstGeom prst="roundRect">
            <a:avLst>
              <a:gd name="adj" fmla="val 44444"/>
            </a:avLst>
          </a:prstGeom>
          <a:ln w="15875">
            <a:solidFill>
              <a:srgbClr val="2A5C40"/>
            </a:solidFill>
            <a:prstDash val="solid"/>
          </a:ln>
        </p:spPr>
      </p:sp>
      <p:sp>
        <p:nvSpPr>
          <p:cNvPr id="4" name="Text 2"/>
          <p:cNvSpPr txBox="1"/>
          <p:nvPr/>
        </p:nvSpPr>
        <p:spPr>
          <a:xfrm>
            <a:off x="4539996" y="548640"/>
            <a:ext cx="310896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BALIKAN · L9</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Ang Iniwan ng Lesson 9</a:t>
            </a:r>
            <a:endParaRPr lang="en-US" sz="4400" dirty="0"/>
          </a:p>
        </p:txBody>
      </p:sp>
      <p:sp>
        <p:nvSpPr>
          <p:cNvPr id="6" name="Text 4"/>
          <p:cNvSpPr txBox="1"/>
          <p:nvPr/>
        </p:nvSpPr>
        <p:spPr>
          <a:xfrm>
            <a:off x="731520" y="1966976"/>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EOLO Bridge — ang isang pangalang hindi mo iiwan</a:t>
            </a:r>
            <a:endParaRPr lang="en-US" sz="2400" dirty="0"/>
          </a:p>
        </p:txBody>
      </p:sp>
      <p:sp>
        <p:nvSpPr>
          <p:cNvPr id="7" name="Text 5"/>
          <p:cNvSpPr txBox="1"/>
          <p:nvPr/>
        </p:nvSpPr>
        <p:spPr>
          <a:xfrm>
            <a:off x="731520" y="2564384"/>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7-Araw na Bantay-Puso — isang maliit na hakbang bawat araw</a:t>
            </a:r>
            <a:endParaRPr lang="en-US" sz="2400" dirty="0"/>
          </a:p>
        </p:txBody>
      </p:sp>
      <p:sp>
        <p:nvSpPr>
          <p:cNvPr id="8" name="Text 6"/>
          <p:cNvSpPr txBox="1"/>
          <p:nvPr/>
        </p:nvSpPr>
        <p:spPr>
          <a:xfrm>
            <a:off x="731520" y="3161792"/>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dirty="0">
                <a:solidFill>
                  <a:srgbClr val="1A2E22"/>
                </a:solidFill>
                <a:latin typeface="DM Sans" pitchFamily="34" charset="0"/>
                <a:ea typeface="DM Sans" pitchFamily="34" charset="-122"/>
                <a:cs typeface="DM Sans" pitchFamily="34" charset="-120"/>
              </a:rPr>
              <a:t>✏️ Ang Romans 6:23 drawing — para sa isang tao</a:t>
            </a:r>
            <a:endParaRPr lang="en-US" sz="2400" dirty="0"/>
          </a:p>
        </p:txBody>
      </p:sp>
      <p:sp>
        <p:nvSpPr>
          <p:cNvPr id="9" name="Text 7"/>
          <p:cNvSpPr txBox="1"/>
          <p:nvPr/>
        </p:nvSpPr>
        <p:spPr>
          <a:xfrm>
            <a:off x="731520" y="3759200"/>
            <a:ext cx="10725912" cy="714248"/>
          </a:xfrm>
          <a:prstGeom prst="rect">
            <a:avLst/>
          </a:prstGeom>
          <a:noFill/>
          <a:ln/>
        </p:spPr>
        <p:txBody>
          <a:bodyPr wrap="square" lIns="0" tIns="0" rIns="0" bIns="0" rtlCol="0" anchor="t">
            <a:normAutofit/>
          </a:bodyPr>
          <a:lstStyle/>
          <a:p>
            <a:pPr algn="l" indent="0" marL="0">
              <a:lnSpc>
                <a:spcPct val="108000"/>
              </a:lnSpc>
              <a:buNone/>
            </a:pPr>
            <a:r>
              <a:rPr lang="en-US" sz="2200" i="1" dirty="0">
                <a:solidFill>
                  <a:srgbClr val="1F4530"/>
                </a:solidFill>
                <a:latin typeface="DM Sans" pitchFamily="34" charset="0"/>
                <a:ea typeface="DM Sans" pitchFamily="34" charset="-122"/>
                <a:cs typeface="DM Sans" pitchFamily="34" charset="-120"/>
              </a:rPr>
              <a:t>✍️ “Hindi ako magiging S.S.S. Christian. Hahayo ako — saksi at sugo...”</a:t>
            </a:r>
            <a:endParaRPr lang="en-US" sz="2200" dirty="0"/>
          </a:p>
        </p:txBody>
      </p:sp>
      <p:sp>
        <p:nvSpPr>
          <p:cNvPr id="10" name="Text 8"/>
          <p:cNvSpPr txBox="1"/>
          <p:nvPr/>
        </p:nvSpPr>
        <p:spPr>
          <a:xfrm>
            <a:off x="731520" y="4656328"/>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b="1" dirty="0">
                <a:solidFill>
                  <a:srgbClr val="1F4530"/>
                </a:solidFill>
                <a:latin typeface="DM Sans" pitchFamily="34" charset="0"/>
                <a:ea typeface="DM Sans" pitchFamily="34" charset="-122"/>
                <a:cs typeface="DM Sans" pitchFamily="34" charset="-120"/>
              </a:rPr>
              <a:t>Collection ito, hindi correction.</a:t>
            </a:r>
            <a:endParaRPr lang="en-US" sz="2200" dirty="0"/>
          </a:p>
        </p:txBody>
      </p:sp>
      <p:sp>
        <p:nvSpPr>
          <p:cNvPr id="11" name="Shape 9"/>
          <p:cNvSpPr/>
          <p:nvPr/>
        </p:nvSpPr>
        <p:spPr>
          <a:xfrm>
            <a:off x="9948672" y="137160"/>
            <a:ext cx="2011680" cy="384048"/>
          </a:xfrm>
          <a:prstGeom prst="roundRect">
            <a:avLst>
              <a:gd name="adj" fmla="val 28571"/>
            </a:avLst>
          </a:prstGeom>
          <a:solidFill>
            <a:srgbClr val="D4AF37"/>
          </a:solidFill>
          <a:ln/>
        </p:spPr>
      </p:sp>
      <p:sp>
        <p:nvSpPr>
          <p:cNvPr id="12" name="Text 10"/>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⌛00:03</a:t>
            </a:r>
            <a:endParaRPr lang="en-US" sz="1100" dirty="0"/>
          </a:p>
        </p:txBody>
      </p:sp>
      <p:sp>
        <p:nvSpPr>
          <p:cNvPr id="13" name="Text 11"/>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3 / 30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PUKAW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Sino ang EOLO na hindi mo iiwan — at ilang araw ang natapos mo sa Bantay-Puso? Naiguhit mo ba ang Romans 6:23 para sa isang tao?</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1-2 sasagot bawat isa — isang pangalan, isang araw, isang kuwento.</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4 / 30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905756" y="548640"/>
            <a:ext cx="2377440" cy="411480"/>
          </a:xfrm>
          <a:prstGeom prst="roundRect">
            <a:avLst>
              <a:gd name="adj" fmla="val 44444"/>
            </a:avLst>
          </a:prstGeom>
          <a:ln w="15875">
            <a:solidFill>
              <a:srgbClr val="2A5C40"/>
            </a:solidFill>
            <a:prstDash val="solid"/>
          </a:ln>
        </p:spPr>
      </p:sp>
      <p:sp>
        <p:nvSpPr>
          <p:cNvPr id="4" name="Text 2"/>
          <p:cNvSpPr txBox="1"/>
          <p:nvPr/>
        </p:nvSpPr>
        <p:spPr>
          <a:xfrm>
            <a:off x="4905756" y="548640"/>
            <a:ext cx="23774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TANAW</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Walumpu't Anim na Taon</a:t>
            </a:r>
            <a:endParaRPr lang="en-US" sz="4400" dirty="0"/>
          </a:p>
        </p:txBody>
      </p:sp>
      <p:sp>
        <p:nvSpPr>
          <p:cNvPr id="6" name="Text 4"/>
          <p:cNvSpPr txBox="1"/>
          <p:nvPr/>
        </p:nvSpPr>
        <p:spPr>
          <a:xfrm>
            <a:off x="731520" y="204012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156 A.D. · Polycarp — disciple ni Apostle John, pastor ng Smyrna</a:t>
            </a:r>
            <a:endParaRPr lang="en-US" sz="2600" dirty="0"/>
          </a:p>
        </p:txBody>
      </p:sp>
      <p:sp>
        <p:nvSpPr>
          <p:cNvPr id="7" name="Text 5"/>
          <p:cNvSpPr txBox="1"/>
          <p:nvPr/>
        </p:nvSpPr>
        <p:spPr>
          <a:xfrm>
            <a:off x="731520" y="3057144"/>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i="1" dirty="0">
                <a:solidFill>
                  <a:srgbClr val="1A2E22"/>
                </a:solidFill>
                <a:latin typeface="DM Sans" pitchFamily="34" charset="0"/>
                <a:ea typeface="DM Sans" pitchFamily="34" charset="-122"/>
                <a:cs typeface="DM Sans" pitchFamily="34" charset="-120"/>
              </a:rPr>
              <a:t>“Sumpain mo si Kristo at palalayain kita!”</a:t>
            </a:r>
            <a:endParaRPr lang="en-US" sz="2800" dirty="0"/>
          </a:p>
        </p:txBody>
      </p:sp>
      <p:sp>
        <p:nvSpPr>
          <p:cNvPr id="8" name="Text 6"/>
          <p:cNvSpPr txBox="1"/>
          <p:nvPr/>
        </p:nvSpPr>
        <p:spPr>
          <a:xfrm>
            <a:off x="731520" y="3714496"/>
            <a:ext cx="10725912" cy="1313688"/>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“Walumpu't anim na taon kong pinaglingkuran si Kristo... Paano ko lalapastanganin ang aking Hari at Tagapagligtas?”</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⌛00:07</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5 / 30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PUKAW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Kung ikaw ang tatanungin: ano ang pipiliin mo — mamatay nang naglilingkod, o mabuhay nang tumatalikod sa Panginoon? Gagawin mo rin ba ang ginawa ni Polycarp?</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sa participant guide — tapat, para sa iyo muna.</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⌛00:08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6 / 30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814316" y="548640"/>
            <a:ext cx="2560320" cy="411480"/>
          </a:xfrm>
          <a:prstGeom prst="roundRect">
            <a:avLst>
              <a:gd name="adj" fmla="val 44444"/>
            </a:avLst>
          </a:prstGeom>
          <a:ln w="15875">
            <a:solidFill>
              <a:srgbClr val="D4A854"/>
            </a:solidFill>
            <a:prstDash val="solid"/>
          </a:ln>
        </p:spPr>
      </p:sp>
      <p:sp>
        <p:nvSpPr>
          <p:cNvPr id="4" name="Text 2"/>
          <p:cNvSpPr txBox="1"/>
          <p:nvPr/>
        </p:nvSpPr>
        <p:spPr>
          <a:xfrm>
            <a:off x="4814316" y="548640"/>
            <a:ext cx="256032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BIG IDEA</a:t>
            </a:r>
            <a:endParaRPr lang="en-US" sz="2000" dirty="0"/>
          </a:p>
        </p:txBody>
      </p:sp>
      <p:sp>
        <p:nvSpPr>
          <p:cNvPr id="5" name="Text 3"/>
          <p:cNvSpPr txBox="1"/>
          <p:nvPr/>
        </p:nvSpPr>
        <p:spPr>
          <a:xfrm>
            <a:off x="731520" y="1143000"/>
            <a:ext cx="10725912" cy="1373632"/>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FDFBF6"/>
                </a:solidFill>
                <a:latin typeface="Playfair Display" pitchFamily="34" charset="0"/>
                <a:ea typeface="Playfair Display" pitchFamily="34" charset="-122"/>
                <a:cs typeface="Playfair Display" pitchFamily="34" charset="-120"/>
              </a:rPr>
              <a:t>“Ang bawat mananampalataya ay tinawag para maging manggagawa.”</a:t>
            </a:r>
            <a:endParaRPr lang="en-US" sz="4400" dirty="0"/>
          </a:p>
        </p:txBody>
      </p:sp>
      <p:sp>
        <p:nvSpPr>
          <p:cNvPr id="6" name="Text 4"/>
          <p:cNvSpPr txBox="1"/>
          <p:nvPr/>
        </p:nvSpPr>
        <p:spPr>
          <a:xfrm>
            <a:off x="731520" y="2699512"/>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Bawat tao ay naglilingkod — ang tanong lang ay kung sino ang pinaglilingkuran niya.</a:t>
            </a:r>
            <a:endParaRPr lang="en-US" sz="2800" dirty="0"/>
          </a:p>
        </p:txBody>
      </p:sp>
      <p:sp>
        <p:nvSpPr>
          <p:cNvPr id="7" name="Text 5"/>
          <p:cNvSpPr txBox="1"/>
          <p:nvPr/>
        </p:nvSpPr>
        <p:spPr>
          <a:xfrm>
            <a:off x="731520" y="377647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Allergic tayong maging SERVANT; ang gusto natin, maging SIR.</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7 / 30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808476" y="548640"/>
            <a:ext cx="4572000" cy="411480"/>
          </a:xfrm>
          <a:prstGeom prst="roundRect">
            <a:avLst>
              <a:gd name="adj" fmla="val 44444"/>
            </a:avLst>
          </a:prstGeom>
          <a:ln w="15875">
            <a:solidFill>
              <a:srgbClr val="2A5C40"/>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ANG DNA NG MINISTRY</a:t>
            </a:r>
            <a:endParaRPr lang="en-US" sz="2000" dirty="0"/>
          </a:p>
        </p:txBody>
      </p:sp>
      <p:sp>
        <p:nvSpPr>
          <p:cNvPr id="5" name="Text 3"/>
          <p:cNvSpPr txBox="1"/>
          <p:nvPr/>
        </p:nvSpPr>
        <p:spPr>
          <a:xfrm>
            <a:off x="731520" y="1143000"/>
            <a:ext cx="10725912" cy="1013968"/>
          </a:xfrm>
          <a:prstGeom prst="rect">
            <a:avLst/>
          </a:prstGeom>
          <a:noFill/>
          <a:ln/>
        </p:spPr>
        <p:txBody>
          <a:bodyPr wrap="square" lIns="0" tIns="0" rIns="0" bIns="0" rtlCol="0" anchor="t">
            <a:normAutofit/>
          </a:bodyPr>
          <a:lstStyle/>
          <a:p>
            <a:pPr algn="l" indent="0" marL="0">
              <a:lnSpc>
                <a:spcPct val="108000"/>
              </a:lnSpc>
              <a:buNone/>
            </a:pPr>
            <a:r>
              <a:rPr lang="en-US" sz="3200" b="1" dirty="0">
                <a:solidFill>
                  <a:srgbClr val="1F4530"/>
                </a:solidFill>
                <a:latin typeface="DM Sans" pitchFamily="34" charset="0"/>
                <a:ea typeface="DM Sans" pitchFamily="34" charset="-122"/>
                <a:cs typeface="DM Sans" pitchFamily="34" charset="-120"/>
              </a:rPr>
              <a:t>diakoneo — maglingkod   ·   douleuo — magsilbi bilang alipin</a:t>
            </a:r>
            <a:endParaRPr lang="en-US" sz="3200" dirty="0"/>
          </a:p>
        </p:txBody>
      </p:sp>
      <p:sp>
        <p:nvSpPr>
          <p:cNvPr id="6" name="Text 4"/>
          <p:cNvSpPr txBox="1"/>
          <p:nvPr/>
        </p:nvSpPr>
        <p:spPr>
          <a:xfrm>
            <a:off x="731520" y="2339848"/>
            <a:ext cx="10725912" cy="1223772"/>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Kapag tinawag mong “Panginoon” si Christ, kinikilala mo ang status Niya bilang Master — at ang status mo bilang lingkod Niya.</a:t>
            </a:r>
            <a:endParaRPr lang="en-US" sz="2600" dirty="0"/>
          </a:p>
        </p:txBody>
      </p:sp>
      <p:sp>
        <p:nvSpPr>
          <p:cNvPr id="7" name="Text 5"/>
          <p:cNvSpPr txBox="1"/>
          <p:nvPr/>
        </p:nvSpPr>
        <p:spPr>
          <a:xfrm>
            <a:off x="731520" y="374650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i="1" dirty="0">
                <a:solidFill>
                  <a:srgbClr val="1A2E22"/>
                </a:solidFill>
                <a:latin typeface="DM Sans" pitchFamily="34" charset="0"/>
                <a:ea typeface="DM Sans" pitchFamily="34" charset="-122"/>
                <a:cs typeface="DM Sans" pitchFamily="34" charset="-120"/>
              </a:rPr>
              <a:t>“...‘Kami'y mga aliping walang kabuluhan; tumutupad lamang kami sa aming tungkulin.’” — Luke 17:10</a:t>
            </a:r>
            <a:endParaRPr lang="en-US" sz="2600" dirty="0"/>
          </a:p>
        </p:txBody>
      </p:sp>
      <p:sp>
        <p:nvSpPr>
          <p:cNvPr id="8" name="Text 6"/>
          <p:cNvSpPr txBox="1"/>
          <p:nvPr/>
        </p:nvSpPr>
        <p:spPr>
          <a:xfrm>
            <a:off x="731520" y="4763516"/>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Dalawa lang ang option: tumalikod o maglingkod. Walang middle ground.</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⌛00:12</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8 / 30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539996" y="548640"/>
            <a:ext cx="3108960" cy="411480"/>
          </a:xfrm>
          <a:prstGeom prst="roundRect">
            <a:avLst>
              <a:gd name="adj" fmla="val 44444"/>
            </a:avLst>
          </a:prstGeom>
          <a:ln w="15875">
            <a:solidFill>
              <a:srgbClr val="D4A854"/>
            </a:solidFill>
            <a:prstDash val="solid"/>
          </a:ln>
        </p:spPr>
      </p:sp>
      <p:sp>
        <p:nvSpPr>
          <p:cNvPr id="4" name="Text 2"/>
          <p:cNvSpPr txBox="1"/>
          <p:nvPr/>
        </p:nvSpPr>
        <p:spPr>
          <a:xfrm>
            <a:off x="4539996" y="548640"/>
            <a:ext cx="310896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ROMANS 12:11</a:t>
            </a:r>
            <a:endParaRPr lang="en-US" sz="2000" dirty="0"/>
          </a:p>
        </p:txBody>
      </p:sp>
      <p:sp>
        <p:nvSpPr>
          <p:cNvPr id="5" name="Text 3"/>
          <p:cNvSpPr txBox="1"/>
          <p:nvPr/>
        </p:nvSpPr>
        <p:spPr>
          <a:xfrm>
            <a:off x="731520" y="1143000"/>
            <a:ext cx="10725912" cy="1853184"/>
          </a:xfrm>
          <a:prstGeom prst="rect">
            <a:avLst/>
          </a:prstGeom>
          <a:noFill/>
          <a:ln/>
        </p:spPr>
        <p:txBody>
          <a:bodyPr wrap="square" lIns="0" tIns="0" rIns="0" bIns="0" rtlCol="0" anchor="t">
            <a:normAutofit/>
          </a:bodyPr>
          <a:lstStyle/>
          <a:p>
            <a:pPr algn="l" indent="0" marL="0">
              <a:lnSpc>
                <a:spcPct val="108000"/>
              </a:lnSpc>
              <a:buNone/>
            </a:pPr>
            <a:r>
              <a:rPr lang="en-US" sz="4000" b="1" dirty="0">
                <a:solidFill>
                  <a:srgbClr val="FDFBF6"/>
                </a:solidFill>
                <a:latin typeface="Playfair Display" pitchFamily="34" charset="0"/>
                <a:ea typeface="Playfair Display" pitchFamily="34" charset="-122"/>
                <a:cs typeface="Playfair Display" pitchFamily="34" charset="-120"/>
              </a:rPr>
              <a:t>“Magpakasipag kayo at huwag maging tamad. Buong puso kayong maglingkod sa Panginoon.”</a:t>
            </a:r>
            <a:endParaRPr lang="en-US" sz="4000" dirty="0"/>
          </a:p>
        </p:txBody>
      </p:sp>
      <p:sp>
        <p:nvSpPr>
          <p:cNvPr id="6" name="Text 4"/>
          <p:cNvSpPr txBox="1"/>
          <p:nvPr/>
        </p:nvSpPr>
        <p:spPr>
          <a:xfrm>
            <a:off x="731520" y="3179064"/>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“Buong puso” = maningas: lumalagablab, kumukulo.</a:t>
            </a:r>
            <a:endParaRPr lang="en-US" sz="2800" dirty="0"/>
          </a:p>
        </p:txBody>
      </p:sp>
      <p:sp>
        <p:nvSpPr>
          <p:cNvPr id="7" name="Text 5"/>
          <p:cNvSpPr txBox="1"/>
          <p:nvPr/>
        </p:nvSpPr>
        <p:spPr>
          <a:xfrm>
            <a:off x="731520" y="3836416"/>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Gigil na gigil, atat na atat, hot na hot — hindi papatay-patay o papetiks-petiks.</a:t>
            </a:r>
            <a:endParaRPr lang="en-US" sz="2600" dirty="0"/>
          </a:p>
        </p:txBody>
      </p:sp>
      <p:sp>
        <p:nvSpPr>
          <p:cNvPr id="8" name="Text 6"/>
          <p:cNvSpPr txBox="1"/>
          <p:nvPr/>
        </p:nvSpPr>
        <p:spPr>
          <a:xfrm>
            <a:off x="731520" y="4853432"/>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Ang mananampalatayang umuusad ay mananampalatayang naglilingkod.</a:t>
            </a:r>
            <a:endParaRPr lang="en-US" sz="28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⌛00:14</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9 / 30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534156" y="548640"/>
            <a:ext cx="5120640" cy="411480"/>
          </a:xfrm>
          <a:prstGeom prst="roundRect">
            <a:avLst>
              <a:gd name="adj" fmla="val 44444"/>
            </a:avLst>
          </a:prstGeom>
          <a:ln w="15875">
            <a:solidFill>
              <a:srgbClr val="2A5C40"/>
            </a:solidFill>
            <a:prstDash val="solid"/>
          </a:ln>
        </p:spPr>
      </p:sp>
      <p:sp>
        <p:nvSpPr>
          <p:cNvPr id="4" name="Text 2"/>
          <p:cNvSpPr txBox="1"/>
          <p:nvPr/>
        </p:nvSpPr>
        <p:spPr>
          <a:xfrm>
            <a:off x="3534156" y="548640"/>
            <a:ext cx="51206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① IKA'Y BINIGYANG-BUHAY</a:t>
            </a:r>
            <a:endParaRPr lang="en-US" sz="2000" dirty="0"/>
          </a:p>
        </p:txBody>
      </p:sp>
      <p:sp>
        <p:nvSpPr>
          <p:cNvPr id="5" name="Text 3"/>
          <p:cNvSpPr txBox="1"/>
          <p:nvPr/>
        </p:nvSpPr>
        <p:spPr>
          <a:xfrm>
            <a:off x="731520" y="1143000"/>
            <a:ext cx="10725912" cy="414528"/>
          </a:xfrm>
          <a:prstGeom prst="rect">
            <a:avLst/>
          </a:prstGeom>
          <a:noFill/>
          <a:ln/>
        </p:spPr>
        <p:txBody>
          <a:bodyPr wrap="square" lIns="0" tIns="0" rIns="0" bIns="0" rtlCol="0" anchor="t">
            <a:normAutofit/>
          </a:bodyPr>
          <a:lstStyle/>
          <a:p>
            <a:pPr algn="l" indent="0" marL="0">
              <a:lnSpc>
                <a:spcPct val="108000"/>
              </a:lnSpc>
              <a:buNone/>
            </a:pPr>
            <a:r>
              <a:rPr lang="en-US" sz="2400" b="1" dirty="0">
                <a:solidFill>
                  <a:srgbClr val="1F4530"/>
                </a:solidFill>
                <a:latin typeface="DM Sans" pitchFamily="34" charset="0"/>
                <a:ea typeface="DM Sans" pitchFamily="34" charset="-122"/>
                <a:cs typeface="DM Sans" pitchFamily="34" charset="-120"/>
              </a:rPr>
              <a:t>Apat na dahilan kung bakit ako nararapat maglingkod sa Dios.</a:t>
            </a:r>
            <a:endParaRPr lang="en-US" sz="2400" dirty="0"/>
          </a:p>
        </p:txBody>
      </p:sp>
      <p:sp>
        <p:nvSpPr>
          <p:cNvPr id="6" name="Text 4"/>
          <p:cNvSpPr txBox="1"/>
          <p:nvPr/>
        </p:nvSpPr>
        <p:spPr>
          <a:xfrm>
            <a:off x="731520" y="1740408"/>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A2E22"/>
                </a:solidFill>
                <a:latin typeface="Playfair Display" pitchFamily="34" charset="0"/>
                <a:ea typeface="Playfair Display" pitchFamily="34" charset="-122"/>
                <a:cs typeface="Playfair Display" pitchFamily="34" charset="-120"/>
              </a:rPr>
              <a:t>“...siya mismo ang nagbibigay ng buhay, hininga at lahat ng bagay sa sangkatauhan.” — Acts 17:25</a:t>
            </a:r>
            <a:endParaRPr lang="en-US" sz="2800" dirty="0"/>
          </a:p>
        </p:txBody>
      </p:sp>
      <p:sp>
        <p:nvSpPr>
          <p:cNvPr id="7" name="Text 5"/>
          <p:cNvSpPr txBox="1"/>
          <p:nvPr/>
        </p:nvSpPr>
        <p:spPr>
          <a:xfrm>
            <a:off x="731520" y="281736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Hindi kailangan ng Dios ang serbisyo mo — Dios Siya, maglingkod ka man o hindi.</a:t>
            </a:r>
            <a:endParaRPr lang="en-US" sz="2600" dirty="0"/>
          </a:p>
        </p:txBody>
      </p:sp>
      <p:sp>
        <p:nvSpPr>
          <p:cNvPr id="8" name="Text 6"/>
          <p:cNvSpPr txBox="1"/>
          <p:nvPr/>
        </p:nvSpPr>
        <p:spPr>
          <a:xfrm>
            <a:off x="731520" y="3834384"/>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i="1" dirty="0">
                <a:solidFill>
                  <a:srgbClr val="1A2E22"/>
                </a:solidFill>
                <a:latin typeface="DM Sans" pitchFamily="34" charset="0"/>
                <a:ea typeface="DM Sans" pitchFamily="34" charset="-122"/>
                <a:cs typeface="DM Sans" pitchFamily="34" charset="-120"/>
              </a:rPr>
              <a:t>Parang turumpo: tuloy-tuloy ang ikot, walang nararating — dahil mali ang niluluhuran.</a:t>
            </a:r>
            <a:endParaRPr lang="en-US" sz="2600" dirty="0"/>
          </a:p>
        </p:txBody>
      </p:sp>
      <p:sp>
        <p:nvSpPr>
          <p:cNvPr id="9" name="Text 7"/>
          <p:cNvSpPr txBox="1"/>
          <p:nvPr/>
        </p:nvSpPr>
        <p:spPr>
          <a:xfrm>
            <a:off x="731520" y="4851400"/>
            <a:ext cx="10725912" cy="774192"/>
          </a:xfrm>
          <a:prstGeom prst="rect">
            <a:avLst/>
          </a:prstGeom>
          <a:noFill/>
          <a:ln/>
        </p:spPr>
        <p:txBody>
          <a:bodyPr wrap="square" lIns="0" tIns="0" rIns="0" bIns="0" rtlCol="0" anchor="t">
            <a:normAutofit/>
          </a:bodyPr>
          <a:lstStyle/>
          <a:p>
            <a:pPr algn="l" indent="0" marL="0">
              <a:lnSpc>
                <a:spcPct val="108000"/>
              </a:lnSpc>
              <a:buNone/>
            </a:pPr>
            <a:r>
              <a:rPr lang="en-US" sz="2400" b="1" dirty="0">
                <a:solidFill>
                  <a:srgbClr val="1F4530"/>
                </a:solidFill>
                <a:latin typeface="DM Sans" pitchFamily="34" charset="0"/>
                <a:ea typeface="DM Sans" pitchFamily="34" charset="-122"/>
                <a:cs typeface="DM Sans" pitchFamily="34" charset="-120"/>
              </a:rPr>
              <a:t>“Nakasalalay sa kanya ang ating buhay, pagkilos at pagkatao.” — Acts 17:28</a:t>
            </a:r>
            <a:endParaRPr lang="en-US" sz="24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⌛00:16</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10 / 30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3600" b="1" dirty="0">
                <a:solidFill>
                  <a:srgbClr val="FEFCF8"/>
                </a:solidFill>
                <a:latin typeface="Calibri" pitchFamily="34" charset="0"/>
                <a:ea typeface="Calibri" pitchFamily="34" charset="-122"/>
                <a:cs typeface="Calibri" pitchFamily="34" charset="-120"/>
              </a:rPr>
              <a:t>Ano kaya ang pakahulugan ni Augustine nang sabihin niyang "Nilikha Mo kami para sa Iyo at mananatiling maligalig ang aming mga puso hangga't hindi ito nanganganlong sa Iyo"?</a:t>
            </a:r>
            <a:endParaRPr lang="en-US" sz="36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Isulat muna — isang pangungusap sa sarili mong salita.</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⌛00:17</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11 / 30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351276" y="548640"/>
            <a:ext cx="5486400" cy="411480"/>
          </a:xfrm>
          <a:prstGeom prst="roundRect">
            <a:avLst>
              <a:gd name="adj" fmla="val 44444"/>
            </a:avLst>
          </a:prstGeom>
          <a:ln w="15875">
            <a:solidFill>
              <a:srgbClr val="D4A854"/>
            </a:solidFill>
            <a:prstDash val="solid"/>
          </a:ln>
        </p:spPr>
      </p:sp>
      <p:sp>
        <p:nvSpPr>
          <p:cNvPr id="4" name="Text 2"/>
          <p:cNvSpPr txBox="1"/>
          <p:nvPr/>
        </p:nvSpPr>
        <p:spPr>
          <a:xfrm>
            <a:off x="3351276" y="548640"/>
            <a:ext cx="54864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② IKA'Y BINIGYANG-KALAYAAN</a:t>
            </a:r>
            <a:endParaRPr lang="en-US" sz="2000" dirty="0"/>
          </a:p>
        </p:txBody>
      </p:sp>
      <p:sp>
        <p:nvSpPr>
          <p:cNvPr id="5" name="Text 3"/>
          <p:cNvSpPr txBox="1"/>
          <p:nvPr/>
        </p:nvSpPr>
        <p:spPr>
          <a:xfrm>
            <a:off x="731520" y="1143000"/>
            <a:ext cx="10725912" cy="1223772"/>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FDFBF6"/>
                </a:solidFill>
                <a:latin typeface="Playfair Display" pitchFamily="34" charset="0"/>
                <a:ea typeface="Playfair Display" pitchFamily="34" charset="-122"/>
                <a:cs typeface="Playfair Display" pitchFamily="34" charset="-120"/>
              </a:rPr>
              <a:t>“Hindi ninyo pag-aari ang inyong katawan; sapagkat binili na kayo sa isang halaga...” — 1 Corinthians 6:19-20</a:t>
            </a:r>
            <a:endParaRPr lang="en-US" sz="2600" dirty="0"/>
          </a:p>
        </p:txBody>
      </p:sp>
      <p:sp>
        <p:nvSpPr>
          <p:cNvPr id="6" name="Text 4"/>
          <p:cNvSpPr txBox="1"/>
          <p:nvPr/>
        </p:nvSpPr>
        <p:spPr>
          <a:xfrm>
            <a:off x="731520" y="254965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Sa Kaniya tayo — hindi lang dahil nilikha Niya tayo, kundi dahil binili Niya tayo.</a:t>
            </a:r>
            <a:endParaRPr lang="en-US" sz="2600" dirty="0"/>
          </a:p>
        </p:txBody>
      </p:sp>
      <p:sp>
        <p:nvSpPr>
          <p:cNvPr id="7" name="Text 5"/>
          <p:cNvSpPr txBox="1"/>
          <p:nvPr/>
        </p:nvSpPr>
        <p:spPr>
          <a:xfrm>
            <a:off x="731520" y="3566668"/>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FDFBF6"/>
                </a:solidFill>
                <a:latin typeface="DM Sans" pitchFamily="34" charset="0"/>
                <a:ea typeface="DM Sans" pitchFamily="34" charset="-122"/>
                <a:cs typeface="DM Sans" pitchFamily="34" charset="-120"/>
              </a:rPr>
              <a:t>① Slave — napipilitan   ② Hireling — para sa bayad</a:t>
            </a:r>
            <a:endParaRPr lang="en-US" sz="2800" dirty="0"/>
          </a:p>
        </p:txBody>
      </p:sp>
      <p:sp>
        <p:nvSpPr>
          <p:cNvPr id="8" name="Text 6"/>
          <p:cNvSpPr txBox="1"/>
          <p:nvPr/>
        </p:nvSpPr>
        <p:spPr>
          <a:xfrm>
            <a:off x="731520" y="4224020"/>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FDFBF6"/>
                </a:solidFill>
                <a:latin typeface="DM Sans" pitchFamily="34" charset="0"/>
                <a:ea typeface="DM Sans" pitchFamily="34" charset="-122"/>
                <a:cs typeface="DM Sans" pitchFamily="34" charset="-120"/>
              </a:rPr>
              <a:t>③ Servant — nagbabayad-utang, may expiration</a:t>
            </a:r>
            <a:endParaRPr lang="en-US" sz="2800" dirty="0"/>
          </a:p>
        </p:txBody>
      </p:sp>
      <p:sp>
        <p:nvSpPr>
          <p:cNvPr id="9" name="Text 7"/>
          <p:cNvSpPr txBox="1"/>
          <p:nvPr/>
        </p:nvSpPr>
        <p:spPr>
          <a:xfrm>
            <a:off x="731520" y="4881372"/>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④ Bondservant — Lingkod-for-Life, dahil mahal niya ang kaniyang amo (Exodus 21:5-6)</a:t>
            </a:r>
            <a:endParaRPr lang="en-US" sz="28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⌛00:20</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12 / 30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808476" y="548640"/>
            <a:ext cx="4572000" cy="411480"/>
          </a:xfrm>
          <a:prstGeom prst="roundRect">
            <a:avLst>
              <a:gd name="adj" fmla="val 44444"/>
            </a:avLst>
          </a:prstGeom>
          <a:ln w="15875">
            <a:solidFill>
              <a:srgbClr val="2A5C40"/>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VOLUNTEER O SERVANT?</a:t>
            </a:r>
            <a:endParaRPr lang="en-US" sz="2000" dirty="0"/>
          </a:p>
        </p:txBody>
      </p:sp>
      <p:sp>
        <p:nvSpPr>
          <p:cNvPr id="5" name="Text 3"/>
          <p:cNvSpPr txBox="1"/>
          <p:nvPr/>
        </p:nvSpPr>
        <p:spPr>
          <a:xfrm>
            <a:off x="731520" y="1143000"/>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1A2E22"/>
                </a:solidFill>
                <a:latin typeface="DM Sans" pitchFamily="34" charset="0"/>
                <a:ea typeface="DM Sans" pitchFamily="34" charset="-122"/>
                <a:cs typeface="DM Sans" pitchFamily="34" charset="-120"/>
              </a:rPr>
              <a:t>Volunteer: namimili kung kailan at paano maglilingkod.</a:t>
            </a:r>
            <a:endParaRPr lang="en-US" sz="2800" dirty="0"/>
          </a:p>
        </p:txBody>
      </p:sp>
      <p:sp>
        <p:nvSpPr>
          <p:cNvPr id="6" name="Text 4"/>
          <p:cNvSpPr txBox="1"/>
          <p:nvPr/>
        </p:nvSpPr>
        <p:spPr>
          <a:xfrm>
            <a:off x="731520" y="1800352"/>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Servant: humahataw anumang oras, anumang gawain — basta kagustuhan ng Master.</a:t>
            </a:r>
            <a:endParaRPr lang="en-US" sz="2800" dirty="0"/>
          </a:p>
        </p:txBody>
      </p:sp>
      <p:sp>
        <p:nvSpPr>
          <p:cNvPr id="7" name="Text 5"/>
          <p:cNvSpPr txBox="1"/>
          <p:nvPr/>
        </p:nvSpPr>
        <p:spPr>
          <a:xfrm>
            <a:off x="731520" y="2877312"/>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dirty="0">
                <a:solidFill>
                  <a:srgbClr val="1A2E22"/>
                </a:solidFill>
                <a:latin typeface="DM Sans" pitchFamily="34" charset="0"/>
                <a:ea typeface="DM Sans" pitchFamily="34" charset="-122"/>
                <a:cs typeface="DM Sans" pitchFamily="34" charset="-120"/>
              </a:rPr>
              <a:t>Volunteer: puwedeng umayaw anytime.</a:t>
            </a:r>
            <a:endParaRPr lang="en-US" sz="2800" dirty="0"/>
          </a:p>
        </p:txBody>
      </p:sp>
      <p:sp>
        <p:nvSpPr>
          <p:cNvPr id="8" name="Text 6"/>
          <p:cNvSpPr txBox="1"/>
          <p:nvPr/>
        </p:nvSpPr>
        <p:spPr>
          <a:xfrm>
            <a:off x="731520" y="3534664"/>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F4530"/>
                </a:solidFill>
                <a:latin typeface="DM Sans" pitchFamily="34" charset="0"/>
                <a:ea typeface="DM Sans" pitchFamily="34" charset="-122"/>
                <a:cs typeface="DM Sans" pitchFamily="34" charset="-120"/>
              </a:rPr>
              <a:t>Servant: walang salitang “quit” sa dictionary — Panginoon ang tumawag, Siya rin ang magsasabi kung tapos na.</a:t>
            </a:r>
            <a:endParaRPr lang="en-US" sz="2800" dirty="0"/>
          </a:p>
        </p:txBody>
      </p:sp>
      <p:sp>
        <p:nvSpPr>
          <p:cNvPr id="9" name="Text 7"/>
          <p:cNvSpPr txBox="1"/>
          <p:nvPr/>
        </p:nvSpPr>
        <p:spPr>
          <a:xfrm>
            <a:off x="731520" y="4611624"/>
            <a:ext cx="10725912" cy="50444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1A2E22"/>
                </a:solidFill>
                <a:latin typeface="Playfair Display" pitchFamily="34" charset="0"/>
                <a:ea typeface="Playfair Display" pitchFamily="34" charset="-122"/>
                <a:cs typeface="Playfair Display" pitchFamily="34" charset="-120"/>
              </a:rPr>
              <a:t>Ikaw — volunteer ka lang ba, o servant?</a:t>
            </a:r>
            <a:endParaRPr lang="en-US" sz="30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⌛00:22</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13 /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Honestly, kung i-aassess mo ang iyong sarili: anong klase ng paglilingkod ang ibinibigay mo sa Panginoon base sa apat na klase ng lingkod? Bakit mo nasabi?</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Tapat lang — para sa iyo muna ang sagot.</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⌛00:23</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14 / 30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259836" y="548640"/>
            <a:ext cx="5669280" cy="411480"/>
          </a:xfrm>
          <a:prstGeom prst="roundRect">
            <a:avLst>
              <a:gd name="adj" fmla="val 44444"/>
            </a:avLst>
          </a:prstGeom>
          <a:ln w="15875">
            <a:solidFill>
              <a:srgbClr val="D4A854"/>
            </a:solidFill>
            <a:prstDash val="solid"/>
          </a:ln>
        </p:spPr>
      </p:sp>
      <p:sp>
        <p:nvSpPr>
          <p:cNvPr id="4" name="Text 2"/>
          <p:cNvSpPr txBox="1"/>
          <p:nvPr/>
        </p:nvSpPr>
        <p:spPr>
          <a:xfrm>
            <a:off x="3259836" y="548640"/>
            <a:ext cx="566928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③ IKA'Y BINIGYANG-PAGPAPALA</a:t>
            </a:r>
            <a:endParaRPr lang="en-US" sz="2000" dirty="0"/>
          </a:p>
        </p:txBody>
      </p:sp>
      <p:sp>
        <p:nvSpPr>
          <p:cNvPr id="5" name="Text 3"/>
          <p:cNvSpPr txBox="1"/>
          <p:nvPr/>
        </p:nvSpPr>
        <p:spPr>
          <a:xfrm>
            <a:off x="731520" y="1143000"/>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i="1" dirty="0">
                <a:solidFill>
                  <a:srgbClr val="FDFBF6"/>
                </a:solidFill>
                <a:latin typeface="DM Sans" pitchFamily="34" charset="0"/>
                <a:ea typeface="DM Sans" pitchFamily="34" charset="-122"/>
                <a:cs typeface="DM Sans" pitchFamily="34" charset="-120"/>
              </a:rPr>
              <a:t>“I am satisfied with Jesus, but is my Master satisfied with me?” — B.B. McKinney</a:t>
            </a:r>
            <a:endParaRPr lang="en-US" sz="3000" dirty="0"/>
          </a:p>
        </p:txBody>
      </p:sp>
      <p:sp>
        <p:nvSpPr>
          <p:cNvPr id="6" name="Text 4"/>
          <p:cNvSpPr txBox="1"/>
          <p:nvPr/>
        </p:nvSpPr>
        <p:spPr>
          <a:xfrm>
            <a:off x="731520" y="2279904"/>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D4A854"/>
                </a:solidFill>
                <a:latin typeface="Playfair Display" pitchFamily="34" charset="0"/>
                <a:ea typeface="Playfair Display" pitchFamily="34" charset="-122"/>
                <a:cs typeface="Playfair Display" pitchFamily="34" charset="-120"/>
              </a:rPr>
              <a:t>“...ANO'NG AKING IHAHANDOG, sa lahat ng kabutihan na sa akin ay kaloob?” — Psalm 116:12</a:t>
            </a:r>
            <a:endParaRPr lang="en-US" sz="3000" dirty="0"/>
          </a:p>
        </p:txBody>
      </p:sp>
      <p:sp>
        <p:nvSpPr>
          <p:cNvPr id="7" name="Text 5"/>
          <p:cNvSpPr txBox="1"/>
          <p:nvPr/>
        </p:nvSpPr>
        <p:spPr>
          <a:xfrm>
            <a:off x="731520" y="341680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Hindi na lang “Ano ang maibibigay ng Panginoon sa akin?” — kundi “Ano ang maibibigay ko sa Kaniya?”</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⌛00:25</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15 / 30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259836" y="548640"/>
            <a:ext cx="5669280" cy="411480"/>
          </a:xfrm>
          <a:prstGeom prst="roundRect">
            <a:avLst>
              <a:gd name="adj" fmla="val 44444"/>
            </a:avLst>
          </a:prstGeom>
          <a:ln w="15875">
            <a:solidFill>
              <a:srgbClr val="2A5C40"/>
            </a:solidFill>
            <a:prstDash val="solid"/>
          </a:ln>
        </p:spPr>
      </p:sp>
      <p:sp>
        <p:nvSpPr>
          <p:cNvPr id="4" name="Text 2"/>
          <p:cNvSpPr txBox="1"/>
          <p:nvPr/>
        </p:nvSpPr>
        <p:spPr>
          <a:xfrm>
            <a:off x="3259836" y="548640"/>
            <a:ext cx="566928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④ IKA'Y BINIGYANG-HALIMBAWA</a:t>
            </a:r>
            <a:endParaRPr lang="en-US" sz="2000" dirty="0"/>
          </a:p>
        </p:txBody>
      </p:sp>
      <p:sp>
        <p:nvSpPr>
          <p:cNvPr id="5" name="Text 3"/>
          <p:cNvSpPr txBox="1"/>
          <p:nvPr/>
        </p:nvSpPr>
        <p:spPr>
          <a:xfrm>
            <a:off x="731520" y="1143000"/>
            <a:ext cx="10725912" cy="654304"/>
          </a:xfrm>
          <a:prstGeom prst="rect">
            <a:avLst/>
          </a:prstGeom>
          <a:noFill/>
          <a:ln/>
        </p:spPr>
        <p:txBody>
          <a:bodyPr wrap="square" lIns="0" tIns="0" rIns="0" bIns="0" rtlCol="0" anchor="t">
            <a:normAutofit/>
          </a:bodyPr>
          <a:lstStyle/>
          <a:p>
            <a:pPr algn="l" indent="0" marL="0">
              <a:lnSpc>
                <a:spcPct val="108000"/>
              </a:lnSpc>
              <a:buNone/>
            </a:pPr>
            <a:r>
              <a:rPr lang="en-US" sz="4000" b="1" dirty="0">
                <a:solidFill>
                  <a:srgbClr val="1A2E22"/>
                </a:solidFill>
                <a:latin typeface="Playfair Display" pitchFamily="34" charset="0"/>
                <a:ea typeface="Playfair Display" pitchFamily="34" charset="-122"/>
                <a:cs typeface="Playfair Display" pitchFamily="34" charset="-120"/>
              </a:rPr>
              <a:t>Ang Alila ng mga Alipin</a:t>
            </a:r>
            <a:endParaRPr lang="en-US" sz="4000" dirty="0"/>
          </a:p>
        </p:txBody>
      </p:sp>
      <p:sp>
        <p:nvSpPr>
          <p:cNvPr id="6" name="Text 4"/>
          <p:cNvSpPr txBox="1"/>
          <p:nvPr/>
        </p:nvSpPr>
        <p:spPr>
          <a:xfrm>
            <a:off x="731520" y="1980184"/>
            <a:ext cx="10725912" cy="1223772"/>
          </a:xfrm>
          <a:prstGeom prst="rect">
            <a:avLst/>
          </a:prstGeom>
          <a:noFill/>
          <a:ln/>
        </p:spPr>
        <p:txBody>
          <a:bodyPr wrap="square" lIns="0" tIns="0" rIns="0" bIns="0" rtlCol="0" anchor="t">
            <a:normAutofit/>
          </a:bodyPr>
          <a:lstStyle/>
          <a:p>
            <a:pPr algn="l" indent="0" marL="0">
              <a:lnSpc>
                <a:spcPct val="108000"/>
              </a:lnSpc>
              <a:buNone/>
            </a:pPr>
            <a:r>
              <a:rPr lang="en-US" sz="2600" i="1" dirty="0">
                <a:solidFill>
                  <a:srgbClr val="1A2E22"/>
                </a:solidFill>
                <a:latin typeface="DM Sans" pitchFamily="34" charset="0"/>
                <a:ea typeface="DM Sans" pitchFamily="34" charset="-122"/>
                <a:cs typeface="DM Sans" pitchFamily="34" charset="-120"/>
              </a:rPr>
              <a:t>“Kung ako ngang Panginoon at Guro ninyo ay naghugas ng inyong mga paa, dapat din ninyong hugasan ang mga paa ng isa't isa. Binigyan ko kayo ng halimbawa upang inyong tularan.”</a:t>
            </a:r>
            <a:endParaRPr lang="en-US" sz="2600" dirty="0"/>
          </a:p>
        </p:txBody>
      </p:sp>
      <p:sp>
        <p:nvSpPr>
          <p:cNvPr id="7" name="Text 5"/>
          <p:cNvSpPr txBox="1"/>
          <p:nvPr/>
        </p:nvSpPr>
        <p:spPr>
          <a:xfrm>
            <a:off x="731520" y="3386836"/>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b="1" dirty="0">
                <a:solidFill>
                  <a:srgbClr val="1F4530"/>
                </a:solidFill>
                <a:latin typeface="DM Sans" pitchFamily="34" charset="0"/>
                <a:ea typeface="DM Sans" pitchFamily="34" charset="-122"/>
                <a:cs typeface="DM Sans" pitchFamily="34" charset="-120"/>
              </a:rPr>
              <a:t>— John 13:14-15</a:t>
            </a:r>
            <a:endParaRPr lang="en-US" sz="2200" dirty="0"/>
          </a:p>
        </p:txBody>
      </p:sp>
      <p:sp>
        <p:nvSpPr>
          <p:cNvPr id="8" name="Text 6"/>
          <p:cNvSpPr txBox="1"/>
          <p:nvPr/>
        </p:nvSpPr>
        <p:spPr>
          <a:xfrm>
            <a:off x="731520" y="395427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Karangalang “matulad ang alagad sa kanyang guro.” — Matthew 10:25</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⌛00:28</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16 / 30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TUKLAS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Sino sa mga personal na kakilala mo ang may ganitong klase ng Christlike attitude pagdating sa paglilingkod? Paano mo nasabi?</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Isang pangalan, isang halimbawa ng paghuhugas ng paa.</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⌛00:29</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17 / 30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168396" y="548640"/>
            <a:ext cx="5852160" cy="411480"/>
          </a:xfrm>
          <a:prstGeom prst="roundRect">
            <a:avLst>
              <a:gd name="adj" fmla="val 44444"/>
            </a:avLst>
          </a:prstGeom>
          <a:ln w="15875">
            <a:solidFill>
              <a:srgbClr val="D4A854"/>
            </a:solidFill>
            <a:prstDash val="solid"/>
          </a:ln>
        </p:spPr>
      </p:sp>
      <p:sp>
        <p:nvSpPr>
          <p:cNvPr id="4" name="Text 2"/>
          <p:cNvSpPr txBox="1"/>
          <p:nvPr/>
        </p:nvSpPr>
        <p:spPr>
          <a:xfrm>
            <a:off x="3168396" y="548640"/>
            <a:ext cx="585216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PAANO AKO DAPAT MAGLINGKOD?</a:t>
            </a:r>
            <a:endParaRPr lang="en-US" sz="2000" dirty="0"/>
          </a:p>
        </p:txBody>
      </p:sp>
      <p:sp>
        <p:nvSpPr>
          <p:cNvPr id="5" name="Text 3"/>
          <p:cNvSpPr txBox="1"/>
          <p:nvPr/>
        </p:nvSpPr>
        <p:spPr>
          <a:xfrm>
            <a:off x="731520" y="1143000"/>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 May kagalakan — “Maglingkod kayo nang masaya ang kalooban na parang sa Panginoon...” (Ephesians 6:7)</a:t>
            </a:r>
            <a:endParaRPr lang="en-US" sz="2600" dirty="0"/>
          </a:p>
        </p:txBody>
      </p:sp>
      <p:sp>
        <p:nvSpPr>
          <p:cNvPr id="6" name="Text 4"/>
          <p:cNvSpPr txBox="1"/>
          <p:nvPr/>
        </p:nvSpPr>
        <p:spPr>
          <a:xfrm>
            <a:off x="731520" y="2160016"/>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 May pag-ibig — “...maglingkod kayo sa isa't isa sa diwa ng pag-ibig.” (Galatians 5:13)</a:t>
            </a:r>
            <a:endParaRPr lang="en-US" sz="2600" dirty="0"/>
          </a:p>
        </p:txBody>
      </p:sp>
      <p:sp>
        <p:nvSpPr>
          <p:cNvPr id="7" name="Text 5"/>
          <p:cNvSpPr txBox="1"/>
          <p:nvPr/>
        </p:nvSpPr>
        <p:spPr>
          <a:xfrm>
            <a:off x="731520" y="3177032"/>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FDFBF6"/>
                </a:solidFill>
                <a:latin typeface="DM Sans" pitchFamily="34" charset="0"/>
                <a:ea typeface="DM Sans" pitchFamily="34" charset="-122"/>
                <a:cs typeface="DM Sans" pitchFamily="34" charset="-120"/>
              </a:rPr>
              <a:t>🎁 Ayon sa kakayahang ibinigay ni Lord — 1 Corinthians 12:11</a:t>
            </a:r>
            <a:endParaRPr lang="en-US" sz="2600" dirty="0"/>
          </a:p>
        </p:txBody>
      </p:sp>
      <p:sp>
        <p:nvSpPr>
          <p:cNvPr id="8" name="Text 6"/>
          <p:cNvSpPr txBox="1"/>
          <p:nvPr/>
        </p:nvSpPr>
        <p:spPr>
          <a:xfrm>
            <a:off x="731520" y="4194048"/>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D4A854"/>
                </a:solidFill>
                <a:latin typeface="DM Sans" pitchFamily="34" charset="0"/>
                <a:ea typeface="DM Sans" pitchFamily="34" charset="-122"/>
                <a:cs typeface="DM Sans" pitchFamily="34" charset="-120"/>
              </a:rPr>
              <a:t>“...gamitin ninyo sa kapakinabangan ng lahat ang kakayahang tinanggap ng bawat isa sa inyo.” — 1 Peter 4:10</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⌛00:31</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18 / 30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3808476" y="548640"/>
            <a:ext cx="4572000" cy="411480"/>
          </a:xfrm>
          <a:prstGeom prst="roundRect">
            <a:avLst>
              <a:gd name="adj" fmla="val 44444"/>
            </a:avLst>
          </a:prstGeom>
          <a:ln w="15875">
            <a:solidFill>
              <a:srgbClr val="2A5C40"/>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ANO ANG MAPAPALA KO?</a:t>
            </a:r>
            <a:endParaRPr lang="en-US" sz="2000" dirty="0"/>
          </a:p>
        </p:txBody>
      </p:sp>
      <p:sp>
        <p:nvSpPr>
          <p:cNvPr id="5" name="Text 3"/>
          <p:cNvSpPr txBox="1"/>
          <p:nvPr/>
        </p:nvSpPr>
        <p:spPr>
          <a:xfrm>
            <a:off x="731520" y="1143000"/>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1A2E22"/>
                </a:solidFill>
                <a:latin typeface="Playfair Display" pitchFamily="34" charset="0"/>
                <a:ea typeface="Playfair Display" pitchFamily="34" charset="-122"/>
                <a:cs typeface="Playfair Display" pitchFamily="34" charset="-120"/>
              </a:rPr>
              <a:t>“...Pararangalan ng Ama ang sinumang naglilingkod sa akin.” — John 12:26</a:t>
            </a:r>
            <a:endParaRPr lang="en-US" sz="3000" dirty="0"/>
          </a:p>
        </p:txBody>
      </p:sp>
      <p:sp>
        <p:nvSpPr>
          <p:cNvPr id="6" name="Text 4"/>
          <p:cNvSpPr txBox="1"/>
          <p:nvPr/>
        </p:nvSpPr>
        <p:spPr>
          <a:xfrm>
            <a:off x="731520" y="2279904"/>
            <a:ext cx="10725912" cy="140360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1F4530"/>
                </a:solidFill>
                <a:latin typeface="Playfair Display" pitchFamily="34" charset="0"/>
                <a:ea typeface="Playfair Display" pitchFamily="34" charset="-122"/>
                <a:cs typeface="Playfair Display" pitchFamily="34" charset="-120"/>
              </a:rPr>
              <a:t>“Magaling! Tapat at mabuting lingkod! Halika, samahan mo ako sa aking kagalakan...” — Matthew 25:21</a:t>
            </a:r>
            <a:endParaRPr lang="en-US" sz="3000" dirty="0"/>
          </a:p>
        </p:txBody>
      </p:sp>
      <p:sp>
        <p:nvSpPr>
          <p:cNvPr id="7" name="Text 5"/>
          <p:cNvSpPr txBox="1"/>
          <p:nvPr/>
        </p:nvSpPr>
        <p:spPr>
          <a:xfrm>
            <a:off x="731520" y="3866388"/>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A2E22"/>
                </a:solidFill>
                <a:latin typeface="DM Sans" pitchFamily="34" charset="0"/>
                <a:ea typeface="DM Sans" pitchFamily="34" charset="-122"/>
                <a:cs typeface="DM Sans" pitchFamily="34" charset="-120"/>
              </a:rPr>
              <a:t>Ang presensya at parangal ng Dios.</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⌛00:32</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19 / 30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3808476" y="548640"/>
            <a:ext cx="4572000" cy="411480"/>
          </a:xfrm>
          <a:prstGeom prst="roundRect">
            <a:avLst>
              <a:gd name="adj" fmla="val 44444"/>
            </a:avLst>
          </a:prstGeom>
          <a:ln w="15875">
            <a:solidFill>
              <a:srgbClr val="D4A854"/>
            </a:solidFill>
            <a:prstDash val="solid"/>
          </a:ln>
        </p:spPr>
      </p:sp>
      <p:sp>
        <p:nvSpPr>
          <p:cNvPr id="4" name="Text 2"/>
          <p:cNvSpPr txBox="1"/>
          <p:nvPr/>
        </p:nvSpPr>
        <p:spPr>
          <a:xfrm>
            <a:off x="3808476" y="548640"/>
            <a:ext cx="45720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THE BONDSERVANT PATH</a:t>
            </a:r>
            <a:endParaRPr lang="en-US" sz="2000" dirty="0"/>
          </a:p>
        </p:txBody>
      </p:sp>
      <p:sp>
        <p:nvSpPr>
          <p:cNvPr id="5" name="Text 3"/>
          <p:cNvSpPr txBox="1"/>
          <p:nvPr/>
        </p:nvSpPr>
        <p:spPr>
          <a:xfrm>
            <a:off x="731520" y="1143000"/>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FDFBF6"/>
                </a:solidFill>
                <a:latin typeface="DM Sans" pitchFamily="34" charset="0"/>
                <a:ea typeface="DM Sans" pitchFamily="34" charset="-122"/>
                <a:cs typeface="DM Sans" pitchFamily="34" charset="-120"/>
              </a:rPr>
              <a:t>🌿 Kabutihan: ang kabutihang tinanggap, ginagamit para sa kapakinabangan ng iba.</a:t>
            </a:r>
            <a:endParaRPr lang="en-US" sz="2800" dirty="0"/>
          </a:p>
        </p:txBody>
      </p:sp>
      <p:sp>
        <p:nvSpPr>
          <p:cNvPr id="6" name="Text 4"/>
          <p:cNvSpPr txBox="1"/>
          <p:nvPr/>
        </p:nvSpPr>
        <p:spPr>
          <a:xfrm>
            <a:off x="731520" y="2219960"/>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1 · Suriin — anong uri ng lingkod ako?</a:t>
            </a:r>
            <a:endParaRPr lang="en-US" sz="2800" dirty="0"/>
          </a:p>
        </p:txBody>
      </p:sp>
      <p:sp>
        <p:nvSpPr>
          <p:cNvPr id="7" name="Text 5"/>
          <p:cNvSpPr txBox="1"/>
          <p:nvPr/>
        </p:nvSpPr>
        <p:spPr>
          <a:xfrm>
            <a:off x="731520" y="2877312"/>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2 · Tuklasin — anong kaloob ang ibinigay sa akin?</a:t>
            </a:r>
            <a:endParaRPr lang="en-US" sz="2800" dirty="0"/>
          </a:p>
        </p:txBody>
      </p:sp>
      <p:sp>
        <p:nvSpPr>
          <p:cNvPr id="8" name="Text 6"/>
          <p:cNvSpPr txBox="1"/>
          <p:nvPr/>
        </p:nvSpPr>
        <p:spPr>
          <a:xfrm>
            <a:off x="731520" y="3534664"/>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3 · Itugma — saang ministry ito kasya?</a:t>
            </a:r>
            <a:endParaRPr lang="en-US" sz="2800" dirty="0"/>
          </a:p>
        </p:txBody>
      </p:sp>
      <p:sp>
        <p:nvSpPr>
          <p:cNvPr id="9" name="Text 7"/>
          <p:cNvSpPr txBox="1"/>
          <p:nvPr/>
        </p:nvSpPr>
        <p:spPr>
          <a:xfrm>
            <a:off x="731520" y="4192016"/>
            <a:ext cx="10725912" cy="474472"/>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D4A854"/>
                </a:solidFill>
                <a:latin typeface="DM Sans" pitchFamily="34" charset="0"/>
                <a:ea typeface="DM Sans" pitchFamily="34" charset="-122"/>
                <a:cs typeface="DM Sans" pitchFamily="34" charset="-120"/>
              </a:rPr>
              <a:t>4 · Ipangako — ano ang commitment ko?</a:t>
            </a:r>
            <a:endParaRPr lang="en-US" sz="2800" dirty="0"/>
          </a:p>
        </p:txBody>
      </p:sp>
      <p:sp>
        <p:nvSpPr>
          <p:cNvPr id="10" name="Shape 8"/>
          <p:cNvSpPr/>
          <p:nvPr/>
        </p:nvSpPr>
        <p:spPr>
          <a:xfrm>
            <a:off x="9948672" y="137160"/>
            <a:ext cx="2011680" cy="384048"/>
          </a:xfrm>
          <a:prstGeom prst="roundRect">
            <a:avLst>
              <a:gd name="adj" fmla="val 28571"/>
            </a:avLst>
          </a:prstGeom>
          <a:solidFill>
            <a:srgbClr val="D4AF37"/>
          </a:solidFill>
          <a:ln/>
        </p:spPr>
      </p:sp>
      <p:sp>
        <p:nvSpPr>
          <p:cNvPr id="11" name="Text 9"/>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⌛00:33</a:t>
            </a:r>
            <a:endParaRPr lang="en-US" sz="1100" dirty="0"/>
          </a:p>
        </p:txBody>
      </p:sp>
      <p:sp>
        <p:nvSpPr>
          <p:cNvPr id="12" name="Text 10"/>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20 / 30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814316" y="548640"/>
            <a:ext cx="2560320" cy="411480"/>
          </a:xfrm>
          <a:prstGeom prst="roundRect">
            <a:avLst>
              <a:gd name="adj" fmla="val 44444"/>
            </a:avLst>
          </a:prstGeom>
          <a:ln w="15875">
            <a:solidFill>
              <a:srgbClr val="2A5C40"/>
            </a:solidFill>
            <a:prstDash val="solid"/>
          </a:ln>
        </p:spPr>
      </p:sp>
      <p:sp>
        <p:nvSpPr>
          <p:cNvPr id="4" name="Text 2"/>
          <p:cNvSpPr txBox="1"/>
          <p:nvPr/>
        </p:nvSpPr>
        <p:spPr>
          <a:xfrm>
            <a:off x="4814316" y="548640"/>
            <a:ext cx="256032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TALAKAY</a:t>
            </a:r>
            <a:endParaRPr lang="en-US" sz="2000" dirty="0"/>
          </a:p>
        </p:txBody>
      </p:sp>
      <p:sp>
        <p:nvSpPr>
          <p:cNvPr id="5" name="Text 3"/>
          <p:cNvSpPr txBox="1"/>
          <p:nvPr/>
        </p:nvSpPr>
        <p:spPr>
          <a:xfrm>
            <a:off x="731520" y="1143000"/>
            <a:ext cx="10725912" cy="774192"/>
          </a:xfrm>
          <a:prstGeom prst="rect">
            <a:avLst/>
          </a:prstGeom>
          <a:noFill/>
          <a:ln/>
        </p:spPr>
        <p:txBody>
          <a:bodyPr wrap="square" lIns="0" tIns="0" rIns="0" bIns="0" rtlCol="0" anchor="t">
            <a:normAutofit/>
          </a:bodyPr>
          <a:lstStyle/>
          <a:p>
            <a:pPr algn="l" indent="0" marL="0">
              <a:lnSpc>
                <a:spcPct val="108000"/>
              </a:lnSpc>
              <a:buNone/>
            </a:pPr>
            <a:r>
              <a:rPr lang="en-US" sz="4800" b="1" dirty="0">
                <a:solidFill>
                  <a:srgbClr val="1A2E22"/>
                </a:solidFill>
                <a:latin typeface="Playfair Display" pitchFamily="34" charset="0"/>
                <a:ea typeface="Playfair Display" pitchFamily="34" charset="-122"/>
                <a:cs typeface="Playfair Display" pitchFamily="34" charset="-120"/>
              </a:rPr>
              <a:t>Safe-Space Sharing</a:t>
            </a:r>
            <a:endParaRPr lang="en-US" sz="4800" dirty="0"/>
          </a:p>
        </p:txBody>
      </p:sp>
      <p:sp>
        <p:nvSpPr>
          <p:cNvPr id="6" name="Text 4"/>
          <p:cNvSpPr txBox="1"/>
          <p:nvPr/>
        </p:nvSpPr>
        <p:spPr>
          <a:xfrm>
            <a:off x="731520" y="2100072"/>
            <a:ext cx="10725912" cy="954024"/>
          </a:xfrm>
          <a:prstGeom prst="rect">
            <a:avLst/>
          </a:prstGeom>
          <a:noFill/>
          <a:ln/>
        </p:spPr>
        <p:txBody>
          <a:bodyPr wrap="square" lIns="0" tIns="0" rIns="0" bIns="0" rtlCol="0" anchor="t">
            <a:normAutofit/>
          </a:bodyPr>
          <a:lstStyle/>
          <a:p>
            <a:pPr algn="l" indent="0" marL="0">
              <a:lnSpc>
                <a:spcPct val="108000"/>
              </a:lnSpc>
              <a:buNone/>
            </a:pPr>
            <a:r>
              <a:rPr lang="en-US" sz="3000" b="1" dirty="0">
                <a:solidFill>
                  <a:srgbClr val="1F4530"/>
                </a:solidFill>
                <a:latin typeface="DM Sans" pitchFamily="34" charset="0"/>
                <a:ea typeface="DM Sans" pitchFamily="34" charset="-122"/>
                <a:cs typeface="DM Sans" pitchFamily="34" charset="-120"/>
              </a:rPr>
              <a:t>No fixing · No comparison · No preaching · Confidential</a:t>
            </a:r>
            <a:endParaRPr lang="en-US" sz="3000" dirty="0"/>
          </a:p>
        </p:txBody>
      </p:sp>
      <p:sp>
        <p:nvSpPr>
          <p:cNvPr id="7" name="Text 5"/>
          <p:cNvSpPr txBox="1"/>
          <p:nvPr/>
        </p:nvSpPr>
        <p:spPr>
          <a:xfrm>
            <a:off x="731520" y="3236976"/>
            <a:ext cx="10725912" cy="834136"/>
          </a:xfrm>
          <a:prstGeom prst="rect">
            <a:avLst/>
          </a:prstGeom>
          <a:noFill/>
          <a:ln/>
        </p:spPr>
        <p:txBody>
          <a:bodyPr wrap="square" lIns="0" tIns="0" rIns="0" bIns="0" rtlCol="0" anchor="t">
            <a:normAutofit/>
          </a:bodyPr>
          <a:lstStyle/>
          <a:p>
            <a:pPr algn="l" indent="0" marL="0">
              <a:lnSpc>
                <a:spcPct val="108000"/>
              </a:lnSpc>
              <a:buNone/>
            </a:pPr>
            <a:r>
              <a:rPr lang="en-US" sz="2600" dirty="0">
                <a:solidFill>
                  <a:srgbClr val="1A2E22"/>
                </a:solidFill>
                <a:latin typeface="DM Sans" pitchFamily="34" charset="0"/>
                <a:ea typeface="DM Sans" pitchFamily="34" charset="-122"/>
                <a:cs typeface="DM Sans" pitchFamily="34" charset="-120"/>
              </a:rPr>
              <a:t>Tables ng 3-4. Tatlong tanong. Ang katapatan mo ang pinakamagandang paglilingkod sa table.</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⌛00:34</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21 / 30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1</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Ano ang madalas na excuse ng isang Christian kung bakit hindi siya involved sa ministries ng local church?</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Pag-usapan ang excuses — kasama ang sa atin.</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4 min · ⌛00:38</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22 / 30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2</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5400" b="1" dirty="0">
                <a:solidFill>
                  <a:srgbClr val="FEFCF8"/>
                </a:solidFill>
                <a:latin typeface="Calibri" pitchFamily="34" charset="0"/>
                <a:ea typeface="Calibri" pitchFamily="34" charset="-122"/>
                <a:cs typeface="Calibri" pitchFamily="34" charset="-120"/>
              </a:rPr>
              <a:t>Ano ang nawawala sa isang Christian na hindi involved sa church ministries?</a:t>
            </a:r>
            <a:endParaRPr lang="en-US" sz="5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Isipin ang mga pangako ng John 12:26 at Matthew 25:21.</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⌛00:41</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23 / 30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TALAKAY · TANONG 3</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Ano ang "paang kailangan mong hugasan" ngayon — isang paglilingkod na mababa, hindi napapansin, o hindi mo gusto? Ano ang pumipigil sa iyo?</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Walang pangalan kung hindi kailangan — sapat na ang “isang gawain sa church” o “isang tao sa bahay.”</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4 min · ⌛00:45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24 / 30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905756" y="548640"/>
            <a:ext cx="2377440" cy="411480"/>
          </a:xfrm>
          <a:prstGeom prst="roundRect">
            <a:avLst>
              <a:gd name="adj" fmla="val 44444"/>
            </a:avLst>
          </a:prstGeom>
          <a:ln w="15875">
            <a:solidFill>
              <a:srgbClr val="2A5C40"/>
            </a:solidFill>
            <a:prstDash val="solid"/>
          </a:ln>
        </p:spPr>
      </p:sp>
      <p:sp>
        <p:nvSpPr>
          <p:cNvPr id="4" name="Text 2"/>
          <p:cNvSpPr txBox="1"/>
          <p:nvPr/>
        </p:nvSpPr>
        <p:spPr>
          <a:xfrm>
            <a:off x="4905756" y="548640"/>
            <a:ext cx="23774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TUGON</a:t>
            </a:r>
            <a:endParaRPr lang="en-US" sz="2000" dirty="0"/>
          </a:p>
        </p:txBody>
      </p:sp>
      <p:sp>
        <p:nvSpPr>
          <p:cNvPr id="5" name="Text 3"/>
          <p:cNvSpPr txBox="1"/>
          <p:nvPr/>
        </p:nvSpPr>
        <p:spPr>
          <a:xfrm>
            <a:off x="731520" y="1143000"/>
            <a:ext cx="10725912" cy="714248"/>
          </a:xfrm>
          <a:prstGeom prst="rect">
            <a:avLst/>
          </a:prstGeom>
          <a:noFill/>
          <a:ln/>
        </p:spPr>
        <p:txBody>
          <a:bodyPr wrap="square" lIns="0" tIns="0" rIns="0" bIns="0" rtlCol="0" anchor="t">
            <a:normAutofit/>
          </a:bodyPr>
          <a:lstStyle/>
          <a:p>
            <a:pPr algn="l" indent="0" marL="0">
              <a:lnSpc>
                <a:spcPct val="108000"/>
              </a:lnSpc>
              <a:buNone/>
            </a:pPr>
            <a:r>
              <a:rPr lang="en-US" sz="4400" b="1" dirty="0">
                <a:solidFill>
                  <a:srgbClr val="1A2E22"/>
                </a:solidFill>
                <a:latin typeface="Playfair Display" pitchFamily="34" charset="0"/>
                <a:ea typeface="Playfair Display" pitchFamily="34" charset="-122"/>
                <a:cs typeface="Playfair Display" pitchFamily="34" charset="-120"/>
              </a:rPr>
              <a:t>Limang Binata sa Dalampasigan</a:t>
            </a:r>
            <a:endParaRPr lang="en-US" sz="4400" dirty="0"/>
          </a:p>
        </p:txBody>
      </p:sp>
      <p:sp>
        <p:nvSpPr>
          <p:cNvPr id="6" name="Text 4"/>
          <p:cNvSpPr txBox="1"/>
          <p:nvPr/>
        </p:nvSpPr>
        <p:spPr>
          <a:xfrm>
            <a:off x="731520" y="2040128"/>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Ecuador · January 8, 1956 · ang mga Auca (Waodani)</a:t>
            </a:r>
            <a:endParaRPr lang="en-US" sz="2600" dirty="0"/>
          </a:p>
        </p:txBody>
      </p:sp>
      <p:sp>
        <p:nvSpPr>
          <p:cNvPr id="7" name="Text 5"/>
          <p:cNvSpPr txBox="1"/>
          <p:nvPr/>
        </p:nvSpPr>
        <p:spPr>
          <a:xfrm>
            <a:off x="731520" y="2667508"/>
            <a:ext cx="10725912" cy="1313688"/>
          </a:xfrm>
          <a:prstGeom prst="rect">
            <a:avLst/>
          </a:prstGeom>
          <a:noFill/>
          <a:ln/>
        </p:spPr>
        <p:txBody>
          <a:bodyPr wrap="square" lIns="0" tIns="0" rIns="0" bIns="0" rtlCol="0" anchor="t">
            <a:normAutofit/>
          </a:bodyPr>
          <a:lstStyle/>
          <a:p>
            <a:pPr algn="l" indent="0" marL="0">
              <a:lnSpc>
                <a:spcPct val="108000"/>
              </a:lnSpc>
              <a:buNone/>
            </a:pPr>
            <a:r>
              <a:rPr lang="en-US" sz="2800" b="1" dirty="0">
                <a:solidFill>
                  <a:srgbClr val="1A2E22"/>
                </a:solidFill>
                <a:latin typeface="Playfair Display" pitchFamily="34" charset="0"/>
                <a:ea typeface="Playfair Display" pitchFamily="34" charset="-122"/>
                <a:cs typeface="Playfair Display" pitchFamily="34" charset="-120"/>
              </a:rPr>
              <a:t>“Hindi mangmang ang taong nag-aalay ng hindi niya kayang ariin upang matamo ang yaong sa kaniya'y hindi maaagaw.”</a:t>
            </a:r>
            <a:endParaRPr lang="en-US" sz="2800" dirty="0"/>
          </a:p>
        </p:txBody>
      </p:sp>
      <p:sp>
        <p:nvSpPr>
          <p:cNvPr id="8" name="Text 6"/>
          <p:cNvSpPr txBox="1"/>
          <p:nvPr/>
        </p:nvSpPr>
        <p:spPr>
          <a:xfrm>
            <a:off x="731520" y="4164076"/>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b="1" dirty="0">
                <a:solidFill>
                  <a:srgbClr val="1F4530"/>
                </a:solidFill>
                <a:latin typeface="DM Sans" pitchFamily="34" charset="0"/>
                <a:ea typeface="DM Sans" pitchFamily="34" charset="-122"/>
                <a:cs typeface="DM Sans" pitchFamily="34" charset="-120"/>
              </a:rPr>
              <a:t>— Jim Elliot, 28 taong gulang</a:t>
            </a:r>
            <a:endParaRPr lang="en-US" sz="22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⌛00:47</a:t>
            </a:r>
            <a:endParaRPr lang="en-US" sz="1100" dirty="0"/>
          </a:p>
        </p:txBody>
      </p:sp>
      <p:sp>
        <p:nvSpPr>
          <p:cNvPr id="11" name="Text 9"/>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25 / 30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TUGON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3600" b="1" dirty="0">
                <a:solidFill>
                  <a:srgbClr val="FEFCF8"/>
                </a:solidFill>
                <a:latin typeface="Calibri" pitchFamily="34" charset="0"/>
                <a:ea typeface="Calibri" pitchFamily="34" charset="-122"/>
                <a:cs typeface="Calibri" pitchFamily="34" charset="-120"/>
              </a:rPr>
              <a:t>The Bondservant Path: Suriin (anong uri ng lingkod ako?), Tuklasin (anong kaloob ang ibinigay sa akin?), Itugma (saang ministry ito kasya?), Ipangako (ano ang commitment ko?).</a:t>
            </a:r>
            <a:endParaRPr lang="en-US" sz="36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Silent writing. Specific: isang ministry, isang tao na tatanungin, isang petsa.</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5 min · ⌛00:52</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26 / 30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TUGON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Bondservant Self-Check: bigyan ang iyong sarili ng A, B, C, D, o E sa limang pahayag. Ano ang pinakamalaking insight mo?</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A = modelo para sa iba · E = hindi pa nagsisimula. Tapat lang.</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3 min · ⌛00:55</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27 / 30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A5C40"/>
          </a:solidFill>
          <a:ln/>
        </p:spPr>
      </p:sp>
      <p:sp>
        <p:nvSpPr>
          <p:cNvPr id="3" name="Shape 1"/>
          <p:cNvSpPr/>
          <p:nvPr/>
        </p:nvSpPr>
        <p:spPr>
          <a:xfrm>
            <a:off x="4265676" y="548640"/>
            <a:ext cx="3657600" cy="411480"/>
          </a:xfrm>
          <a:prstGeom prst="roundRect">
            <a:avLst>
              <a:gd name="adj" fmla="val 44444"/>
            </a:avLst>
          </a:prstGeom>
          <a:ln w="15875">
            <a:solidFill>
              <a:srgbClr val="D4A854"/>
            </a:solidFill>
            <a:prstDash val="solid"/>
          </a:ln>
        </p:spPr>
      </p:sp>
      <p:sp>
        <p:nvSpPr>
          <p:cNvPr id="4" name="Text 2"/>
          <p:cNvSpPr txBox="1"/>
          <p:nvPr/>
        </p:nvSpPr>
        <p:spPr>
          <a:xfrm>
            <a:off x="4265676" y="548640"/>
            <a:ext cx="3657600" cy="411480"/>
          </a:xfrm>
          <a:prstGeom prst="rect">
            <a:avLst/>
          </a:prstGeom>
          <a:noFill/>
          <a:ln/>
        </p:spPr>
        <p:txBody>
          <a:bodyPr wrap="square" lIns="0" tIns="0" rIns="0" bIns="0" rtlCol="0" anchor="ctr"/>
          <a:lstStyle/>
          <a:p>
            <a:pPr algn="ctr" indent="0" marL="0">
              <a:buNone/>
            </a:pPr>
            <a:r>
              <a:rPr lang="en-US" sz="2000" b="1" dirty="0">
                <a:solidFill>
                  <a:srgbClr val="D4A854"/>
                </a:solidFill>
                <a:latin typeface="DM Sans" pitchFamily="34" charset="0"/>
                <a:ea typeface="DM Sans" pitchFamily="34" charset="-122"/>
                <a:cs typeface="DM Sans" pitchFamily="34" charset="-120"/>
              </a:rPr>
              <a:t>TAKDANG-ARALIN</a:t>
            </a:r>
            <a:endParaRPr lang="en-US" sz="2000" dirty="0"/>
          </a:p>
        </p:txBody>
      </p:sp>
      <p:sp>
        <p:nvSpPr>
          <p:cNvPr id="5" name="Text 3"/>
          <p:cNvSpPr txBox="1"/>
          <p:nvPr/>
        </p:nvSpPr>
        <p:spPr>
          <a:xfrm>
            <a:off x="731520" y="1143000"/>
            <a:ext cx="10725912" cy="654304"/>
          </a:xfrm>
          <a:prstGeom prst="rect">
            <a:avLst/>
          </a:prstGeom>
          <a:noFill/>
          <a:ln/>
        </p:spPr>
        <p:txBody>
          <a:bodyPr wrap="square" lIns="0" tIns="0" rIns="0" bIns="0" rtlCol="0" anchor="t">
            <a:normAutofit/>
          </a:bodyPr>
          <a:lstStyle/>
          <a:p>
            <a:pPr algn="l" indent="0" marL="0">
              <a:lnSpc>
                <a:spcPct val="108000"/>
              </a:lnSpc>
              <a:buNone/>
            </a:pPr>
            <a:r>
              <a:rPr lang="en-US" sz="4000" b="1" dirty="0">
                <a:solidFill>
                  <a:srgbClr val="FDFBF6"/>
                </a:solidFill>
                <a:latin typeface="Playfair Display" pitchFamily="34" charset="0"/>
                <a:ea typeface="Playfair Display" pitchFamily="34" charset="-122"/>
                <a:cs typeface="Playfair Display" pitchFamily="34" charset="-120"/>
              </a:rPr>
              <a:t>Tatlong Assignments + 7-Day Reading</a:t>
            </a:r>
            <a:endParaRPr lang="en-US" sz="4000" dirty="0"/>
          </a:p>
        </p:txBody>
      </p:sp>
      <p:sp>
        <p:nvSpPr>
          <p:cNvPr id="6" name="Text 4"/>
          <p:cNvSpPr txBox="1"/>
          <p:nvPr/>
        </p:nvSpPr>
        <p:spPr>
          <a:xfrm>
            <a:off x="731520" y="1907032"/>
            <a:ext cx="10725912" cy="714248"/>
          </a:xfrm>
          <a:prstGeom prst="rect">
            <a:avLst/>
          </a:prstGeom>
          <a:noFill/>
          <a:ln/>
        </p:spPr>
        <p:txBody>
          <a:bodyPr wrap="square" lIns="0" tIns="0" rIns="0" bIns="0" rtlCol="0" anchor="t">
            <a:normAutofit/>
          </a:bodyPr>
          <a:lstStyle/>
          <a:p>
            <a:pPr algn="l" indent="0" marL="0">
              <a:lnSpc>
                <a:spcPct val="108000"/>
              </a:lnSpc>
              <a:buNone/>
            </a:pPr>
            <a:r>
              <a:rPr lang="en-US" sz="2200" dirty="0">
                <a:solidFill>
                  <a:srgbClr val="FDFBF6"/>
                </a:solidFill>
                <a:latin typeface="DM Sans" pitchFamily="34" charset="0"/>
                <a:ea typeface="DM Sans" pitchFamily="34" charset="-122"/>
                <a:cs typeface="DM Sans" pitchFamily="34" charset="-120"/>
              </a:rPr>
              <a:t>1 · Tanungin ang LCG leader o pastor: anong areas of ministry ang puwede kong salihan? Ipanalangin.</a:t>
            </a:r>
            <a:endParaRPr lang="en-US" sz="2200" dirty="0"/>
          </a:p>
        </p:txBody>
      </p:sp>
      <p:sp>
        <p:nvSpPr>
          <p:cNvPr id="7" name="Text 5"/>
          <p:cNvSpPr txBox="1"/>
          <p:nvPr/>
        </p:nvSpPr>
        <p:spPr>
          <a:xfrm>
            <a:off x="731520" y="2804160"/>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dirty="0">
                <a:solidFill>
                  <a:srgbClr val="FDFBF6"/>
                </a:solidFill>
                <a:latin typeface="DM Sans" pitchFamily="34" charset="0"/>
                <a:ea typeface="DM Sans" pitchFamily="34" charset="-122"/>
                <a:cs typeface="DM Sans" pitchFamily="34" charset="-120"/>
              </a:rPr>
              <a:t>2 · Sagutan ang Spiritual Gift Survey — kasama ang iyong small group.</a:t>
            </a:r>
            <a:endParaRPr lang="en-US" sz="2200" dirty="0"/>
          </a:p>
        </p:txBody>
      </p:sp>
      <p:sp>
        <p:nvSpPr>
          <p:cNvPr id="8" name="Text 6"/>
          <p:cNvSpPr txBox="1"/>
          <p:nvPr/>
        </p:nvSpPr>
        <p:spPr>
          <a:xfrm>
            <a:off x="731520" y="3371596"/>
            <a:ext cx="10725912" cy="714248"/>
          </a:xfrm>
          <a:prstGeom prst="rect">
            <a:avLst/>
          </a:prstGeom>
          <a:noFill/>
          <a:ln/>
        </p:spPr>
        <p:txBody>
          <a:bodyPr wrap="square" lIns="0" tIns="0" rIns="0" bIns="0" rtlCol="0" anchor="t">
            <a:normAutofit/>
          </a:bodyPr>
          <a:lstStyle/>
          <a:p>
            <a:pPr algn="l" indent="0" marL="0">
              <a:lnSpc>
                <a:spcPct val="108000"/>
              </a:lnSpc>
              <a:buNone/>
            </a:pPr>
            <a:r>
              <a:rPr lang="en-US" sz="2200" dirty="0">
                <a:solidFill>
                  <a:srgbClr val="FDFBF6"/>
                </a:solidFill>
                <a:latin typeface="DM Sans" pitchFamily="34" charset="0"/>
                <a:ea typeface="DM Sans" pitchFamily="34" charset="-122"/>
                <a:cs typeface="DM Sans" pitchFamily="34" charset="-120"/>
              </a:rPr>
              <a:t>3 · Sagutan ang SGA (Appendix B). Kung handa na: ang Ministry Covenant (Appendix C).</a:t>
            </a:r>
            <a:endParaRPr lang="en-US" sz="2200" dirty="0"/>
          </a:p>
        </p:txBody>
      </p:sp>
      <p:sp>
        <p:nvSpPr>
          <p:cNvPr id="9" name="Text 7"/>
          <p:cNvSpPr txBox="1"/>
          <p:nvPr/>
        </p:nvSpPr>
        <p:spPr>
          <a:xfrm>
            <a:off x="731520" y="4268724"/>
            <a:ext cx="10725912" cy="714248"/>
          </a:xfrm>
          <a:prstGeom prst="rect">
            <a:avLst/>
          </a:prstGeom>
          <a:noFill/>
          <a:ln/>
        </p:spPr>
        <p:txBody>
          <a:bodyPr wrap="square" lIns="0" tIns="0" rIns="0" bIns="0" rtlCol="0" anchor="t">
            <a:normAutofit/>
          </a:bodyPr>
          <a:lstStyle/>
          <a:p>
            <a:pPr algn="l" indent="0" marL="0">
              <a:lnSpc>
                <a:spcPct val="108000"/>
              </a:lnSpc>
              <a:buNone/>
            </a:pPr>
            <a:r>
              <a:rPr lang="en-US" sz="2200" dirty="0">
                <a:solidFill>
                  <a:srgbClr val="D4A854"/>
                </a:solidFill>
                <a:latin typeface="DM Sans" pitchFamily="34" charset="0"/>
                <a:ea typeface="DM Sans" pitchFamily="34" charset="-122"/>
                <a:cs typeface="DM Sans" pitchFamily="34" charset="-120"/>
              </a:rPr>
              <a:t>🎵 Pakinggan ang “Kailan Pa?” (Papuri Singers) — gawing prayer of commitment.</a:t>
            </a:r>
            <a:endParaRPr lang="en-US" sz="2200" dirty="0"/>
          </a:p>
        </p:txBody>
      </p:sp>
      <p:sp>
        <p:nvSpPr>
          <p:cNvPr id="10" name="Text 8"/>
          <p:cNvSpPr txBox="1"/>
          <p:nvPr/>
        </p:nvSpPr>
        <p:spPr>
          <a:xfrm>
            <a:off x="731520" y="5165852"/>
            <a:ext cx="10725912" cy="384556"/>
          </a:xfrm>
          <a:prstGeom prst="rect">
            <a:avLst/>
          </a:prstGeom>
          <a:noFill/>
          <a:ln/>
        </p:spPr>
        <p:txBody>
          <a:bodyPr wrap="square" lIns="0" tIns="0" rIns="0" bIns="0" rtlCol="0" anchor="t">
            <a:normAutofit/>
          </a:bodyPr>
          <a:lstStyle/>
          <a:p>
            <a:pPr algn="l" indent="0" marL="0">
              <a:lnSpc>
                <a:spcPct val="108000"/>
              </a:lnSpc>
              <a:buNone/>
            </a:pPr>
            <a:r>
              <a:rPr lang="en-US" sz="2200" b="1" dirty="0">
                <a:solidFill>
                  <a:srgbClr val="D4A854"/>
                </a:solidFill>
                <a:latin typeface="DM Sans" pitchFamily="34" charset="0"/>
                <a:ea typeface="DM Sans" pitchFamily="34" charset="-122"/>
                <a:cs typeface="DM Sans" pitchFamily="34" charset="-120"/>
              </a:rPr>
              <a:t>Memorize: Mark 10:45 · Ito ang unang babalikan ng L11.</a:t>
            </a:r>
            <a:endParaRPr lang="en-US" sz="2200" dirty="0"/>
          </a:p>
        </p:txBody>
      </p:sp>
      <p:sp>
        <p:nvSpPr>
          <p:cNvPr id="11" name="Shape 9"/>
          <p:cNvSpPr/>
          <p:nvPr/>
        </p:nvSpPr>
        <p:spPr>
          <a:xfrm>
            <a:off x="9948672" y="137160"/>
            <a:ext cx="2011680" cy="384048"/>
          </a:xfrm>
          <a:prstGeom prst="roundRect">
            <a:avLst>
              <a:gd name="adj" fmla="val 28571"/>
            </a:avLst>
          </a:prstGeom>
          <a:solidFill>
            <a:srgbClr val="D4AF37"/>
          </a:solidFill>
          <a:ln/>
        </p:spPr>
      </p:sp>
      <p:sp>
        <p:nvSpPr>
          <p:cNvPr id="12" name="Text 10"/>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⌛00:57</a:t>
            </a:r>
            <a:endParaRPr lang="en-US" sz="1100" dirty="0"/>
          </a:p>
        </p:txBody>
      </p:sp>
      <p:sp>
        <p:nvSpPr>
          <p:cNvPr id="13" name="Text 11"/>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FDFBF6"/>
                </a:solidFill>
                <a:latin typeface="DM Sans" pitchFamily="34" charset="0"/>
                <a:ea typeface="DM Sans" pitchFamily="34" charset="-122"/>
                <a:cs typeface="DM Sans" pitchFamily="34" charset="-120"/>
              </a:rPr>
              <a:t>28 / 30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C34"/>
          </a:solidFill>
          <a:ln/>
        </p:spPr>
      </p:sp>
      <p:sp>
        <p:nvSpPr>
          <p:cNvPr id="3" name="Text 1"/>
          <p:cNvSpPr txBox="1"/>
          <p:nvPr/>
        </p:nvSpPr>
        <p:spPr>
          <a:xfrm>
            <a:off x="274320" y="164592"/>
            <a:ext cx="4572000" cy="310896"/>
          </a:xfrm>
          <a:prstGeom prst="rect">
            <a:avLst/>
          </a:prstGeom>
          <a:noFill/>
          <a:ln/>
        </p:spPr>
        <p:txBody>
          <a:bodyPr wrap="square" lIns="0" tIns="0" rIns="0" bIns="0" rtlCol="0" anchor="ctr"/>
          <a:lstStyle/>
          <a:p>
            <a:pPr indent="0" marL="0">
              <a:buNone/>
            </a:pPr>
            <a:r>
              <a:rPr lang="en-US" sz="1100" b="1" dirty="0">
                <a:solidFill>
                  <a:srgbClr val="808080"/>
                </a:solidFill>
                <a:latin typeface="Calibri" pitchFamily="34" charset="0"/>
                <a:ea typeface="Calibri" pitchFamily="34" charset="-122"/>
                <a:cs typeface="Calibri" pitchFamily="34" charset="-120"/>
              </a:rPr>
              <a:t>MULTIPLY · DISCIPLE-MAKING PIPELINE</a:t>
            </a:r>
            <a:endParaRPr lang="en-US" sz="1100" dirty="0"/>
          </a:p>
        </p:txBody>
      </p:sp>
      <p:sp>
        <p:nvSpPr>
          <p:cNvPr id="4" name="Text 2"/>
          <p:cNvSpPr txBox="1"/>
          <p:nvPr/>
        </p:nvSpPr>
        <p:spPr>
          <a:xfrm>
            <a:off x="914400" y="658368"/>
            <a:ext cx="10360152" cy="594360"/>
          </a:xfrm>
          <a:prstGeom prst="rect">
            <a:avLst/>
          </a:prstGeom>
          <a:noFill/>
          <a:ln/>
        </p:spPr>
        <p:txBody>
          <a:bodyPr wrap="square" lIns="0" tIns="0" rIns="0" bIns="0" rtlCol="0" anchor="ctr"/>
          <a:lstStyle/>
          <a:p>
            <a:pPr indent="0" marL="0">
              <a:buNone/>
            </a:pPr>
            <a:r>
              <a:rPr lang="en-US" sz="2800" b="1" dirty="0">
                <a:solidFill>
                  <a:srgbClr val="D4A84A"/>
                </a:solidFill>
                <a:latin typeface="Calibri" pitchFamily="34" charset="0"/>
                <a:ea typeface="Calibri" pitchFamily="34" charset="-122"/>
                <a:cs typeface="Calibri" pitchFamily="34" charset="-120"/>
              </a:rPr>
              <a:t>📕 DALHIN · TANONG</a:t>
            </a:r>
            <a:endParaRPr lang="en-US" sz="2800" dirty="0"/>
          </a:p>
        </p:txBody>
      </p:sp>
      <p:sp>
        <p:nvSpPr>
          <p:cNvPr id="5" name="Shape 3"/>
          <p:cNvSpPr/>
          <p:nvPr/>
        </p:nvSpPr>
        <p:spPr>
          <a:xfrm>
            <a:off x="3813048" y="1444752"/>
            <a:ext cx="4572000" cy="502920"/>
          </a:xfrm>
          <a:prstGeom prst="roundRect">
            <a:avLst>
              <a:gd name="adj" fmla="val 27273"/>
            </a:avLst>
          </a:prstGeom>
          <a:solidFill>
            <a:srgbClr val="D4AF37"/>
          </a:solidFill>
          <a:ln/>
        </p:spPr>
      </p:sp>
      <p:sp>
        <p:nvSpPr>
          <p:cNvPr id="6" name="Text 4"/>
          <p:cNvSpPr txBox="1"/>
          <p:nvPr/>
        </p:nvSpPr>
        <p:spPr>
          <a:xfrm>
            <a:off x="3813048" y="1444752"/>
            <a:ext cx="4572000" cy="502920"/>
          </a:xfrm>
          <a:prstGeom prst="rect">
            <a:avLst/>
          </a:prstGeom>
          <a:noFill/>
          <a:ln/>
        </p:spPr>
        <p:txBody>
          <a:bodyPr wrap="square" lIns="0" tIns="0" rIns="0" bIns="0" rtlCol="0" anchor="ctr"/>
          <a:lstStyle/>
          <a:p>
            <a:pPr algn="ctr" indent="0" marL="0">
              <a:buNone/>
            </a:pPr>
            <a:r>
              <a:rPr lang="en-US" sz="1600" b="1" dirty="0">
                <a:solidFill>
                  <a:srgbClr val="141628"/>
                </a:solidFill>
                <a:latin typeface="Calibri" pitchFamily="34" charset="0"/>
                <a:ea typeface="Calibri" pitchFamily="34" charset="-122"/>
                <a:cs typeface="Calibri" pitchFamily="34" charset="-120"/>
              </a:rPr>
              <a:t>📋 Participant Guide Question</a:t>
            </a:r>
            <a:endParaRPr lang="en-US" sz="1600" dirty="0"/>
          </a:p>
        </p:txBody>
      </p:sp>
      <p:sp>
        <p:nvSpPr>
          <p:cNvPr id="7" name="Text 5"/>
          <p:cNvSpPr txBox="1"/>
          <p:nvPr/>
        </p:nvSpPr>
        <p:spPr>
          <a:xfrm>
            <a:off x="914400" y="2148840"/>
            <a:ext cx="10360152" cy="3246120"/>
          </a:xfrm>
          <a:prstGeom prst="rect">
            <a:avLst/>
          </a:prstGeom>
          <a:noFill/>
          <a:ln/>
        </p:spPr>
        <p:txBody>
          <a:bodyPr wrap="square" lIns="0" tIns="0" rIns="0" bIns="0" rtlCol="0" anchor="t"/>
          <a:lstStyle/>
          <a:p>
            <a:pPr indent="0" marL="0">
              <a:lnSpc>
                <a:spcPct val="106000"/>
              </a:lnSpc>
              <a:buNone/>
            </a:pPr>
            <a:r>
              <a:rPr lang="en-US" sz="4400" b="1" dirty="0">
                <a:solidFill>
                  <a:srgbClr val="FEFCF8"/>
                </a:solidFill>
                <a:latin typeface="Calibri" pitchFamily="34" charset="0"/>
                <a:ea typeface="Calibri" pitchFamily="34" charset="-122"/>
                <a:cs typeface="Calibri" pitchFamily="34" charset="-120"/>
              </a:rPr>
              <a:t>Pangako Ko: "Dahil binigyan ako ng buhay, kalayaan, pagpapala, at halimbawa, nangangako ako na ngayong linggo ay..."</a:t>
            </a:r>
            <a:endParaRPr lang="en-US" sz="4400" dirty="0"/>
          </a:p>
        </p:txBody>
      </p:sp>
      <p:sp>
        <p:nvSpPr>
          <p:cNvPr id="8" name="Text 6"/>
          <p:cNvSpPr txBox="1"/>
          <p:nvPr/>
        </p:nvSpPr>
        <p:spPr>
          <a:xfrm>
            <a:off x="914400" y="5669280"/>
            <a:ext cx="10360152" cy="548640"/>
          </a:xfrm>
          <a:prstGeom prst="rect">
            <a:avLst/>
          </a:prstGeom>
          <a:noFill/>
          <a:ln/>
        </p:spPr>
        <p:txBody>
          <a:bodyPr wrap="square" lIns="0" tIns="0" rIns="0" bIns="0" rtlCol="0" anchor="ctr"/>
          <a:lstStyle/>
          <a:p>
            <a:pPr indent="0" marL="0">
              <a:buNone/>
            </a:pPr>
            <a:r>
              <a:rPr lang="en-US" sz="2600" dirty="0">
                <a:solidFill>
                  <a:srgbClr val="D4A84A"/>
                </a:solidFill>
                <a:latin typeface="Calibri" pitchFamily="34" charset="0"/>
                <a:ea typeface="Calibri" pitchFamily="34" charset="-122"/>
                <a:cs typeface="Calibri" pitchFamily="34" charset="-120"/>
              </a:rPr>
              <a:t>Konkreto. Isang kilos na kayang tuparin sa loob ng 7 araw.</a:t>
            </a:r>
            <a:endParaRPr lang="en-US" sz="2600" dirty="0"/>
          </a:p>
        </p:txBody>
      </p:sp>
      <p:sp>
        <p:nvSpPr>
          <p:cNvPr id="9" name="Shape 7"/>
          <p:cNvSpPr/>
          <p:nvPr/>
        </p:nvSpPr>
        <p:spPr>
          <a:xfrm>
            <a:off x="9948672" y="137160"/>
            <a:ext cx="2011680" cy="384048"/>
          </a:xfrm>
          <a:prstGeom prst="roundRect">
            <a:avLst>
              <a:gd name="adj" fmla="val 28571"/>
            </a:avLst>
          </a:prstGeom>
          <a:solidFill>
            <a:srgbClr val="D4AF37"/>
          </a:solidFill>
          <a:ln/>
        </p:spPr>
      </p:sp>
      <p:sp>
        <p:nvSpPr>
          <p:cNvPr id="10" name="Text 8"/>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2 min · ⌛00:59</a:t>
            </a:r>
            <a:endParaRPr lang="en-US" sz="1100" dirty="0"/>
          </a:p>
        </p:txBody>
      </p:sp>
      <p:sp>
        <p:nvSpPr>
          <p:cNvPr id="11" name="Text 9"/>
          <p:cNvSpPr txBox="1"/>
          <p:nvPr/>
        </p:nvSpPr>
        <p:spPr>
          <a:xfrm>
            <a:off x="11091672" y="6355080"/>
            <a:ext cx="960120" cy="310896"/>
          </a:xfrm>
          <a:prstGeom prst="rect">
            <a:avLst/>
          </a:prstGeom>
          <a:noFill/>
          <a:ln/>
        </p:spPr>
        <p:txBody>
          <a:bodyPr wrap="square" lIns="0" tIns="0" rIns="0" bIns="0" rtlCol="0" anchor="ctr"/>
          <a:lstStyle/>
          <a:p>
            <a:pPr algn="r" indent="0" marL="0">
              <a:buNone/>
            </a:pPr>
            <a:r>
              <a:rPr lang="en-US" sz="1200" dirty="0">
                <a:solidFill>
                  <a:srgbClr val="808080"/>
                </a:solidFill>
                <a:latin typeface="Calibri" pitchFamily="34" charset="0"/>
                <a:ea typeface="Calibri" pitchFamily="34" charset="-122"/>
                <a:cs typeface="Calibri" pitchFamily="34" charset="-120"/>
              </a:rPr>
              <a:t>29 / 30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6F2E7"/>
          </a:solidFill>
          <a:ln/>
        </p:spPr>
      </p:sp>
      <p:sp>
        <p:nvSpPr>
          <p:cNvPr id="3" name="Shape 1"/>
          <p:cNvSpPr/>
          <p:nvPr/>
        </p:nvSpPr>
        <p:spPr>
          <a:xfrm>
            <a:off x="4448556" y="548640"/>
            <a:ext cx="3291840" cy="411480"/>
          </a:xfrm>
          <a:prstGeom prst="roundRect">
            <a:avLst>
              <a:gd name="adj" fmla="val 44444"/>
            </a:avLst>
          </a:prstGeom>
          <a:ln w="15875">
            <a:solidFill>
              <a:srgbClr val="2A5C40"/>
            </a:solidFill>
            <a:prstDash val="solid"/>
          </a:ln>
        </p:spPr>
      </p:sp>
      <p:sp>
        <p:nvSpPr>
          <p:cNvPr id="4" name="Text 2"/>
          <p:cNvSpPr txBox="1"/>
          <p:nvPr/>
        </p:nvSpPr>
        <p:spPr>
          <a:xfrm>
            <a:off x="4448556" y="548640"/>
            <a:ext cx="3291840" cy="411480"/>
          </a:xfrm>
          <a:prstGeom prst="rect">
            <a:avLst/>
          </a:prstGeom>
          <a:noFill/>
          <a:ln/>
        </p:spPr>
        <p:txBody>
          <a:bodyPr wrap="square" lIns="0" tIns="0" rIns="0" bIns="0" rtlCol="0" anchor="ctr"/>
          <a:lstStyle/>
          <a:p>
            <a:pPr algn="ctr" indent="0" marL="0">
              <a:buNone/>
            </a:pPr>
            <a:r>
              <a:rPr lang="en-US" sz="2000" b="1" dirty="0">
                <a:solidFill>
                  <a:srgbClr val="2A5C40"/>
                </a:solidFill>
                <a:latin typeface="DM Sans" pitchFamily="34" charset="0"/>
                <a:ea typeface="DM Sans" pitchFamily="34" charset="-122"/>
                <a:cs typeface="DM Sans" pitchFamily="34" charset="-120"/>
              </a:rPr>
              <a:t>L11 PREVIEW</a:t>
            </a:r>
            <a:endParaRPr lang="en-US" sz="2000" dirty="0"/>
          </a:p>
        </p:txBody>
      </p:sp>
      <p:sp>
        <p:nvSpPr>
          <p:cNvPr id="5" name="Text 3"/>
          <p:cNvSpPr txBox="1"/>
          <p:nvPr/>
        </p:nvSpPr>
        <p:spPr>
          <a:xfrm>
            <a:off x="731520" y="1143000"/>
            <a:ext cx="10725912" cy="654304"/>
          </a:xfrm>
          <a:prstGeom prst="rect">
            <a:avLst/>
          </a:prstGeom>
          <a:noFill/>
          <a:ln/>
        </p:spPr>
        <p:txBody>
          <a:bodyPr wrap="square" lIns="0" tIns="0" rIns="0" bIns="0" rtlCol="0" anchor="t">
            <a:normAutofit/>
          </a:bodyPr>
          <a:lstStyle/>
          <a:p>
            <a:pPr algn="l" indent="0" marL="0">
              <a:lnSpc>
                <a:spcPct val="108000"/>
              </a:lnSpc>
              <a:buNone/>
            </a:pPr>
            <a:r>
              <a:rPr lang="en-US" sz="4000" b="1" dirty="0">
                <a:solidFill>
                  <a:srgbClr val="1A2E22"/>
                </a:solidFill>
                <a:latin typeface="Playfair Display" pitchFamily="34" charset="0"/>
                <a:ea typeface="Playfair Display" pitchFamily="34" charset="-122"/>
                <a:cs typeface="Playfair Display" pitchFamily="34" charset="-120"/>
              </a:rPr>
              <a:t>Lesson 11 — Buhay May Misyon</a:t>
            </a:r>
            <a:endParaRPr lang="en-US" sz="4000" dirty="0"/>
          </a:p>
        </p:txBody>
      </p:sp>
      <p:sp>
        <p:nvSpPr>
          <p:cNvPr id="6" name="Text 4"/>
          <p:cNvSpPr txBox="1"/>
          <p:nvPr/>
        </p:nvSpPr>
        <p:spPr>
          <a:xfrm>
            <a:off x="731520" y="1980184"/>
            <a:ext cx="10725912" cy="894080"/>
          </a:xfrm>
          <a:prstGeom prst="rect">
            <a:avLst/>
          </a:prstGeom>
          <a:noFill/>
          <a:ln/>
        </p:spPr>
        <p:txBody>
          <a:bodyPr wrap="square" lIns="0" tIns="0" rIns="0" bIns="0" rtlCol="0" anchor="t">
            <a:normAutofit/>
          </a:bodyPr>
          <a:lstStyle/>
          <a:p>
            <a:pPr algn="l" indent="0" marL="0">
              <a:lnSpc>
                <a:spcPct val="108000"/>
              </a:lnSpc>
              <a:buNone/>
            </a:pPr>
            <a:r>
              <a:rPr lang="en-US" sz="2800" i="1" dirty="0">
                <a:solidFill>
                  <a:srgbClr val="1A2E22"/>
                </a:solidFill>
                <a:latin typeface="DM Sans" pitchFamily="34" charset="0"/>
                <a:ea typeface="DM Sans" pitchFamily="34" charset="-122"/>
                <a:cs typeface="DM Sans" pitchFamily="34" charset="-120"/>
              </a:rPr>
              <a:t>Tapos na ang USAD — susunod ang UNLAD. Memory verse ng L11: Acts 13:36</a:t>
            </a:r>
            <a:endParaRPr lang="en-US" sz="2800" dirty="0"/>
          </a:p>
        </p:txBody>
      </p:sp>
      <p:sp>
        <p:nvSpPr>
          <p:cNvPr id="7" name="Text 5"/>
          <p:cNvSpPr txBox="1"/>
          <p:nvPr/>
        </p:nvSpPr>
        <p:spPr>
          <a:xfrm>
            <a:off x="731520" y="3057144"/>
            <a:ext cx="10725912" cy="444500"/>
          </a:xfrm>
          <a:prstGeom prst="rect">
            <a:avLst/>
          </a:prstGeom>
          <a:noFill/>
          <a:ln/>
        </p:spPr>
        <p:txBody>
          <a:bodyPr wrap="square" lIns="0" tIns="0" rIns="0" bIns="0" rtlCol="0" anchor="t">
            <a:normAutofit/>
          </a:bodyPr>
          <a:lstStyle/>
          <a:p>
            <a:pPr algn="l" indent="0" marL="0">
              <a:lnSpc>
                <a:spcPct val="108000"/>
              </a:lnSpc>
              <a:buNone/>
            </a:pPr>
            <a:r>
              <a:rPr lang="en-US" sz="2600" b="1" dirty="0">
                <a:solidFill>
                  <a:srgbClr val="1F4530"/>
                </a:solidFill>
                <a:latin typeface="DM Sans" pitchFamily="34" charset="0"/>
                <a:ea typeface="DM Sans" pitchFamily="34" charset="-122"/>
                <a:cs typeface="DM Sans" pitchFamily="34" charset="-120"/>
              </a:rPr>
              <a:t>Memorize: Mark 10:45</a:t>
            </a:r>
            <a:endParaRPr lang="en-US" sz="2600" dirty="0"/>
          </a:p>
        </p:txBody>
      </p:sp>
      <p:sp>
        <p:nvSpPr>
          <p:cNvPr id="8" name="Shape 6"/>
          <p:cNvSpPr/>
          <p:nvPr/>
        </p:nvSpPr>
        <p:spPr>
          <a:xfrm>
            <a:off x="9948672" y="137160"/>
            <a:ext cx="2011680" cy="384048"/>
          </a:xfrm>
          <a:prstGeom prst="roundRect">
            <a:avLst>
              <a:gd name="adj" fmla="val 28571"/>
            </a:avLst>
          </a:prstGeom>
          <a:solidFill>
            <a:srgbClr val="D4AF37"/>
          </a:solidFill>
          <a:ln/>
        </p:spPr>
      </p:sp>
      <p:sp>
        <p:nvSpPr>
          <p:cNvPr id="9" name="Text 7"/>
          <p:cNvSpPr txBox="1"/>
          <p:nvPr/>
        </p:nvSpPr>
        <p:spPr>
          <a:xfrm>
            <a:off x="9948672" y="137160"/>
            <a:ext cx="2011680" cy="384048"/>
          </a:xfrm>
          <a:prstGeom prst="rect">
            <a:avLst/>
          </a:prstGeom>
          <a:noFill/>
          <a:ln/>
        </p:spPr>
        <p:txBody>
          <a:bodyPr wrap="square" lIns="0" tIns="0" rIns="0" bIns="0" rtlCol="0" anchor="ctr"/>
          <a:lstStyle/>
          <a:p>
            <a:pPr algn="ctr" indent="0" marL="0">
              <a:buNone/>
            </a:pPr>
            <a:r>
              <a:rPr lang="en-US" sz="1100" b="1" dirty="0">
                <a:solidFill>
                  <a:srgbClr val="141628"/>
                </a:solidFill>
                <a:latin typeface="Calibri" pitchFamily="34" charset="0"/>
                <a:ea typeface="Calibri" pitchFamily="34" charset="-122"/>
                <a:cs typeface="Calibri" pitchFamily="34" charset="-120"/>
              </a:rPr>
              <a:t>⏱ 1 min · ⌛01:00</a:t>
            </a:r>
            <a:endParaRPr lang="en-US" sz="1100" dirty="0"/>
          </a:p>
        </p:txBody>
      </p:sp>
      <p:sp>
        <p:nvSpPr>
          <p:cNvPr id="10" name="Text 8"/>
          <p:cNvSpPr txBox="1"/>
          <p:nvPr/>
        </p:nvSpPr>
        <p:spPr>
          <a:xfrm>
            <a:off x="11228832" y="6355080"/>
            <a:ext cx="822960" cy="310896"/>
          </a:xfrm>
          <a:prstGeom prst="rect">
            <a:avLst/>
          </a:prstGeom>
          <a:noFill/>
          <a:ln/>
        </p:spPr>
        <p:txBody>
          <a:bodyPr wrap="square" lIns="0" tIns="0" rIns="0" bIns="0" rtlCol="0" anchor="ctr"/>
          <a:lstStyle/>
          <a:p>
            <a:pPr algn="r" indent="0" marL="0">
              <a:buNone/>
            </a:pPr>
            <a:r>
              <a:rPr lang="en-US" sz="1200" b="1" dirty="0">
                <a:solidFill>
                  <a:srgbClr val="1A2E22"/>
                </a:solidFill>
                <a:latin typeface="DM Sans" pitchFamily="34" charset="0"/>
                <a:ea typeface="DM Sans" pitchFamily="34" charset="-122"/>
                <a:cs typeface="DM Sans" pitchFamily="34" charset="-120"/>
              </a:rPr>
              <a:t>30 / 30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2026-10-30T07:12:14Z</dcterms:created>
  <dcterms:modified xsi:type="dcterms:W3CDTF">2026-10-30T07:12:14Z</dcterms:modified>
</cp:coreProperties>
</file>
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1893" autoAdjust="0"/>
  </p:normalViewPr>
  <p:slideViewPr>
    <p:cSldViewPr snapToGrid="0" snapToObjects="1">
      <p:cViewPr varScale="1">
        <p:scale>
          <a:sx n="51" d="100"/>
          <a:sy n="51" d="100"/>
        </p:scale>
        <p:origin x="1800" y="53"/>
      </p:cViewPr>
      <p:guideLst>
        <p:guide orient="horz" pos="2160"/>
        <p:guide pos="2880"/>
      </p:guideLst>
    </p:cSldViewPr>
  </p:slideViewPr>
  <p:notesTextViewPr>
    <p:cViewPr>
      <p:scale>
        <a:sx n="125" d="100"/>
        <a:sy n="125" d="100"/>
      </p:scale>
      <p:origin x="0" y="0"/>
    </p:cViewPr>
  </p:notesTextViewPr>
  <p:notesViewPr>
    <p:cSldViewPr snapToGrid="0" snapToObjects="1">
      <p:cViewPr varScale="1">
        <p:scale>
          <a:sx n="65" d="100"/>
          <a:sy n="65" d="100"/>
        </p:scale>
        <p:origin x="2894"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136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Bukas tayo </a:t>
            </a:r>
            <a:r>
              <a:rPr dirty="0" err="1"/>
              <a:t>sa</a:t>
            </a:r>
            <a:r>
              <a:rPr dirty="0"/>
              <a:t> BTLI 1 Lesson 7. Sundin ang USAD-L7 source structure (4-movement: TANAW/TUKLAS/TALAKAY/TUGON). Sa BTLI ay 5-movement (PUKAW/TUKLAS/TALAKAY/TUGON/DALHIN) — PUKAW at DALHIN ay Claude-added wrappers per Invariant #76. Total 60 min.</a:t>
            </a:r>
            <a:endParaRPr lang="en-US" dirty="0"/>
          </a:p>
          <a:p>
            <a:endParaRPr lang="en-US" dirty="0"/>
          </a:p>
          <a:p>
            <a:r>
              <a:rPr lang="en-PH" sz="1200" b="1" i="0" kern="1200" dirty="0">
                <a:solidFill>
                  <a:schemeClr val="tx1"/>
                </a:solidFill>
                <a:effectLst/>
                <a:latin typeface="+mn-lt"/>
                <a:ea typeface="+mn-ea"/>
                <a:cs typeface="+mn-cs"/>
              </a:rPr>
              <a:t>Lesson Anchors</a:t>
            </a:r>
          </a:p>
          <a:p>
            <a:pPr lvl="0"/>
            <a:r>
              <a:rPr lang="en-PH" sz="1200" b="1" i="0" kern="1200" dirty="0">
                <a:solidFill>
                  <a:schemeClr val="tx1"/>
                </a:solidFill>
                <a:effectLst/>
                <a:latin typeface="+mn-lt"/>
                <a:ea typeface="+mn-ea"/>
                <a:cs typeface="+mn-cs"/>
              </a:rPr>
              <a:t>Character anchor:</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Pananagutan</a:t>
            </a:r>
            <a:r>
              <a:rPr lang="en-PH" sz="1200" b="0" i="0" kern="1200" dirty="0">
                <a:solidFill>
                  <a:schemeClr val="tx1"/>
                </a:solidFill>
                <a:effectLst/>
                <a:latin typeface="+mn-lt"/>
                <a:ea typeface="+mn-ea"/>
                <a:cs typeface="+mn-cs"/>
              </a:rPr>
              <a:t> (Responsibility) — covenant-faithfulness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katawan</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ni</a:t>
            </a:r>
            <a:r>
              <a:rPr lang="en-PH" sz="1200" b="0" i="0" kern="1200" dirty="0">
                <a:solidFill>
                  <a:schemeClr val="tx1"/>
                </a:solidFill>
                <a:effectLst/>
                <a:latin typeface="+mn-lt"/>
                <a:ea typeface="+mn-ea"/>
                <a:cs typeface="+mn-cs"/>
              </a:rPr>
              <a:t> Cristo. </a:t>
            </a:r>
          </a:p>
          <a:p>
            <a:pPr lvl="0"/>
            <a:r>
              <a:rPr lang="en-PH" sz="1200" b="1" i="0" kern="1200" dirty="0">
                <a:solidFill>
                  <a:schemeClr val="tx1"/>
                </a:solidFill>
                <a:effectLst/>
                <a:latin typeface="+mn-lt"/>
                <a:ea typeface="+mn-ea"/>
                <a:cs typeface="+mn-cs"/>
              </a:rPr>
              <a:t>Competence anchor:</a:t>
            </a:r>
            <a:r>
              <a:rPr lang="en-PH" sz="1200" b="0" i="0" kern="1200" dirty="0">
                <a:solidFill>
                  <a:schemeClr val="tx1"/>
                </a:solidFill>
                <a:effectLst/>
                <a:latin typeface="+mn-lt"/>
                <a:ea typeface="+mn-ea"/>
                <a:cs typeface="+mn-cs"/>
              </a:rPr>
              <a:t> 4-P Worship Anchor</a:t>
            </a:r>
          </a:p>
          <a:p>
            <a:pPr lvl="0"/>
            <a:r>
              <a:rPr lang="en-PH" sz="1200" b="1" i="0" kern="1200" dirty="0">
                <a:solidFill>
                  <a:schemeClr val="tx1"/>
                </a:solidFill>
                <a:effectLst/>
                <a:latin typeface="+mn-lt"/>
                <a:ea typeface="+mn-ea"/>
                <a:cs typeface="+mn-cs"/>
              </a:rPr>
              <a:t>GRACE stage:</a:t>
            </a:r>
            <a:r>
              <a:rPr lang="en-PH" sz="1200" b="0" i="0" kern="1200" dirty="0">
                <a:solidFill>
                  <a:schemeClr val="tx1"/>
                </a:solidFill>
                <a:effectLst/>
                <a:latin typeface="+mn-lt"/>
                <a:ea typeface="+mn-ea"/>
                <a:cs typeface="+mn-cs"/>
              </a:rPr>
              <a:t> A → C (Anchor transitioning to Cultivate)</a:t>
            </a:r>
          </a:p>
          <a:p>
            <a:r>
              <a:rPr lang="en-PH" sz="1200" b="1" i="0" kern="1200" dirty="0">
                <a:solidFill>
                  <a:schemeClr val="tx1"/>
                </a:solidFill>
                <a:effectLst/>
                <a:latin typeface="+mn-lt"/>
                <a:ea typeface="+mn-ea"/>
                <a:cs typeface="+mn-cs"/>
              </a:rPr>
              <a:t>Lesson Aims (</a:t>
            </a:r>
            <a:r>
              <a:rPr lang="en-PH" sz="1200" b="1" i="0" kern="1200" dirty="0" err="1">
                <a:solidFill>
                  <a:schemeClr val="tx1"/>
                </a:solidFill>
                <a:effectLst/>
                <a:latin typeface="+mn-lt"/>
                <a:ea typeface="+mn-ea"/>
                <a:cs typeface="+mn-cs"/>
              </a:rPr>
              <a:t>mula</a:t>
            </a:r>
            <a:r>
              <a:rPr lang="en-PH" sz="1200" b="1" i="0" kern="1200" dirty="0">
                <a:solidFill>
                  <a:schemeClr val="tx1"/>
                </a:solidFill>
                <a:effectLst/>
                <a:latin typeface="+mn-lt"/>
                <a:ea typeface="+mn-ea"/>
                <a:cs typeface="+mn-cs"/>
              </a:rPr>
              <a:t> </a:t>
            </a:r>
            <a:r>
              <a:rPr lang="en-PH" sz="1200" b="1" i="0" kern="1200" dirty="0" err="1">
                <a:solidFill>
                  <a:schemeClr val="tx1"/>
                </a:solidFill>
                <a:effectLst/>
                <a:latin typeface="+mn-lt"/>
                <a:ea typeface="+mn-ea"/>
                <a:cs typeface="+mn-cs"/>
              </a:rPr>
              <a:t>sa</a:t>
            </a:r>
            <a:r>
              <a:rPr lang="en-PH" sz="1200" b="1" i="0" kern="1200" dirty="0">
                <a:solidFill>
                  <a:schemeClr val="tx1"/>
                </a:solidFill>
                <a:effectLst/>
                <a:latin typeface="+mn-lt"/>
                <a:ea typeface="+mn-ea"/>
                <a:cs typeface="+mn-cs"/>
              </a:rPr>
              <a:t> USAD Leader's Guide)</a:t>
            </a:r>
          </a:p>
          <a:p>
            <a:r>
              <a:rPr lang="en-PH" sz="1200" b="0" i="0" kern="1200" dirty="0" err="1">
                <a:solidFill>
                  <a:schemeClr val="tx1"/>
                </a:solidFill>
                <a:effectLst/>
                <a:latin typeface="+mn-lt"/>
                <a:ea typeface="+mn-ea"/>
                <a:cs typeface="+mn-cs"/>
              </a:rPr>
              <a:t>Pagkatapos</a:t>
            </a:r>
            <a:r>
              <a:rPr lang="en-PH" sz="1200" b="0" i="0" kern="1200" dirty="0">
                <a:solidFill>
                  <a:schemeClr val="tx1"/>
                </a:solidFill>
                <a:effectLst/>
                <a:latin typeface="+mn-lt"/>
                <a:ea typeface="+mn-ea"/>
                <a:cs typeface="+mn-cs"/>
              </a:rPr>
              <a:t> ng lesson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ito</a:t>
            </a:r>
            <a:r>
              <a:rPr lang="en-PH" sz="1200" b="0" i="0" kern="1200" dirty="0">
                <a:solidFill>
                  <a:schemeClr val="tx1"/>
                </a:solidFill>
                <a:effectLst/>
                <a:latin typeface="+mn-lt"/>
                <a:ea typeface="+mn-ea"/>
                <a:cs typeface="+mn-cs"/>
              </a:rPr>
              <a:t>, ang disciple ay </a:t>
            </a:r>
            <a:r>
              <a:rPr lang="en-PH" sz="1200" b="0" i="0" kern="1200" dirty="0" err="1">
                <a:solidFill>
                  <a:schemeClr val="tx1"/>
                </a:solidFill>
                <a:effectLst/>
                <a:latin typeface="+mn-lt"/>
                <a:ea typeface="+mn-ea"/>
                <a:cs typeface="+mn-cs"/>
              </a:rPr>
              <a:t>dapat</a:t>
            </a:r>
            <a:r>
              <a:rPr lang="en-PH" sz="1200" b="0" i="0" kern="1200" dirty="0">
                <a:solidFill>
                  <a:schemeClr val="tx1"/>
                </a:solidFill>
                <a:effectLst/>
                <a:latin typeface="+mn-lt"/>
                <a:ea typeface="+mn-ea"/>
                <a:cs typeface="+mn-cs"/>
              </a:rPr>
              <a:t>:</a:t>
            </a:r>
          </a:p>
          <a:p>
            <a:pPr lvl="0"/>
            <a:r>
              <a:rPr lang="en-PH" sz="1200" b="0" i="0" kern="1200" dirty="0" err="1">
                <a:solidFill>
                  <a:schemeClr val="tx1"/>
                </a:solidFill>
                <a:effectLst/>
                <a:latin typeface="+mn-lt"/>
                <a:ea typeface="+mn-ea"/>
                <a:cs typeface="+mn-cs"/>
              </a:rPr>
              <a:t>Maunawaan</a:t>
            </a:r>
            <a:r>
              <a:rPr lang="en-PH" sz="1200" b="0" i="0" kern="1200" dirty="0">
                <a:solidFill>
                  <a:schemeClr val="tx1"/>
                </a:solidFill>
                <a:effectLst/>
                <a:latin typeface="+mn-lt"/>
                <a:ea typeface="+mn-ea"/>
                <a:cs typeface="+mn-cs"/>
              </a:rPr>
              <a:t> ang </a:t>
            </a:r>
            <a:r>
              <a:rPr lang="en-PH" sz="1200" b="1" i="0" kern="1200" dirty="0" err="1">
                <a:solidFill>
                  <a:schemeClr val="tx1"/>
                </a:solidFill>
                <a:effectLst/>
                <a:latin typeface="+mn-lt"/>
                <a:ea typeface="+mn-ea"/>
                <a:cs typeface="+mn-cs"/>
              </a:rPr>
              <a:t>kahalagahan</a:t>
            </a:r>
            <a:r>
              <a:rPr lang="en-PH" sz="1200" b="1" i="0" kern="1200" dirty="0">
                <a:solidFill>
                  <a:schemeClr val="tx1"/>
                </a:solidFill>
                <a:effectLst/>
                <a:latin typeface="+mn-lt"/>
                <a:ea typeface="+mn-ea"/>
                <a:cs typeface="+mn-cs"/>
              </a:rPr>
              <a:t> ng </a:t>
            </a:r>
            <a:r>
              <a:rPr lang="en-PH" sz="1200" b="1" i="0" kern="1200" dirty="0" err="1">
                <a:solidFill>
                  <a:schemeClr val="tx1"/>
                </a:solidFill>
                <a:effectLst/>
                <a:latin typeface="+mn-lt"/>
                <a:ea typeface="+mn-ea"/>
                <a:cs typeface="+mn-cs"/>
              </a:rPr>
              <a:t>sama-samang</a:t>
            </a:r>
            <a:r>
              <a:rPr lang="en-PH" sz="1200" b="1" i="0" kern="1200" dirty="0">
                <a:solidFill>
                  <a:schemeClr val="tx1"/>
                </a:solidFill>
                <a:effectLst/>
                <a:latin typeface="+mn-lt"/>
                <a:ea typeface="+mn-ea"/>
                <a:cs typeface="+mn-cs"/>
              </a:rPr>
              <a:t> </a:t>
            </a:r>
            <a:r>
              <a:rPr lang="en-PH" sz="1200" b="1" i="0" kern="1200" dirty="0" err="1">
                <a:solidFill>
                  <a:schemeClr val="tx1"/>
                </a:solidFill>
                <a:effectLst/>
                <a:latin typeface="+mn-lt"/>
                <a:ea typeface="+mn-ea"/>
                <a:cs typeface="+mn-cs"/>
              </a:rPr>
              <a:t>pagsamba</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mananampalataya</a:t>
            </a:r>
            <a:r>
              <a:rPr lang="en-PH" sz="1200" b="0" i="0" kern="1200" dirty="0">
                <a:solidFill>
                  <a:schemeClr val="tx1"/>
                </a:solidFill>
                <a:effectLst/>
                <a:latin typeface="+mn-lt"/>
                <a:ea typeface="+mn-ea"/>
                <a:cs typeface="+mn-cs"/>
              </a:rPr>
              <a:t>.</a:t>
            </a:r>
          </a:p>
          <a:p>
            <a:pPr lvl="0"/>
            <a:r>
              <a:rPr lang="en-PH" sz="1200" b="0" i="0" kern="1200" dirty="0" err="1">
                <a:solidFill>
                  <a:schemeClr val="tx1"/>
                </a:solidFill>
                <a:effectLst/>
                <a:latin typeface="+mn-lt"/>
                <a:ea typeface="+mn-ea"/>
                <a:cs typeface="+mn-cs"/>
              </a:rPr>
              <a:t>Makilala</a:t>
            </a:r>
            <a:r>
              <a:rPr lang="en-PH" sz="1200" b="0" i="0" kern="1200" dirty="0">
                <a:solidFill>
                  <a:schemeClr val="tx1"/>
                </a:solidFill>
                <a:effectLst/>
                <a:latin typeface="+mn-lt"/>
                <a:ea typeface="+mn-ea"/>
                <a:cs typeface="+mn-cs"/>
              </a:rPr>
              <a:t> ang </a:t>
            </a:r>
            <a:r>
              <a:rPr lang="en-PH" sz="1200" b="0" i="0" kern="1200" dirty="0" err="1">
                <a:solidFill>
                  <a:schemeClr val="tx1"/>
                </a:solidFill>
                <a:effectLst/>
                <a:latin typeface="+mn-lt"/>
                <a:ea typeface="+mn-ea"/>
                <a:cs typeface="+mn-cs"/>
              </a:rPr>
              <a:t>sariling</a:t>
            </a:r>
            <a:r>
              <a:rPr lang="en-PH" sz="1200" b="0" i="0" kern="1200" dirty="0">
                <a:solidFill>
                  <a:schemeClr val="tx1"/>
                </a:solidFill>
                <a:effectLst/>
                <a:latin typeface="+mn-lt"/>
                <a:ea typeface="+mn-ea"/>
                <a:cs typeface="+mn-cs"/>
              </a:rPr>
              <a:t> </a:t>
            </a:r>
            <a:r>
              <a:rPr lang="en-PH" sz="1200" b="1" i="0" kern="1200" dirty="0" err="1">
                <a:solidFill>
                  <a:schemeClr val="tx1"/>
                </a:solidFill>
                <a:effectLst/>
                <a:latin typeface="+mn-lt"/>
                <a:ea typeface="+mn-ea"/>
                <a:cs typeface="+mn-cs"/>
              </a:rPr>
              <a:t>pananagutan</a:t>
            </a:r>
            <a:r>
              <a:rPr lang="en-PH" sz="1200" b="1" i="0" kern="1200" dirty="0">
                <a:solidFill>
                  <a:schemeClr val="tx1"/>
                </a:solidFill>
                <a:effectLst/>
                <a:latin typeface="+mn-lt"/>
                <a:ea typeface="+mn-ea"/>
                <a:cs typeface="+mn-cs"/>
              </a:rPr>
              <a:t> at </a:t>
            </a:r>
            <a:r>
              <a:rPr lang="en-PH" sz="1200" b="1" i="0" kern="1200" dirty="0" err="1">
                <a:solidFill>
                  <a:schemeClr val="tx1"/>
                </a:solidFill>
                <a:effectLst/>
                <a:latin typeface="+mn-lt"/>
                <a:ea typeface="+mn-ea"/>
                <a:cs typeface="+mn-cs"/>
              </a:rPr>
              <a:t>pagganyak</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church worship service.</a:t>
            </a:r>
          </a:p>
          <a:p>
            <a:pPr lvl="0"/>
            <a:r>
              <a:rPr lang="en-PH" sz="1200" b="0" i="0" kern="1200" dirty="0" err="1">
                <a:solidFill>
                  <a:schemeClr val="tx1"/>
                </a:solidFill>
                <a:effectLst/>
                <a:latin typeface="+mn-lt"/>
                <a:ea typeface="+mn-ea"/>
                <a:cs typeface="+mn-cs"/>
              </a:rPr>
              <a:t>Matukoy</a:t>
            </a:r>
            <a:r>
              <a:rPr lang="en-PH" sz="1200" b="0" i="0" kern="1200" dirty="0">
                <a:solidFill>
                  <a:schemeClr val="tx1"/>
                </a:solidFill>
                <a:effectLst/>
                <a:latin typeface="+mn-lt"/>
                <a:ea typeface="+mn-ea"/>
                <a:cs typeface="+mn-cs"/>
              </a:rPr>
              <a:t> ang </a:t>
            </a:r>
            <a:r>
              <a:rPr lang="en-PH" sz="1200" b="1" i="0" kern="1200" dirty="0" err="1">
                <a:solidFill>
                  <a:schemeClr val="tx1"/>
                </a:solidFill>
                <a:effectLst/>
                <a:latin typeface="+mn-lt"/>
                <a:ea typeface="+mn-ea"/>
                <a:cs typeface="+mn-cs"/>
              </a:rPr>
              <a:t>mga</a:t>
            </a:r>
            <a:r>
              <a:rPr lang="en-PH" sz="1200" b="1" i="0" kern="1200" dirty="0">
                <a:solidFill>
                  <a:schemeClr val="tx1"/>
                </a:solidFill>
                <a:effectLst/>
                <a:latin typeface="+mn-lt"/>
                <a:ea typeface="+mn-ea"/>
                <a:cs typeface="+mn-cs"/>
              </a:rPr>
              <a:t> </a:t>
            </a:r>
            <a:r>
              <a:rPr lang="en-PH" sz="1200" b="1" i="0" kern="1200" dirty="0" err="1">
                <a:solidFill>
                  <a:schemeClr val="tx1"/>
                </a:solidFill>
                <a:effectLst/>
                <a:latin typeface="+mn-lt"/>
                <a:ea typeface="+mn-ea"/>
                <a:cs typeface="+mn-cs"/>
              </a:rPr>
              <a:t>palusot</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mananampalataya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'di </a:t>
            </a:r>
            <a:r>
              <a:rPr lang="en-PH" sz="1200" b="0" i="0" kern="1200" dirty="0" err="1">
                <a:solidFill>
                  <a:schemeClr val="tx1"/>
                </a:solidFill>
                <a:effectLst/>
                <a:latin typeface="+mn-lt"/>
                <a:ea typeface="+mn-ea"/>
                <a:cs typeface="+mn-cs"/>
              </a:rPr>
              <a:t>pagdalo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church worship services.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Pagbukas</a:t>
            </a:r>
            <a:r>
              <a:rPr dirty="0"/>
              <a:t> ng lesson, </a:t>
            </a:r>
            <a:r>
              <a:rPr dirty="0" err="1"/>
              <a:t>basahin</a:t>
            </a:r>
            <a:r>
              <a:rPr dirty="0"/>
              <a:t> ang </a:t>
            </a:r>
            <a:r>
              <a:rPr dirty="0" err="1"/>
              <a:t>Hebreo</a:t>
            </a:r>
            <a:r>
              <a:rPr dirty="0"/>
              <a:t> 10:25 </a:t>
            </a:r>
            <a:r>
              <a:rPr dirty="0" err="1"/>
              <a:t>nang</a:t>
            </a:r>
            <a:r>
              <a:rPr dirty="0"/>
              <a:t> </a:t>
            </a:r>
            <a:r>
              <a:rPr dirty="0" err="1"/>
              <a:t>sabay-sabay</a:t>
            </a:r>
            <a:r>
              <a:rPr dirty="0"/>
              <a:t>. </a:t>
            </a:r>
            <a:endParaRPr lang="en-US" dirty="0"/>
          </a:p>
          <a:p>
            <a:r>
              <a:rPr dirty="0"/>
              <a:t>Hindi pa </a:t>
            </a:r>
            <a:r>
              <a:rPr dirty="0" err="1"/>
              <a:t>ipakita</a:t>
            </a:r>
            <a:r>
              <a:rPr dirty="0"/>
              <a:t> ang 4-P breakdown — saving the surprise for slide 7. </a:t>
            </a:r>
            <a:endParaRPr lang="en-US" dirty="0"/>
          </a:p>
          <a:p>
            <a:r>
              <a:rPr dirty="0"/>
              <a:t>Goal here: anchor </a:t>
            </a:r>
            <a:r>
              <a:rPr dirty="0" err="1"/>
              <a:t>sa</a:t>
            </a:r>
            <a:r>
              <a:rPr dirty="0"/>
              <a:t> puso ng disciples ang exact wording ng verse — kasi </a:t>
            </a:r>
            <a:r>
              <a:rPr dirty="0" err="1"/>
              <a:t>ito</a:t>
            </a:r>
            <a:r>
              <a:rPr dirty="0"/>
              <a:t> ang me-memorize </a:t>
            </a:r>
            <a:r>
              <a:rPr dirty="0" err="1"/>
              <a:t>nila</a:t>
            </a:r>
            <a:r>
              <a:rPr dirty="0"/>
              <a:t> </a:t>
            </a:r>
            <a:r>
              <a:rPr dirty="0" err="1"/>
              <a:t>sa</a:t>
            </a:r>
            <a:r>
              <a:rPr dirty="0"/>
              <a:t> </a:t>
            </a:r>
            <a:r>
              <a:rPr dirty="0" err="1"/>
              <a:t>loob</a:t>
            </a:r>
            <a:r>
              <a:rPr dirty="0"/>
              <a:t> ng </a:t>
            </a:r>
            <a:r>
              <a:rPr dirty="0" err="1"/>
              <a:t>linggo</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PUKAW step 1 (L6 callback, 1.5 min): </a:t>
            </a:r>
            <a:r>
              <a:rPr dirty="0" err="1"/>
              <a:t>magpa</a:t>
            </a:r>
            <a:r>
              <a:rPr dirty="0"/>
              <a:t>-share ng 1-2 </a:t>
            </a:r>
            <a:r>
              <a:rPr dirty="0" err="1"/>
              <a:t>kapatid</a:t>
            </a:r>
            <a:r>
              <a:rPr dirty="0"/>
              <a:t> lang — </a:t>
            </a:r>
            <a:r>
              <a:rPr dirty="0" err="1"/>
              <a:t>hindi</a:t>
            </a:r>
            <a:r>
              <a:rPr dirty="0"/>
              <a:t> </a:t>
            </a:r>
            <a:r>
              <a:rPr dirty="0" err="1"/>
              <a:t>buong</a:t>
            </a:r>
            <a:r>
              <a:rPr dirty="0"/>
              <a:t> round. </a:t>
            </a:r>
            <a:endParaRPr lang="en-US" dirty="0"/>
          </a:p>
          <a:p>
            <a:r>
              <a:rPr dirty="0"/>
              <a:t>Step 2 (1-10 snapshot, 2 min): </a:t>
            </a:r>
            <a:r>
              <a:rPr dirty="0" err="1"/>
              <a:t>hindi</a:t>
            </a:r>
            <a:r>
              <a:rPr dirty="0"/>
              <a:t> </a:t>
            </a:r>
            <a:r>
              <a:rPr dirty="0" err="1"/>
              <a:t>shi</a:t>
            </a:r>
            <a:r>
              <a:rPr dirty="0"/>
              <a:t>-share ang </a:t>
            </a:r>
            <a:r>
              <a:rPr dirty="0" err="1"/>
              <a:t>numero</a:t>
            </a:r>
            <a:r>
              <a:rPr dirty="0"/>
              <a:t> </a:t>
            </a:r>
            <a:r>
              <a:rPr dirty="0" err="1"/>
              <a:t>sa</a:t>
            </a:r>
            <a:r>
              <a:rPr dirty="0"/>
              <a:t> LCG </a:t>
            </a:r>
            <a:r>
              <a:rPr dirty="0" err="1"/>
              <a:t>ngayon</a:t>
            </a:r>
            <a:r>
              <a:rPr dirty="0"/>
              <a:t>. </a:t>
            </a:r>
            <a:endParaRPr lang="en-US" dirty="0"/>
          </a:p>
          <a:p>
            <a:pPr marL="171450" indent="-171450">
              <a:buFont typeface="Arial" panose="020B0604020202020204" pitchFamily="34" charset="0"/>
              <a:buChar char="•"/>
            </a:pPr>
            <a:r>
              <a:rPr dirty="0"/>
              <a:t>Para </a:t>
            </a:r>
            <a:r>
              <a:rPr dirty="0" err="1"/>
              <a:t>sa</a:t>
            </a:r>
            <a:r>
              <a:rPr dirty="0"/>
              <a:t> </a:t>
            </a:r>
            <a:r>
              <a:rPr dirty="0" err="1"/>
              <a:t>sarili</a:t>
            </a:r>
            <a:r>
              <a:rPr dirty="0"/>
              <a:t> lang </a:t>
            </a:r>
            <a:r>
              <a:rPr dirty="0" err="1"/>
              <a:t>muna</a:t>
            </a:r>
            <a:r>
              <a:rPr dirty="0"/>
              <a:t>. </a:t>
            </a:r>
            <a:endParaRPr lang="en-US" dirty="0"/>
          </a:p>
          <a:p>
            <a:r>
              <a:rPr dirty="0"/>
              <a:t>Bahala kayo </a:t>
            </a:r>
            <a:r>
              <a:rPr dirty="0" err="1"/>
              <a:t>i</a:t>
            </a:r>
            <a:r>
              <a:rPr dirty="0"/>
              <a:t>-share later, </a:t>
            </a:r>
            <a:r>
              <a:rPr dirty="0" err="1"/>
              <a:t>pero</a:t>
            </a:r>
            <a:r>
              <a:rPr dirty="0"/>
              <a:t> </a:t>
            </a:r>
            <a:r>
              <a:rPr dirty="0" err="1"/>
              <a:t>hindi</a:t>
            </a:r>
            <a:r>
              <a:rPr dirty="0"/>
              <a:t> requirement. </a:t>
            </a:r>
            <a:endParaRPr lang="en-US" dirty="0"/>
          </a:p>
          <a:p>
            <a:r>
              <a:rPr dirty="0"/>
              <a:t>Watchout: </a:t>
            </a:r>
            <a:r>
              <a:rPr dirty="0" err="1"/>
              <a:t>huwag</a:t>
            </a:r>
            <a:r>
              <a:rPr dirty="0"/>
              <a:t> </a:t>
            </a:r>
            <a:r>
              <a:rPr dirty="0" err="1"/>
              <a:t>tanungin</a:t>
            </a:r>
            <a:r>
              <a:rPr dirty="0"/>
              <a:t> ang </a:t>
            </a:r>
            <a:r>
              <a:rPr dirty="0" err="1"/>
              <a:t>numero</a:t>
            </a:r>
            <a:r>
              <a:rPr dirty="0"/>
              <a:t> </a:t>
            </a:r>
            <a:r>
              <a:rPr dirty="0" err="1"/>
              <a:t>sa</a:t>
            </a:r>
            <a:r>
              <a:rPr dirty="0"/>
              <a:t> </a:t>
            </a:r>
            <a:r>
              <a:rPr dirty="0" err="1"/>
              <a:t>harap</a:t>
            </a:r>
            <a:r>
              <a:rPr dirty="0"/>
              <a:t> — </a:t>
            </a:r>
            <a:r>
              <a:rPr dirty="0" err="1"/>
              <a:t>humihiya</a:t>
            </a:r>
            <a:r>
              <a:rPr dirty="0"/>
              <a:t> </a:t>
            </a:r>
            <a:r>
              <a:rPr dirty="0" err="1"/>
              <a:t>kapag</a:t>
            </a:r>
            <a:r>
              <a:rPr dirty="0"/>
              <a:t> </a:t>
            </a:r>
            <a:r>
              <a:rPr dirty="0" err="1"/>
              <a:t>mababa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PUKAW step 3 (Image-Pick, 4.5 min): </a:t>
            </a:r>
            <a:r>
              <a:rPr dirty="0" err="1"/>
              <a:t>pumili</a:t>
            </a:r>
            <a:r>
              <a:rPr dirty="0"/>
              <a:t> ng isa, </a:t>
            </a:r>
            <a:r>
              <a:rPr dirty="0" err="1"/>
              <a:t>isulat</a:t>
            </a:r>
            <a:r>
              <a:rPr dirty="0"/>
              <a:t> ang reason. </a:t>
            </a:r>
            <a:endParaRPr lang="en-US" dirty="0"/>
          </a:p>
          <a:p>
            <a:r>
              <a:rPr dirty="0" err="1"/>
              <a:t>Pagkatapos</a:t>
            </a:r>
            <a:r>
              <a:rPr dirty="0"/>
              <a:t> ng 2-3 min ng silent writing, </a:t>
            </a:r>
            <a:r>
              <a:rPr dirty="0" err="1">
                <a:solidFill>
                  <a:srgbClr val="FF0000"/>
                </a:solidFill>
              </a:rPr>
              <a:t>magpa</a:t>
            </a:r>
            <a:r>
              <a:rPr dirty="0">
                <a:solidFill>
                  <a:srgbClr val="FF0000"/>
                </a:solidFill>
              </a:rPr>
              <a:t>-share ng 2-3 </a:t>
            </a:r>
            <a:r>
              <a:rPr dirty="0" err="1">
                <a:solidFill>
                  <a:srgbClr val="FF0000"/>
                </a:solidFill>
              </a:rPr>
              <a:t>kapatid</a:t>
            </a:r>
            <a:r>
              <a:rPr dirty="0">
                <a:solidFill>
                  <a:srgbClr val="FF0000"/>
                </a:solidFill>
              </a:rPr>
              <a:t>. </a:t>
            </a:r>
            <a:endParaRPr lang="en-US" dirty="0">
              <a:solidFill>
                <a:srgbClr val="FF0000"/>
              </a:solidFill>
            </a:endParaRPr>
          </a:p>
          <a:p>
            <a:r>
              <a:rPr dirty="0" err="1"/>
              <a:t>Iwasan</a:t>
            </a:r>
            <a:r>
              <a:rPr dirty="0"/>
              <a:t> ang </a:t>
            </a:r>
            <a:r>
              <a:rPr dirty="0" err="1"/>
              <a:t>pag</a:t>
            </a:r>
            <a:r>
              <a:rPr dirty="0"/>
              <a:t>-judge </a:t>
            </a:r>
            <a:r>
              <a:rPr dirty="0" err="1"/>
              <a:t>sa</a:t>
            </a:r>
            <a:r>
              <a:rPr dirty="0"/>
              <a:t> </a:t>
            </a:r>
            <a:r>
              <a:rPr dirty="0" err="1"/>
              <a:t>sagot</a:t>
            </a:r>
            <a:r>
              <a:rPr dirty="0"/>
              <a:t>. </a:t>
            </a:r>
            <a:endParaRPr lang="en-US" dirty="0"/>
          </a:p>
          <a:p>
            <a:r>
              <a:rPr dirty="0"/>
              <a:t>Kahit 'spiritual grocery store' ay </a:t>
            </a:r>
            <a:r>
              <a:rPr dirty="0" err="1"/>
              <a:t>magbibigay</a:t>
            </a:r>
            <a:r>
              <a:rPr dirty="0"/>
              <a:t> ng </a:t>
            </a:r>
            <a:r>
              <a:rPr dirty="0" err="1"/>
              <a:t>pintuan</a:t>
            </a:r>
            <a:r>
              <a:rPr dirty="0"/>
              <a:t> — </a:t>
            </a:r>
            <a:r>
              <a:rPr dirty="0" err="1"/>
              <a:t>hindi</a:t>
            </a:r>
            <a:r>
              <a:rPr dirty="0"/>
              <a:t> </a:t>
            </a:r>
            <a:r>
              <a:rPr dirty="0" err="1"/>
              <a:t>mo</a:t>
            </a:r>
            <a:r>
              <a:rPr dirty="0"/>
              <a:t> </a:t>
            </a:r>
            <a:r>
              <a:rPr dirty="0" err="1"/>
              <a:t>kailangang</a:t>
            </a:r>
            <a:r>
              <a:rPr dirty="0"/>
              <a:t> </a:t>
            </a:r>
            <a:r>
              <a:rPr dirty="0" err="1"/>
              <a:t>sabihing</a:t>
            </a:r>
            <a:r>
              <a:rPr dirty="0"/>
              <a:t> </a:t>
            </a:r>
            <a:r>
              <a:rPr dirty="0" err="1"/>
              <a:t>mali</a:t>
            </a:r>
            <a:r>
              <a:rPr dirty="0"/>
              <a:t>. </a:t>
            </a:r>
            <a:endParaRPr lang="en-US" dirty="0"/>
          </a:p>
          <a:p>
            <a:r>
              <a:rPr dirty="0"/>
              <a:t>Critical observation duty: kung may </a:t>
            </a:r>
            <a:r>
              <a:rPr dirty="0" err="1"/>
              <a:t>pumili</a:t>
            </a:r>
            <a:r>
              <a:rPr dirty="0"/>
              <a:t> ng grocery + </a:t>
            </a:r>
            <a:r>
              <a:rPr dirty="0" err="1"/>
              <a:t>hindi</a:t>
            </a:r>
            <a:r>
              <a:rPr dirty="0"/>
              <a:t> </a:t>
            </a:r>
            <a:r>
              <a:rPr dirty="0" err="1"/>
              <a:t>na</a:t>
            </a:r>
            <a:r>
              <a:rPr dirty="0"/>
              <a:t>-redirect, </a:t>
            </a:r>
            <a:r>
              <a:rPr dirty="0" err="1"/>
              <a:t>i</a:t>
            </a:r>
            <a:r>
              <a:rPr dirty="0"/>
              <a:t>-flag </a:t>
            </a:r>
            <a:r>
              <a:rPr dirty="0" err="1"/>
              <a:t>yung</a:t>
            </a:r>
            <a:r>
              <a:rPr dirty="0"/>
              <a:t> name </a:t>
            </a:r>
            <a:r>
              <a:rPr dirty="0" err="1"/>
              <a:t>sa</a:t>
            </a:r>
            <a:r>
              <a:rPr dirty="0"/>
              <a:t> intern.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1 (Big Idea, 3 min): </a:t>
            </a:r>
            <a:r>
              <a:rPr dirty="0" err="1"/>
              <a:t>sabay-sabay</a:t>
            </a:r>
            <a:r>
              <a:rPr dirty="0"/>
              <a:t> </a:t>
            </a:r>
            <a:r>
              <a:rPr dirty="0" err="1"/>
              <a:t>basahin</a:t>
            </a:r>
            <a:r>
              <a:rPr dirty="0"/>
              <a:t>. </a:t>
            </a:r>
            <a:endParaRPr lang="en-US" dirty="0"/>
          </a:p>
          <a:p>
            <a:r>
              <a:rPr dirty="0" err="1"/>
              <a:t>Pagkatapos</a:t>
            </a:r>
            <a:r>
              <a:rPr dirty="0"/>
              <a:t>: 'Bago natin </a:t>
            </a:r>
            <a:r>
              <a:rPr dirty="0" err="1"/>
              <a:t>kunin</a:t>
            </a:r>
            <a:r>
              <a:rPr dirty="0"/>
              <a:t> ang puso ng </a:t>
            </a:r>
            <a:r>
              <a:rPr dirty="0" err="1"/>
              <a:t>Hebreo</a:t>
            </a:r>
            <a:r>
              <a:rPr dirty="0"/>
              <a:t> 10:25, </a:t>
            </a:r>
            <a:r>
              <a:rPr dirty="0" err="1"/>
              <a:t>maikling</a:t>
            </a:r>
            <a:r>
              <a:rPr dirty="0"/>
              <a:t> </a:t>
            </a:r>
            <a:r>
              <a:rPr dirty="0" err="1"/>
              <a:t>kuwento</a:t>
            </a:r>
            <a:r>
              <a:rPr dirty="0"/>
              <a:t> </a:t>
            </a:r>
            <a:r>
              <a:rPr dirty="0" err="1"/>
              <a:t>muna</a:t>
            </a:r>
            <a:r>
              <a:rPr dirty="0"/>
              <a:t>...' — transition into Pang-CAT joke. </a:t>
            </a:r>
            <a:endParaRPr lang="en-US" dirty="0"/>
          </a:p>
          <a:p>
            <a:r>
              <a:rPr dirty="0"/>
              <a:t>Ang Big Idea ay </a:t>
            </a:r>
            <a:r>
              <a:rPr dirty="0" err="1"/>
              <a:t>magkasabay</a:t>
            </a:r>
            <a:r>
              <a:rPr dirty="0"/>
              <a:t>: </a:t>
            </a:r>
            <a:r>
              <a:rPr dirty="0" err="1"/>
              <a:t>pangangailangan</a:t>
            </a:r>
            <a:r>
              <a:rPr dirty="0"/>
              <a:t> AT </a:t>
            </a:r>
            <a:r>
              <a:rPr dirty="0" err="1"/>
              <a:t>pananagutan</a:t>
            </a:r>
            <a:r>
              <a:rPr dirty="0"/>
              <a:t>. Hindi </a:t>
            </a:r>
            <a:r>
              <a:rPr dirty="0" err="1"/>
              <a:t>alis</a:t>
            </a:r>
            <a:r>
              <a:rPr dirty="0"/>
              <a:t>-isa.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1 (Pang-CAT, ~60-90 sec lang): </a:t>
            </a:r>
            <a:r>
              <a:rPr dirty="0" err="1"/>
              <a:t>tapikin</a:t>
            </a:r>
            <a:r>
              <a:rPr dirty="0"/>
              <a:t> lang, </a:t>
            </a:r>
            <a:r>
              <a:rPr dirty="0" err="1"/>
              <a:t>huwag</a:t>
            </a:r>
            <a:r>
              <a:rPr dirty="0"/>
              <a:t> pa-drama-in. </a:t>
            </a:r>
            <a:endParaRPr lang="en-US" dirty="0"/>
          </a:p>
          <a:p>
            <a:endParaRPr lang="en-US" dirty="0"/>
          </a:p>
          <a:p>
            <a:r>
              <a:rPr lang="en-PH" sz="1200" b="0" i="0" kern="1200" dirty="0">
                <a:solidFill>
                  <a:schemeClr val="tx1"/>
                </a:solidFill>
                <a:effectLst/>
                <a:latin typeface="+mn-lt"/>
                <a:ea typeface="+mn-ea"/>
                <a:cs typeface="+mn-cs"/>
              </a:rPr>
              <a:t>Minsan, may </a:t>
            </a:r>
            <a:r>
              <a:rPr lang="en-PH" sz="1200" b="0" i="0" kern="1200" dirty="0" err="1">
                <a:solidFill>
                  <a:schemeClr val="tx1"/>
                </a:solidFill>
                <a:effectLst/>
                <a:latin typeface="+mn-lt"/>
                <a:ea typeface="+mn-ea"/>
                <a:cs typeface="+mn-cs"/>
              </a:rPr>
              <a:t>tatlong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magkakaibigang</a:t>
            </a:r>
            <a:r>
              <a:rPr lang="en-PH" sz="1200" b="0" i="0" kern="1200" dirty="0">
                <a:solidFill>
                  <a:schemeClr val="tx1"/>
                </a:solidFill>
                <a:effectLst/>
                <a:latin typeface="+mn-lt"/>
                <a:ea typeface="+mn-ea"/>
                <a:cs typeface="+mn-cs"/>
              </a:rPr>
              <a:t> pastor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nagkuwentuhan</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tungkol</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common problem </a:t>
            </a:r>
            <a:r>
              <a:rPr lang="en-PH" sz="1200" b="0" i="0" kern="1200" dirty="0" err="1">
                <a:solidFill>
                  <a:schemeClr val="tx1"/>
                </a:solidFill>
                <a:effectLst/>
                <a:latin typeface="+mn-lt"/>
                <a:ea typeface="+mn-ea"/>
                <a:cs typeface="+mn-cs"/>
              </a:rPr>
              <a:t>nila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church – ang notorious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“PANG-CAT”,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pusang</a:t>
            </a:r>
            <a:r>
              <a:rPr lang="en-PH" sz="1200" b="0" i="0" kern="1200" dirty="0">
                <a:solidFill>
                  <a:schemeClr val="tx1"/>
                </a:solidFill>
                <a:effectLst/>
                <a:latin typeface="+mn-lt"/>
                <a:ea typeface="+mn-ea"/>
                <a:cs typeface="+mn-cs"/>
              </a:rPr>
              <a:t>-gala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mahilig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magwalâ</a:t>
            </a:r>
            <a:r>
              <a:rPr lang="en-PH" sz="1200" b="0" i="0" kern="1200" dirty="0">
                <a:solidFill>
                  <a:schemeClr val="tx1"/>
                </a:solidFill>
                <a:effectLst/>
                <a:latin typeface="+mn-lt"/>
                <a:ea typeface="+mn-ea"/>
                <a:cs typeface="+mn-cs"/>
              </a:rPr>
              <a:t>! Madalas </a:t>
            </a:r>
            <a:r>
              <a:rPr lang="en-PH" sz="1200" b="0" i="0" kern="1200" dirty="0" err="1">
                <a:solidFill>
                  <a:schemeClr val="tx1"/>
                </a:solidFill>
                <a:effectLst/>
                <a:latin typeface="+mn-lt"/>
                <a:ea typeface="+mn-ea"/>
                <a:cs typeface="+mn-cs"/>
              </a:rPr>
              <a:t>nilang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sirain</a:t>
            </a:r>
            <a:r>
              <a:rPr lang="en-PH" sz="1200" b="0" i="0" kern="1200" dirty="0">
                <a:solidFill>
                  <a:schemeClr val="tx1"/>
                </a:solidFill>
                <a:effectLst/>
                <a:latin typeface="+mn-lt"/>
                <a:ea typeface="+mn-ea"/>
                <a:cs typeface="+mn-cs"/>
              </a:rPr>
              <a:t> ang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church equipment at </a:t>
            </a:r>
            <a:r>
              <a:rPr lang="en-PH" sz="1200" b="0" i="0" kern="1200" dirty="0" err="1">
                <a:solidFill>
                  <a:schemeClr val="tx1"/>
                </a:solidFill>
                <a:effectLst/>
                <a:latin typeface="+mn-lt"/>
                <a:ea typeface="+mn-ea"/>
                <a:cs typeface="+mn-cs"/>
              </a:rPr>
              <a:t>kursonadang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dumumi</a:t>
            </a:r>
            <a:r>
              <a:rPr lang="en-PH" sz="1200" b="0" i="0" kern="1200" dirty="0">
                <a:solidFill>
                  <a:schemeClr val="tx1"/>
                </a:solidFill>
                <a:effectLst/>
                <a:latin typeface="+mn-lt"/>
                <a:ea typeface="+mn-ea"/>
                <a:cs typeface="+mn-cs"/>
              </a:rPr>
              <a:t> kung </a:t>
            </a:r>
            <a:r>
              <a:rPr lang="en-PH" sz="1200" b="0" i="0" kern="1200" dirty="0" err="1">
                <a:solidFill>
                  <a:schemeClr val="tx1"/>
                </a:solidFill>
                <a:effectLst/>
                <a:latin typeface="+mn-lt"/>
                <a:ea typeface="+mn-ea"/>
                <a:cs typeface="+mn-cs"/>
              </a:rPr>
              <a:t>saan-saan</a:t>
            </a:r>
            <a:r>
              <a:rPr lang="en-PH" sz="1200" b="0" i="0" kern="1200" dirty="0">
                <a:solidFill>
                  <a:schemeClr val="tx1"/>
                </a:solidFill>
                <a:effectLst/>
                <a:latin typeface="+mn-lt"/>
                <a:ea typeface="+mn-ea"/>
                <a:cs typeface="+mn-cs"/>
              </a:rPr>
              <a:t>. </a:t>
            </a:r>
          </a:p>
          <a:p>
            <a:pPr lvl="0"/>
            <a:r>
              <a:rPr lang="en-PH" sz="1200" b="0" i="0" kern="1200" dirty="0">
                <a:solidFill>
                  <a:schemeClr val="tx1"/>
                </a:solidFill>
                <a:effectLst/>
                <a:latin typeface="+mn-lt"/>
                <a:ea typeface="+mn-ea"/>
                <a:cs typeface="+mn-cs"/>
              </a:rPr>
              <a:t>“</a:t>
            </a:r>
            <a:r>
              <a:rPr lang="en-PH" sz="1200" b="0" i="0" kern="1200" dirty="0" err="1">
                <a:solidFill>
                  <a:schemeClr val="tx1"/>
                </a:solidFill>
                <a:effectLst/>
                <a:latin typeface="+mn-lt"/>
                <a:ea typeface="+mn-ea"/>
                <a:cs typeface="+mn-cs"/>
              </a:rPr>
              <a:t>Nagbibigay</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ako</a:t>
            </a:r>
            <a:r>
              <a:rPr lang="en-PH" sz="1200" b="0" i="0" kern="1200" dirty="0">
                <a:solidFill>
                  <a:schemeClr val="tx1"/>
                </a:solidFill>
                <a:effectLst/>
                <a:latin typeface="+mn-lt"/>
                <a:ea typeface="+mn-ea"/>
                <a:cs typeface="+mn-cs"/>
              </a:rPr>
              <a:t> ng cash incentives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members para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bawat</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mahuhuli</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nilang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pusa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kaso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takot</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silang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manghuli</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dahil</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pumapalag</a:t>
            </a:r>
            <a:r>
              <a:rPr lang="en-PH" sz="1200" b="0" i="0" kern="1200" dirty="0">
                <a:solidFill>
                  <a:schemeClr val="tx1"/>
                </a:solidFill>
                <a:effectLst/>
                <a:latin typeface="+mn-lt"/>
                <a:ea typeface="+mn-ea"/>
                <a:cs typeface="+mn-cs"/>
              </a:rPr>
              <a:t> kaya ’</a:t>
            </a:r>
            <a:r>
              <a:rPr lang="en-PH" sz="1200" b="0" i="0" kern="1200" dirty="0" err="1">
                <a:solidFill>
                  <a:schemeClr val="tx1"/>
                </a:solidFill>
                <a:effectLst/>
                <a:latin typeface="+mn-lt"/>
                <a:ea typeface="+mn-ea"/>
                <a:cs typeface="+mn-cs"/>
              </a:rPr>
              <a:t>wa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epek</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sambit</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unang</a:t>
            </a:r>
            <a:r>
              <a:rPr lang="en-PH" sz="1200" b="0" i="0" kern="1200" dirty="0">
                <a:solidFill>
                  <a:schemeClr val="tx1"/>
                </a:solidFill>
                <a:effectLst/>
                <a:latin typeface="+mn-lt"/>
                <a:ea typeface="+mn-ea"/>
                <a:cs typeface="+mn-cs"/>
              </a:rPr>
              <a:t> pastor. “</a:t>
            </a:r>
            <a:r>
              <a:rPr lang="en-PH" sz="1200" b="0" i="0" kern="1200" dirty="0" err="1">
                <a:solidFill>
                  <a:schemeClr val="tx1"/>
                </a:solidFill>
                <a:effectLst/>
                <a:latin typeface="+mn-lt"/>
                <a:ea typeface="+mn-ea"/>
                <a:cs typeface="+mn-cs"/>
              </a:rPr>
              <a:t>Gumawa</a:t>
            </a:r>
            <a:r>
              <a:rPr lang="en-PH" sz="1200" b="0" i="0" kern="1200" dirty="0">
                <a:solidFill>
                  <a:schemeClr val="tx1"/>
                </a:solidFill>
                <a:effectLst/>
                <a:latin typeface="+mn-lt"/>
                <a:ea typeface="+mn-ea"/>
                <a:cs typeface="+mn-cs"/>
              </a:rPr>
              <a:t> kami ng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trap para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pusa</a:t>
            </a:r>
            <a:r>
              <a:rPr lang="en-PH" sz="1200" b="0" i="0" kern="1200" dirty="0">
                <a:solidFill>
                  <a:schemeClr val="tx1"/>
                </a:solidFill>
                <a:effectLst/>
                <a:latin typeface="+mn-lt"/>
                <a:ea typeface="+mn-ea"/>
                <a:cs typeface="+mn-cs"/>
              </a:rPr>
              <a:t> at </a:t>
            </a:r>
            <a:r>
              <a:rPr lang="en-PH" sz="1200" b="0" i="0" kern="1200" dirty="0" err="1">
                <a:solidFill>
                  <a:schemeClr val="tx1"/>
                </a:solidFill>
                <a:effectLst/>
                <a:latin typeface="+mn-lt"/>
                <a:ea typeface="+mn-ea"/>
                <a:cs typeface="+mn-cs"/>
              </a:rPr>
              <a:t>nang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mahuli</a:t>
            </a:r>
            <a:r>
              <a:rPr lang="en-PH" sz="1200" b="0" i="0" kern="1200" dirty="0">
                <a:solidFill>
                  <a:schemeClr val="tx1"/>
                </a:solidFill>
                <a:effectLst/>
                <a:latin typeface="+mn-lt"/>
                <a:ea typeface="+mn-ea"/>
                <a:cs typeface="+mn-cs"/>
              </a:rPr>
              <a:t> ang </a:t>
            </a:r>
            <a:r>
              <a:rPr lang="en-PH" sz="1200" b="0" i="0" kern="1200" dirty="0" err="1">
                <a:solidFill>
                  <a:schemeClr val="tx1"/>
                </a:solidFill>
                <a:effectLst/>
                <a:latin typeface="+mn-lt"/>
                <a:ea typeface="+mn-ea"/>
                <a:cs typeface="+mn-cs"/>
              </a:rPr>
              <a:t>mga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salarin</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inilagaw</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namin</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kabilang</a:t>
            </a:r>
            <a:r>
              <a:rPr lang="en-PH" sz="1200" b="0" i="0" kern="1200" dirty="0">
                <a:solidFill>
                  <a:schemeClr val="tx1"/>
                </a:solidFill>
                <a:effectLst/>
                <a:latin typeface="+mn-lt"/>
                <a:ea typeface="+mn-ea"/>
                <a:cs typeface="+mn-cs"/>
              </a:rPr>
              <a:t> barangay... </a:t>
            </a:r>
            <a:r>
              <a:rPr lang="en-PH" sz="1200" b="0" i="0" kern="1200" dirty="0" err="1">
                <a:solidFill>
                  <a:schemeClr val="tx1"/>
                </a:solidFill>
                <a:effectLst/>
                <a:latin typeface="+mn-lt"/>
                <a:ea typeface="+mn-ea"/>
                <a:cs typeface="+mn-cs"/>
              </a:rPr>
              <a:t>kaso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nga</a:t>
            </a:r>
            <a:r>
              <a:rPr lang="en-PH" sz="1200" b="0" i="0" kern="1200" dirty="0">
                <a:solidFill>
                  <a:schemeClr val="tx1"/>
                </a:solidFill>
                <a:effectLst/>
                <a:latin typeface="+mn-lt"/>
                <a:ea typeface="+mn-ea"/>
                <a:cs typeface="+mn-cs"/>
              </a:rPr>
              <a:t> lang </a:t>
            </a:r>
            <a:r>
              <a:rPr lang="en-PH" sz="1200" b="0" i="0" kern="1200" dirty="0" err="1">
                <a:solidFill>
                  <a:schemeClr val="tx1"/>
                </a:solidFill>
                <a:effectLst/>
                <a:latin typeface="+mn-lt"/>
                <a:ea typeface="+mn-ea"/>
                <a:cs typeface="+mn-cs"/>
              </a:rPr>
              <a:t>wala</a:t>
            </a:r>
            <a:r>
              <a:rPr lang="en-PH" sz="1200" b="0" i="0" kern="1200" dirty="0">
                <a:solidFill>
                  <a:schemeClr val="tx1"/>
                </a:solidFill>
                <a:effectLst/>
                <a:latin typeface="+mn-lt"/>
                <a:ea typeface="+mn-ea"/>
                <a:cs typeface="+mn-cs"/>
              </a:rPr>
              <a:t> pang </a:t>
            </a:r>
            <a:r>
              <a:rPr lang="en-PH" sz="1200" b="0" i="0" kern="1200" dirty="0" err="1">
                <a:solidFill>
                  <a:schemeClr val="tx1"/>
                </a:solidFill>
                <a:effectLst/>
                <a:latin typeface="+mn-lt"/>
                <a:ea typeface="+mn-ea"/>
                <a:cs typeface="+mn-cs"/>
              </a:rPr>
              <a:t>kalahating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araw</a:t>
            </a:r>
            <a:r>
              <a:rPr lang="en-PH" sz="1200" b="0" i="0" kern="1200" dirty="0">
                <a:solidFill>
                  <a:schemeClr val="tx1"/>
                </a:solidFill>
                <a:effectLst/>
                <a:latin typeface="+mn-lt"/>
                <a:ea typeface="+mn-ea"/>
                <a:cs typeface="+mn-cs"/>
              </a:rPr>
              <a:t> e </a:t>
            </a:r>
            <a:r>
              <a:rPr lang="en-PH" sz="1200" b="0" i="0" kern="1200" dirty="0" err="1">
                <a:solidFill>
                  <a:schemeClr val="tx1"/>
                </a:solidFill>
                <a:effectLst/>
                <a:latin typeface="+mn-lt"/>
                <a:ea typeface="+mn-ea"/>
                <a:cs typeface="+mn-cs"/>
              </a:rPr>
              <a:t>nakabalik</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agad</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yamot</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pagkakasabi</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ikalawang</a:t>
            </a:r>
            <a:r>
              <a:rPr lang="en-PH" sz="1200" b="0" i="0" kern="1200" dirty="0">
                <a:solidFill>
                  <a:schemeClr val="tx1"/>
                </a:solidFill>
                <a:effectLst/>
                <a:latin typeface="+mn-lt"/>
                <a:ea typeface="+mn-ea"/>
                <a:cs typeface="+mn-cs"/>
              </a:rPr>
              <a:t> pastor. “</a:t>
            </a:r>
            <a:r>
              <a:rPr lang="en-PH" sz="1200" b="0" i="0" kern="1200" dirty="0" err="1">
                <a:solidFill>
                  <a:schemeClr val="tx1"/>
                </a:solidFill>
                <a:effectLst/>
                <a:latin typeface="+mn-lt"/>
                <a:ea typeface="+mn-ea"/>
                <a:cs typeface="+mn-cs"/>
              </a:rPr>
              <a:t>Kawawa</a:t>
            </a:r>
            <a:r>
              <a:rPr lang="en-PH" sz="1200" b="0" i="0" kern="1200" dirty="0">
                <a:solidFill>
                  <a:schemeClr val="tx1"/>
                </a:solidFill>
                <a:effectLst/>
                <a:latin typeface="+mn-lt"/>
                <a:ea typeface="+mn-ea"/>
                <a:cs typeface="+mn-cs"/>
              </a:rPr>
              <a:t> naman kayo, kami kasi </a:t>
            </a:r>
            <a:r>
              <a:rPr lang="en-PH" sz="1200" b="0" i="0" kern="1200" dirty="0" err="1">
                <a:solidFill>
                  <a:schemeClr val="tx1"/>
                </a:solidFill>
                <a:effectLst/>
                <a:latin typeface="+mn-lt"/>
                <a:ea typeface="+mn-ea"/>
                <a:cs typeface="+mn-cs"/>
              </a:rPr>
              <a:t>wala</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problema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riyan</a:t>
            </a:r>
            <a:r>
              <a:rPr lang="en-PH" sz="1200" b="0" i="0" kern="1200" dirty="0">
                <a:solidFill>
                  <a:schemeClr val="tx1"/>
                </a:solidFill>
                <a:effectLst/>
                <a:latin typeface="+mn-lt"/>
                <a:ea typeface="+mn-ea"/>
                <a:cs typeface="+mn-cs"/>
              </a:rPr>
              <a:t> e”, </a:t>
            </a:r>
            <a:r>
              <a:rPr lang="en-PH" sz="1200" b="0" i="0" kern="1200" dirty="0" err="1">
                <a:solidFill>
                  <a:schemeClr val="tx1"/>
                </a:solidFill>
                <a:effectLst/>
                <a:latin typeface="+mn-lt"/>
                <a:ea typeface="+mn-ea"/>
                <a:cs typeface="+mn-cs"/>
              </a:rPr>
              <a:t>mapang-inis</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kabig</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ikatlong</a:t>
            </a:r>
            <a:r>
              <a:rPr lang="en-PH" sz="1200" b="0" i="0" kern="1200" dirty="0">
                <a:solidFill>
                  <a:schemeClr val="tx1"/>
                </a:solidFill>
                <a:effectLst/>
                <a:latin typeface="+mn-lt"/>
                <a:ea typeface="+mn-ea"/>
                <a:cs typeface="+mn-cs"/>
              </a:rPr>
              <a:t> pastor. “</a:t>
            </a:r>
            <a:r>
              <a:rPr lang="en-PH" sz="1200" b="0" i="0" kern="1200" dirty="0" err="1">
                <a:solidFill>
                  <a:schemeClr val="tx1"/>
                </a:solidFill>
                <a:effectLst/>
                <a:latin typeface="+mn-lt"/>
                <a:ea typeface="+mn-ea"/>
                <a:cs typeface="+mn-cs"/>
              </a:rPr>
              <a:t>Ano’ng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sikreto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mo</a:t>
            </a:r>
            <a:r>
              <a:rPr lang="en-PH" sz="1200" b="0" i="0" kern="1200" dirty="0">
                <a:solidFill>
                  <a:schemeClr val="tx1"/>
                </a:solidFill>
                <a:effectLst/>
                <a:latin typeface="+mn-lt"/>
                <a:ea typeface="+mn-ea"/>
                <a:cs typeface="+mn-cs"/>
              </a:rPr>
              <a:t>? Paano </a:t>
            </a:r>
            <a:r>
              <a:rPr lang="en-PH" sz="1200" b="0" i="0" kern="1200" dirty="0" err="1">
                <a:solidFill>
                  <a:schemeClr val="tx1"/>
                </a:solidFill>
                <a:effectLst/>
                <a:latin typeface="+mn-lt"/>
                <a:ea typeface="+mn-ea"/>
                <a:cs typeface="+mn-cs"/>
              </a:rPr>
              <a:t>mo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yun</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nagawa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sabay</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bulalas</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dalawa</a:t>
            </a:r>
            <a:r>
              <a:rPr lang="en-PH" sz="1200" b="0" i="0" kern="1200" dirty="0">
                <a:solidFill>
                  <a:schemeClr val="tx1"/>
                </a:solidFill>
                <a:effectLst/>
                <a:latin typeface="+mn-lt"/>
                <a:ea typeface="+mn-ea"/>
                <a:cs typeface="+mn-cs"/>
              </a:rPr>
              <a:t>. “Simple lang! </a:t>
            </a:r>
            <a:r>
              <a:rPr lang="en-PH" sz="1200" b="0" i="0" kern="1200" dirty="0" err="1">
                <a:solidFill>
                  <a:schemeClr val="tx1"/>
                </a:solidFill>
                <a:effectLst/>
                <a:latin typeface="+mn-lt"/>
                <a:ea typeface="+mn-ea"/>
                <a:cs typeface="+mn-cs"/>
              </a:rPr>
              <a:t>Winitnessan</a:t>
            </a:r>
            <a:r>
              <a:rPr lang="en-PH" sz="1200" b="0" i="0" kern="1200" dirty="0">
                <a:solidFill>
                  <a:schemeClr val="tx1"/>
                </a:solidFill>
                <a:effectLst/>
                <a:latin typeface="+mn-lt"/>
                <a:ea typeface="+mn-ea"/>
                <a:cs typeface="+mn-cs"/>
              </a:rPr>
              <a:t> ko at </a:t>
            </a:r>
            <a:r>
              <a:rPr lang="en-PH" sz="1200" b="0" i="0" kern="1200" dirty="0" err="1">
                <a:solidFill>
                  <a:schemeClr val="tx1"/>
                </a:solidFill>
                <a:effectLst/>
                <a:latin typeface="+mn-lt"/>
                <a:ea typeface="+mn-ea"/>
                <a:cs typeface="+mn-cs"/>
              </a:rPr>
              <a:t>binaptize</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sagot</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niya</a:t>
            </a:r>
            <a:r>
              <a:rPr lang="en-PH" sz="1200" b="0" i="0" kern="1200" dirty="0">
                <a:solidFill>
                  <a:schemeClr val="tx1"/>
                </a:solidFill>
                <a:effectLst/>
                <a:latin typeface="+mn-lt"/>
                <a:ea typeface="+mn-ea"/>
                <a:cs typeface="+mn-cs"/>
              </a:rPr>
              <a:t>, “Ayun, </a:t>
            </a:r>
            <a:r>
              <a:rPr lang="en-PH" sz="1200" b="0" i="0" kern="1200" dirty="0" err="1">
                <a:solidFill>
                  <a:schemeClr val="tx1"/>
                </a:solidFill>
                <a:effectLst/>
                <a:latin typeface="+mn-lt"/>
                <a:ea typeface="+mn-ea"/>
                <a:cs typeface="+mn-cs"/>
              </a:rPr>
              <a:t>simula</a:t>
            </a:r>
            <a:r>
              <a:rPr lang="en-PH" sz="1200" b="0" i="0" kern="1200" dirty="0">
                <a:solidFill>
                  <a:schemeClr val="tx1"/>
                </a:solidFill>
                <a:effectLst/>
                <a:latin typeface="+mn-lt"/>
                <a:ea typeface="+mn-ea"/>
                <a:cs typeface="+mn-cs"/>
              </a:rPr>
              <a:t> nun, ’di ko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nakikita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church!”</a:t>
            </a:r>
            <a:endParaRPr lang="en-US" dirty="0"/>
          </a:p>
          <a:p>
            <a:endParaRPr lang="en-US" dirty="0"/>
          </a:p>
          <a:p>
            <a:r>
              <a:rPr dirty="0" err="1"/>
              <a:t>Pagkatapos</a:t>
            </a:r>
            <a:r>
              <a:rPr dirty="0"/>
              <a:t> </a:t>
            </a:r>
            <a:r>
              <a:rPr dirty="0" err="1"/>
              <a:t>sabihin</a:t>
            </a:r>
            <a:r>
              <a:rPr dirty="0"/>
              <a:t>: 'Bakit </a:t>
            </a:r>
            <a:r>
              <a:rPr dirty="0" err="1"/>
              <a:t>nakakatawa</a:t>
            </a:r>
            <a:r>
              <a:rPr dirty="0"/>
              <a:t>? Anong </a:t>
            </a:r>
            <a:r>
              <a:rPr dirty="0" err="1"/>
              <a:t>totoo</a:t>
            </a:r>
            <a:r>
              <a:rPr dirty="0"/>
              <a:t> </a:t>
            </a:r>
            <a:r>
              <a:rPr dirty="0" err="1"/>
              <a:t>dito</a:t>
            </a:r>
            <a:r>
              <a:rPr dirty="0"/>
              <a:t>?' </a:t>
            </a:r>
            <a:endParaRPr lang="en-US" dirty="0"/>
          </a:p>
          <a:p>
            <a:r>
              <a:rPr dirty="0" err="1"/>
              <a:t>Tapos</a:t>
            </a:r>
            <a:r>
              <a:rPr dirty="0"/>
              <a:t> </a:t>
            </a:r>
            <a:r>
              <a:rPr dirty="0" err="1"/>
              <a:t>sasagot</a:t>
            </a:r>
            <a:r>
              <a:rPr dirty="0"/>
              <a:t> ang LCG: </a:t>
            </a:r>
            <a:r>
              <a:rPr dirty="0" err="1"/>
              <a:t>ilang</a:t>
            </a:r>
            <a:r>
              <a:rPr dirty="0"/>
              <a:t> Christians </a:t>
            </a:r>
            <a:r>
              <a:rPr dirty="0" err="1"/>
              <a:t>nga</a:t>
            </a:r>
            <a:r>
              <a:rPr dirty="0"/>
              <a:t> </a:t>
            </a:r>
            <a:r>
              <a:rPr dirty="0" err="1"/>
              <a:t>ba</a:t>
            </a:r>
            <a:r>
              <a:rPr dirty="0"/>
              <a:t> ang </a:t>
            </a:r>
            <a:r>
              <a:rPr dirty="0" err="1"/>
              <a:t>nakita</a:t>
            </a:r>
            <a:r>
              <a:rPr dirty="0"/>
              <a:t> </a:t>
            </a:r>
            <a:r>
              <a:rPr dirty="0" err="1"/>
              <a:t>nating</a:t>
            </a:r>
            <a:r>
              <a:rPr dirty="0"/>
              <a:t> </a:t>
            </a:r>
            <a:r>
              <a:rPr dirty="0" err="1"/>
              <a:t>maliligtas</a:t>
            </a:r>
            <a:r>
              <a:rPr dirty="0"/>
              <a:t> + ma-baptize </a:t>
            </a:r>
            <a:r>
              <a:rPr dirty="0" err="1"/>
              <a:t>tapos</a:t>
            </a:r>
            <a:r>
              <a:rPr dirty="0"/>
              <a:t> no-show </a:t>
            </a:r>
            <a:r>
              <a:rPr dirty="0" err="1"/>
              <a:t>na.</a:t>
            </a:r>
            <a:r>
              <a:rPr dirty="0"/>
              <a:t> </a:t>
            </a:r>
            <a:endParaRPr lang="en-US" dirty="0"/>
          </a:p>
          <a:p>
            <a:r>
              <a:rPr dirty="0"/>
              <a:t>Watchout: ang joke ay disarmament, </a:t>
            </a:r>
            <a:r>
              <a:rPr dirty="0" err="1"/>
              <a:t>hindi</a:t>
            </a:r>
            <a:r>
              <a:rPr dirty="0"/>
              <a:t> punchline. </a:t>
            </a:r>
            <a:endParaRPr lang="en-US" dirty="0"/>
          </a:p>
          <a:p>
            <a:r>
              <a:rPr dirty="0"/>
              <a:t>Wag </a:t>
            </a:r>
            <a:r>
              <a:rPr dirty="0" err="1"/>
              <a:t>i</a:t>
            </a:r>
            <a:r>
              <a:rPr dirty="0"/>
              <a:t>-prolong para </a:t>
            </a:r>
            <a:r>
              <a:rPr dirty="0" err="1"/>
              <a:t>sa</a:t>
            </a:r>
            <a:r>
              <a:rPr dirty="0"/>
              <a:t> </a:t>
            </a:r>
            <a:r>
              <a:rPr dirty="0" err="1"/>
              <a:t>palakpakan</a:t>
            </a:r>
            <a:r>
              <a:rPr dirty="0"/>
              <a:t>.</a:t>
            </a:r>
            <a:endParaRPr lang="en-US" dirty="0"/>
          </a:p>
          <a:p>
            <a:endParaRPr lang="en-US" dirty="0"/>
          </a:p>
          <a:p>
            <a:r>
              <a:rPr lang="en-PH" dirty="0"/>
              <a:t>TUKLAS step 2 (3 min): </a:t>
            </a:r>
            <a:r>
              <a:rPr lang="en-PH" dirty="0" err="1"/>
              <a:t>basahin</a:t>
            </a:r>
            <a:r>
              <a:rPr lang="en-PH" dirty="0"/>
              <a:t> </a:t>
            </a:r>
            <a:r>
              <a:rPr lang="en-PH" dirty="0" err="1"/>
              <a:t>sabay-sabay</a:t>
            </a:r>
            <a:r>
              <a:rPr lang="en-PH" dirty="0"/>
              <a:t> ang verse </a:t>
            </a:r>
            <a:r>
              <a:rPr lang="en-PH" dirty="0" err="1"/>
              <a:t>mula</a:t>
            </a:r>
            <a:r>
              <a:rPr lang="en-PH" dirty="0"/>
              <a:t> </a:t>
            </a:r>
            <a:r>
              <a:rPr lang="en-PH" dirty="0" err="1"/>
              <a:t>sa</a:t>
            </a:r>
            <a:r>
              <a:rPr lang="en-PH" dirty="0"/>
              <a:t> slide 2. </a:t>
            </a:r>
            <a:r>
              <a:rPr lang="en-PH" dirty="0" err="1"/>
              <a:t>Tapos</a:t>
            </a:r>
            <a:r>
              <a:rPr lang="en-PH" dirty="0"/>
              <a:t> </a:t>
            </a:r>
            <a:r>
              <a:rPr lang="en-PH" dirty="0" err="1"/>
              <a:t>i</a:t>
            </a:r>
            <a:r>
              <a:rPr lang="en-PH" dirty="0"/>
              <a:t>-reveal ang 4-P… </a:t>
            </a:r>
            <a:endParaRPr lang="en-US" dirty="0" err="1"/>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ACB3D-5F9A-96D4-2B73-643D5183D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C5F55-DA9B-6AF6-4207-22F65E58C3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D7584B-E0EF-FFDF-0812-97C1B70B65E2}"/>
              </a:ext>
            </a:extLst>
          </p:cNvPr>
          <p:cNvSpPr>
            <a:spLocks noGrp="1"/>
          </p:cNvSpPr>
          <p:nvPr>
            <p:ph type="body" sz="quarter" idx="3"/>
          </p:nvPr>
        </p:nvSpPr>
        <p:spPr/>
        <p:txBody>
          <a:bodyPr/>
          <a:lstStyle/>
          <a:p>
            <a:r>
              <a:rPr lang="en-US" dirty="0" err="1"/>
              <a:t>Tukoy</a:t>
            </a:r>
            <a:r>
              <a:rPr lang="en-US" dirty="0"/>
              <a:t> </a:t>
            </a:r>
            <a:r>
              <a:rPr lang="en-US" dirty="0" err="1"/>
              <a:t>sa</a:t>
            </a:r>
            <a:r>
              <a:rPr lang="en-US" dirty="0"/>
              <a:t> 4-Ps next slide…</a:t>
            </a:r>
            <a:endParaRPr dirty="0"/>
          </a:p>
        </p:txBody>
      </p:sp>
      <p:sp>
        <p:nvSpPr>
          <p:cNvPr id="4" name="Slide Number Placeholder 3">
            <a:extLst>
              <a:ext uri="{FF2B5EF4-FFF2-40B4-BE49-F238E27FC236}">
                <a16:creationId xmlns:a16="http://schemas.microsoft.com/office/drawing/2014/main" id="{D529FB11-DCEB-362A-4872-1D390ABE3227}"/>
              </a:ext>
            </a:extLst>
          </p:cNvPr>
          <p:cNvSpPr>
            <a:spLocks noGrp="1"/>
          </p:cNvSpPr>
          <p:nvPr>
            <p:ph type="sldNum" sz="quarter" idx="5"/>
          </p:nvPr>
        </p:nvSpPr>
        <p:spPr/>
      </p:sp>
    </p:spTree>
    <p:extLst>
      <p:ext uri="{BB962C8B-B14F-4D97-AF65-F5344CB8AC3E}">
        <p14:creationId xmlns:p14="http://schemas.microsoft.com/office/powerpoint/2010/main" val="1410879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Apat</a:t>
            </a:r>
            <a:r>
              <a:rPr dirty="0"/>
              <a:t> </a:t>
            </a:r>
            <a:r>
              <a:rPr dirty="0" err="1"/>
              <a:t>na</a:t>
            </a:r>
            <a:r>
              <a:rPr dirty="0"/>
              <a:t> </a:t>
            </a:r>
            <a:r>
              <a:rPr dirty="0" err="1"/>
              <a:t>utos</a:t>
            </a:r>
            <a:r>
              <a:rPr dirty="0"/>
              <a:t> </a:t>
            </a:r>
            <a:r>
              <a:rPr dirty="0" err="1"/>
              <a:t>sa</a:t>
            </a:r>
            <a:r>
              <a:rPr dirty="0"/>
              <a:t> </a:t>
            </a:r>
            <a:r>
              <a:rPr dirty="0" err="1"/>
              <a:t>isang</a:t>
            </a:r>
            <a:r>
              <a:rPr dirty="0"/>
              <a:t> verse — </a:t>
            </a:r>
            <a:r>
              <a:rPr dirty="0" err="1"/>
              <a:t>hindi</a:t>
            </a:r>
            <a:r>
              <a:rPr dirty="0"/>
              <a:t> </a:t>
            </a:r>
            <a:r>
              <a:rPr dirty="0" err="1"/>
              <a:t>kalat-kalat</a:t>
            </a:r>
            <a:r>
              <a:rPr dirty="0"/>
              <a:t> </a:t>
            </a:r>
            <a:r>
              <a:rPr dirty="0" err="1"/>
              <a:t>na</a:t>
            </a:r>
            <a:r>
              <a:rPr dirty="0"/>
              <a:t> ideas. </a:t>
            </a:r>
            <a:r>
              <a:rPr dirty="0" err="1"/>
              <a:t>Bawat</a:t>
            </a:r>
            <a:r>
              <a:rPr dirty="0"/>
              <a:t> </a:t>
            </a:r>
            <a:r>
              <a:rPr dirty="0" err="1"/>
              <a:t>parirala</a:t>
            </a:r>
            <a:r>
              <a:rPr dirty="0"/>
              <a:t> ay may </a:t>
            </a:r>
            <a:r>
              <a:rPr dirty="0" err="1"/>
              <a:t>sariling</a:t>
            </a:r>
            <a:r>
              <a:rPr dirty="0"/>
              <a:t> P. </a:t>
            </a:r>
            <a:r>
              <a:rPr dirty="0" err="1"/>
              <a:t>Pumunta</a:t>
            </a:r>
            <a:r>
              <a:rPr dirty="0"/>
              <a:t> tayo isa-isa.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3 (</a:t>
            </a:r>
            <a:r>
              <a:rPr dirty="0" err="1"/>
              <a:t>Pananagutan</a:t>
            </a:r>
            <a:r>
              <a:rPr dirty="0"/>
              <a:t>, 3 min): emphasize ang KO at AKIN </a:t>
            </a:r>
            <a:r>
              <a:rPr dirty="0" err="1"/>
              <a:t>sa</a:t>
            </a:r>
            <a:r>
              <a:rPr dirty="0"/>
              <a:t> Matthew 16:18 — personal kay Cristo ang Church. </a:t>
            </a:r>
            <a:endParaRPr lang="en-US" dirty="0"/>
          </a:p>
          <a:p>
            <a:r>
              <a:rPr dirty="0"/>
              <a:t>Hindi club. </a:t>
            </a:r>
            <a:endParaRPr lang="en-US" dirty="0"/>
          </a:p>
          <a:p>
            <a:r>
              <a:rPr dirty="0"/>
              <a:t>Hindi event. </a:t>
            </a:r>
            <a:endParaRPr lang="en-US" dirty="0"/>
          </a:p>
          <a:p>
            <a:r>
              <a:rPr dirty="0"/>
              <a:t>Idea Niya, </a:t>
            </a:r>
            <a:r>
              <a:rPr dirty="0" err="1"/>
              <a:t>gawa</a:t>
            </a:r>
            <a:r>
              <a:rPr dirty="0"/>
              <a:t> Niya, </a:t>
            </a:r>
            <a:r>
              <a:rPr dirty="0" err="1"/>
              <a:t>bayad</a:t>
            </a:r>
            <a:r>
              <a:rPr dirty="0"/>
              <a:t> Niya ng </a:t>
            </a:r>
            <a:r>
              <a:rPr dirty="0" err="1"/>
              <a:t>buhay</a:t>
            </a:r>
            <a:r>
              <a:rPr dirty="0"/>
              <a:t> (Eph 5:25). </a:t>
            </a:r>
            <a:endParaRPr lang="en-US" dirty="0"/>
          </a:p>
          <a:p>
            <a:r>
              <a:rPr dirty="0" err="1"/>
              <a:t>Pinakaforce</a:t>
            </a:r>
            <a:r>
              <a:rPr dirty="0"/>
              <a:t> ng slide: 'Hindi ka </a:t>
            </a:r>
            <a:r>
              <a:rPr dirty="0" err="1"/>
              <a:t>iniligtas</a:t>
            </a:r>
            <a:r>
              <a:rPr dirty="0"/>
              <a:t> to be apart from the Church. </a:t>
            </a:r>
            <a:endParaRPr lang="en-US" dirty="0"/>
          </a:p>
          <a:p>
            <a:r>
              <a:rPr dirty="0"/>
              <a:t>Iniligtas ka to be a PART OF the Church.' </a:t>
            </a:r>
            <a:endParaRPr lang="en-US" dirty="0"/>
          </a:p>
          <a:p>
            <a:r>
              <a:rPr dirty="0"/>
              <a:t>Pause after that line.</a:t>
            </a:r>
            <a:endParaRPr lang="en-US" dirty="0"/>
          </a:p>
          <a:p>
            <a:endParaRPr lang="en-US" dirty="0"/>
          </a:p>
          <a:p>
            <a:r>
              <a:rPr lang="en-US" dirty="0"/>
              <a:t>Pero may </a:t>
            </a:r>
            <a:r>
              <a:rPr lang="en-US" dirty="0" err="1"/>
              <a:t>mga</a:t>
            </a:r>
            <a:r>
              <a:rPr lang="en-US" dirty="0"/>
              <a:t> </a:t>
            </a:r>
            <a:r>
              <a:rPr lang="en-US" dirty="0" err="1"/>
              <a:t>tao</a:t>
            </a:r>
            <a:r>
              <a:rPr lang="en-US" dirty="0"/>
              <a:t> </a:t>
            </a:r>
            <a:r>
              <a:rPr lang="en-US" dirty="0" err="1"/>
              <a:t>na</a:t>
            </a:r>
            <a:r>
              <a:rPr lang="en-US" dirty="0"/>
              <a:t> </a:t>
            </a:r>
            <a:r>
              <a:rPr lang="en-US" dirty="0" err="1"/>
              <a:t>hindi</a:t>
            </a:r>
            <a:r>
              <a:rPr lang="en-US" dirty="0"/>
              <a:t> </a:t>
            </a:r>
            <a:r>
              <a:rPr lang="en-US" dirty="0" err="1"/>
              <a:t>pumupunta</a:t>
            </a:r>
            <a:r>
              <a:rPr lang="en-US" dirty="0"/>
              <a:t> </a:t>
            </a:r>
            <a:r>
              <a:rPr lang="en-US" dirty="0" err="1"/>
              <a:t>sa</a:t>
            </a:r>
            <a:r>
              <a:rPr lang="en-US" dirty="0"/>
              <a:t> church at may </a:t>
            </a:r>
            <a:r>
              <a:rPr lang="en-US" dirty="0" err="1"/>
              <a:t>mga</a:t>
            </a:r>
            <a:r>
              <a:rPr lang="en-US" dirty="0"/>
              <a:t> </a:t>
            </a:r>
            <a:r>
              <a:rPr lang="en-US" dirty="0" err="1"/>
              <a:t>dahilan</a:t>
            </a:r>
            <a:r>
              <a:rPr lang="en-US" dirty="0"/>
              <a:t>.</a:t>
            </a:r>
          </a:p>
          <a:p>
            <a:r>
              <a:rPr lang="en-US" dirty="0"/>
              <a:t>Ito ang </a:t>
            </a:r>
            <a:r>
              <a:rPr lang="en-US" dirty="0" err="1"/>
              <a:t>kanilang</a:t>
            </a:r>
            <a:r>
              <a:rPr lang="en-US" dirty="0"/>
              <a:t> </a:t>
            </a:r>
            <a:r>
              <a:rPr lang="en-US" dirty="0" err="1"/>
              <a:t>mga</a:t>
            </a:r>
            <a:r>
              <a:rPr lang="en-US" dirty="0"/>
              <a:t> </a:t>
            </a:r>
            <a:r>
              <a:rPr lang="en-US" dirty="0" err="1"/>
              <a:t>dahilan</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4 (</a:t>
            </a:r>
            <a:r>
              <a:rPr dirty="0" err="1"/>
              <a:t>Palusot</a:t>
            </a:r>
            <a:r>
              <a:rPr dirty="0"/>
              <a:t>, 5 min): 6 excuses Pew 2018 data. </a:t>
            </a:r>
            <a:endParaRPr lang="en-US" dirty="0"/>
          </a:p>
          <a:p>
            <a:r>
              <a:rPr dirty="0"/>
              <a:t>Quick-fire format — </a:t>
            </a:r>
            <a:r>
              <a:rPr dirty="0" err="1"/>
              <a:t>sasabihin</a:t>
            </a:r>
            <a:r>
              <a:rPr dirty="0"/>
              <a:t> </a:t>
            </a:r>
            <a:r>
              <a:rPr dirty="0" err="1"/>
              <a:t>mo</a:t>
            </a:r>
            <a:r>
              <a:rPr dirty="0"/>
              <a:t> ang excuse, </a:t>
            </a:r>
            <a:r>
              <a:rPr dirty="0" err="1"/>
              <a:t>sasagot</a:t>
            </a:r>
            <a:r>
              <a:rPr dirty="0"/>
              <a:t> ang LCG ng biblical rebuttal</a:t>
            </a:r>
            <a:r>
              <a:rPr lang="en-US" dirty="0"/>
              <a:t> (</a:t>
            </a:r>
            <a:r>
              <a:rPr lang="en-US" dirty="0" err="1"/>
              <a:t>nasa</a:t>
            </a:r>
            <a:r>
              <a:rPr lang="en-US" dirty="0"/>
              <a:t> participant guide </a:t>
            </a:r>
            <a:r>
              <a:rPr lang="en-US" dirty="0" err="1"/>
              <a:t>nila</a:t>
            </a:r>
            <a:r>
              <a:rPr lang="en-US" dirty="0"/>
              <a:t> ang </a:t>
            </a:r>
            <a:r>
              <a:rPr lang="en-US" dirty="0" err="1"/>
              <a:t>sagot</a:t>
            </a:r>
            <a:r>
              <a:rPr lang="en-US" dirty="0"/>
              <a:t>)</a:t>
            </a:r>
          </a:p>
          <a:p>
            <a:r>
              <a:rPr dirty="0"/>
              <a:t>30-45 sec each. </a:t>
            </a:r>
            <a:endParaRPr lang="en-US" dirty="0"/>
          </a:p>
          <a:p>
            <a:r>
              <a:rPr dirty="0"/>
              <a:t>Wag </a:t>
            </a:r>
            <a:r>
              <a:rPr dirty="0" err="1"/>
              <a:t>pahabain</a:t>
            </a:r>
            <a:r>
              <a:rPr dirty="0"/>
              <a:t> ang debate. </a:t>
            </a:r>
            <a:endParaRPr lang="en-US" dirty="0"/>
          </a:p>
          <a:p>
            <a:r>
              <a:rPr dirty="0"/>
              <a:t>May </a:t>
            </a:r>
            <a:r>
              <a:rPr dirty="0" err="1"/>
              <a:t>posibleng</a:t>
            </a:r>
            <a:r>
              <a:rPr dirty="0"/>
              <a:t> triggered </a:t>
            </a:r>
            <a:r>
              <a:rPr dirty="0" err="1"/>
              <a:t>kapatid</a:t>
            </a:r>
            <a:r>
              <a:rPr dirty="0"/>
              <a:t> </a:t>
            </a:r>
            <a:r>
              <a:rPr dirty="0" err="1"/>
              <a:t>sa</a:t>
            </a:r>
            <a:r>
              <a:rPr dirty="0"/>
              <a:t> 'plastic kasi </a:t>
            </a:r>
            <a:r>
              <a:rPr dirty="0" err="1"/>
              <a:t>sa</a:t>
            </a:r>
            <a:r>
              <a:rPr dirty="0"/>
              <a:t> church' — kung may </a:t>
            </a:r>
            <a:r>
              <a:rPr dirty="0" err="1"/>
              <a:t>totoong</a:t>
            </a:r>
            <a:r>
              <a:rPr dirty="0"/>
              <a:t> </a:t>
            </a:r>
            <a:r>
              <a:rPr dirty="0" err="1"/>
              <a:t>sugat</a:t>
            </a:r>
            <a:r>
              <a:rPr dirty="0"/>
              <a:t>, </a:t>
            </a:r>
            <a:r>
              <a:rPr dirty="0" err="1"/>
              <a:t>sabihin</a:t>
            </a:r>
            <a:r>
              <a:rPr dirty="0"/>
              <a:t>: '</a:t>
            </a:r>
            <a:r>
              <a:rPr dirty="0" err="1"/>
              <a:t>usapan</a:t>
            </a:r>
            <a:r>
              <a:rPr dirty="0"/>
              <a:t> natin </a:t>
            </a:r>
            <a:r>
              <a:rPr dirty="0" err="1"/>
              <a:t>pagkatapos</a:t>
            </a:r>
            <a:r>
              <a:rPr dirty="0"/>
              <a:t>.' </a:t>
            </a:r>
            <a:endParaRPr lang="en-US" dirty="0"/>
          </a:p>
          <a:p>
            <a:r>
              <a:rPr dirty="0"/>
              <a:t>Pero ang punto: </a:t>
            </a:r>
            <a:r>
              <a:rPr dirty="0" err="1"/>
              <a:t>hindi</a:t>
            </a:r>
            <a:r>
              <a:rPr dirty="0"/>
              <a:t> </a:t>
            </a:r>
            <a:r>
              <a:rPr dirty="0" err="1"/>
              <a:t>sapat</a:t>
            </a:r>
            <a:r>
              <a:rPr dirty="0"/>
              <a:t> </a:t>
            </a:r>
            <a:r>
              <a:rPr dirty="0" err="1"/>
              <a:t>na</a:t>
            </a:r>
            <a:r>
              <a:rPr dirty="0"/>
              <a:t> </a:t>
            </a:r>
            <a:r>
              <a:rPr dirty="0" err="1"/>
              <a:t>palusot</a:t>
            </a:r>
            <a:r>
              <a:rPr dirty="0"/>
              <a:t> ang </a:t>
            </a:r>
            <a:r>
              <a:rPr dirty="0" err="1"/>
              <a:t>isang</a:t>
            </a:r>
            <a:r>
              <a:rPr dirty="0"/>
              <a:t> </a:t>
            </a:r>
            <a:r>
              <a:rPr dirty="0" err="1"/>
              <a:t>masamang</a:t>
            </a:r>
            <a:r>
              <a:rPr dirty="0"/>
              <a:t> </a:t>
            </a:r>
            <a:r>
              <a:rPr dirty="0" err="1"/>
              <a:t>karanasan</a:t>
            </a:r>
            <a:r>
              <a:rPr dirty="0"/>
              <a:t> para </a:t>
            </a:r>
            <a:r>
              <a:rPr dirty="0" err="1"/>
              <a:t>iwasan</a:t>
            </a:r>
            <a:r>
              <a:rPr dirty="0"/>
              <a:t> ang </a:t>
            </a:r>
            <a:r>
              <a:rPr dirty="0" err="1"/>
              <a:t>buong</a:t>
            </a:r>
            <a:r>
              <a:rPr dirty="0"/>
              <a:t> </a:t>
            </a:r>
            <a:r>
              <a:rPr dirty="0" err="1"/>
              <a:t>katawan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5 (</a:t>
            </a:r>
            <a:r>
              <a:rPr dirty="0" err="1"/>
              <a:t>Pangangailangan</a:t>
            </a:r>
            <a:r>
              <a:rPr dirty="0"/>
              <a:t>, 4 min): two-way. </a:t>
            </a:r>
            <a:r>
              <a:rPr dirty="0" err="1"/>
              <a:t>Pinakaimportante</a:t>
            </a:r>
            <a:r>
              <a:rPr dirty="0"/>
              <a:t>: </a:t>
            </a:r>
            <a:r>
              <a:rPr dirty="0" err="1"/>
              <a:t>hindi</a:t>
            </a:r>
            <a:r>
              <a:rPr dirty="0"/>
              <a:t> ka consumer — </a:t>
            </a:r>
            <a:r>
              <a:rPr dirty="0" err="1"/>
              <a:t>pareho</a:t>
            </a:r>
            <a:r>
              <a:rPr dirty="0"/>
              <a:t> kang TUMATANGGAP ng strengthening at NAGBIBIGAY. </a:t>
            </a:r>
            <a:endParaRPr lang="en-US" dirty="0"/>
          </a:p>
          <a:p>
            <a:r>
              <a:rPr dirty="0"/>
              <a:t>Scaling question (</a:t>
            </a:r>
            <a:r>
              <a:rPr dirty="0" err="1"/>
              <a:t>hindi</a:t>
            </a:r>
            <a:r>
              <a:rPr dirty="0"/>
              <a:t> shaming): 'Sa </a:t>
            </a:r>
            <a:r>
              <a:rPr dirty="0" err="1"/>
              <a:t>kanang</a:t>
            </a:r>
            <a:r>
              <a:rPr dirty="0"/>
              <a:t> column — spiritual gifts, </a:t>
            </a:r>
            <a:r>
              <a:rPr dirty="0" err="1"/>
              <a:t>paghayo</a:t>
            </a:r>
            <a:r>
              <a:rPr dirty="0"/>
              <a:t>, </a:t>
            </a:r>
            <a:r>
              <a:rPr dirty="0" err="1"/>
              <a:t>pag</a:t>
            </a:r>
            <a:r>
              <a:rPr dirty="0"/>
              <a:t>-disciple — </a:t>
            </a:r>
            <a:r>
              <a:rPr dirty="0" err="1"/>
              <a:t>gaano</a:t>
            </a:r>
            <a:r>
              <a:rPr dirty="0"/>
              <a:t> </a:t>
            </a:r>
            <a:r>
              <a:rPr dirty="0" err="1"/>
              <a:t>kalapit</a:t>
            </a:r>
            <a:r>
              <a:rPr dirty="0"/>
              <a:t> ka </a:t>
            </a:r>
            <a:r>
              <a:rPr dirty="0" err="1"/>
              <a:t>rito</a:t>
            </a:r>
            <a:r>
              <a:rPr dirty="0"/>
              <a:t>?' </a:t>
            </a:r>
            <a:endParaRPr lang="en-US" dirty="0"/>
          </a:p>
          <a:p>
            <a:r>
              <a:rPr dirty="0" err="1"/>
              <a:t>Pasagot</a:t>
            </a:r>
            <a:r>
              <a:rPr dirty="0"/>
              <a:t> ng 2 </a:t>
            </a:r>
            <a:r>
              <a:rPr dirty="0" err="1"/>
              <a:t>kapatid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TUKLAS step 6 (</a:t>
            </a:r>
            <a:r>
              <a:rPr dirty="0" err="1"/>
              <a:t>Pagganyak</a:t>
            </a:r>
            <a:r>
              <a:rPr dirty="0"/>
              <a:t>, 2 min): last P. Eschatological motivation. </a:t>
            </a:r>
            <a:endParaRPr lang="en-US" dirty="0"/>
          </a:p>
          <a:p>
            <a:r>
              <a:rPr dirty="0"/>
              <a:t>Hindi </a:t>
            </a:r>
            <a:r>
              <a:rPr dirty="0" err="1"/>
              <a:t>takot</a:t>
            </a:r>
            <a:r>
              <a:rPr dirty="0"/>
              <a:t> — </a:t>
            </a:r>
            <a:r>
              <a:rPr dirty="0" err="1"/>
              <a:t>pagganyak</a:t>
            </a:r>
            <a:r>
              <a:rPr dirty="0"/>
              <a:t>. </a:t>
            </a:r>
            <a:endParaRPr lang="en-US" dirty="0"/>
          </a:p>
          <a:p>
            <a:r>
              <a:rPr dirty="0"/>
              <a:t>Closing line: '</a:t>
            </a:r>
            <a:r>
              <a:rPr dirty="0" err="1"/>
              <a:t>Mamili</a:t>
            </a:r>
            <a:r>
              <a:rPr dirty="0"/>
              <a:t> ka.' </a:t>
            </a:r>
            <a:endParaRPr lang="en-US" dirty="0"/>
          </a:p>
          <a:p>
            <a:r>
              <a:rPr dirty="0"/>
              <a:t>Pause. </a:t>
            </a:r>
            <a:endParaRPr lang="en-US" dirty="0"/>
          </a:p>
          <a:p>
            <a:r>
              <a:rPr dirty="0"/>
              <a:t>Allow the weight of the choice to land. </a:t>
            </a:r>
            <a:endParaRPr lang="en-US" dirty="0"/>
          </a:p>
          <a:p>
            <a:r>
              <a:rPr dirty="0" err="1"/>
              <a:t>Tapos</a:t>
            </a:r>
            <a:r>
              <a:rPr dirty="0"/>
              <a:t> move to TALAKAY.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TALAKAY (12 min): Step 1 ay safe-space reset (1 min). </a:t>
            </a:r>
            <a:endParaRPr lang="en-US" dirty="0"/>
          </a:p>
          <a:p>
            <a:r>
              <a:rPr dirty="0"/>
              <a:t>Step 2 Q1 (3 min, </a:t>
            </a:r>
            <a:r>
              <a:rPr dirty="0" err="1"/>
              <a:t>sa</a:t>
            </a:r>
            <a:r>
              <a:rPr dirty="0"/>
              <a:t> NARINIG </a:t>
            </a:r>
            <a:r>
              <a:rPr dirty="0" err="1"/>
              <a:t>mo</a:t>
            </a:r>
            <a:r>
              <a:rPr dirty="0"/>
              <a:t> </a:t>
            </a:r>
            <a:r>
              <a:rPr dirty="0" err="1"/>
              <a:t>sa</a:t>
            </a:r>
            <a:r>
              <a:rPr dirty="0"/>
              <a:t> </a:t>
            </a:r>
            <a:r>
              <a:rPr dirty="0" err="1"/>
              <a:t>iba</a:t>
            </a:r>
            <a:r>
              <a:rPr dirty="0"/>
              <a:t> — safe entry). </a:t>
            </a:r>
            <a:endParaRPr lang="en-US" dirty="0"/>
          </a:p>
          <a:p>
            <a:r>
              <a:rPr dirty="0"/>
              <a:t>Step 3 Q2 (3 min, theological — bantayan ang </a:t>
            </a:r>
            <a:r>
              <a:rPr dirty="0" err="1"/>
              <a:t>dalawang</a:t>
            </a:r>
            <a:r>
              <a:rPr dirty="0"/>
              <a:t> extremes: lahat acceptable / </a:t>
            </a:r>
            <a:r>
              <a:rPr dirty="0" err="1"/>
              <a:t>wala</a:t>
            </a:r>
            <a:r>
              <a:rPr dirty="0"/>
              <a:t> acceptable). </a:t>
            </a:r>
            <a:endParaRPr lang="en-US" dirty="0"/>
          </a:p>
          <a:p>
            <a:r>
              <a:rPr dirty="0"/>
              <a:t>Step 4 Q3 (5 min — personal </a:t>
            </a:r>
            <a:r>
              <a:rPr dirty="0" err="1"/>
              <a:t>palusot</a:t>
            </a:r>
            <a:r>
              <a:rPr dirty="0"/>
              <a:t>, round-robin). </a:t>
            </a:r>
            <a:r>
              <a:rPr dirty="0" err="1"/>
              <a:t>Magsimula</a:t>
            </a:r>
            <a:r>
              <a:rPr dirty="0"/>
              <a:t> ka — pastor-led vulnerability. Watchout: kung may di </a:t>
            </a:r>
            <a:r>
              <a:rPr dirty="0" err="1"/>
              <a:t>nakapag</a:t>
            </a:r>
            <a:r>
              <a:rPr dirty="0"/>
              <a:t>-name, </a:t>
            </a:r>
            <a:r>
              <a:rPr dirty="0" err="1"/>
              <a:t>huwag</a:t>
            </a:r>
            <a:r>
              <a:rPr dirty="0"/>
              <a:t> </a:t>
            </a:r>
            <a:r>
              <a:rPr dirty="0" err="1"/>
              <a:t>i</a:t>
            </a:r>
            <a:r>
              <a:rPr dirty="0"/>
              <a:t>-force.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TUGON (12 min): Step 1 Eph 5:25 frame (1 min) — ang </a:t>
            </a:r>
            <a:r>
              <a:rPr dirty="0" err="1"/>
              <a:t>sinusulatan</a:t>
            </a:r>
            <a:r>
              <a:rPr dirty="0"/>
              <a:t> natin ay </a:t>
            </a:r>
            <a:r>
              <a:rPr dirty="0" err="1"/>
              <a:t>pagmamahal</a:t>
            </a:r>
            <a:r>
              <a:rPr dirty="0"/>
              <a:t> ng Bride </a:t>
            </a:r>
            <a:r>
              <a:rPr dirty="0" err="1"/>
              <a:t>sa</a:t>
            </a:r>
            <a:r>
              <a:rPr dirty="0"/>
              <a:t> Bridegroom. </a:t>
            </a:r>
            <a:endParaRPr lang="en-US" dirty="0"/>
          </a:p>
          <a:p>
            <a:r>
              <a:rPr lang="en-PH" sz="1200" b="0" i="0" kern="1200" dirty="0">
                <a:solidFill>
                  <a:schemeClr val="tx1"/>
                </a:solidFill>
                <a:effectLst/>
                <a:latin typeface="+mn-lt"/>
                <a:ea typeface="+mn-ea"/>
                <a:cs typeface="+mn-cs"/>
              </a:rPr>
              <a:t>Si Cristo ay </a:t>
            </a:r>
            <a:r>
              <a:rPr lang="en-PH" sz="1200" b="1" i="0" kern="1200" dirty="0">
                <a:solidFill>
                  <a:schemeClr val="tx1"/>
                </a:solidFill>
                <a:effectLst/>
                <a:latin typeface="+mn-lt"/>
                <a:ea typeface="+mn-ea"/>
                <a:cs typeface="+mn-cs"/>
              </a:rPr>
              <a:t>super sold out</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Church. </a:t>
            </a:r>
          </a:p>
          <a:p>
            <a:r>
              <a:rPr lang="en-PH" sz="1200" b="0" i="0" kern="1200" dirty="0">
                <a:solidFill>
                  <a:schemeClr val="tx1"/>
                </a:solidFill>
                <a:effectLst/>
                <a:latin typeface="+mn-lt"/>
                <a:ea typeface="+mn-ea"/>
                <a:cs typeface="+mn-cs"/>
              </a:rPr>
              <a:t>Mahal Niya </a:t>
            </a:r>
            <a:r>
              <a:rPr lang="en-PH" sz="1200" b="0" i="0" kern="1200" dirty="0" err="1">
                <a:solidFill>
                  <a:schemeClr val="tx1"/>
                </a:solidFill>
                <a:effectLst/>
                <a:latin typeface="+mn-lt"/>
                <a:ea typeface="+mn-ea"/>
                <a:cs typeface="+mn-cs"/>
              </a:rPr>
              <a:t>ito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hanggang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ialay</a:t>
            </a:r>
            <a:r>
              <a:rPr lang="en-PH" sz="1200" b="0" i="0" kern="1200" dirty="0">
                <a:solidFill>
                  <a:schemeClr val="tx1"/>
                </a:solidFill>
                <a:effectLst/>
                <a:latin typeface="+mn-lt"/>
                <a:ea typeface="+mn-ea"/>
                <a:cs typeface="+mn-cs"/>
              </a:rPr>
              <a:t> ang </a:t>
            </a:r>
            <a:r>
              <a:rPr lang="en-PH" sz="1200" b="0" i="0" kern="1200" dirty="0" err="1">
                <a:solidFill>
                  <a:schemeClr val="tx1"/>
                </a:solidFill>
                <a:effectLst/>
                <a:latin typeface="+mn-lt"/>
                <a:ea typeface="+mn-ea"/>
                <a:cs typeface="+mn-cs"/>
              </a:rPr>
              <a:t>Sariling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buhay</a:t>
            </a:r>
            <a:r>
              <a:rPr lang="en-PH" sz="1200" b="0" i="0" kern="1200" dirty="0">
                <a:solidFill>
                  <a:schemeClr val="tx1"/>
                </a:solidFill>
                <a:effectLst/>
                <a:latin typeface="+mn-lt"/>
                <a:ea typeface="+mn-ea"/>
                <a:cs typeface="+mn-cs"/>
              </a:rPr>
              <a:t> (Eph 5:25). </a:t>
            </a:r>
          </a:p>
          <a:p>
            <a:r>
              <a:rPr lang="en-PH" sz="1200" b="0" i="0" kern="1200" dirty="0" err="1">
                <a:solidFill>
                  <a:schemeClr val="tx1"/>
                </a:solidFill>
                <a:effectLst/>
                <a:latin typeface="+mn-lt"/>
                <a:ea typeface="+mn-ea"/>
                <a:cs typeface="+mn-cs"/>
              </a:rPr>
              <a:t>Tinawag</a:t>
            </a:r>
            <a:r>
              <a:rPr lang="en-PH" sz="1200" b="0" i="0" kern="1200" dirty="0">
                <a:solidFill>
                  <a:schemeClr val="tx1"/>
                </a:solidFill>
                <a:effectLst/>
                <a:latin typeface="+mn-lt"/>
                <a:ea typeface="+mn-ea"/>
                <a:cs typeface="+mn-cs"/>
              </a:rPr>
              <a:t> pa Niya </a:t>
            </a:r>
            <a:r>
              <a:rPr lang="en-PH" sz="1200" b="0" i="0" kern="1200" dirty="0" err="1">
                <a:solidFill>
                  <a:schemeClr val="tx1"/>
                </a:solidFill>
                <a:effectLst/>
                <a:latin typeface="+mn-lt"/>
                <a:ea typeface="+mn-ea"/>
                <a:cs typeface="+mn-cs"/>
              </a:rPr>
              <a:t>itong</a:t>
            </a:r>
            <a:r>
              <a:rPr lang="en-PH" sz="1200" b="0" i="0" kern="1200" dirty="0">
                <a:solidFill>
                  <a:schemeClr val="tx1"/>
                </a:solidFill>
                <a:effectLst/>
                <a:latin typeface="+mn-lt"/>
                <a:ea typeface="+mn-ea"/>
                <a:cs typeface="+mn-cs"/>
              </a:rPr>
              <a:t> </a:t>
            </a:r>
            <a:r>
              <a:rPr lang="en-PH" sz="1200" b="0" i="1" kern="1200" dirty="0">
                <a:solidFill>
                  <a:schemeClr val="tx1"/>
                </a:solidFill>
                <a:effectLst/>
                <a:latin typeface="+mn-lt"/>
                <a:ea typeface="+mn-ea"/>
                <a:cs typeface="+mn-cs"/>
              </a:rPr>
              <a:t>"Bride"</a:t>
            </a:r>
            <a:r>
              <a:rPr lang="en-PH" sz="1200" b="0" i="0" kern="1200" dirty="0">
                <a:solidFill>
                  <a:schemeClr val="tx1"/>
                </a:solidFill>
                <a:effectLst/>
                <a:latin typeface="+mn-lt"/>
                <a:ea typeface="+mn-ea"/>
                <a:cs typeface="+mn-cs"/>
              </a:rPr>
              <a:t>. </a:t>
            </a:r>
          </a:p>
          <a:p>
            <a:r>
              <a:rPr lang="en-PH" sz="1200" b="0" i="0" kern="1200" dirty="0">
                <a:solidFill>
                  <a:schemeClr val="tx1"/>
                </a:solidFill>
                <a:effectLst/>
                <a:latin typeface="+mn-lt"/>
                <a:ea typeface="+mn-ea"/>
                <a:cs typeface="+mn-cs"/>
              </a:rPr>
              <a:t>At </a:t>
            </a:r>
            <a:r>
              <a:rPr lang="en-PH" sz="1200" b="0" i="0" kern="1200" dirty="0" err="1">
                <a:solidFill>
                  <a:schemeClr val="tx1"/>
                </a:solidFill>
                <a:effectLst/>
                <a:latin typeface="+mn-lt"/>
                <a:ea typeface="+mn-ea"/>
                <a:cs typeface="+mn-cs"/>
              </a:rPr>
              <a:t>dahil</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parte</a:t>
            </a:r>
            <a:r>
              <a:rPr lang="en-PH" sz="1200" b="0" i="0" kern="1200" dirty="0">
                <a:solidFill>
                  <a:schemeClr val="tx1"/>
                </a:solidFill>
                <a:effectLst/>
                <a:latin typeface="+mn-lt"/>
                <a:ea typeface="+mn-ea"/>
                <a:cs typeface="+mn-cs"/>
              </a:rPr>
              <a:t> tayo ng </a:t>
            </a:r>
            <a:r>
              <a:rPr lang="en-PH" sz="1200" b="0" i="0" kern="1200" dirty="0" err="1">
                <a:solidFill>
                  <a:schemeClr val="tx1"/>
                </a:solidFill>
                <a:effectLst/>
                <a:latin typeface="+mn-lt"/>
                <a:ea typeface="+mn-ea"/>
                <a:cs typeface="+mn-cs"/>
              </a:rPr>
              <a:t>Kaniyang</a:t>
            </a:r>
            <a:r>
              <a:rPr lang="en-PH" sz="1200" b="0" i="0" kern="1200" dirty="0">
                <a:solidFill>
                  <a:schemeClr val="tx1"/>
                </a:solidFill>
                <a:effectLst/>
                <a:latin typeface="+mn-lt"/>
                <a:ea typeface="+mn-ea"/>
                <a:cs typeface="+mn-cs"/>
              </a:rPr>
              <a:t> Church, </a:t>
            </a:r>
            <a:r>
              <a:rPr lang="en-PH" sz="1200" b="0" i="0" kern="1200" dirty="0" err="1">
                <a:solidFill>
                  <a:schemeClr val="tx1"/>
                </a:solidFill>
                <a:effectLst/>
                <a:latin typeface="+mn-lt"/>
                <a:ea typeface="+mn-ea"/>
                <a:cs typeface="+mn-cs"/>
              </a:rPr>
              <a:t>parte</a:t>
            </a:r>
            <a:r>
              <a:rPr lang="en-PH" sz="1200" b="0" i="0" kern="1200" dirty="0">
                <a:solidFill>
                  <a:schemeClr val="tx1"/>
                </a:solidFill>
                <a:effectLst/>
                <a:latin typeface="+mn-lt"/>
                <a:ea typeface="+mn-ea"/>
                <a:cs typeface="+mn-cs"/>
              </a:rPr>
              <a:t> tayo ng </a:t>
            </a:r>
            <a:r>
              <a:rPr lang="en-PH" sz="1200" b="0" i="0" kern="1200" dirty="0" err="1">
                <a:solidFill>
                  <a:schemeClr val="tx1"/>
                </a:solidFill>
                <a:effectLst/>
                <a:latin typeface="+mn-lt"/>
                <a:ea typeface="+mn-ea"/>
                <a:cs typeface="+mn-cs"/>
              </a:rPr>
              <a:t>Kaniyang</a:t>
            </a:r>
            <a:r>
              <a:rPr lang="en-PH" sz="1200" b="0" i="0" kern="1200" dirty="0">
                <a:solidFill>
                  <a:schemeClr val="tx1"/>
                </a:solidFill>
                <a:effectLst/>
                <a:latin typeface="+mn-lt"/>
                <a:ea typeface="+mn-ea"/>
                <a:cs typeface="+mn-cs"/>
              </a:rPr>
              <a:t> Bride.</a:t>
            </a:r>
          </a:p>
          <a:p>
            <a:r>
              <a:rPr lang="en-PH" sz="1200" b="0" i="0" kern="1200" dirty="0" err="1">
                <a:solidFill>
                  <a:schemeClr val="tx1"/>
                </a:solidFill>
                <a:effectLst/>
                <a:latin typeface="+mn-lt"/>
                <a:ea typeface="+mn-ea"/>
                <a:cs typeface="+mn-cs"/>
              </a:rPr>
              <a:t>Ngayong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natutunan</a:t>
            </a:r>
            <a:r>
              <a:rPr lang="en-PH" sz="1200" b="0" i="0" kern="1200" dirty="0">
                <a:solidFill>
                  <a:schemeClr val="tx1"/>
                </a:solidFill>
                <a:effectLst/>
                <a:latin typeface="+mn-lt"/>
                <a:ea typeface="+mn-ea"/>
                <a:cs typeface="+mn-cs"/>
              </a:rPr>
              <a:t> natin ang 4-P, </a:t>
            </a:r>
            <a:r>
              <a:rPr lang="en-PH" sz="1200" b="0" i="0" kern="1200" dirty="0" err="1">
                <a:solidFill>
                  <a:schemeClr val="tx1"/>
                </a:solidFill>
                <a:effectLst/>
                <a:latin typeface="+mn-lt"/>
                <a:ea typeface="+mn-ea"/>
                <a:cs typeface="+mn-cs"/>
              </a:rPr>
              <a:t>oras</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na</a:t>
            </a:r>
            <a:r>
              <a:rPr lang="en-PH" sz="1200" b="0" i="0" kern="1200" dirty="0">
                <a:solidFill>
                  <a:schemeClr val="tx1"/>
                </a:solidFill>
                <a:effectLst/>
                <a:latin typeface="+mn-lt"/>
                <a:ea typeface="+mn-ea"/>
                <a:cs typeface="+mn-cs"/>
              </a:rPr>
              <a:t> para </a:t>
            </a:r>
            <a:r>
              <a:rPr lang="en-PH" sz="1200" b="0" i="0" kern="1200" dirty="0" err="1">
                <a:solidFill>
                  <a:schemeClr val="tx1"/>
                </a:solidFill>
                <a:effectLst/>
                <a:latin typeface="+mn-lt"/>
                <a:ea typeface="+mn-ea"/>
                <a:cs typeface="+mn-cs"/>
              </a:rPr>
              <a:t>gumawa</a:t>
            </a:r>
            <a:r>
              <a:rPr lang="en-PH" sz="1200" b="0" i="0" kern="1200" dirty="0">
                <a:solidFill>
                  <a:schemeClr val="tx1"/>
                </a:solidFill>
                <a:effectLst/>
                <a:latin typeface="+mn-lt"/>
                <a:ea typeface="+mn-ea"/>
                <a:cs typeface="+mn-cs"/>
              </a:rPr>
              <a:t> ng commitment — </a:t>
            </a:r>
            <a:r>
              <a:rPr lang="en-PH" sz="1200" b="0" i="0" kern="1200" dirty="0" err="1">
                <a:solidFill>
                  <a:schemeClr val="tx1"/>
                </a:solidFill>
                <a:effectLst/>
                <a:latin typeface="+mn-lt"/>
                <a:ea typeface="+mn-ea"/>
                <a:cs typeface="+mn-cs"/>
              </a:rPr>
              <a:t>hindi</a:t>
            </a:r>
            <a:r>
              <a:rPr lang="en-PH" sz="1200" b="0" i="0" kern="1200" dirty="0">
                <a:solidFill>
                  <a:schemeClr val="tx1"/>
                </a:solidFill>
                <a:effectLst/>
                <a:latin typeface="+mn-lt"/>
                <a:ea typeface="+mn-ea"/>
                <a:cs typeface="+mn-cs"/>
              </a:rPr>
              <a:t> vague, </a:t>
            </a:r>
            <a:r>
              <a:rPr lang="en-PH" sz="1200" b="0" i="0" kern="1200" dirty="0" err="1">
                <a:solidFill>
                  <a:schemeClr val="tx1"/>
                </a:solidFill>
                <a:effectLst/>
                <a:latin typeface="+mn-lt"/>
                <a:ea typeface="+mn-ea"/>
                <a:cs typeface="+mn-cs"/>
              </a:rPr>
              <a:t>hindi</a:t>
            </a:r>
            <a:r>
              <a:rPr lang="en-PH" sz="1200" b="0" i="0" kern="1200" dirty="0">
                <a:solidFill>
                  <a:schemeClr val="tx1"/>
                </a:solidFill>
                <a:effectLst/>
                <a:latin typeface="+mn-lt"/>
                <a:ea typeface="+mn-ea"/>
                <a:cs typeface="+mn-cs"/>
              </a:rPr>
              <a:t> puro feeling. </a:t>
            </a:r>
          </a:p>
          <a:p>
            <a:r>
              <a:rPr lang="en-PH" sz="1200" b="0" i="0" kern="1200" dirty="0" err="1">
                <a:solidFill>
                  <a:schemeClr val="tx1"/>
                </a:solidFill>
                <a:effectLst/>
                <a:latin typeface="+mn-lt"/>
                <a:ea typeface="+mn-ea"/>
                <a:cs typeface="+mn-cs"/>
              </a:rPr>
              <a:t>Konkreto</a:t>
            </a:r>
            <a:r>
              <a:rPr lang="en-PH" sz="1200" b="0" i="0" kern="1200" dirty="0">
                <a:solidFill>
                  <a:schemeClr val="tx1"/>
                </a:solidFill>
                <a:effectLst/>
                <a:latin typeface="+mn-lt"/>
                <a:ea typeface="+mn-ea"/>
                <a:cs typeface="+mn-cs"/>
              </a:rPr>
              <a:t>. </a:t>
            </a:r>
          </a:p>
          <a:p>
            <a:r>
              <a:rPr lang="en-PH" sz="1200" b="0" i="0" kern="1200" dirty="0" err="1">
                <a:solidFill>
                  <a:schemeClr val="tx1"/>
                </a:solidFill>
                <a:effectLst/>
                <a:latin typeface="+mn-lt"/>
                <a:ea typeface="+mn-ea"/>
                <a:cs typeface="+mn-cs"/>
              </a:rPr>
              <a:t>Nakasulat</a:t>
            </a:r>
            <a:r>
              <a:rPr lang="en-PH" sz="1200" b="0" i="0" kern="1200" dirty="0">
                <a:solidFill>
                  <a:schemeClr val="tx1"/>
                </a:solidFill>
                <a:effectLst/>
                <a:latin typeface="+mn-lt"/>
                <a:ea typeface="+mn-ea"/>
                <a:cs typeface="+mn-cs"/>
              </a:rPr>
              <a:t>. </a:t>
            </a:r>
          </a:p>
          <a:p>
            <a:r>
              <a:rPr lang="en-PH" sz="1200" b="0" i="0" kern="1200" dirty="0" err="1">
                <a:solidFill>
                  <a:schemeClr val="tx1"/>
                </a:solidFill>
                <a:effectLst/>
                <a:latin typeface="+mn-lt"/>
                <a:ea typeface="+mn-ea"/>
                <a:cs typeface="+mn-cs"/>
              </a:rPr>
              <a:t>Pirmahan</a:t>
            </a:r>
            <a:r>
              <a:rPr lang="en-PH" sz="1200" b="0" i="0" kern="1200" dirty="0">
                <a:solidFill>
                  <a:schemeClr val="tx1"/>
                </a:solidFill>
                <a:effectLst/>
                <a:latin typeface="+mn-lt"/>
                <a:ea typeface="+mn-ea"/>
                <a:cs typeface="+mn-cs"/>
              </a:rPr>
              <a:t> ng </a:t>
            </a:r>
            <a:r>
              <a:rPr lang="en-PH" sz="1200" b="0" i="0" kern="1200" dirty="0" err="1">
                <a:solidFill>
                  <a:schemeClr val="tx1"/>
                </a:solidFill>
                <a:effectLst/>
                <a:latin typeface="+mn-lt"/>
                <a:ea typeface="+mn-ea"/>
                <a:cs typeface="+mn-cs"/>
              </a:rPr>
              <a:t>sarili</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mong</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kamay</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commitment form </a:t>
            </a:r>
            <a:r>
              <a:rPr lang="en-PH" sz="1200" b="0" i="0" kern="1200" dirty="0" err="1">
                <a:solidFill>
                  <a:schemeClr val="tx1"/>
                </a:solidFill>
                <a:effectLst/>
                <a:latin typeface="+mn-lt"/>
                <a:ea typeface="+mn-ea"/>
                <a:cs typeface="+mn-cs"/>
              </a:rPr>
              <a:t>sa</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inyong</a:t>
            </a:r>
            <a:r>
              <a:rPr lang="en-PH" sz="1200" b="0" i="0" kern="1200" dirty="0">
                <a:solidFill>
                  <a:schemeClr val="tx1"/>
                </a:solidFill>
                <a:effectLst/>
                <a:latin typeface="+mn-lt"/>
                <a:ea typeface="+mn-ea"/>
                <a:cs typeface="+mn-cs"/>
              </a:rPr>
              <a:t> Participant Guide.</a:t>
            </a:r>
          </a:p>
          <a:p>
            <a:r>
              <a:rPr dirty="0"/>
              <a:t>Step 2 silent writing ng 3 commitments (8 min) — </a:t>
            </a:r>
            <a:r>
              <a:rPr dirty="0" err="1"/>
              <a:t>konkreto</a:t>
            </a:r>
            <a:r>
              <a:rPr dirty="0"/>
              <a:t>, </a:t>
            </a:r>
            <a:r>
              <a:rPr dirty="0" err="1"/>
              <a:t>hindi</a:t>
            </a:r>
            <a:r>
              <a:rPr dirty="0"/>
              <a:t> vague. </a:t>
            </a:r>
            <a:endParaRPr lang="en-US" dirty="0"/>
          </a:p>
          <a:p>
            <a:r>
              <a:rPr lang="en-US" dirty="0"/>
              <a:t>Example:</a:t>
            </a:r>
          </a:p>
          <a:p>
            <a:pPr marL="171450" indent="-171450">
              <a:buFont typeface="Arial" panose="020B0604020202020204" pitchFamily="34" charset="0"/>
              <a:buChar char="•"/>
            </a:pPr>
            <a:r>
              <a:rPr dirty="0"/>
              <a:t>'</a:t>
            </a:r>
            <a:r>
              <a:rPr dirty="0" err="1"/>
              <a:t>Magseserve</a:t>
            </a:r>
            <a:r>
              <a:rPr dirty="0"/>
              <a:t> </a:t>
            </a:r>
            <a:r>
              <a:rPr dirty="0" err="1"/>
              <a:t>ako</a:t>
            </a:r>
            <a:r>
              <a:rPr dirty="0"/>
              <a:t>' — </a:t>
            </a:r>
            <a:r>
              <a:rPr dirty="0" err="1"/>
              <a:t>hindi</a:t>
            </a:r>
            <a:r>
              <a:rPr dirty="0"/>
              <a:t> </a:t>
            </a:r>
            <a:r>
              <a:rPr dirty="0" err="1"/>
              <a:t>pwede</a:t>
            </a:r>
            <a:r>
              <a:rPr dirty="0"/>
              <a:t>. </a:t>
            </a:r>
            <a:endParaRPr lang="en-US" dirty="0"/>
          </a:p>
          <a:p>
            <a:pPr marL="171450" indent="-171450">
              <a:buFont typeface="Arial" panose="020B0604020202020204" pitchFamily="34" charset="0"/>
              <a:buChar char="•"/>
            </a:pPr>
            <a:r>
              <a:rPr dirty="0"/>
              <a:t>'</a:t>
            </a:r>
            <a:r>
              <a:rPr dirty="0" err="1"/>
              <a:t>Magseserve</a:t>
            </a:r>
            <a:r>
              <a:rPr dirty="0"/>
              <a:t> </a:t>
            </a:r>
            <a:r>
              <a:rPr dirty="0" err="1"/>
              <a:t>ako</a:t>
            </a:r>
            <a:r>
              <a:rPr dirty="0"/>
              <a:t> </a:t>
            </a:r>
            <a:r>
              <a:rPr dirty="0" err="1"/>
              <a:t>sa</a:t>
            </a:r>
            <a:r>
              <a:rPr dirty="0"/>
              <a:t> worship team or ushering </a:t>
            </a:r>
            <a:r>
              <a:rPr dirty="0" err="1"/>
              <a:t>bago</a:t>
            </a:r>
            <a:r>
              <a:rPr dirty="0"/>
              <a:t> Q3 </a:t>
            </a:r>
            <a:r>
              <a:rPr dirty="0" err="1"/>
              <a:t>matapos</a:t>
            </a:r>
            <a:r>
              <a:rPr dirty="0"/>
              <a:t>' — </a:t>
            </a:r>
            <a:r>
              <a:rPr dirty="0" err="1"/>
              <a:t>pwede</a:t>
            </a:r>
            <a:r>
              <a:rPr dirty="0"/>
              <a:t>. </a:t>
            </a:r>
            <a:endParaRPr lang="en-US" dirty="0"/>
          </a:p>
          <a:p>
            <a:r>
              <a:rPr dirty="0"/>
              <a:t>Step 3 read-aloud + witness (3 min) — </a:t>
            </a:r>
            <a:r>
              <a:rPr dirty="0" err="1"/>
              <a:t>magpa</a:t>
            </a:r>
            <a:r>
              <a:rPr dirty="0"/>
              <a:t>-share ng 1 commitment lang per </a:t>
            </a:r>
            <a:r>
              <a:rPr dirty="0" err="1"/>
              <a:t>kapatid</a:t>
            </a:r>
            <a:r>
              <a:rPr dirty="0"/>
              <a:t> (</a:t>
            </a:r>
            <a:r>
              <a:rPr dirty="0" err="1"/>
              <a:t>hindi</a:t>
            </a:r>
            <a:r>
              <a:rPr dirty="0"/>
              <a:t> lahat 3). </a:t>
            </a:r>
            <a:endParaRPr lang="en-US" dirty="0"/>
          </a:p>
          <a:p>
            <a:r>
              <a:rPr dirty="0"/>
              <a:t>Watchout: kung may di </a:t>
            </a:r>
            <a:r>
              <a:rPr dirty="0" err="1"/>
              <a:t>nakapagsulat</a:t>
            </a:r>
            <a:r>
              <a:rPr dirty="0"/>
              <a:t>, </a:t>
            </a:r>
            <a:r>
              <a:rPr dirty="0" err="1"/>
              <a:t>tanong</a:t>
            </a:r>
            <a:r>
              <a:rPr dirty="0"/>
              <a:t> ng </a:t>
            </a:r>
            <a:r>
              <a:rPr dirty="0" err="1"/>
              <a:t>tahimik</a:t>
            </a:r>
            <a:r>
              <a:rPr dirty="0"/>
              <a:t>: 'Anong </a:t>
            </a:r>
            <a:r>
              <a:rPr dirty="0" err="1"/>
              <a:t>nakakahadlang</a:t>
            </a:r>
            <a:r>
              <a:rPr dirty="0"/>
              <a:t>?' — para </a:t>
            </a:r>
            <a:r>
              <a:rPr dirty="0" err="1"/>
              <a:t>sa</a:t>
            </a:r>
            <a:r>
              <a:rPr dirty="0"/>
              <a:t> post-lesson debrief.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DALHIN step 1-2 (5 min): 7-Sunday Watch setup (2 min) — para </a:t>
            </a:r>
            <a:r>
              <a:rPr dirty="0" err="1"/>
              <a:t>sa</a:t>
            </a:r>
            <a:r>
              <a:rPr dirty="0"/>
              <a:t> </a:t>
            </a:r>
            <a:r>
              <a:rPr dirty="0" err="1"/>
              <a:t>susunod</a:t>
            </a:r>
            <a:r>
              <a:rPr dirty="0"/>
              <a:t> </a:t>
            </a:r>
            <a:r>
              <a:rPr dirty="0" err="1"/>
              <a:t>na</a:t>
            </a:r>
            <a:r>
              <a:rPr dirty="0"/>
              <a:t> 7 </a:t>
            </a:r>
            <a:r>
              <a:rPr dirty="0" err="1"/>
              <a:t>Linggo</a:t>
            </a:r>
            <a:r>
              <a:rPr dirty="0"/>
              <a:t>, </a:t>
            </a:r>
            <a:r>
              <a:rPr dirty="0" err="1"/>
              <a:t>hindi</a:t>
            </a:r>
            <a:r>
              <a:rPr dirty="0"/>
              <a:t> </a:t>
            </a:r>
            <a:r>
              <a:rPr dirty="0" err="1"/>
              <a:t>i</a:t>
            </a:r>
            <a:r>
              <a:rPr dirty="0"/>
              <a:t>-fill </a:t>
            </a:r>
            <a:r>
              <a:rPr dirty="0" err="1"/>
              <a:t>ngayon</a:t>
            </a:r>
            <a:r>
              <a:rPr dirty="0"/>
              <a:t>. </a:t>
            </a:r>
            <a:endParaRPr lang="en-US" dirty="0"/>
          </a:p>
          <a:p>
            <a:r>
              <a:rPr dirty="0"/>
              <a:t>Step 2 EOLO Church-Invite Bridge (3 min) — ITO ANG PINAKA-CONFRONTING QUESTION ng lesson. '</a:t>
            </a:r>
            <a:r>
              <a:rPr dirty="0" err="1"/>
              <a:t>Kapag</a:t>
            </a:r>
            <a:r>
              <a:rPr dirty="0"/>
              <a:t> </a:t>
            </a:r>
            <a:r>
              <a:rPr dirty="0" err="1"/>
              <a:t>dumating</a:t>
            </a:r>
            <a:r>
              <a:rPr dirty="0"/>
              <a:t> ang Araw at </a:t>
            </a:r>
            <a:r>
              <a:rPr dirty="0" err="1"/>
              <a:t>hindi</a:t>
            </a:r>
            <a:r>
              <a:rPr dirty="0"/>
              <a:t> </a:t>
            </a:r>
            <a:r>
              <a:rPr dirty="0" err="1"/>
              <a:t>mo</a:t>
            </a:r>
            <a:r>
              <a:rPr dirty="0"/>
              <a:t> </a:t>
            </a:r>
            <a:r>
              <a:rPr dirty="0" err="1"/>
              <a:t>siya</a:t>
            </a:r>
            <a:r>
              <a:rPr dirty="0"/>
              <a:t> </a:t>
            </a:r>
            <a:r>
              <a:rPr dirty="0" err="1"/>
              <a:t>nai</a:t>
            </a:r>
            <a:r>
              <a:rPr dirty="0"/>
              <a:t>-invite, </a:t>
            </a:r>
            <a:r>
              <a:rPr dirty="0" err="1"/>
              <a:t>ano</a:t>
            </a:r>
            <a:r>
              <a:rPr dirty="0"/>
              <a:t> ang </a:t>
            </a:r>
            <a:r>
              <a:rPr dirty="0" err="1"/>
              <a:t>sasabihin</a:t>
            </a:r>
            <a:r>
              <a:rPr dirty="0"/>
              <a:t> </a:t>
            </a:r>
            <a:r>
              <a:rPr dirty="0" err="1"/>
              <a:t>mo</a:t>
            </a:r>
            <a:r>
              <a:rPr dirty="0"/>
              <a:t> kay Cristo?' </a:t>
            </a:r>
            <a:endParaRPr lang="en-US" dirty="0"/>
          </a:p>
          <a:p>
            <a:r>
              <a:rPr dirty="0"/>
              <a:t>Hayaan ang </a:t>
            </a:r>
            <a:r>
              <a:rPr dirty="0" err="1"/>
              <a:t>katahimikan</a:t>
            </a:r>
            <a:r>
              <a:rPr dirty="0"/>
              <a:t>. </a:t>
            </a:r>
            <a:endParaRPr lang="en-US" dirty="0"/>
          </a:p>
          <a:p>
            <a:r>
              <a:rPr dirty="0"/>
              <a:t>Wag </a:t>
            </a:r>
            <a:r>
              <a:rPr dirty="0" err="1"/>
              <a:t>i</a:t>
            </a:r>
            <a:r>
              <a:rPr dirty="0"/>
              <a:t>-rush.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DALHIN step 4 (</a:t>
            </a:r>
            <a:r>
              <a:rPr dirty="0" err="1"/>
              <a:t>Pangako</a:t>
            </a:r>
            <a:r>
              <a:rPr dirty="0"/>
              <a:t> Ko, 2 min): </a:t>
            </a:r>
            <a:r>
              <a:rPr dirty="0" err="1"/>
              <a:t>Tumayo</a:t>
            </a:r>
            <a:r>
              <a:rPr dirty="0"/>
              <a:t> ang lahat. </a:t>
            </a:r>
            <a:endParaRPr lang="en-US" dirty="0"/>
          </a:p>
          <a:p>
            <a:r>
              <a:rPr dirty="0"/>
              <a:t>Sabay-</a:t>
            </a:r>
            <a:r>
              <a:rPr dirty="0" err="1"/>
              <a:t>sabay</a:t>
            </a:r>
            <a:r>
              <a:rPr dirty="0"/>
              <a:t> </a:t>
            </a:r>
            <a:r>
              <a:rPr dirty="0" err="1"/>
              <a:t>nating</a:t>
            </a:r>
            <a:r>
              <a:rPr dirty="0"/>
              <a:t> </a:t>
            </a:r>
            <a:r>
              <a:rPr dirty="0" err="1"/>
              <a:t>bigkasin</a:t>
            </a:r>
            <a:r>
              <a:rPr dirty="0"/>
              <a:t> </a:t>
            </a:r>
            <a:r>
              <a:rPr dirty="0" err="1"/>
              <a:t>nang</a:t>
            </a:r>
            <a:r>
              <a:rPr dirty="0"/>
              <a:t> </a:t>
            </a:r>
            <a:r>
              <a:rPr dirty="0" err="1"/>
              <a:t>malakas</a:t>
            </a:r>
            <a:r>
              <a:rPr dirty="0"/>
              <a:t>. </a:t>
            </a:r>
            <a:endParaRPr lang="en-US" dirty="0"/>
          </a:p>
          <a:p>
            <a:r>
              <a:rPr dirty="0" err="1"/>
              <a:t>Pagkatapos</a:t>
            </a:r>
            <a:r>
              <a:rPr dirty="0"/>
              <a:t> </a:t>
            </a:r>
            <a:r>
              <a:rPr dirty="0" err="1"/>
              <a:t>sabihin</a:t>
            </a:r>
            <a:r>
              <a:rPr dirty="0"/>
              <a:t> </a:t>
            </a:r>
            <a:r>
              <a:rPr dirty="0" err="1"/>
              <a:t>sa</a:t>
            </a:r>
            <a:r>
              <a:rPr dirty="0"/>
              <a:t> </a:t>
            </a:r>
            <a:r>
              <a:rPr dirty="0" err="1"/>
              <a:t>katabi</a:t>
            </a:r>
            <a:r>
              <a:rPr dirty="0"/>
              <a:t>: 'Saksi ka.' </a:t>
            </a:r>
            <a:endParaRPr lang="en-US" dirty="0"/>
          </a:p>
          <a:p>
            <a:r>
              <a:rPr dirty="0"/>
              <a:t>At </a:t>
            </a:r>
            <a:r>
              <a:rPr dirty="0" err="1"/>
              <a:t>sumagot</a:t>
            </a:r>
            <a:r>
              <a:rPr dirty="0"/>
              <a:t> ang </a:t>
            </a:r>
            <a:r>
              <a:rPr dirty="0" err="1"/>
              <a:t>katabi</a:t>
            </a:r>
            <a:r>
              <a:rPr dirty="0"/>
              <a:t>: 'Saksi </a:t>
            </a:r>
            <a:r>
              <a:rPr dirty="0" err="1"/>
              <a:t>ako</a:t>
            </a:r>
            <a:r>
              <a:rPr dirty="0"/>
              <a:t>.' </a:t>
            </a:r>
            <a:endParaRPr lang="en-US" dirty="0"/>
          </a:p>
          <a:p>
            <a:r>
              <a:rPr dirty="0"/>
              <a:t>Ang witness exchange ay </a:t>
            </a:r>
            <a:r>
              <a:rPr dirty="0" err="1"/>
              <a:t>mahalaga</a:t>
            </a:r>
            <a:r>
              <a:rPr dirty="0"/>
              <a:t> — </a:t>
            </a:r>
            <a:r>
              <a:rPr dirty="0" err="1"/>
              <a:t>ito</a:t>
            </a:r>
            <a:r>
              <a:rPr dirty="0"/>
              <a:t> ang Structural Motivation (Six Sources mapping). </a:t>
            </a:r>
            <a:endParaRPr lang="en-US" dirty="0"/>
          </a:p>
          <a:p>
            <a:r>
              <a:rPr dirty="0"/>
              <a:t>Locked into LCG memory.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DALHIN step 5 (end snapshot + L8 preview, 2 min): balikan ang 1-10 scale sa Dalhin. Ihambing sa PUKAW snapshot — anong pinakikilos ng Espiritu? Tapos L8 preview: 'Susunod na Linggo — Stewardship. Mula sa weekly gathering, lalapit tayo sa weekly giving.' Pwedeng optional closing video kung may 2 min 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5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728655" cy="365760"/>
          </a:xfrm>
          <a:prstGeom prst="rect">
            <a:avLst/>
          </a:prstGeom>
          <a:noFill/>
        </p:spPr>
        <p:txBody>
          <a:bodyPr wrap="square" lIns="0" tIns="0" rIns="0" bIns="0">
            <a:spAutoFit/>
          </a:bodyPr>
          <a:lstStyle/>
          <a:p>
            <a:pPr algn="ctr"/>
            <a:r>
              <a:rPr sz="1400" b="1" i="0">
                <a:solidFill>
                  <a:srgbClr val="D4A854"/>
                </a:solidFill>
                <a:latin typeface="DM Sans"/>
              </a:rPr>
              <a:t>BTLI 1 · LESSON 7</a:t>
            </a:r>
          </a:p>
        </p:txBody>
      </p:sp>
      <p:sp>
        <p:nvSpPr>
          <p:cNvPr id="4" name="TextBox 3"/>
          <p:cNvSpPr txBox="1"/>
          <p:nvPr/>
        </p:nvSpPr>
        <p:spPr>
          <a:xfrm>
            <a:off x="731520" y="1935976"/>
            <a:ext cx="10728655" cy="1015663"/>
          </a:xfrm>
          <a:prstGeom prst="rect">
            <a:avLst/>
          </a:prstGeom>
          <a:noFill/>
        </p:spPr>
        <p:txBody>
          <a:bodyPr wrap="square" lIns="0" tIns="0" rIns="0" bIns="0">
            <a:spAutoFit/>
          </a:bodyPr>
          <a:lstStyle/>
          <a:p>
            <a:pPr algn="ctr"/>
            <a:r>
              <a:rPr sz="6600" b="1" i="0">
                <a:solidFill>
                  <a:srgbClr val="FDFBF6"/>
                </a:solidFill>
                <a:latin typeface="Playfair Display"/>
              </a:rPr>
              <a:t>Sama-Samang Pagsamba</a:t>
            </a:r>
          </a:p>
        </p:txBody>
      </p:sp>
      <p:sp>
        <p:nvSpPr>
          <p:cNvPr id="5" name="TextBox 4"/>
          <p:cNvSpPr txBox="1"/>
          <p:nvPr/>
        </p:nvSpPr>
        <p:spPr>
          <a:xfrm>
            <a:off x="731520" y="3033256"/>
            <a:ext cx="10728655" cy="615553"/>
          </a:xfrm>
          <a:prstGeom prst="rect">
            <a:avLst/>
          </a:prstGeom>
          <a:noFill/>
        </p:spPr>
        <p:txBody>
          <a:bodyPr wrap="square" lIns="0" tIns="0" rIns="0" bIns="0">
            <a:spAutoFit/>
          </a:bodyPr>
          <a:lstStyle/>
          <a:p>
            <a:pPr algn="ctr"/>
            <a:r>
              <a:rPr sz="4000" b="0" i="0">
                <a:solidFill>
                  <a:srgbClr val="FDFBF6"/>
                </a:solidFill>
                <a:latin typeface="Playfair Display"/>
              </a:rPr>
              <a:t>Church Worship Service</a:t>
            </a:r>
          </a:p>
        </p:txBody>
      </p:sp>
      <p:sp>
        <p:nvSpPr>
          <p:cNvPr id="6" name="TextBox 5"/>
          <p:cNvSpPr txBox="1"/>
          <p:nvPr/>
        </p:nvSpPr>
        <p:spPr>
          <a:xfrm>
            <a:off x="731520" y="3880946"/>
            <a:ext cx="10728655" cy="492443"/>
          </a:xfrm>
          <a:prstGeom prst="rect">
            <a:avLst/>
          </a:prstGeom>
          <a:noFill/>
        </p:spPr>
        <p:txBody>
          <a:bodyPr wrap="square" lIns="0" tIns="0" rIns="0" bIns="0">
            <a:spAutoFit/>
          </a:bodyPr>
          <a:lstStyle/>
          <a:p>
            <a:pPr algn="ctr"/>
            <a:r>
              <a:rPr sz="3200" b="0" i="1" dirty="0">
                <a:solidFill>
                  <a:srgbClr val="FDFBF6"/>
                </a:solidFill>
                <a:latin typeface="DM Sans"/>
              </a:rPr>
              <a:t>Bakit </a:t>
            </a:r>
            <a:r>
              <a:rPr sz="3200" b="0" i="1" dirty="0" err="1">
                <a:solidFill>
                  <a:srgbClr val="FDFBF6"/>
                </a:solidFill>
                <a:latin typeface="DM Sans"/>
              </a:rPr>
              <a:t>Mahalaga</a:t>
            </a:r>
            <a:r>
              <a:rPr sz="3200" b="0" i="1" dirty="0">
                <a:solidFill>
                  <a:srgbClr val="FDFBF6"/>
                </a:solidFill>
                <a:latin typeface="DM Sans"/>
              </a:rPr>
              <a:t> ang </a:t>
            </a:r>
            <a:r>
              <a:rPr sz="3200" b="0" i="1" dirty="0" err="1">
                <a:solidFill>
                  <a:srgbClr val="FDFBF6"/>
                </a:solidFill>
                <a:latin typeface="DM Sans"/>
              </a:rPr>
              <a:t>Pagsamba</a:t>
            </a:r>
            <a:r>
              <a:rPr sz="3200" b="0" i="1" dirty="0">
                <a:solidFill>
                  <a:srgbClr val="FDFBF6"/>
                </a:solidFill>
                <a:latin typeface="DM Sans"/>
              </a:rPr>
              <a:t> </a:t>
            </a:r>
            <a:r>
              <a:rPr sz="3200" b="0" i="1" dirty="0" err="1">
                <a:solidFill>
                  <a:srgbClr val="FDFBF6"/>
                </a:solidFill>
                <a:latin typeface="DM Sans"/>
              </a:rPr>
              <a:t>n</a:t>
            </a:r>
            <a:r>
              <a:rPr lang="en-US" sz="3200" b="0" i="1" dirty="0" err="1">
                <a:solidFill>
                  <a:srgbClr val="FDFBF6"/>
                </a:solidFill>
                <a:latin typeface="DM Sans"/>
              </a:rPr>
              <a:t>ang</a:t>
            </a:r>
            <a:r>
              <a:rPr sz="3200" b="0" i="1" dirty="0">
                <a:solidFill>
                  <a:srgbClr val="FDFBF6"/>
                </a:solidFill>
                <a:latin typeface="DM Sans"/>
              </a:rPr>
              <a:t> </a:t>
            </a:r>
            <a:r>
              <a:rPr sz="3200" b="0" i="1" dirty="0" err="1">
                <a:solidFill>
                  <a:srgbClr val="FDFBF6"/>
                </a:solidFill>
                <a:latin typeface="DM Sans"/>
              </a:rPr>
              <a:t>Magkakasama</a:t>
            </a:r>
            <a:r>
              <a:rPr sz="3200" b="0" i="1" dirty="0">
                <a:solidFill>
                  <a:srgbClr val="FDFBF6"/>
                </a:solidFill>
                <a:latin typeface="DM Sans"/>
              </a:rPr>
              <a:t>?</a:t>
            </a:r>
          </a:p>
        </p:txBody>
      </p:sp>
      <p:sp>
        <p:nvSpPr>
          <p:cNvPr id="7" name="TextBox 6"/>
          <p:cNvSpPr txBox="1"/>
          <p:nvPr/>
        </p:nvSpPr>
        <p:spPr>
          <a:xfrm>
            <a:off x="11094415" y="6400800"/>
            <a:ext cx="914400" cy="274320"/>
          </a:xfrm>
          <a:prstGeom prst="rect">
            <a:avLst/>
          </a:prstGeom>
          <a:noFill/>
        </p:spPr>
        <p:txBody>
          <a:bodyPr wrap="none" lIns="0" rIns="0">
            <a:spAutoFit/>
          </a:bodyPr>
          <a:lstStyle/>
          <a:p>
            <a:pPr algn="r"/>
            <a:r>
              <a:rPr sz="900" b="1">
                <a:solidFill>
                  <a:srgbClr val="FDFBF6"/>
                </a:solidFill>
                <a:latin typeface="DM Sans"/>
              </a:rPr>
              <a:t>1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b="1">
                <a:solidFill>
                  <a:srgbClr val="2A5C40"/>
                </a:solidFill>
                <a:latin typeface="DM Sans"/>
              </a:rPr>
              <a:t>MEMORY VERSE</a:t>
            </a:r>
          </a:p>
        </p:txBody>
      </p:sp>
      <p:sp>
        <p:nvSpPr>
          <p:cNvPr id="4" name="TextBox 3"/>
          <p:cNvSpPr txBox="1"/>
          <p:nvPr/>
        </p:nvSpPr>
        <p:spPr>
          <a:xfrm>
            <a:off x="731520" y="1143000"/>
            <a:ext cx="10728655" cy="1005840"/>
          </a:xfrm>
          <a:prstGeom prst="rect">
            <a:avLst/>
          </a:prstGeom>
          <a:noFill/>
        </p:spPr>
        <p:txBody>
          <a:bodyPr wrap="square" lIns="0" tIns="0" rIns="0" bIns="0">
            <a:spAutoFit/>
          </a:bodyPr>
          <a:lstStyle/>
          <a:p>
            <a:pPr algn="ctr"/>
            <a:r>
              <a:rPr sz="3600" b="1" i="0">
                <a:solidFill>
                  <a:srgbClr val="1A2E22"/>
                </a:solidFill>
                <a:latin typeface="Playfair Display"/>
              </a:rPr>
              <a:t>Hebreo 10:25</a:t>
            </a:r>
          </a:p>
        </p:txBody>
      </p:sp>
      <p:sp>
        <p:nvSpPr>
          <p:cNvPr id="5" name="Rounded Rectangle 4"/>
          <p:cNvSpPr/>
          <p:nvPr/>
        </p:nvSpPr>
        <p:spPr>
          <a:xfrm>
            <a:off x="1371600" y="2240280"/>
            <a:ext cx="9448495" cy="2011680"/>
          </a:xfrm>
          <a:prstGeom prst="roundRect">
            <a:avLst/>
          </a:prstGeom>
          <a:solidFill>
            <a:srgbClr val="F6F2E7"/>
          </a:solidFill>
          <a:ln w="25400">
            <a:solidFill>
              <a:srgbClr val="B8882A"/>
            </a:solidFill>
          </a:ln>
        </p:spPr>
        <p:style>
          <a:lnRef idx="1">
            <a:schemeClr val="accent1"/>
          </a:lnRef>
          <a:fillRef idx="3">
            <a:schemeClr val="accent1"/>
          </a:fillRef>
          <a:effectRef idx="2">
            <a:schemeClr val="accent1"/>
          </a:effectRef>
          <a:fontRef idx="minor">
            <a:schemeClr val="lt1"/>
          </a:fontRef>
        </p:style>
        <p:txBody>
          <a:bodyPr wrap="square" lIns="320040" tIns="228600" rIns="320040" bIns="228600" rtlCol="0" anchor="ctr"/>
          <a:lstStyle/>
          <a:p>
            <a:pPr algn="l"/>
            <a:r>
              <a:rPr sz="2800" i="1">
                <a:solidFill>
                  <a:srgbClr val="1A2E22"/>
                </a:solidFill>
                <a:latin typeface="Playfair Display"/>
              </a:rPr>
              <a:t>"Huwag nating kaliligtaan ang pagdalo sa ating mga pagtitipon, gaya ng nakasanayan ng iba. Sa halip, palakasin natin ang loob ng isa't isa, lalo na ngayong nakikita nating malapit na ang Araw ng Panginoon."</a:t>
            </a:r>
          </a:p>
        </p:txBody>
      </p:sp>
      <p:sp>
        <p:nvSpPr>
          <p:cNvPr id="6" name="TextBox 5"/>
          <p:cNvSpPr txBox="1"/>
          <p:nvPr/>
        </p:nvSpPr>
        <p:spPr>
          <a:xfrm>
            <a:off x="11632109" y="6400800"/>
            <a:ext cx="376706" cy="276999"/>
          </a:xfrm>
          <a:prstGeom prst="rect">
            <a:avLst/>
          </a:prstGeom>
          <a:noFill/>
        </p:spPr>
        <p:txBody>
          <a:bodyPr wrap="none" lIns="0" rIns="0">
            <a:spAutoFit/>
          </a:bodyPr>
          <a:lstStyle/>
          <a:p>
            <a:pPr algn="r"/>
            <a:r>
              <a:rPr sz="1200" b="1">
                <a:solidFill>
                  <a:srgbClr val="1A2E22"/>
                </a:solidFill>
                <a:latin typeface="DM Sans"/>
              </a:rPr>
              <a:t>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b="1">
                <a:solidFill>
                  <a:srgbClr val="2A5C40"/>
                </a:solidFill>
                <a:latin typeface="DM Sans"/>
              </a:rPr>
              <a:t>PUKAW · 8 MIN</a:t>
            </a:r>
          </a:p>
        </p:txBody>
      </p:sp>
      <p:sp>
        <p:nvSpPr>
          <p:cNvPr id="4" name="TextBox 3"/>
          <p:cNvSpPr txBox="1"/>
          <p:nvPr/>
        </p:nvSpPr>
        <p:spPr>
          <a:xfrm>
            <a:off x="731520" y="1143000"/>
            <a:ext cx="10728655" cy="738664"/>
          </a:xfrm>
          <a:prstGeom prst="rect">
            <a:avLst/>
          </a:prstGeom>
          <a:noFill/>
        </p:spPr>
        <p:txBody>
          <a:bodyPr wrap="square" lIns="0" tIns="0" rIns="0" bIns="0">
            <a:spAutoFit/>
          </a:bodyPr>
          <a:lstStyle/>
          <a:p>
            <a:pPr algn="ctr"/>
            <a:r>
              <a:rPr sz="4800" b="1" i="0">
                <a:solidFill>
                  <a:srgbClr val="1A2E22"/>
                </a:solidFill>
                <a:latin typeface="Playfair Display"/>
              </a:rPr>
              <a:t>Pagbalik sa L6 · Sariling Snapshot</a:t>
            </a:r>
          </a:p>
        </p:txBody>
      </p:sp>
      <p:sp>
        <p:nvSpPr>
          <p:cNvPr id="5" name="TextBox 4"/>
          <p:cNvSpPr txBox="1"/>
          <p:nvPr/>
        </p:nvSpPr>
        <p:spPr>
          <a:xfrm>
            <a:off x="731520" y="2240280"/>
            <a:ext cx="10728655" cy="430887"/>
          </a:xfrm>
          <a:prstGeom prst="rect">
            <a:avLst/>
          </a:prstGeom>
          <a:noFill/>
        </p:spPr>
        <p:txBody>
          <a:bodyPr wrap="square" lIns="0" tIns="0" rIns="0" bIns="0">
            <a:spAutoFit/>
          </a:bodyPr>
          <a:lstStyle/>
          <a:p>
            <a:pPr algn="ctr"/>
            <a:r>
              <a:rPr sz="2800" b="0" i="0">
                <a:solidFill>
                  <a:srgbClr val="1A2E22"/>
                </a:solidFill>
                <a:latin typeface="DM Sans"/>
              </a:rPr>
              <a:t>Kumusta ang Pangako Ko mo nung L6?</a:t>
            </a:r>
          </a:p>
        </p:txBody>
      </p:sp>
      <p:sp>
        <p:nvSpPr>
          <p:cNvPr id="6" name="TextBox 5"/>
          <p:cNvSpPr txBox="1"/>
          <p:nvPr/>
        </p:nvSpPr>
        <p:spPr>
          <a:xfrm>
            <a:off x="731520" y="2651760"/>
            <a:ext cx="10728655" cy="430887"/>
          </a:xfrm>
          <a:prstGeom prst="rect">
            <a:avLst/>
          </a:prstGeom>
          <a:noFill/>
        </p:spPr>
        <p:txBody>
          <a:bodyPr wrap="square" lIns="0" tIns="0" rIns="0" bIns="0">
            <a:spAutoFit/>
          </a:bodyPr>
          <a:lstStyle/>
          <a:p>
            <a:pPr algn="ctr"/>
            <a:r>
              <a:rPr sz="2800" b="0" i="0">
                <a:solidFill>
                  <a:srgbClr val="1A2E22"/>
                </a:solidFill>
                <a:latin typeface="DM Sans"/>
              </a:rPr>
              <a:t>Sino sa Box 4 ang naabot mo o pinanalanginan mo?</a:t>
            </a:r>
          </a:p>
        </p:txBody>
      </p:sp>
      <p:sp>
        <p:nvSpPr>
          <p:cNvPr id="7" name="TextBox 6"/>
          <p:cNvSpPr txBox="1"/>
          <p:nvPr/>
        </p:nvSpPr>
        <p:spPr>
          <a:xfrm>
            <a:off x="731520" y="3200400"/>
            <a:ext cx="10728655" cy="615553"/>
          </a:xfrm>
          <a:prstGeom prst="rect">
            <a:avLst/>
          </a:prstGeom>
          <a:noFill/>
        </p:spPr>
        <p:txBody>
          <a:bodyPr wrap="square" lIns="0" tIns="0" rIns="0" bIns="0">
            <a:spAutoFit/>
          </a:bodyPr>
          <a:lstStyle/>
          <a:p>
            <a:pPr algn="ctr"/>
            <a:r>
              <a:rPr sz="4000" b="1" i="1" dirty="0">
                <a:solidFill>
                  <a:srgbClr val="1F4530"/>
                </a:solidFill>
                <a:latin typeface="Playfair Display"/>
              </a:rPr>
              <a:t>1—10 Sunday Attendance S</a:t>
            </a:r>
            <a:r>
              <a:rPr lang="en-US" sz="4000" b="1" i="1" dirty="0">
                <a:solidFill>
                  <a:srgbClr val="1F4530"/>
                </a:solidFill>
                <a:latin typeface="Playfair Display"/>
              </a:rPr>
              <a:t>core</a:t>
            </a:r>
            <a:endParaRPr sz="4000" b="1" i="1" dirty="0">
              <a:solidFill>
                <a:srgbClr val="1F4530"/>
              </a:solidFill>
              <a:latin typeface="Playfair Display"/>
            </a:endParaRPr>
          </a:p>
        </p:txBody>
      </p:sp>
      <p:sp>
        <p:nvSpPr>
          <p:cNvPr id="8" name="TextBox 7"/>
          <p:cNvSpPr txBox="1"/>
          <p:nvPr/>
        </p:nvSpPr>
        <p:spPr>
          <a:xfrm>
            <a:off x="731520" y="4023360"/>
            <a:ext cx="10728655" cy="276999"/>
          </a:xfrm>
          <a:prstGeom prst="rect">
            <a:avLst/>
          </a:prstGeom>
          <a:noFill/>
        </p:spPr>
        <p:txBody>
          <a:bodyPr wrap="square" lIns="0" tIns="0" rIns="0" bIns="0">
            <a:spAutoFit/>
          </a:bodyPr>
          <a:lstStyle/>
          <a:p>
            <a:pPr algn="ctr"/>
            <a:r>
              <a:rPr b="0" i="1">
                <a:solidFill>
                  <a:srgbClr val="1A2E22"/>
                </a:solidFill>
                <a:latin typeface="DM Sans"/>
              </a:rPr>
              <a:t>(8 linggo · sariling assessment · hindi shi-share ngayon)</a:t>
            </a:r>
          </a:p>
        </p:txBody>
      </p:sp>
      <p:sp>
        <p:nvSpPr>
          <p:cNvPr id="9" name="TextBox 8"/>
          <p:cNvSpPr txBox="1"/>
          <p:nvPr/>
        </p:nvSpPr>
        <p:spPr>
          <a:xfrm>
            <a:off x="11660963" y="6400800"/>
            <a:ext cx="347852" cy="261610"/>
          </a:xfrm>
          <a:prstGeom prst="rect">
            <a:avLst/>
          </a:prstGeom>
          <a:noFill/>
        </p:spPr>
        <p:txBody>
          <a:bodyPr wrap="none" lIns="0" rIns="0">
            <a:spAutoFit/>
          </a:bodyPr>
          <a:lstStyle/>
          <a:p>
            <a:pPr algn="r"/>
            <a:r>
              <a:rPr sz="1100" b="1">
                <a:solidFill>
                  <a:srgbClr val="1A2E22"/>
                </a:solidFill>
                <a:latin typeface="DM Sans"/>
              </a:rPr>
              <a:t>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2A5C40"/>
                </a:solidFill>
                <a:latin typeface="DM Sans"/>
              </a:rPr>
              <a:t>PUKAW · ACTIVITY</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1A2E22"/>
                </a:solidFill>
                <a:latin typeface="Playfair Display"/>
              </a:rPr>
              <a:t>Alin ang nasa puso mo?</a:t>
            </a:r>
          </a:p>
        </p:txBody>
      </p:sp>
      <p:sp>
        <p:nvSpPr>
          <p:cNvPr id="5" name="TextBox 4"/>
          <p:cNvSpPr txBox="1"/>
          <p:nvPr/>
        </p:nvSpPr>
        <p:spPr>
          <a:xfrm>
            <a:off x="731520" y="2240280"/>
            <a:ext cx="10728655" cy="369332"/>
          </a:xfrm>
          <a:prstGeom prst="rect">
            <a:avLst/>
          </a:prstGeom>
          <a:noFill/>
        </p:spPr>
        <p:txBody>
          <a:bodyPr wrap="square" lIns="0" tIns="0" rIns="0" bIns="0">
            <a:spAutoFit/>
          </a:bodyPr>
          <a:lstStyle/>
          <a:p>
            <a:pPr algn="ctr"/>
            <a:r>
              <a:rPr sz="2400" b="0" i="1">
                <a:solidFill>
                  <a:srgbClr val="1A2E22"/>
                </a:solidFill>
                <a:latin typeface="DM Sans"/>
              </a:rPr>
              <a:t>Anong "church" image ang pinakamalapit sa'yo?</a:t>
            </a:r>
          </a:p>
        </p:txBody>
      </p:sp>
      <p:sp>
        <p:nvSpPr>
          <p:cNvPr id="6" name="Rounded Rectangle 5"/>
          <p:cNvSpPr/>
          <p:nvPr/>
        </p:nvSpPr>
        <p:spPr>
          <a:xfrm>
            <a:off x="731520" y="2697480"/>
            <a:ext cx="5181447" cy="1005840"/>
          </a:xfrm>
          <a:prstGeom prst="roundRect">
            <a:avLst/>
          </a:prstGeom>
          <a:solidFill>
            <a:srgbClr val="FDFBF6"/>
          </a:solidFill>
          <a:ln w="19050">
            <a:solidFill>
              <a:srgbClr val="1F453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200" b="1">
                <a:solidFill>
                  <a:srgbClr val="1F4530"/>
                </a:solidFill>
                <a:latin typeface="DM Sans"/>
              </a:rPr>
              <a:t>⛪ Place of Gathering</a:t>
            </a:r>
          </a:p>
          <a:p>
            <a:pPr algn="ctr"/>
            <a:r>
              <a:rPr i="1">
                <a:solidFill>
                  <a:srgbClr val="6B6253"/>
                </a:solidFill>
                <a:latin typeface="DM Sans"/>
              </a:rPr>
              <a:t>para sa mga banal</a:t>
            </a:r>
          </a:p>
        </p:txBody>
      </p:sp>
      <p:sp>
        <p:nvSpPr>
          <p:cNvPr id="7" name="Rounded Rectangle 6"/>
          <p:cNvSpPr/>
          <p:nvPr/>
        </p:nvSpPr>
        <p:spPr>
          <a:xfrm>
            <a:off x="6278727" y="2697480"/>
            <a:ext cx="5181447" cy="1005840"/>
          </a:xfrm>
          <a:prstGeom prst="roundRect">
            <a:avLst/>
          </a:prstGeom>
          <a:solidFill>
            <a:srgbClr val="FDFBF6"/>
          </a:solidFill>
          <a:ln w="19050">
            <a:solidFill>
              <a:srgbClr val="1F453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200" b="1">
                <a:solidFill>
                  <a:srgbClr val="1F4530"/>
                </a:solidFill>
                <a:latin typeface="DM Sans"/>
              </a:rPr>
              <a:t>🏥 Spiritual Hospital</a:t>
            </a:r>
          </a:p>
          <a:p>
            <a:pPr algn="ctr"/>
            <a:r>
              <a:rPr i="1">
                <a:solidFill>
                  <a:srgbClr val="6B6253"/>
                </a:solidFill>
                <a:latin typeface="DM Sans"/>
              </a:rPr>
              <a:t>para sa mga sugatang kaluluwa</a:t>
            </a:r>
          </a:p>
        </p:txBody>
      </p:sp>
      <p:sp>
        <p:nvSpPr>
          <p:cNvPr id="8" name="Rounded Rectangle 7"/>
          <p:cNvSpPr/>
          <p:nvPr/>
        </p:nvSpPr>
        <p:spPr>
          <a:xfrm>
            <a:off x="731520" y="3931920"/>
            <a:ext cx="5181447" cy="1005840"/>
          </a:xfrm>
          <a:prstGeom prst="roundRect">
            <a:avLst/>
          </a:prstGeom>
          <a:solidFill>
            <a:srgbClr val="FDFBF6"/>
          </a:solidFill>
          <a:ln w="19050">
            <a:solidFill>
              <a:srgbClr val="1F453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200" b="1">
                <a:solidFill>
                  <a:srgbClr val="1F4530"/>
                </a:solidFill>
                <a:latin typeface="DM Sans"/>
              </a:rPr>
              <a:t>🛒 Spiritual Grocery</a:t>
            </a:r>
          </a:p>
          <a:p>
            <a:pPr algn="ctr"/>
            <a:r>
              <a:rPr i="1">
                <a:solidFill>
                  <a:srgbClr val="6B6253"/>
                </a:solidFill>
                <a:latin typeface="DM Sans"/>
              </a:rPr>
              <a:t>para sa spiritual needs</a:t>
            </a:r>
          </a:p>
        </p:txBody>
      </p:sp>
      <p:sp>
        <p:nvSpPr>
          <p:cNvPr id="9" name="Rounded Rectangle 8"/>
          <p:cNvSpPr/>
          <p:nvPr/>
        </p:nvSpPr>
        <p:spPr>
          <a:xfrm>
            <a:off x="6278727" y="3931920"/>
            <a:ext cx="5181447" cy="1005840"/>
          </a:xfrm>
          <a:prstGeom prst="roundRect">
            <a:avLst/>
          </a:prstGeom>
          <a:solidFill>
            <a:srgbClr val="FDFBF6"/>
          </a:solidFill>
          <a:ln w="19050">
            <a:solidFill>
              <a:srgbClr val="1F453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200" b="1">
                <a:solidFill>
                  <a:srgbClr val="1F4530"/>
                </a:solidFill>
                <a:latin typeface="DM Sans"/>
              </a:rPr>
              <a:t>✎ Iba pa</a:t>
            </a:r>
          </a:p>
          <a:p>
            <a:pPr algn="ctr"/>
            <a:r>
              <a:rPr i="1">
                <a:solidFill>
                  <a:srgbClr val="6B6253"/>
                </a:solidFill>
                <a:latin typeface="DM Sans"/>
              </a:rPr>
              <a:t>isulat o iguhit</a:t>
            </a:r>
          </a:p>
        </p:txBody>
      </p:sp>
      <p:sp>
        <p:nvSpPr>
          <p:cNvPr id="10" name="TextBox 9"/>
          <p:cNvSpPr txBox="1"/>
          <p:nvPr/>
        </p:nvSpPr>
        <p:spPr>
          <a:xfrm>
            <a:off x="11620887" y="6400800"/>
            <a:ext cx="387928" cy="276999"/>
          </a:xfrm>
          <a:prstGeom prst="rect">
            <a:avLst/>
          </a:prstGeom>
          <a:noFill/>
        </p:spPr>
        <p:txBody>
          <a:bodyPr wrap="none" lIns="0" rIns="0">
            <a:spAutoFit/>
          </a:bodyPr>
          <a:lstStyle/>
          <a:p>
            <a:pPr algn="r"/>
            <a:r>
              <a:rPr sz="1200" b="1">
                <a:solidFill>
                  <a:srgbClr val="1A2E22"/>
                </a:solidFill>
                <a:latin typeface="DM Sans"/>
              </a:rPr>
              <a:t>4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D4A854"/>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D4A854"/>
                </a:solidFill>
                <a:latin typeface="DM Sans"/>
              </a:rPr>
              <a:t>TUKLAS · BIG IDEA</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FDFBF6"/>
                </a:solidFill>
                <a:latin typeface="Playfair Display"/>
              </a:rPr>
              <a:t>Ang Big Idea</a:t>
            </a:r>
          </a:p>
        </p:txBody>
      </p:sp>
      <p:sp>
        <p:nvSpPr>
          <p:cNvPr id="5" name="TextBox 4"/>
          <p:cNvSpPr txBox="1"/>
          <p:nvPr/>
        </p:nvSpPr>
        <p:spPr>
          <a:xfrm>
            <a:off x="731520" y="2240280"/>
            <a:ext cx="10728655" cy="2708434"/>
          </a:xfrm>
          <a:prstGeom prst="rect">
            <a:avLst/>
          </a:prstGeom>
          <a:noFill/>
        </p:spPr>
        <p:txBody>
          <a:bodyPr wrap="square" lIns="0" tIns="0" rIns="0" bIns="0">
            <a:spAutoFit/>
          </a:bodyPr>
          <a:lstStyle/>
          <a:p>
            <a:pPr algn="ctr"/>
            <a:r>
              <a:rPr sz="4400" b="1" i="1">
                <a:solidFill>
                  <a:srgbClr val="D4A854"/>
                </a:solidFill>
                <a:latin typeface="Playfair Display"/>
              </a:rPr>
              <a:t>Ang sama-samang pagsamba ay magkasabay na pangangailangan at pananagutan ng isang tunay na mananampalataya.</a:t>
            </a:r>
          </a:p>
        </p:txBody>
      </p:sp>
      <p:sp>
        <p:nvSpPr>
          <p:cNvPr id="6" name="TextBox 5"/>
          <p:cNvSpPr txBox="1"/>
          <p:nvPr/>
        </p:nvSpPr>
        <p:spPr>
          <a:xfrm>
            <a:off x="11624094" y="6400800"/>
            <a:ext cx="384721" cy="276999"/>
          </a:xfrm>
          <a:prstGeom prst="rect">
            <a:avLst/>
          </a:prstGeom>
          <a:noFill/>
        </p:spPr>
        <p:txBody>
          <a:bodyPr wrap="none" lIns="0" rIns="0">
            <a:spAutoFit/>
          </a:bodyPr>
          <a:lstStyle/>
          <a:p>
            <a:pPr algn="r"/>
            <a:r>
              <a:rPr sz="1200" b="1">
                <a:solidFill>
                  <a:srgbClr val="FDFBF6"/>
                </a:solidFill>
                <a:latin typeface="DM Sans"/>
              </a:rPr>
              <a:t>5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990"/>
            <a:ext cx="12191695" cy="6858000"/>
          </a:xfrm>
          <a:prstGeom prst="rect">
            <a:avLst/>
          </a:prstGeom>
          <a:solidFill>
            <a:srgbClr val="F6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2A5C40"/>
                </a:solidFill>
                <a:latin typeface="DM Sans"/>
              </a:rPr>
              <a:t>TUKLAS · COLD OPEN</a:t>
            </a:r>
          </a:p>
        </p:txBody>
      </p:sp>
      <p:sp>
        <p:nvSpPr>
          <p:cNvPr id="4" name="TextBox 3"/>
          <p:cNvSpPr txBox="1"/>
          <p:nvPr/>
        </p:nvSpPr>
        <p:spPr>
          <a:xfrm>
            <a:off x="731519" y="2382481"/>
            <a:ext cx="10728655" cy="830997"/>
          </a:xfrm>
          <a:prstGeom prst="rect">
            <a:avLst/>
          </a:prstGeom>
          <a:noFill/>
        </p:spPr>
        <p:txBody>
          <a:bodyPr wrap="square" lIns="0" tIns="0" rIns="0" bIns="0">
            <a:spAutoFit/>
          </a:bodyPr>
          <a:lstStyle/>
          <a:p>
            <a:pPr algn="ctr"/>
            <a:r>
              <a:rPr lang="en-US" sz="5400" b="1" i="0" dirty="0" err="1">
                <a:solidFill>
                  <a:srgbClr val="1A2E22"/>
                </a:solidFill>
                <a:latin typeface="Playfair Display"/>
              </a:rPr>
              <a:t>Kuwentong</a:t>
            </a:r>
            <a:r>
              <a:rPr lang="en-US" sz="5400" b="1" i="0" dirty="0">
                <a:solidFill>
                  <a:srgbClr val="1A2E22"/>
                </a:solidFill>
                <a:latin typeface="Playfair Display"/>
              </a:rPr>
              <a:t> </a:t>
            </a:r>
            <a:r>
              <a:rPr sz="5400" b="1" i="0" dirty="0">
                <a:solidFill>
                  <a:srgbClr val="1A2E22"/>
                </a:solidFill>
                <a:latin typeface="Playfair Display"/>
              </a:rPr>
              <a:t>Pang-CAT…</a:t>
            </a:r>
          </a:p>
        </p:txBody>
      </p:sp>
      <p:sp>
        <p:nvSpPr>
          <p:cNvPr id="7" name="TextBox 6"/>
          <p:cNvSpPr txBox="1"/>
          <p:nvPr/>
        </p:nvSpPr>
        <p:spPr>
          <a:xfrm>
            <a:off x="731520" y="4500795"/>
            <a:ext cx="10728655" cy="1354217"/>
          </a:xfrm>
          <a:prstGeom prst="rect">
            <a:avLst/>
          </a:prstGeom>
          <a:noFill/>
        </p:spPr>
        <p:txBody>
          <a:bodyPr wrap="square" lIns="0" tIns="0" rIns="0" bIns="0">
            <a:spAutoFit/>
          </a:bodyPr>
          <a:lstStyle/>
          <a:p>
            <a:pPr algn="ctr"/>
            <a:r>
              <a:rPr sz="4400" b="1" i="1" dirty="0" err="1">
                <a:solidFill>
                  <a:srgbClr val="1F4530"/>
                </a:solidFill>
                <a:latin typeface="Playfair Display"/>
              </a:rPr>
              <a:t>Nakakatawa</a:t>
            </a:r>
            <a:r>
              <a:rPr sz="4400" b="1" i="1" dirty="0">
                <a:solidFill>
                  <a:srgbClr val="1F4530"/>
                </a:solidFill>
                <a:latin typeface="Playfair Display"/>
              </a:rPr>
              <a:t> — </a:t>
            </a:r>
            <a:r>
              <a:rPr sz="4400" b="1" i="1" dirty="0" err="1">
                <a:solidFill>
                  <a:srgbClr val="1F4530"/>
                </a:solidFill>
                <a:latin typeface="Playfair Display"/>
              </a:rPr>
              <a:t>pero</a:t>
            </a:r>
            <a:r>
              <a:rPr sz="4400" b="1" i="1" dirty="0">
                <a:solidFill>
                  <a:srgbClr val="1F4530"/>
                </a:solidFill>
                <a:latin typeface="Playfair Display"/>
              </a:rPr>
              <a:t> may </a:t>
            </a:r>
            <a:r>
              <a:rPr sz="4400" b="1" i="1" dirty="0" err="1">
                <a:solidFill>
                  <a:srgbClr val="1F4530"/>
                </a:solidFill>
                <a:latin typeface="Playfair Display"/>
              </a:rPr>
              <a:t>kurot</a:t>
            </a:r>
            <a:r>
              <a:rPr sz="4400" b="1" i="1" dirty="0">
                <a:solidFill>
                  <a:srgbClr val="1F4530"/>
                </a:solidFill>
                <a:latin typeface="Playfair Display"/>
              </a:rPr>
              <a:t> ng </a:t>
            </a:r>
            <a:r>
              <a:rPr sz="4400" b="1" i="1" dirty="0" err="1">
                <a:solidFill>
                  <a:srgbClr val="1F4530"/>
                </a:solidFill>
                <a:latin typeface="Playfair Display"/>
              </a:rPr>
              <a:t>katotohanan</a:t>
            </a:r>
            <a:r>
              <a:rPr sz="4400" b="1" i="1" dirty="0">
                <a:solidFill>
                  <a:srgbClr val="1F4530"/>
                </a:solidFill>
                <a:latin typeface="Playfair Display"/>
              </a:rPr>
              <a:t>.</a:t>
            </a:r>
          </a:p>
        </p:txBody>
      </p:sp>
      <p:sp>
        <p:nvSpPr>
          <p:cNvPr id="8" name="TextBox 7"/>
          <p:cNvSpPr txBox="1"/>
          <p:nvPr/>
        </p:nvSpPr>
        <p:spPr>
          <a:xfrm>
            <a:off x="11622491" y="6400800"/>
            <a:ext cx="386324" cy="276999"/>
          </a:xfrm>
          <a:prstGeom prst="rect">
            <a:avLst/>
          </a:prstGeom>
          <a:noFill/>
        </p:spPr>
        <p:txBody>
          <a:bodyPr wrap="none" lIns="0" rIns="0">
            <a:spAutoFit/>
          </a:bodyPr>
          <a:lstStyle/>
          <a:p>
            <a:pPr algn="r"/>
            <a:r>
              <a:rPr sz="1200" b="1">
                <a:solidFill>
                  <a:srgbClr val="1A2E22"/>
                </a:solidFill>
                <a:latin typeface="DM Sans"/>
              </a:rPr>
              <a:t>6 /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07580-A623-FE22-5EEC-58D06CE633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199175-25A1-B986-586B-4550A82E46E9}"/>
              </a:ext>
            </a:extLst>
          </p:cNvPr>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a:extLst>
              <a:ext uri="{FF2B5EF4-FFF2-40B4-BE49-F238E27FC236}">
                <a16:creationId xmlns:a16="http://schemas.microsoft.com/office/drawing/2014/main" id="{7F37E781-725D-DFFF-4AD9-8DD868E9A120}"/>
              </a:ext>
            </a:extLst>
          </p:cNvPr>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b="1">
                <a:solidFill>
                  <a:srgbClr val="2A5C40"/>
                </a:solidFill>
                <a:latin typeface="DM Sans"/>
              </a:rPr>
              <a:t>MEMORY VERSE</a:t>
            </a:r>
          </a:p>
        </p:txBody>
      </p:sp>
      <p:sp>
        <p:nvSpPr>
          <p:cNvPr id="4" name="TextBox 3">
            <a:extLst>
              <a:ext uri="{FF2B5EF4-FFF2-40B4-BE49-F238E27FC236}">
                <a16:creationId xmlns:a16="http://schemas.microsoft.com/office/drawing/2014/main" id="{CA7B302D-45F5-BD97-41D2-0FA78EED3B87}"/>
              </a:ext>
            </a:extLst>
          </p:cNvPr>
          <p:cNvSpPr txBox="1"/>
          <p:nvPr/>
        </p:nvSpPr>
        <p:spPr>
          <a:xfrm>
            <a:off x="731520" y="1143000"/>
            <a:ext cx="10728655" cy="1005840"/>
          </a:xfrm>
          <a:prstGeom prst="rect">
            <a:avLst/>
          </a:prstGeom>
          <a:noFill/>
        </p:spPr>
        <p:txBody>
          <a:bodyPr wrap="square" lIns="0" tIns="0" rIns="0" bIns="0">
            <a:spAutoFit/>
          </a:bodyPr>
          <a:lstStyle/>
          <a:p>
            <a:pPr algn="ctr"/>
            <a:r>
              <a:rPr sz="3600" b="1" i="0">
                <a:solidFill>
                  <a:srgbClr val="1A2E22"/>
                </a:solidFill>
                <a:latin typeface="Playfair Display"/>
              </a:rPr>
              <a:t>Hebreo 10:25</a:t>
            </a:r>
          </a:p>
        </p:txBody>
      </p:sp>
      <p:sp>
        <p:nvSpPr>
          <p:cNvPr id="5" name="Rounded Rectangle 4">
            <a:extLst>
              <a:ext uri="{FF2B5EF4-FFF2-40B4-BE49-F238E27FC236}">
                <a16:creationId xmlns:a16="http://schemas.microsoft.com/office/drawing/2014/main" id="{BEAF2178-4D6C-B1E7-0138-6D19F14DD766}"/>
              </a:ext>
            </a:extLst>
          </p:cNvPr>
          <p:cNvSpPr/>
          <p:nvPr/>
        </p:nvSpPr>
        <p:spPr>
          <a:xfrm>
            <a:off x="1371600" y="2240280"/>
            <a:ext cx="9448495" cy="2011680"/>
          </a:xfrm>
          <a:prstGeom prst="roundRect">
            <a:avLst/>
          </a:prstGeom>
          <a:solidFill>
            <a:srgbClr val="F6F2E7"/>
          </a:solidFill>
          <a:ln w="25400">
            <a:solidFill>
              <a:srgbClr val="B8882A"/>
            </a:solidFill>
          </a:ln>
        </p:spPr>
        <p:style>
          <a:lnRef idx="1">
            <a:schemeClr val="accent1"/>
          </a:lnRef>
          <a:fillRef idx="3">
            <a:schemeClr val="accent1"/>
          </a:fillRef>
          <a:effectRef idx="2">
            <a:schemeClr val="accent1"/>
          </a:effectRef>
          <a:fontRef idx="minor">
            <a:schemeClr val="lt1"/>
          </a:fontRef>
        </p:style>
        <p:txBody>
          <a:bodyPr wrap="square" lIns="320040" tIns="228600" rIns="320040" bIns="228600" rtlCol="0" anchor="ctr"/>
          <a:lstStyle/>
          <a:p>
            <a:pPr algn="l"/>
            <a:r>
              <a:rPr sz="2800" i="1">
                <a:solidFill>
                  <a:srgbClr val="1A2E22"/>
                </a:solidFill>
                <a:latin typeface="Playfair Display"/>
              </a:rPr>
              <a:t>"Huwag nating kaliligtaan ang pagdalo sa ating mga pagtitipon, gaya ng nakasanayan ng iba. Sa halip, palakasin natin ang loob ng isa't isa, lalo na ngayong nakikita nating malapit na ang Araw ng Panginoon."</a:t>
            </a:r>
          </a:p>
        </p:txBody>
      </p:sp>
      <p:sp>
        <p:nvSpPr>
          <p:cNvPr id="6" name="TextBox 5">
            <a:extLst>
              <a:ext uri="{FF2B5EF4-FFF2-40B4-BE49-F238E27FC236}">
                <a16:creationId xmlns:a16="http://schemas.microsoft.com/office/drawing/2014/main" id="{F60F4B26-5731-719C-3496-851CB45BA779}"/>
              </a:ext>
            </a:extLst>
          </p:cNvPr>
          <p:cNvSpPr txBox="1"/>
          <p:nvPr/>
        </p:nvSpPr>
        <p:spPr>
          <a:xfrm>
            <a:off x="11632109" y="6400800"/>
            <a:ext cx="376706" cy="276999"/>
          </a:xfrm>
          <a:prstGeom prst="rect">
            <a:avLst/>
          </a:prstGeom>
          <a:noFill/>
        </p:spPr>
        <p:txBody>
          <a:bodyPr wrap="none" lIns="0" rIns="0">
            <a:spAutoFit/>
          </a:bodyPr>
          <a:lstStyle/>
          <a:p>
            <a:pPr algn="r"/>
            <a:r>
              <a:rPr sz="1200" b="1">
                <a:solidFill>
                  <a:srgbClr val="1A2E22"/>
                </a:solidFill>
                <a:latin typeface="DM Sans"/>
              </a:rPr>
              <a:t>2 / 16</a:t>
            </a:r>
          </a:p>
        </p:txBody>
      </p:sp>
    </p:spTree>
    <p:extLst>
      <p:ext uri="{BB962C8B-B14F-4D97-AF65-F5344CB8AC3E}">
        <p14:creationId xmlns:p14="http://schemas.microsoft.com/office/powerpoint/2010/main" val="129246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2A5C40"/>
                </a:solidFill>
                <a:latin typeface="DM Sans"/>
              </a:rPr>
              <a:t>TUKLAS · APAT NA P</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1A2E22"/>
                </a:solidFill>
                <a:latin typeface="Playfair Display"/>
              </a:rPr>
              <a:t>Hebreo 10:25 — Apat na P</a:t>
            </a:r>
          </a:p>
        </p:txBody>
      </p:sp>
      <p:sp>
        <p:nvSpPr>
          <p:cNvPr id="5" name="TextBox 4"/>
          <p:cNvSpPr txBox="1"/>
          <p:nvPr/>
        </p:nvSpPr>
        <p:spPr>
          <a:xfrm>
            <a:off x="731520" y="2240280"/>
            <a:ext cx="10728655" cy="369332"/>
          </a:xfrm>
          <a:prstGeom prst="rect">
            <a:avLst/>
          </a:prstGeom>
          <a:noFill/>
        </p:spPr>
        <p:txBody>
          <a:bodyPr wrap="square" lIns="0" tIns="0" rIns="0" bIns="0">
            <a:spAutoFit/>
          </a:bodyPr>
          <a:lstStyle/>
          <a:p>
            <a:pPr algn="ctr"/>
            <a:r>
              <a:rPr sz="2400" b="0" i="1">
                <a:solidFill>
                  <a:srgbClr val="1A2E22"/>
                </a:solidFill>
                <a:latin typeface="DM Sans"/>
              </a:rPr>
              <a:t>Apat na utos sa isang verse.</a:t>
            </a:r>
          </a:p>
        </p:txBody>
      </p:sp>
      <p:sp>
        <p:nvSpPr>
          <p:cNvPr id="6" name="Rounded Rectangle 5"/>
          <p:cNvSpPr/>
          <p:nvPr/>
        </p:nvSpPr>
        <p:spPr>
          <a:xfrm>
            <a:off x="731520" y="2697480"/>
            <a:ext cx="5181447" cy="960120"/>
          </a:xfrm>
          <a:prstGeom prst="roundRect">
            <a:avLst/>
          </a:prstGeom>
          <a:solidFill>
            <a:srgbClr val="B8882A"/>
          </a:solidFill>
          <a:ln w="19050">
            <a:solidFill>
              <a:srgbClr val="B8882A"/>
            </a:solidFill>
          </a:ln>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lstStyle/>
          <a:p>
            <a:pPr algn="l"/>
            <a:r>
              <a:rPr sz="3200" b="1">
                <a:solidFill>
                  <a:srgbClr val="1F4530"/>
                </a:solidFill>
                <a:latin typeface="Playfair Display"/>
              </a:rPr>
              <a:t>P. Pananagutan</a:t>
            </a:r>
          </a:p>
          <a:p>
            <a:pPr algn="l"/>
            <a:r>
              <a:rPr sz="2000" i="1">
                <a:solidFill>
                  <a:srgbClr val="6B6253"/>
                </a:solidFill>
                <a:latin typeface="DM Sans"/>
              </a:rPr>
              <a:t>"Huwag nating kaliligtaan..."</a:t>
            </a:r>
          </a:p>
        </p:txBody>
      </p:sp>
      <p:sp>
        <p:nvSpPr>
          <p:cNvPr id="7" name="Rounded Rectangle 6"/>
          <p:cNvSpPr/>
          <p:nvPr/>
        </p:nvSpPr>
        <p:spPr>
          <a:xfrm>
            <a:off x="6278727" y="2697480"/>
            <a:ext cx="5181447" cy="960120"/>
          </a:xfrm>
          <a:prstGeom prst="roundRect">
            <a:avLst/>
          </a:prstGeom>
          <a:solidFill>
            <a:srgbClr val="B8882A"/>
          </a:solidFill>
          <a:ln w="19050">
            <a:solidFill>
              <a:srgbClr val="B8882A"/>
            </a:solidFill>
          </a:ln>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lstStyle/>
          <a:p>
            <a:pPr algn="l"/>
            <a:r>
              <a:rPr sz="3200" b="1">
                <a:solidFill>
                  <a:srgbClr val="1F4530"/>
                </a:solidFill>
                <a:latin typeface="Playfair Display"/>
              </a:rPr>
              <a:t>P. Palusot</a:t>
            </a:r>
          </a:p>
          <a:p>
            <a:pPr algn="l"/>
            <a:r>
              <a:rPr sz="2000" i="1">
                <a:solidFill>
                  <a:srgbClr val="6B6253"/>
                </a:solidFill>
                <a:latin typeface="DM Sans"/>
              </a:rPr>
              <a:t>"...gaya ng nakasanayan ng iba..."</a:t>
            </a:r>
          </a:p>
        </p:txBody>
      </p:sp>
      <p:sp>
        <p:nvSpPr>
          <p:cNvPr id="8" name="Rounded Rectangle 7"/>
          <p:cNvSpPr/>
          <p:nvPr/>
        </p:nvSpPr>
        <p:spPr>
          <a:xfrm>
            <a:off x="731520" y="3886200"/>
            <a:ext cx="5181447" cy="960120"/>
          </a:xfrm>
          <a:prstGeom prst="roundRect">
            <a:avLst/>
          </a:prstGeom>
          <a:solidFill>
            <a:srgbClr val="B8882A"/>
          </a:solidFill>
          <a:ln w="19050">
            <a:solidFill>
              <a:srgbClr val="B8882A"/>
            </a:solidFill>
          </a:ln>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lstStyle/>
          <a:p>
            <a:pPr algn="l"/>
            <a:r>
              <a:rPr sz="3200" b="1">
                <a:solidFill>
                  <a:srgbClr val="1F4530"/>
                </a:solidFill>
                <a:latin typeface="Playfair Display"/>
              </a:rPr>
              <a:t>P. Pangangailangan</a:t>
            </a:r>
          </a:p>
          <a:p>
            <a:pPr algn="l"/>
            <a:r>
              <a:rPr sz="2000" i="1">
                <a:solidFill>
                  <a:srgbClr val="6B6253"/>
                </a:solidFill>
                <a:latin typeface="DM Sans"/>
              </a:rPr>
              <a:t>"...palakasin natin ang loob ng isa't isa..."</a:t>
            </a:r>
          </a:p>
        </p:txBody>
      </p:sp>
      <p:sp>
        <p:nvSpPr>
          <p:cNvPr id="9" name="Rounded Rectangle 8"/>
          <p:cNvSpPr/>
          <p:nvPr/>
        </p:nvSpPr>
        <p:spPr>
          <a:xfrm>
            <a:off x="6278727" y="3886200"/>
            <a:ext cx="5181447" cy="960120"/>
          </a:xfrm>
          <a:prstGeom prst="roundRect">
            <a:avLst/>
          </a:prstGeom>
          <a:solidFill>
            <a:srgbClr val="B8882A"/>
          </a:solidFill>
          <a:ln w="19050">
            <a:solidFill>
              <a:srgbClr val="B8882A"/>
            </a:solidFill>
          </a:ln>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lstStyle/>
          <a:p>
            <a:pPr algn="l"/>
            <a:r>
              <a:rPr sz="3200" b="1">
                <a:solidFill>
                  <a:srgbClr val="1F4530"/>
                </a:solidFill>
                <a:latin typeface="Playfair Display"/>
              </a:rPr>
              <a:t>P. Pagganyak</a:t>
            </a:r>
          </a:p>
          <a:p>
            <a:pPr algn="l"/>
            <a:r>
              <a:rPr sz="2000" i="1">
                <a:solidFill>
                  <a:srgbClr val="6B6253"/>
                </a:solidFill>
                <a:latin typeface="DM Sans"/>
              </a:rPr>
              <a:t>"...malapit na ang Araw ng Panginoon."</a:t>
            </a:r>
          </a:p>
        </p:txBody>
      </p:sp>
      <p:sp>
        <p:nvSpPr>
          <p:cNvPr id="10" name="TextBox 9"/>
          <p:cNvSpPr txBox="1"/>
          <p:nvPr/>
        </p:nvSpPr>
        <p:spPr>
          <a:xfrm>
            <a:off x="11638521" y="6400800"/>
            <a:ext cx="370294" cy="276999"/>
          </a:xfrm>
          <a:prstGeom prst="rect">
            <a:avLst/>
          </a:prstGeom>
          <a:noFill/>
        </p:spPr>
        <p:txBody>
          <a:bodyPr wrap="none" lIns="0" rIns="0">
            <a:spAutoFit/>
          </a:bodyPr>
          <a:lstStyle/>
          <a:p>
            <a:pPr algn="r"/>
            <a:r>
              <a:rPr sz="1200" b="1">
                <a:solidFill>
                  <a:srgbClr val="1A2E22"/>
                </a:solidFill>
                <a:latin typeface="DM Sans"/>
              </a:rPr>
              <a:t>7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5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D4A854"/>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D4A854"/>
                </a:solidFill>
                <a:latin typeface="DM Sans"/>
              </a:rPr>
              <a:t>P1 · PANANAGUTAN</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FDFBF6"/>
                </a:solidFill>
                <a:latin typeface="Playfair Display"/>
              </a:rPr>
              <a:t>Hindi Request — Utos</a:t>
            </a:r>
          </a:p>
        </p:txBody>
      </p:sp>
      <p:sp>
        <p:nvSpPr>
          <p:cNvPr id="5" name="TextBox 4"/>
          <p:cNvSpPr txBox="1"/>
          <p:nvPr/>
        </p:nvSpPr>
        <p:spPr>
          <a:xfrm>
            <a:off x="731520" y="2240280"/>
            <a:ext cx="10728655" cy="492443"/>
          </a:xfrm>
          <a:prstGeom prst="rect">
            <a:avLst/>
          </a:prstGeom>
          <a:noFill/>
        </p:spPr>
        <p:txBody>
          <a:bodyPr wrap="square" lIns="0" tIns="0" rIns="0" bIns="0">
            <a:spAutoFit/>
          </a:bodyPr>
          <a:lstStyle/>
          <a:p>
            <a:pPr algn="ctr"/>
            <a:r>
              <a:rPr sz="3200" b="0" i="1">
                <a:solidFill>
                  <a:srgbClr val="FDFBF6"/>
                </a:solidFill>
                <a:latin typeface="Playfair Display"/>
              </a:rPr>
              <a:t>"Itatayo KO ang AKING iglesya..." — Mateo 16:18</a:t>
            </a:r>
          </a:p>
        </p:txBody>
      </p:sp>
      <p:sp>
        <p:nvSpPr>
          <p:cNvPr id="6" name="TextBox 5"/>
          <p:cNvSpPr txBox="1"/>
          <p:nvPr/>
        </p:nvSpPr>
        <p:spPr>
          <a:xfrm>
            <a:off x="731520" y="2880360"/>
            <a:ext cx="10728655" cy="2031325"/>
          </a:xfrm>
          <a:prstGeom prst="rect">
            <a:avLst/>
          </a:prstGeom>
          <a:noFill/>
        </p:spPr>
        <p:txBody>
          <a:bodyPr wrap="square" lIns="0" tIns="0" rIns="0" bIns="0">
            <a:spAutoFit/>
          </a:bodyPr>
          <a:lstStyle/>
          <a:p>
            <a:pPr algn="ctr"/>
            <a:r>
              <a:rPr sz="4400" b="1" i="1">
                <a:solidFill>
                  <a:srgbClr val="D4A854"/>
                </a:solidFill>
                <a:latin typeface="Playfair Display"/>
              </a:rPr>
              <a:t>Hindi ka iniligtas to be apart from the Church.</a:t>
            </a:r>
          </a:p>
          <a:p>
            <a:pPr algn="ctr"/>
            <a:r>
              <a:rPr sz="4400" b="1" i="1">
                <a:solidFill>
                  <a:srgbClr val="D4A854"/>
                </a:solidFill>
                <a:latin typeface="Playfair Display"/>
              </a:rPr>
              <a:t>Iniligtas ka to be a part of the Church.</a:t>
            </a:r>
          </a:p>
        </p:txBody>
      </p:sp>
      <p:sp>
        <p:nvSpPr>
          <p:cNvPr id="7" name="TextBox 6"/>
          <p:cNvSpPr txBox="1"/>
          <p:nvPr/>
        </p:nvSpPr>
        <p:spPr>
          <a:xfrm>
            <a:off x="731520" y="5338746"/>
            <a:ext cx="10728655" cy="307777"/>
          </a:xfrm>
          <a:prstGeom prst="rect">
            <a:avLst/>
          </a:prstGeom>
          <a:noFill/>
        </p:spPr>
        <p:txBody>
          <a:bodyPr wrap="square" lIns="0" tIns="0" rIns="0" bIns="0">
            <a:spAutoFit/>
          </a:bodyPr>
          <a:lstStyle/>
          <a:p>
            <a:pPr algn="ctr"/>
            <a:r>
              <a:rPr sz="2000" b="0" i="1" dirty="0">
                <a:solidFill>
                  <a:srgbClr val="FDFBF6"/>
                </a:solidFill>
                <a:latin typeface="DM Sans"/>
              </a:rPr>
              <a:t>Eph 5:25 — </a:t>
            </a:r>
            <a:r>
              <a:rPr sz="2000" b="0" i="1" dirty="0" err="1">
                <a:solidFill>
                  <a:srgbClr val="FDFBF6"/>
                </a:solidFill>
                <a:latin typeface="DM Sans"/>
              </a:rPr>
              <a:t>inihandog</a:t>
            </a:r>
            <a:r>
              <a:rPr sz="2000" b="0" i="1" dirty="0">
                <a:solidFill>
                  <a:srgbClr val="FDFBF6"/>
                </a:solidFill>
                <a:latin typeface="DM Sans"/>
              </a:rPr>
              <a:t> </a:t>
            </a:r>
            <a:r>
              <a:rPr sz="2000" b="0" i="1" dirty="0" err="1">
                <a:solidFill>
                  <a:srgbClr val="FDFBF6"/>
                </a:solidFill>
                <a:latin typeface="DM Sans"/>
              </a:rPr>
              <a:t>ni</a:t>
            </a:r>
            <a:r>
              <a:rPr sz="2000" b="0" i="1" dirty="0">
                <a:solidFill>
                  <a:srgbClr val="FDFBF6"/>
                </a:solidFill>
                <a:latin typeface="DM Sans"/>
              </a:rPr>
              <a:t> Cristo ang </a:t>
            </a:r>
            <a:r>
              <a:rPr sz="2000" b="0" i="1" dirty="0" err="1">
                <a:solidFill>
                  <a:srgbClr val="FDFBF6"/>
                </a:solidFill>
                <a:latin typeface="DM Sans"/>
              </a:rPr>
              <a:t>buhay</a:t>
            </a:r>
            <a:r>
              <a:rPr sz="2000" b="0" i="1" dirty="0">
                <a:solidFill>
                  <a:srgbClr val="FDFBF6"/>
                </a:solidFill>
                <a:latin typeface="DM Sans"/>
              </a:rPr>
              <a:t> para </a:t>
            </a:r>
            <a:r>
              <a:rPr sz="2000" b="0" i="1" dirty="0" err="1">
                <a:solidFill>
                  <a:srgbClr val="FDFBF6"/>
                </a:solidFill>
                <a:latin typeface="DM Sans"/>
              </a:rPr>
              <a:t>sa</a:t>
            </a:r>
            <a:r>
              <a:rPr sz="2000" b="0" i="1" dirty="0">
                <a:solidFill>
                  <a:srgbClr val="FDFBF6"/>
                </a:solidFill>
                <a:latin typeface="DM Sans"/>
              </a:rPr>
              <a:t> </a:t>
            </a:r>
            <a:r>
              <a:rPr sz="2000" b="0" i="1" dirty="0" err="1">
                <a:solidFill>
                  <a:srgbClr val="FDFBF6"/>
                </a:solidFill>
                <a:latin typeface="DM Sans"/>
              </a:rPr>
              <a:t>iglesya</a:t>
            </a:r>
            <a:r>
              <a:rPr sz="2000" b="0" i="1" dirty="0">
                <a:solidFill>
                  <a:srgbClr val="FDFBF6"/>
                </a:solidFill>
                <a:latin typeface="DM Sans"/>
              </a:rPr>
              <a:t>.</a:t>
            </a:r>
          </a:p>
        </p:txBody>
      </p:sp>
      <p:sp>
        <p:nvSpPr>
          <p:cNvPr id="8" name="TextBox 7"/>
          <p:cNvSpPr txBox="1"/>
          <p:nvPr/>
        </p:nvSpPr>
        <p:spPr>
          <a:xfrm>
            <a:off x="11624094" y="6400800"/>
            <a:ext cx="384721" cy="276999"/>
          </a:xfrm>
          <a:prstGeom prst="rect">
            <a:avLst/>
          </a:prstGeom>
          <a:noFill/>
        </p:spPr>
        <p:txBody>
          <a:bodyPr wrap="none" lIns="0" rIns="0">
            <a:spAutoFit/>
          </a:bodyPr>
          <a:lstStyle/>
          <a:p>
            <a:pPr algn="r"/>
            <a:r>
              <a:rPr sz="1200" b="1">
                <a:solidFill>
                  <a:srgbClr val="FDFBF6"/>
                </a:solidFill>
                <a:latin typeface="DM Sans"/>
              </a:rPr>
              <a:t>8 /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2A5C40"/>
                </a:solidFill>
                <a:latin typeface="DM Sans"/>
              </a:rPr>
              <a:t>P2 · PALUSOT</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1A2E22"/>
                </a:solidFill>
                <a:latin typeface="Playfair Display"/>
              </a:rPr>
              <a:t>Ang 6 Pinakapalusot</a:t>
            </a:r>
          </a:p>
        </p:txBody>
      </p:sp>
      <p:sp>
        <p:nvSpPr>
          <p:cNvPr id="5" name="TextBox 4"/>
          <p:cNvSpPr txBox="1"/>
          <p:nvPr/>
        </p:nvSpPr>
        <p:spPr>
          <a:xfrm>
            <a:off x="731520" y="2240280"/>
            <a:ext cx="10728655" cy="369332"/>
          </a:xfrm>
          <a:prstGeom prst="rect">
            <a:avLst/>
          </a:prstGeom>
          <a:noFill/>
        </p:spPr>
        <p:txBody>
          <a:bodyPr wrap="square" lIns="0" tIns="0" rIns="0" bIns="0">
            <a:spAutoFit/>
          </a:bodyPr>
          <a:lstStyle/>
          <a:p>
            <a:pPr algn="ctr"/>
            <a:r>
              <a:rPr sz="2400" b="0" i="1">
                <a:solidFill>
                  <a:srgbClr val="1A2E22"/>
                </a:solidFill>
                <a:latin typeface="DM Sans"/>
              </a:rPr>
              <a:t>Ayon sa Pew Research 2018:</a:t>
            </a:r>
          </a:p>
        </p:txBody>
      </p:sp>
      <p:sp>
        <p:nvSpPr>
          <p:cNvPr id="6" name="TextBox 5"/>
          <p:cNvSpPr txBox="1"/>
          <p:nvPr/>
        </p:nvSpPr>
        <p:spPr>
          <a:xfrm>
            <a:off x="1828800" y="2697480"/>
            <a:ext cx="8534095" cy="430887"/>
          </a:xfrm>
          <a:prstGeom prst="rect">
            <a:avLst/>
          </a:prstGeom>
          <a:noFill/>
        </p:spPr>
        <p:txBody>
          <a:bodyPr wrap="square" lIns="0" tIns="0" rIns="0" bIns="0">
            <a:spAutoFit/>
          </a:bodyPr>
          <a:lstStyle/>
          <a:p>
            <a:pPr algn="l"/>
            <a:r>
              <a:rPr sz="2800" i="1">
                <a:solidFill>
                  <a:srgbClr val="1A2E22"/>
                </a:solidFill>
                <a:latin typeface="DM Sans"/>
              </a:rPr>
              <a:t>1.  "Puwede naman akong sumamba nang mag-isa."</a:t>
            </a:r>
          </a:p>
        </p:txBody>
      </p:sp>
      <p:sp>
        <p:nvSpPr>
          <p:cNvPr id="7" name="TextBox 6"/>
          <p:cNvSpPr txBox="1"/>
          <p:nvPr/>
        </p:nvSpPr>
        <p:spPr>
          <a:xfrm>
            <a:off x="1828800" y="3081528"/>
            <a:ext cx="8534095" cy="861774"/>
          </a:xfrm>
          <a:prstGeom prst="rect">
            <a:avLst/>
          </a:prstGeom>
          <a:noFill/>
        </p:spPr>
        <p:txBody>
          <a:bodyPr wrap="square" lIns="0" tIns="0" rIns="0" bIns="0">
            <a:spAutoFit/>
          </a:bodyPr>
          <a:lstStyle/>
          <a:p>
            <a:pPr algn="l"/>
            <a:r>
              <a:rPr sz="2800" i="1">
                <a:solidFill>
                  <a:srgbClr val="1A2E22"/>
                </a:solidFill>
                <a:latin typeface="DM Sans"/>
              </a:rPr>
              <a:t>2.  "Wala pa akong nakikitang church na magugustuhan."</a:t>
            </a:r>
          </a:p>
        </p:txBody>
      </p:sp>
      <p:sp>
        <p:nvSpPr>
          <p:cNvPr id="8" name="TextBox 7"/>
          <p:cNvSpPr txBox="1"/>
          <p:nvPr/>
        </p:nvSpPr>
        <p:spPr>
          <a:xfrm>
            <a:off x="1828800" y="3945256"/>
            <a:ext cx="8534095" cy="430887"/>
          </a:xfrm>
          <a:prstGeom prst="rect">
            <a:avLst/>
          </a:prstGeom>
          <a:noFill/>
        </p:spPr>
        <p:txBody>
          <a:bodyPr wrap="square" lIns="0" tIns="0" rIns="0" bIns="0">
            <a:spAutoFit/>
          </a:bodyPr>
          <a:lstStyle/>
          <a:p>
            <a:pPr algn="l"/>
            <a:r>
              <a:rPr sz="2800" i="1" dirty="0">
                <a:solidFill>
                  <a:srgbClr val="1A2E22"/>
                </a:solidFill>
                <a:latin typeface="DM Sans"/>
              </a:rPr>
              <a:t>3.  "Hindi ko gusto </a:t>
            </a:r>
            <a:r>
              <a:rPr sz="2800" i="1" dirty="0" err="1">
                <a:solidFill>
                  <a:srgbClr val="1A2E22"/>
                </a:solidFill>
                <a:latin typeface="DM Sans"/>
              </a:rPr>
              <a:t>yung</a:t>
            </a:r>
            <a:r>
              <a:rPr sz="2800" i="1" dirty="0">
                <a:solidFill>
                  <a:srgbClr val="1A2E22"/>
                </a:solidFill>
                <a:latin typeface="DM Sans"/>
              </a:rPr>
              <a:t> </a:t>
            </a:r>
            <a:r>
              <a:rPr sz="2800" i="1" dirty="0" err="1">
                <a:solidFill>
                  <a:srgbClr val="1A2E22"/>
                </a:solidFill>
                <a:latin typeface="DM Sans"/>
              </a:rPr>
              <a:t>mga</a:t>
            </a:r>
            <a:r>
              <a:rPr sz="2800" i="1" dirty="0">
                <a:solidFill>
                  <a:srgbClr val="1A2E22"/>
                </a:solidFill>
                <a:latin typeface="DM Sans"/>
              </a:rPr>
              <a:t> sermon."</a:t>
            </a:r>
          </a:p>
        </p:txBody>
      </p:sp>
      <p:sp>
        <p:nvSpPr>
          <p:cNvPr id="9" name="TextBox 8"/>
          <p:cNvSpPr txBox="1"/>
          <p:nvPr/>
        </p:nvSpPr>
        <p:spPr>
          <a:xfrm>
            <a:off x="1828800" y="4314319"/>
            <a:ext cx="8534095" cy="430887"/>
          </a:xfrm>
          <a:prstGeom prst="rect">
            <a:avLst/>
          </a:prstGeom>
          <a:noFill/>
        </p:spPr>
        <p:txBody>
          <a:bodyPr wrap="square" lIns="0" tIns="0" rIns="0" bIns="0">
            <a:spAutoFit/>
          </a:bodyPr>
          <a:lstStyle/>
          <a:p>
            <a:pPr algn="l"/>
            <a:r>
              <a:rPr sz="2800" i="1">
                <a:solidFill>
                  <a:srgbClr val="1A2E22"/>
                </a:solidFill>
                <a:latin typeface="DM Sans"/>
              </a:rPr>
              <a:t>4.  "Feeling ko hindi ako welcome."</a:t>
            </a:r>
          </a:p>
        </p:txBody>
      </p:sp>
      <p:sp>
        <p:nvSpPr>
          <p:cNvPr id="10" name="TextBox 9"/>
          <p:cNvSpPr txBox="1"/>
          <p:nvPr/>
        </p:nvSpPr>
        <p:spPr>
          <a:xfrm>
            <a:off x="1828800" y="4698367"/>
            <a:ext cx="8534095" cy="430887"/>
          </a:xfrm>
          <a:prstGeom prst="rect">
            <a:avLst/>
          </a:prstGeom>
          <a:noFill/>
        </p:spPr>
        <p:txBody>
          <a:bodyPr wrap="square" lIns="0" tIns="0" rIns="0" bIns="0">
            <a:spAutoFit/>
          </a:bodyPr>
          <a:lstStyle/>
          <a:p>
            <a:pPr algn="l"/>
            <a:r>
              <a:rPr sz="2800" i="1">
                <a:solidFill>
                  <a:srgbClr val="1A2E22"/>
                </a:solidFill>
                <a:latin typeface="DM Sans"/>
              </a:rPr>
              <a:t>5.  "Wala akong time."</a:t>
            </a:r>
          </a:p>
        </p:txBody>
      </p:sp>
      <p:sp>
        <p:nvSpPr>
          <p:cNvPr id="11" name="TextBox 10"/>
          <p:cNvSpPr txBox="1"/>
          <p:nvPr/>
        </p:nvSpPr>
        <p:spPr>
          <a:xfrm>
            <a:off x="1828800" y="5082415"/>
            <a:ext cx="8534095" cy="430887"/>
          </a:xfrm>
          <a:prstGeom prst="rect">
            <a:avLst/>
          </a:prstGeom>
          <a:noFill/>
        </p:spPr>
        <p:txBody>
          <a:bodyPr wrap="square" lIns="0" tIns="0" rIns="0" bIns="0">
            <a:spAutoFit/>
          </a:bodyPr>
          <a:lstStyle/>
          <a:p>
            <a:pPr algn="l"/>
            <a:r>
              <a:rPr sz="2800" i="1">
                <a:solidFill>
                  <a:srgbClr val="1A2E22"/>
                </a:solidFill>
                <a:latin typeface="DM Sans"/>
              </a:rPr>
              <a:t>6.  "Puro plastic sa church."</a:t>
            </a:r>
          </a:p>
        </p:txBody>
      </p:sp>
      <p:sp>
        <p:nvSpPr>
          <p:cNvPr id="12" name="TextBox 11"/>
          <p:cNvSpPr txBox="1"/>
          <p:nvPr/>
        </p:nvSpPr>
        <p:spPr>
          <a:xfrm>
            <a:off x="11622491" y="6400800"/>
            <a:ext cx="386324" cy="276999"/>
          </a:xfrm>
          <a:prstGeom prst="rect">
            <a:avLst/>
          </a:prstGeom>
          <a:noFill/>
        </p:spPr>
        <p:txBody>
          <a:bodyPr wrap="none" lIns="0" rIns="0">
            <a:spAutoFit/>
          </a:bodyPr>
          <a:lstStyle/>
          <a:p>
            <a:pPr algn="r"/>
            <a:r>
              <a:rPr sz="1200" b="1">
                <a:solidFill>
                  <a:srgbClr val="1A2E22"/>
                </a:solidFill>
                <a:latin typeface="DM Sans"/>
              </a:rPr>
              <a:t>9 /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b="1">
                <a:solidFill>
                  <a:srgbClr val="2A5C40"/>
                </a:solidFill>
                <a:latin typeface="DM Sans"/>
              </a:rPr>
              <a:t>P3 · PANGANGAILANGAN</a:t>
            </a:r>
          </a:p>
        </p:txBody>
      </p:sp>
      <p:sp>
        <p:nvSpPr>
          <p:cNvPr id="4" name="TextBox 3"/>
          <p:cNvSpPr txBox="1"/>
          <p:nvPr/>
        </p:nvSpPr>
        <p:spPr>
          <a:xfrm>
            <a:off x="731520" y="1143000"/>
            <a:ext cx="10728655" cy="738664"/>
          </a:xfrm>
          <a:prstGeom prst="rect">
            <a:avLst/>
          </a:prstGeom>
          <a:noFill/>
        </p:spPr>
        <p:txBody>
          <a:bodyPr wrap="square" lIns="0" tIns="0" rIns="0" bIns="0">
            <a:spAutoFit/>
          </a:bodyPr>
          <a:lstStyle/>
          <a:p>
            <a:pPr algn="ctr"/>
            <a:r>
              <a:rPr sz="4800" b="1" i="0">
                <a:solidFill>
                  <a:srgbClr val="1A2E22"/>
                </a:solidFill>
                <a:latin typeface="Playfair Display"/>
              </a:rPr>
              <a:t>Two-Way Strengthening</a:t>
            </a:r>
          </a:p>
        </p:txBody>
      </p:sp>
      <p:sp>
        <p:nvSpPr>
          <p:cNvPr id="5" name="TextBox 4"/>
          <p:cNvSpPr txBox="1"/>
          <p:nvPr/>
        </p:nvSpPr>
        <p:spPr>
          <a:xfrm>
            <a:off x="731520" y="2240280"/>
            <a:ext cx="10728655" cy="307777"/>
          </a:xfrm>
          <a:prstGeom prst="rect">
            <a:avLst/>
          </a:prstGeom>
          <a:noFill/>
        </p:spPr>
        <p:txBody>
          <a:bodyPr wrap="square" lIns="0" tIns="0" rIns="0" bIns="0">
            <a:spAutoFit/>
          </a:bodyPr>
          <a:lstStyle/>
          <a:p>
            <a:pPr algn="ctr"/>
            <a:r>
              <a:rPr sz="2000" b="0" i="1">
                <a:solidFill>
                  <a:srgbClr val="1A2E22"/>
                </a:solidFill>
                <a:latin typeface="DM Sans"/>
              </a:rPr>
              <a:t>"Palakasin natin ang loob ng isa't isa..."</a:t>
            </a:r>
          </a:p>
        </p:txBody>
      </p:sp>
      <p:sp>
        <p:nvSpPr>
          <p:cNvPr id="6" name="Rounded Rectangle 5"/>
          <p:cNvSpPr/>
          <p:nvPr/>
        </p:nvSpPr>
        <p:spPr>
          <a:xfrm>
            <a:off x="731520" y="2697480"/>
            <a:ext cx="5181447" cy="2194560"/>
          </a:xfrm>
          <a:prstGeom prst="roundRect">
            <a:avLst/>
          </a:prstGeom>
          <a:solidFill>
            <a:srgbClr val="1F4530"/>
          </a:solidFill>
          <a:ln w="25400">
            <a:solidFill>
              <a:srgbClr val="D4A854"/>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l"/>
            <a:r>
              <a:rPr sz="2000" b="1">
                <a:solidFill>
                  <a:srgbClr val="D4A854"/>
                </a:solidFill>
                <a:latin typeface="Playfair Display"/>
              </a:rPr>
              <a:t>↓ Lalakas ka sa pamamagitan ng:</a:t>
            </a:r>
          </a:p>
          <a:p>
            <a:pPr algn="l">
              <a:spcBef>
                <a:spcPts val="400"/>
              </a:spcBef>
            </a:pPr>
            <a:r>
              <a:rPr>
                <a:solidFill>
                  <a:srgbClr val="FDFBF6"/>
                </a:solidFill>
                <a:latin typeface="DM Sans"/>
              </a:rPr>
              <a:t>• Biblical teachings (1 Tim 4:6)</a:t>
            </a:r>
          </a:p>
          <a:p>
            <a:pPr algn="l">
              <a:spcBef>
                <a:spcPts val="400"/>
              </a:spcBef>
            </a:pPr>
            <a:r>
              <a:rPr>
                <a:solidFill>
                  <a:srgbClr val="FDFBF6"/>
                </a:solidFill>
                <a:latin typeface="DM Sans"/>
              </a:rPr>
              <a:t>• Godly mentors (Tito 2:1-8)</a:t>
            </a:r>
          </a:p>
          <a:p>
            <a:pPr algn="l">
              <a:spcBef>
                <a:spcPts val="400"/>
              </a:spcBef>
            </a:pPr>
            <a:r>
              <a:rPr>
                <a:solidFill>
                  <a:srgbClr val="FDFBF6"/>
                </a:solidFill>
                <a:latin typeface="DM Sans"/>
              </a:rPr>
              <a:t>• Christian friends (L6 callback)</a:t>
            </a:r>
          </a:p>
        </p:txBody>
      </p:sp>
      <p:sp>
        <p:nvSpPr>
          <p:cNvPr id="7" name="Rounded Rectangle 6"/>
          <p:cNvSpPr/>
          <p:nvPr/>
        </p:nvSpPr>
        <p:spPr>
          <a:xfrm>
            <a:off x="6278727" y="2697480"/>
            <a:ext cx="5181447" cy="2194560"/>
          </a:xfrm>
          <a:prstGeom prst="roundRect">
            <a:avLst/>
          </a:prstGeom>
          <a:solidFill>
            <a:srgbClr val="1F4530"/>
          </a:solidFill>
          <a:ln w="25400">
            <a:solidFill>
              <a:srgbClr val="D4A854"/>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l"/>
            <a:r>
              <a:rPr sz="2000" b="1">
                <a:solidFill>
                  <a:srgbClr val="D4A854"/>
                </a:solidFill>
                <a:latin typeface="Playfair Display"/>
              </a:rPr>
              <a:t>↑ Pagagamitin ka para palakasin ang iba:</a:t>
            </a:r>
          </a:p>
          <a:p>
            <a:pPr algn="l">
              <a:spcBef>
                <a:spcPts val="400"/>
              </a:spcBef>
            </a:pPr>
            <a:r>
              <a:rPr>
                <a:solidFill>
                  <a:srgbClr val="FDFBF6"/>
                </a:solidFill>
                <a:latin typeface="DM Sans"/>
              </a:rPr>
              <a:t>• Spiritual gifts (Rom 12:3-8)</a:t>
            </a:r>
          </a:p>
          <a:p>
            <a:pPr algn="l">
              <a:spcBef>
                <a:spcPts val="400"/>
              </a:spcBef>
            </a:pPr>
            <a:r>
              <a:rPr>
                <a:solidFill>
                  <a:srgbClr val="FDFBF6"/>
                </a:solidFill>
                <a:latin typeface="DM Sans"/>
              </a:rPr>
              <a:t>• Paghayo sa di-pa naliligtas (Mat 28:19-20)</a:t>
            </a:r>
          </a:p>
          <a:p>
            <a:pPr algn="l">
              <a:spcBef>
                <a:spcPts val="400"/>
              </a:spcBef>
            </a:pPr>
            <a:r>
              <a:rPr>
                <a:solidFill>
                  <a:srgbClr val="FDFBF6"/>
                </a:solidFill>
                <a:latin typeface="DM Sans"/>
              </a:rPr>
              <a:t>• Pag-disciple sa pa-usbong (2 Tim 2:2)</a:t>
            </a:r>
          </a:p>
        </p:txBody>
      </p:sp>
      <p:sp>
        <p:nvSpPr>
          <p:cNvPr id="8" name="TextBox 7"/>
          <p:cNvSpPr txBox="1"/>
          <p:nvPr/>
        </p:nvSpPr>
        <p:spPr>
          <a:xfrm>
            <a:off x="11596843" y="6400800"/>
            <a:ext cx="411972" cy="261610"/>
          </a:xfrm>
          <a:prstGeom prst="rect">
            <a:avLst/>
          </a:prstGeom>
          <a:noFill/>
        </p:spPr>
        <p:txBody>
          <a:bodyPr wrap="none" lIns="0" rIns="0">
            <a:spAutoFit/>
          </a:bodyPr>
          <a:lstStyle/>
          <a:p>
            <a:pPr algn="r"/>
            <a:r>
              <a:rPr sz="1100" b="1">
                <a:solidFill>
                  <a:srgbClr val="1A2E22"/>
                </a:solidFill>
                <a:latin typeface="DM Sans"/>
              </a:rPr>
              <a:t>10 / 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D4A854"/>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D4A854"/>
                </a:solidFill>
                <a:latin typeface="DM Sans"/>
              </a:rPr>
              <a:t>P4 · PAGGANYAK</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FDFBF6"/>
                </a:solidFill>
                <a:latin typeface="Playfair Display"/>
              </a:rPr>
              <a:t>Malapit na ang Araw</a:t>
            </a:r>
          </a:p>
        </p:txBody>
      </p:sp>
      <p:sp>
        <p:nvSpPr>
          <p:cNvPr id="5" name="TextBox 4"/>
          <p:cNvSpPr txBox="1"/>
          <p:nvPr/>
        </p:nvSpPr>
        <p:spPr>
          <a:xfrm>
            <a:off x="731520" y="2240280"/>
            <a:ext cx="10728655" cy="984885"/>
          </a:xfrm>
          <a:prstGeom prst="rect">
            <a:avLst/>
          </a:prstGeom>
          <a:noFill/>
        </p:spPr>
        <p:txBody>
          <a:bodyPr wrap="square" lIns="0" tIns="0" rIns="0" bIns="0">
            <a:spAutoFit/>
          </a:bodyPr>
          <a:lstStyle/>
          <a:p>
            <a:pPr algn="ctr"/>
            <a:r>
              <a:rPr sz="3200" b="0" i="1">
                <a:solidFill>
                  <a:srgbClr val="FDFBF6"/>
                </a:solidFill>
                <a:latin typeface="Playfair Display"/>
              </a:rPr>
              <a:t>Hindi natin alam kung kailan.</a:t>
            </a:r>
          </a:p>
          <a:p>
            <a:pPr algn="ctr"/>
            <a:r>
              <a:rPr sz="3200" b="0" i="1">
                <a:solidFill>
                  <a:srgbClr val="FDFBF6"/>
                </a:solidFill>
                <a:latin typeface="Playfair Display"/>
              </a:rPr>
              <a:t>Pero alam natin: papalapit.</a:t>
            </a:r>
          </a:p>
        </p:txBody>
      </p:sp>
      <p:sp>
        <p:nvSpPr>
          <p:cNvPr id="6" name="TextBox 5"/>
          <p:cNvSpPr txBox="1"/>
          <p:nvPr/>
        </p:nvSpPr>
        <p:spPr>
          <a:xfrm>
            <a:off x="731520" y="3063240"/>
            <a:ext cx="10728655" cy="1477328"/>
          </a:xfrm>
          <a:prstGeom prst="rect">
            <a:avLst/>
          </a:prstGeom>
          <a:noFill/>
        </p:spPr>
        <p:txBody>
          <a:bodyPr wrap="square" lIns="0" tIns="0" rIns="0" bIns="0">
            <a:spAutoFit/>
          </a:bodyPr>
          <a:lstStyle/>
          <a:p>
            <a:pPr algn="ctr"/>
            <a:r>
              <a:rPr sz="3200" b="0" i="1">
                <a:solidFill>
                  <a:srgbClr val="FDFBF6"/>
                </a:solidFill>
                <a:latin typeface="Playfair Display"/>
              </a:rPr>
              <a:t>Paano mo gustong masumpungan ni Cristo —</a:t>
            </a:r>
          </a:p>
          <a:p>
            <a:pPr algn="ctr"/>
            <a:r>
              <a:rPr sz="3200" b="0" i="1">
                <a:solidFill>
                  <a:srgbClr val="FDFBF6"/>
                </a:solidFill>
                <a:latin typeface="Playfair Display"/>
              </a:rPr>
              <a:t>naglilingkod kasama ng Church, o lumiliko sa agos ng mundo?</a:t>
            </a:r>
          </a:p>
        </p:txBody>
      </p:sp>
      <p:sp>
        <p:nvSpPr>
          <p:cNvPr id="7" name="TextBox 6"/>
          <p:cNvSpPr txBox="1"/>
          <p:nvPr/>
        </p:nvSpPr>
        <p:spPr>
          <a:xfrm>
            <a:off x="731520" y="4770618"/>
            <a:ext cx="10728655" cy="677108"/>
          </a:xfrm>
          <a:prstGeom prst="rect">
            <a:avLst/>
          </a:prstGeom>
          <a:noFill/>
        </p:spPr>
        <p:txBody>
          <a:bodyPr wrap="square" lIns="0" tIns="0" rIns="0" bIns="0">
            <a:spAutoFit/>
          </a:bodyPr>
          <a:lstStyle/>
          <a:p>
            <a:pPr algn="ctr"/>
            <a:r>
              <a:rPr sz="4400" b="1" i="1" dirty="0" err="1">
                <a:solidFill>
                  <a:srgbClr val="D4A854"/>
                </a:solidFill>
                <a:latin typeface="Playfair Display"/>
              </a:rPr>
              <a:t>Mamili</a:t>
            </a:r>
            <a:r>
              <a:rPr sz="4400" b="1" i="1" dirty="0">
                <a:solidFill>
                  <a:srgbClr val="D4A854"/>
                </a:solidFill>
                <a:latin typeface="Playfair Display"/>
              </a:rPr>
              <a:t> ka.</a:t>
            </a:r>
          </a:p>
        </p:txBody>
      </p:sp>
      <p:sp>
        <p:nvSpPr>
          <p:cNvPr id="8" name="TextBox 7"/>
          <p:cNvSpPr txBox="1"/>
          <p:nvPr/>
        </p:nvSpPr>
        <p:spPr>
          <a:xfrm>
            <a:off x="11614475" y="6400800"/>
            <a:ext cx="394340" cy="276999"/>
          </a:xfrm>
          <a:prstGeom prst="rect">
            <a:avLst/>
          </a:prstGeom>
          <a:noFill/>
        </p:spPr>
        <p:txBody>
          <a:bodyPr wrap="none" lIns="0" rIns="0">
            <a:spAutoFit/>
          </a:bodyPr>
          <a:lstStyle/>
          <a:p>
            <a:pPr algn="r"/>
            <a:r>
              <a:rPr sz="1200" b="1">
                <a:solidFill>
                  <a:srgbClr val="FDFBF6"/>
                </a:solidFill>
                <a:latin typeface="DM Sans"/>
              </a:rPr>
              <a:t>11 / 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2A5C40"/>
                </a:solidFill>
                <a:latin typeface="DM Sans"/>
              </a:rPr>
              <a:t>TALAKAY · 12 MIN</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1A2E22"/>
                </a:solidFill>
                <a:latin typeface="Playfair Display"/>
              </a:rPr>
              <a:t>Safe-Space Sharing</a:t>
            </a:r>
          </a:p>
        </p:txBody>
      </p:sp>
      <p:sp>
        <p:nvSpPr>
          <p:cNvPr id="5" name="TextBox 4"/>
          <p:cNvSpPr txBox="1"/>
          <p:nvPr/>
        </p:nvSpPr>
        <p:spPr>
          <a:xfrm>
            <a:off x="731520" y="2480120"/>
            <a:ext cx="10728655" cy="369332"/>
          </a:xfrm>
          <a:prstGeom prst="rect">
            <a:avLst/>
          </a:prstGeom>
          <a:noFill/>
        </p:spPr>
        <p:txBody>
          <a:bodyPr wrap="square" lIns="0" tIns="0" rIns="0" bIns="0">
            <a:spAutoFit/>
          </a:bodyPr>
          <a:lstStyle/>
          <a:p>
            <a:pPr algn="ctr"/>
            <a:r>
              <a:rPr sz="2400" b="0" i="1" dirty="0">
                <a:solidFill>
                  <a:srgbClr val="1A2E22"/>
                </a:solidFill>
                <a:latin typeface="DM Sans"/>
              </a:rPr>
              <a:t>4 rules: no fixing · no comparison · no advice unless asked · confidentiality</a:t>
            </a:r>
          </a:p>
        </p:txBody>
      </p:sp>
      <p:sp>
        <p:nvSpPr>
          <p:cNvPr id="6" name="TextBox 5"/>
          <p:cNvSpPr txBox="1"/>
          <p:nvPr/>
        </p:nvSpPr>
        <p:spPr>
          <a:xfrm>
            <a:off x="731520" y="3491954"/>
            <a:ext cx="10728655" cy="738664"/>
          </a:xfrm>
          <a:prstGeom prst="rect">
            <a:avLst/>
          </a:prstGeom>
          <a:noFill/>
        </p:spPr>
        <p:txBody>
          <a:bodyPr wrap="square" lIns="0" tIns="0" rIns="0" bIns="0">
            <a:spAutoFit/>
          </a:bodyPr>
          <a:lstStyle/>
          <a:p>
            <a:pPr algn="ctr"/>
            <a:r>
              <a:rPr sz="2400" b="0" i="1">
                <a:solidFill>
                  <a:srgbClr val="1A2E22"/>
                </a:solidFill>
                <a:latin typeface="DM Sans"/>
              </a:rPr>
              <a:t>Q1. Anong rason ang madalas mong naririnig kung bakit hindi dumadalo sa church?</a:t>
            </a:r>
          </a:p>
        </p:txBody>
      </p:sp>
      <p:sp>
        <p:nvSpPr>
          <p:cNvPr id="7" name="TextBox 6"/>
          <p:cNvSpPr txBox="1"/>
          <p:nvPr/>
        </p:nvSpPr>
        <p:spPr>
          <a:xfrm>
            <a:off x="731520" y="4278937"/>
            <a:ext cx="10728655" cy="369332"/>
          </a:xfrm>
          <a:prstGeom prst="rect">
            <a:avLst/>
          </a:prstGeom>
          <a:noFill/>
        </p:spPr>
        <p:txBody>
          <a:bodyPr wrap="square" lIns="0" tIns="0" rIns="0" bIns="0">
            <a:spAutoFit/>
          </a:bodyPr>
          <a:lstStyle/>
          <a:p>
            <a:pPr algn="ctr"/>
            <a:r>
              <a:rPr sz="2400" b="0" i="1">
                <a:solidFill>
                  <a:srgbClr val="1A2E22"/>
                </a:solidFill>
                <a:latin typeface="DM Sans"/>
              </a:rPr>
              <a:t>Q2. Mayroon ba talagang acceptable sa Dios na pumalya sa pagdalo?</a:t>
            </a:r>
          </a:p>
        </p:txBody>
      </p:sp>
      <p:sp>
        <p:nvSpPr>
          <p:cNvPr id="8" name="TextBox 7"/>
          <p:cNvSpPr txBox="1"/>
          <p:nvPr/>
        </p:nvSpPr>
        <p:spPr>
          <a:xfrm>
            <a:off x="731520" y="4796095"/>
            <a:ext cx="10728655" cy="369332"/>
          </a:xfrm>
          <a:prstGeom prst="rect">
            <a:avLst/>
          </a:prstGeom>
          <a:noFill/>
        </p:spPr>
        <p:txBody>
          <a:bodyPr wrap="square" lIns="0" tIns="0" rIns="0" bIns="0">
            <a:spAutoFit/>
          </a:bodyPr>
          <a:lstStyle/>
          <a:p>
            <a:pPr algn="ctr"/>
            <a:r>
              <a:rPr sz="2400" b="0" i="1">
                <a:solidFill>
                  <a:srgbClr val="1A2E22"/>
                </a:solidFill>
                <a:latin typeface="DM Sans"/>
              </a:rPr>
              <a:t>Q3. Alin sa 6 palusot ang madalas nasa puso mo? Be honest.</a:t>
            </a:r>
          </a:p>
        </p:txBody>
      </p:sp>
      <p:sp>
        <p:nvSpPr>
          <p:cNvPr id="9" name="TextBox 8"/>
          <p:cNvSpPr txBox="1"/>
          <p:nvPr/>
        </p:nvSpPr>
        <p:spPr>
          <a:xfrm>
            <a:off x="11579209" y="6400800"/>
            <a:ext cx="429606" cy="276999"/>
          </a:xfrm>
          <a:prstGeom prst="rect">
            <a:avLst/>
          </a:prstGeom>
          <a:noFill/>
        </p:spPr>
        <p:txBody>
          <a:bodyPr wrap="none" lIns="0" rIns="0">
            <a:spAutoFit/>
          </a:bodyPr>
          <a:lstStyle/>
          <a:p>
            <a:pPr algn="r"/>
            <a:r>
              <a:rPr sz="1200" b="1">
                <a:solidFill>
                  <a:srgbClr val="1A2E22"/>
                </a:solidFill>
                <a:latin typeface="DM Sans"/>
              </a:rPr>
              <a:t>12 / 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D4A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1F453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1F4530"/>
                </a:solidFill>
                <a:latin typeface="DM Sans"/>
              </a:rPr>
              <a:t>TUGON · 12 MIN</a:t>
            </a:r>
          </a:p>
        </p:txBody>
      </p:sp>
      <p:sp>
        <p:nvSpPr>
          <p:cNvPr id="4" name="TextBox 3"/>
          <p:cNvSpPr txBox="1"/>
          <p:nvPr/>
        </p:nvSpPr>
        <p:spPr>
          <a:xfrm>
            <a:off x="731520" y="1143000"/>
            <a:ext cx="10728655" cy="1661993"/>
          </a:xfrm>
          <a:prstGeom prst="rect">
            <a:avLst/>
          </a:prstGeom>
          <a:noFill/>
        </p:spPr>
        <p:txBody>
          <a:bodyPr wrap="square" lIns="0" tIns="0" rIns="0" bIns="0">
            <a:spAutoFit/>
          </a:bodyPr>
          <a:lstStyle/>
          <a:p>
            <a:pPr algn="ctr"/>
            <a:r>
              <a:rPr sz="5400" b="1" i="0">
                <a:solidFill>
                  <a:srgbClr val="1F4530"/>
                </a:solidFill>
                <a:latin typeface="Playfair Display"/>
              </a:rPr>
              <a:t>Church Worship Service Commitment Form</a:t>
            </a:r>
          </a:p>
        </p:txBody>
      </p:sp>
      <p:sp>
        <p:nvSpPr>
          <p:cNvPr id="5" name="TextBox 4"/>
          <p:cNvSpPr txBox="1"/>
          <p:nvPr/>
        </p:nvSpPr>
        <p:spPr>
          <a:xfrm>
            <a:off x="731520" y="2899844"/>
            <a:ext cx="10728655" cy="2031325"/>
          </a:xfrm>
          <a:prstGeom prst="rect">
            <a:avLst/>
          </a:prstGeom>
          <a:noFill/>
        </p:spPr>
        <p:txBody>
          <a:bodyPr wrap="square" lIns="0" tIns="0" rIns="0" bIns="0">
            <a:spAutoFit/>
          </a:bodyPr>
          <a:lstStyle/>
          <a:p>
            <a:pPr algn="ctr"/>
            <a:r>
              <a:rPr sz="4400" b="1" i="1">
                <a:solidFill>
                  <a:srgbClr val="1F4530"/>
                </a:solidFill>
                <a:latin typeface="Playfair Display"/>
              </a:rPr>
              <a:t>"Dahil mahal ko ang Panginoong Hesus at ang aking church na _____________, Nangangako ako na…"</a:t>
            </a:r>
          </a:p>
        </p:txBody>
      </p:sp>
      <p:sp>
        <p:nvSpPr>
          <p:cNvPr id="6" name="TextBox 5"/>
          <p:cNvSpPr txBox="1"/>
          <p:nvPr/>
        </p:nvSpPr>
        <p:spPr>
          <a:xfrm>
            <a:off x="731520" y="4968484"/>
            <a:ext cx="10728655" cy="492443"/>
          </a:xfrm>
          <a:prstGeom prst="rect">
            <a:avLst/>
          </a:prstGeom>
          <a:noFill/>
        </p:spPr>
        <p:txBody>
          <a:bodyPr wrap="square" lIns="0" tIns="0" rIns="0" bIns="0">
            <a:spAutoFit/>
          </a:bodyPr>
          <a:lstStyle/>
          <a:p>
            <a:pPr algn="ctr"/>
            <a:r>
              <a:rPr sz="3200" b="0" i="1" dirty="0" err="1">
                <a:solidFill>
                  <a:srgbClr val="1F4530"/>
                </a:solidFill>
                <a:latin typeface="Playfair Display"/>
              </a:rPr>
              <a:t>Tatlong</a:t>
            </a:r>
            <a:r>
              <a:rPr sz="3200" b="0" i="1" dirty="0">
                <a:solidFill>
                  <a:srgbClr val="1F4530"/>
                </a:solidFill>
                <a:latin typeface="Playfair Display"/>
              </a:rPr>
              <a:t> commitments. </a:t>
            </a:r>
            <a:r>
              <a:rPr sz="3200" b="0" i="1" dirty="0" err="1">
                <a:solidFill>
                  <a:srgbClr val="1F4530"/>
                </a:solidFill>
                <a:latin typeface="Playfair Display"/>
              </a:rPr>
              <a:t>Konkreto</a:t>
            </a:r>
            <a:r>
              <a:rPr sz="3200" b="0" i="1" dirty="0">
                <a:solidFill>
                  <a:srgbClr val="1F4530"/>
                </a:solidFill>
                <a:latin typeface="Playfair Display"/>
              </a:rPr>
              <a:t>. Hindi vague. </a:t>
            </a:r>
            <a:r>
              <a:rPr sz="3200" b="0" i="1" dirty="0" err="1">
                <a:solidFill>
                  <a:srgbClr val="1F4530"/>
                </a:solidFill>
                <a:latin typeface="Playfair Display"/>
              </a:rPr>
              <a:t>Nakasulat</a:t>
            </a:r>
            <a:r>
              <a:rPr sz="3200" b="0" i="1" dirty="0">
                <a:solidFill>
                  <a:srgbClr val="1F4530"/>
                </a:solidFill>
                <a:latin typeface="Playfair Display"/>
              </a:rPr>
              <a:t>.</a:t>
            </a:r>
          </a:p>
        </p:txBody>
      </p:sp>
      <p:sp>
        <p:nvSpPr>
          <p:cNvPr id="7" name="TextBox 6"/>
          <p:cNvSpPr txBox="1"/>
          <p:nvPr/>
        </p:nvSpPr>
        <p:spPr>
          <a:xfrm>
            <a:off x="731520" y="5731484"/>
            <a:ext cx="10728655" cy="615553"/>
          </a:xfrm>
          <a:prstGeom prst="rect">
            <a:avLst/>
          </a:prstGeom>
          <a:noFill/>
        </p:spPr>
        <p:txBody>
          <a:bodyPr wrap="square" lIns="0" tIns="0" rIns="0" bIns="0">
            <a:spAutoFit/>
          </a:bodyPr>
          <a:lstStyle/>
          <a:p>
            <a:pPr algn="ctr"/>
            <a:r>
              <a:rPr sz="2000" b="0" i="1" dirty="0">
                <a:solidFill>
                  <a:srgbClr val="1F4530"/>
                </a:solidFill>
                <a:latin typeface="DM Sans"/>
              </a:rPr>
              <a:t>Mga </a:t>
            </a:r>
            <a:r>
              <a:rPr sz="2000" b="0" i="1" dirty="0" err="1">
                <a:solidFill>
                  <a:srgbClr val="1F4530"/>
                </a:solidFill>
                <a:latin typeface="DM Sans"/>
              </a:rPr>
              <a:t>lalaki</a:t>
            </a:r>
            <a:r>
              <a:rPr sz="2000" b="0" i="1" dirty="0">
                <a:solidFill>
                  <a:srgbClr val="1F4530"/>
                </a:solidFill>
                <a:latin typeface="DM Sans"/>
              </a:rPr>
              <a:t>, </a:t>
            </a:r>
            <a:r>
              <a:rPr sz="2000" b="0" i="1" dirty="0" err="1">
                <a:solidFill>
                  <a:srgbClr val="1F4530"/>
                </a:solidFill>
                <a:latin typeface="DM Sans"/>
              </a:rPr>
              <a:t>mahalin</a:t>
            </a:r>
            <a:r>
              <a:rPr sz="2000" b="0" i="1" dirty="0">
                <a:solidFill>
                  <a:srgbClr val="1F4530"/>
                </a:solidFill>
                <a:latin typeface="DM Sans"/>
              </a:rPr>
              <a:t> </a:t>
            </a:r>
            <a:r>
              <a:rPr sz="2000" b="0" i="1" dirty="0" err="1">
                <a:solidFill>
                  <a:srgbClr val="1F4530"/>
                </a:solidFill>
                <a:latin typeface="DM Sans"/>
              </a:rPr>
              <a:t>ninyo</a:t>
            </a:r>
            <a:r>
              <a:rPr sz="2000" b="0" i="1" dirty="0">
                <a:solidFill>
                  <a:srgbClr val="1F4530"/>
                </a:solidFill>
                <a:latin typeface="DM Sans"/>
              </a:rPr>
              <a:t> ang </a:t>
            </a:r>
            <a:r>
              <a:rPr sz="2000" b="0" i="1" dirty="0" err="1">
                <a:solidFill>
                  <a:srgbClr val="1F4530"/>
                </a:solidFill>
                <a:latin typeface="DM Sans"/>
              </a:rPr>
              <a:t>inyong</a:t>
            </a:r>
            <a:r>
              <a:rPr sz="2000" b="0" i="1" dirty="0">
                <a:solidFill>
                  <a:srgbClr val="1F4530"/>
                </a:solidFill>
                <a:latin typeface="DM Sans"/>
              </a:rPr>
              <a:t> </a:t>
            </a:r>
            <a:r>
              <a:rPr sz="2000" b="0" i="1" dirty="0" err="1">
                <a:solidFill>
                  <a:srgbClr val="1F4530"/>
                </a:solidFill>
                <a:latin typeface="DM Sans"/>
              </a:rPr>
              <a:t>asawa</a:t>
            </a:r>
            <a:r>
              <a:rPr sz="2000" b="0" i="1" dirty="0">
                <a:solidFill>
                  <a:srgbClr val="1F4530"/>
                </a:solidFill>
                <a:latin typeface="DM Sans"/>
              </a:rPr>
              <a:t> </a:t>
            </a:r>
            <a:r>
              <a:rPr sz="2000" b="0" i="1" dirty="0" err="1">
                <a:solidFill>
                  <a:srgbClr val="1F4530"/>
                </a:solidFill>
                <a:latin typeface="DM Sans"/>
              </a:rPr>
              <a:t>na</a:t>
            </a:r>
            <a:r>
              <a:rPr sz="2000" b="0" i="1" dirty="0">
                <a:solidFill>
                  <a:srgbClr val="1F4530"/>
                </a:solidFill>
                <a:latin typeface="DM Sans"/>
              </a:rPr>
              <a:t> </a:t>
            </a:r>
            <a:r>
              <a:rPr sz="2000" b="0" i="1" dirty="0" err="1">
                <a:solidFill>
                  <a:srgbClr val="1F4530"/>
                </a:solidFill>
                <a:latin typeface="DM Sans"/>
              </a:rPr>
              <a:t>gaya</a:t>
            </a:r>
            <a:r>
              <a:rPr sz="2000" b="0" i="1" dirty="0">
                <a:solidFill>
                  <a:srgbClr val="1F4530"/>
                </a:solidFill>
                <a:latin typeface="DM Sans"/>
              </a:rPr>
              <a:t> ng </a:t>
            </a:r>
            <a:r>
              <a:rPr sz="2000" b="0" i="1" dirty="0" err="1">
                <a:solidFill>
                  <a:srgbClr val="1F4530"/>
                </a:solidFill>
                <a:latin typeface="DM Sans"/>
              </a:rPr>
              <a:t>pagmamahal</a:t>
            </a:r>
            <a:r>
              <a:rPr sz="2000" b="0" i="1" dirty="0">
                <a:solidFill>
                  <a:srgbClr val="1F4530"/>
                </a:solidFill>
                <a:latin typeface="DM Sans"/>
              </a:rPr>
              <a:t> </a:t>
            </a:r>
            <a:r>
              <a:rPr sz="2000" b="0" i="1" dirty="0" err="1">
                <a:solidFill>
                  <a:srgbClr val="1F4530"/>
                </a:solidFill>
                <a:latin typeface="DM Sans"/>
              </a:rPr>
              <a:t>ni</a:t>
            </a:r>
            <a:r>
              <a:rPr sz="2000" b="0" i="1" dirty="0">
                <a:solidFill>
                  <a:srgbClr val="1F4530"/>
                </a:solidFill>
                <a:latin typeface="DM Sans"/>
              </a:rPr>
              <a:t> Cristo </a:t>
            </a:r>
            <a:r>
              <a:rPr sz="2000" b="0" i="1" dirty="0" err="1">
                <a:solidFill>
                  <a:srgbClr val="1F4530"/>
                </a:solidFill>
                <a:latin typeface="DM Sans"/>
              </a:rPr>
              <a:t>sa</a:t>
            </a:r>
            <a:r>
              <a:rPr sz="2000" b="0" i="1" dirty="0">
                <a:solidFill>
                  <a:srgbClr val="1F4530"/>
                </a:solidFill>
                <a:latin typeface="DM Sans"/>
              </a:rPr>
              <a:t> </a:t>
            </a:r>
            <a:r>
              <a:rPr sz="2000" b="0" i="1" dirty="0" err="1">
                <a:solidFill>
                  <a:srgbClr val="1F4530"/>
                </a:solidFill>
                <a:latin typeface="DM Sans"/>
              </a:rPr>
              <a:t>iglesya</a:t>
            </a:r>
            <a:r>
              <a:rPr sz="2000" b="0" i="1" dirty="0">
                <a:solidFill>
                  <a:srgbClr val="1F4530"/>
                </a:solidFill>
                <a:latin typeface="DM Sans"/>
              </a:rPr>
              <a:t>. — Eph 5:25</a:t>
            </a:r>
          </a:p>
        </p:txBody>
      </p:sp>
      <p:sp>
        <p:nvSpPr>
          <p:cNvPr id="8" name="TextBox 7"/>
          <p:cNvSpPr txBox="1"/>
          <p:nvPr/>
        </p:nvSpPr>
        <p:spPr>
          <a:xfrm>
            <a:off x="11576003" y="6400800"/>
            <a:ext cx="432812" cy="276999"/>
          </a:xfrm>
          <a:prstGeom prst="rect">
            <a:avLst/>
          </a:prstGeom>
          <a:noFill/>
        </p:spPr>
        <p:txBody>
          <a:bodyPr wrap="none" lIns="0" rIns="0">
            <a:spAutoFit/>
          </a:bodyPr>
          <a:lstStyle/>
          <a:p>
            <a:pPr algn="r"/>
            <a:r>
              <a:rPr sz="1200" b="1">
                <a:solidFill>
                  <a:srgbClr val="1F4530"/>
                </a:solidFill>
                <a:latin typeface="DM Sans"/>
              </a:rPr>
              <a:t>13 /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2A5C40"/>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b="1">
                <a:solidFill>
                  <a:srgbClr val="2A5C40"/>
                </a:solidFill>
                <a:latin typeface="DM Sans"/>
              </a:rPr>
              <a:t>DALHIN · WATCH + EOLO</a:t>
            </a:r>
          </a:p>
        </p:txBody>
      </p:sp>
      <p:sp>
        <p:nvSpPr>
          <p:cNvPr id="4" name="TextBox 3"/>
          <p:cNvSpPr txBox="1"/>
          <p:nvPr/>
        </p:nvSpPr>
        <p:spPr>
          <a:xfrm>
            <a:off x="731520" y="1143000"/>
            <a:ext cx="10728655" cy="830997"/>
          </a:xfrm>
          <a:prstGeom prst="rect">
            <a:avLst/>
          </a:prstGeom>
          <a:noFill/>
        </p:spPr>
        <p:txBody>
          <a:bodyPr wrap="square" lIns="0" tIns="0" rIns="0" bIns="0">
            <a:spAutoFit/>
          </a:bodyPr>
          <a:lstStyle/>
          <a:p>
            <a:pPr algn="ctr"/>
            <a:r>
              <a:rPr sz="5400" b="1" i="0">
                <a:solidFill>
                  <a:srgbClr val="1A2E22"/>
                </a:solidFill>
                <a:latin typeface="Playfair Display"/>
              </a:rPr>
              <a:t>7-Sunday Watch</a:t>
            </a:r>
          </a:p>
        </p:txBody>
      </p:sp>
      <p:sp>
        <p:nvSpPr>
          <p:cNvPr id="5" name="TextBox 4"/>
          <p:cNvSpPr txBox="1"/>
          <p:nvPr/>
        </p:nvSpPr>
        <p:spPr>
          <a:xfrm>
            <a:off x="731520" y="2240280"/>
            <a:ext cx="10728655" cy="369332"/>
          </a:xfrm>
          <a:prstGeom prst="rect">
            <a:avLst/>
          </a:prstGeom>
          <a:noFill/>
        </p:spPr>
        <p:txBody>
          <a:bodyPr wrap="square" lIns="0" tIns="0" rIns="0" bIns="0">
            <a:spAutoFit/>
          </a:bodyPr>
          <a:lstStyle/>
          <a:p>
            <a:pPr algn="ctr"/>
            <a:r>
              <a:rPr sz="2400" b="0" i="1">
                <a:solidFill>
                  <a:srgbClr val="1A2E22"/>
                </a:solidFill>
                <a:latin typeface="DM Sans"/>
              </a:rPr>
              <a:t>Susunod na 7 Linggo · ✓ ang araw · isulat ang strengthening act.</a:t>
            </a:r>
          </a:p>
        </p:txBody>
      </p:sp>
      <p:sp>
        <p:nvSpPr>
          <p:cNvPr id="6" name="TextBox 5"/>
          <p:cNvSpPr txBox="1"/>
          <p:nvPr/>
        </p:nvSpPr>
        <p:spPr>
          <a:xfrm>
            <a:off x="731520" y="3387026"/>
            <a:ext cx="10728655" cy="615553"/>
          </a:xfrm>
          <a:prstGeom prst="rect">
            <a:avLst/>
          </a:prstGeom>
          <a:noFill/>
        </p:spPr>
        <p:txBody>
          <a:bodyPr wrap="square" lIns="0" tIns="0" rIns="0" bIns="0">
            <a:spAutoFit/>
          </a:bodyPr>
          <a:lstStyle/>
          <a:p>
            <a:pPr algn="ctr"/>
            <a:r>
              <a:rPr sz="4000" b="1" i="1">
                <a:solidFill>
                  <a:srgbClr val="A04646"/>
                </a:solidFill>
                <a:latin typeface="Playfair Display"/>
              </a:rPr>
              <a:t>EOLO Bridge:</a:t>
            </a:r>
          </a:p>
        </p:txBody>
      </p:sp>
      <p:sp>
        <p:nvSpPr>
          <p:cNvPr id="7" name="TextBox 6"/>
          <p:cNvSpPr txBox="1"/>
          <p:nvPr/>
        </p:nvSpPr>
        <p:spPr>
          <a:xfrm>
            <a:off x="731520" y="4101306"/>
            <a:ext cx="10728655" cy="984885"/>
          </a:xfrm>
          <a:prstGeom prst="rect">
            <a:avLst/>
          </a:prstGeom>
          <a:noFill/>
        </p:spPr>
        <p:txBody>
          <a:bodyPr wrap="square" lIns="0" tIns="0" rIns="0" bIns="0">
            <a:spAutoFit/>
          </a:bodyPr>
          <a:lstStyle/>
          <a:p>
            <a:pPr algn="ctr"/>
            <a:r>
              <a:rPr sz="3200" b="0" i="1" dirty="0">
                <a:solidFill>
                  <a:srgbClr val="1A2E22"/>
                </a:solidFill>
                <a:latin typeface="Playfair Display"/>
              </a:rPr>
              <a:t>May isa </a:t>
            </a:r>
            <a:r>
              <a:rPr sz="3200" b="0" i="1" dirty="0" err="1">
                <a:solidFill>
                  <a:srgbClr val="1A2E22"/>
                </a:solidFill>
                <a:latin typeface="Playfair Display"/>
              </a:rPr>
              <a:t>ba</a:t>
            </a:r>
            <a:r>
              <a:rPr sz="3200" b="0" i="1" dirty="0">
                <a:solidFill>
                  <a:srgbClr val="1A2E22"/>
                </a:solidFill>
                <a:latin typeface="Playfair Display"/>
              </a:rPr>
              <a:t> </a:t>
            </a:r>
            <a:r>
              <a:rPr sz="3200" b="0" i="1" dirty="0" err="1">
                <a:solidFill>
                  <a:srgbClr val="1A2E22"/>
                </a:solidFill>
                <a:latin typeface="Playfair Display"/>
              </a:rPr>
              <a:t>sa</a:t>
            </a:r>
            <a:r>
              <a:rPr sz="3200" b="0" i="1" dirty="0">
                <a:solidFill>
                  <a:srgbClr val="1A2E22"/>
                </a:solidFill>
                <a:latin typeface="Playfair Display"/>
              </a:rPr>
              <a:t> EOLO names </a:t>
            </a:r>
            <a:r>
              <a:rPr sz="3200" b="0" i="1" dirty="0" err="1">
                <a:solidFill>
                  <a:srgbClr val="1A2E22"/>
                </a:solidFill>
                <a:latin typeface="Playfair Display"/>
              </a:rPr>
              <a:t>mo</a:t>
            </a:r>
            <a:r>
              <a:rPr sz="3200" b="0" i="1" dirty="0">
                <a:solidFill>
                  <a:srgbClr val="1A2E22"/>
                </a:solidFill>
                <a:latin typeface="Playfair Display"/>
              </a:rPr>
              <a:t> </a:t>
            </a:r>
            <a:r>
              <a:rPr sz="3200" b="0" i="1" dirty="0" err="1">
                <a:solidFill>
                  <a:srgbClr val="1A2E22"/>
                </a:solidFill>
                <a:latin typeface="Playfair Display"/>
              </a:rPr>
              <a:t>na</a:t>
            </a:r>
            <a:r>
              <a:rPr sz="3200" b="0" i="1" dirty="0">
                <a:solidFill>
                  <a:srgbClr val="1A2E22"/>
                </a:solidFill>
                <a:latin typeface="Playfair Display"/>
              </a:rPr>
              <a:t> ii-</a:t>
            </a:r>
            <a:r>
              <a:rPr sz="3200" b="0" i="1" dirty="0" err="1">
                <a:solidFill>
                  <a:srgbClr val="1A2E22"/>
                </a:solidFill>
                <a:latin typeface="Playfair Display"/>
              </a:rPr>
              <a:t>imbita</a:t>
            </a:r>
            <a:r>
              <a:rPr sz="3200" b="0" i="1" dirty="0">
                <a:solidFill>
                  <a:srgbClr val="1A2E22"/>
                </a:solidFill>
                <a:latin typeface="Playfair Display"/>
              </a:rPr>
              <a:t> </a:t>
            </a:r>
            <a:r>
              <a:rPr sz="3200" b="0" i="1" dirty="0" err="1">
                <a:solidFill>
                  <a:srgbClr val="1A2E22"/>
                </a:solidFill>
                <a:latin typeface="Playfair Display"/>
              </a:rPr>
              <a:t>mo</a:t>
            </a:r>
            <a:r>
              <a:rPr sz="3200" b="0" i="1" dirty="0">
                <a:solidFill>
                  <a:srgbClr val="1A2E22"/>
                </a:solidFill>
                <a:latin typeface="Playfair Display"/>
              </a:rPr>
              <a:t> </a:t>
            </a:r>
            <a:r>
              <a:rPr sz="3200" b="0" i="1" dirty="0" err="1">
                <a:solidFill>
                  <a:srgbClr val="1A2E22"/>
                </a:solidFill>
                <a:latin typeface="Playfair Display"/>
              </a:rPr>
              <a:t>sa</a:t>
            </a:r>
            <a:r>
              <a:rPr sz="3200" b="0" i="1" dirty="0">
                <a:solidFill>
                  <a:srgbClr val="1A2E22"/>
                </a:solidFill>
                <a:latin typeface="Playfair Display"/>
              </a:rPr>
              <a:t> church </a:t>
            </a:r>
            <a:r>
              <a:rPr sz="3200" b="0" i="1" dirty="0" err="1">
                <a:solidFill>
                  <a:srgbClr val="1A2E22"/>
                </a:solidFill>
                <a:latin typeface="Playfair Display"/>
              </a:rPr>
              <a:t>ngayong</a:t>
            </a:r>
            <a:r>
              <a:rPr sz="3200" b="0" i="1" dirty="0">
                <a:solidFill>
                  <a:srgbClr val="1A2E22"/>
                </a:solidFill>
                <a:latin typeface="Playfair Display"/>
              </a:rPr>
              <a:t> </a:t>
            </a:r>
            <a:r>
              <a:rPr sz="3200" b="0" i="1" dirty="0" err="1">
                <a:solidFill>
                  <a:srgbClr val="1A2E22"/>
                </a:solidFill>
                <a:latin typeface="Playfair Display"/>
              </a:rPr>
              <a:t>Linggo</a:t>
            </a:r>
            <a:r>
              <a:rPr sz="3200" b="0" i="1" dirty="0">
                <a:solidFill>
                  <a:srgbClr val="1A2E22"/>
                </a:solidFill>
                <a:latin typeface="Playfair Display"/>
              </a:rPr>
              <a:t>?</a:t>
            </a:r>
          </a:p>
        </p:txBody>
      </p:sp>
      <p:sp>
        <p:nvSpPr>
          <p:cNvPr id="8" name="TextBox 7"/>
          <p:cNvSpPr txBox="1"/>
          <p:nvPr/>
        </p:nvSpPr>
        <p:spPr>
          <a:xfrm>
            <a:off x="731520" y="5299016"/>
            <a:ext cx="10728655" cy="984885"/>
          </a:xfrm>
          <a:prstGeom prst="rect">
            <a:avLst/>
          </a:prstGeom>
          <a:noFill/>
        </p:spPr>
        <p:txBody>
          <a:bodyPr wrap="square" lIns="0" tIns="0" rIns="0" bIns="0">
            <a:spAutoFit/>
          </a:bodyPr>
          <a:lstStyle/>
          <a:p>
            <a:pPr algn="ctr"/>
            <a:r>
              <a:rPr sz="3200" b="0" i="1" dirty="0">
                <a:solidFill>
                  <a:srgbClr val="1A2E22"/>
                </a:solidFill>
                <a:latin typeface="Playfair Display"/>
              </a:rPr>
              <a:t>Hindi </a:t>
            </a:r>
            <a:r>
              <a:rPr sz="3200" b="0" i="1" dirty="0" err="1">
                <a:solidFill>
                  <a:srgbClr val="1A2E22"/>
                </a:solidFill>
                <a:latin typeface="Playfair Display"/>
              </a:rPr>
              <a:t>mañana</a:t>
            </a:r>
            <a:r>
              <a:rPr sz="3200" b="0" i="1" dirty="0">
                <a:solidFill>
                  <a:srgbClr val="1A2E22"/>
                </a:solidFill>
                <a:latin typeface="Playfair Display"/>
              </a:rPr>
              <a:t>. Hindi "</a:t>
            </a:r>
            <a:r>
              <a:rPr sz="3200" b="0" i="1" dirty="0" err="1">
                <a:solidFill>
                  <a:srgbClr val="1A2E22"/>
                </a:solidFill>
                <a:latin typeface="Playfair Display"/>
              </a:rPr>
              <a:t>tingnan</a:t>
            </a:r>
            <a:r>
              <a:rPr sz="3200" b="0" i="1" dirty="0">
                <a:solidFill>
                  <a:srgbClr val="1A2E22"/>
                </a:solidFill>
                <a:latin typeface="Playfair Display"/>
              </a:rPr>
              <a:t> ko."</a:t>
            </a:r>
          </a:p>
          <a:p>
            <a:pPr algn="ctr"/>
            <a:r>
              <a:rPr sz="3200" b="0" i="1" dirty="0" err="1">
                <a:solidFill>
                  <a:srgbClr val="1A2E22"/>
                </a:solidFill>
                <a:latin typeface="Playfair Display"/>
              </a:rPr>
              <a:t>Ngayong</a:t>
            </a:r>
            <a:r>
              <a:rPr sz="3200" b="0" i="1" dirty="0">
                <a:solidFill>
                  <a:srgbClr val="1A2E22"/>
                </a:solidFill>
                <a:latin typeface="Playfair Display"/>
              </a:rPr>
              <a:t> </a:t>
            </a:r>
            <a:r>
              <a:rPr sz="3200" b="0" i="1" dirty="0" err="1">
                <a:solidFill>
                  <a:srgbClr val="1A2E22"/>
                </a:solidFill>
                <a:latin typeface="Playfair Display"/>
              </a:rPr>
              <a:t>Linggo</a:t>
            </a:r>
            <a:r>
              <a:rPr sz="3200" b="0" i="1" dirty="0">
                <a:solidFill>
                  <a:srgbClr val="1A2E22"/>
                </a:solidFill>
                <a:latin typeface="Playfair Display"/>
              </a:rPr>
              <a:t>.</a:t>
            </a:r>
          </a:p>
        </p:txBody>
      </p:sp>
      <p:sp>
        <p:nvSpPr>
          <p:cNvPr id="9" name="TextBox 8"/>
          <p:cNvSpPr txBox="1"/>
          <p:nvPr/>
        </p:nvSpPr>
        <p:spPr>
          <a:xfrm>
            <a:off x="11567989" y="6400800"/>
            <a:ext cx="440826" cy="276999"/>
          </a:xfrm>
          <a:prstGeom prst="rect">
            <a:avLst/>
          </a:prstGeom>
          <a:noFill/>
        </p:spPr>
        <p:txBody>
          <a:bodyPr wrap="none" lIns="0" rIns="0">
            <a:spAutoFit/>
          </a:bodyPr>
          <a:lstStyle/>
          <a:p>
            <a:pPr algn="r"/>
            <a:r>
              <a:rPr sz="1200" b="1">
                <a:solidFill>
                  <a:srgbClr val="1A2E22"/>
                </a:solidFill>
                <a:latin typeface="DM Sans"/>
              </a:rPr>
              <a:t>14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5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95647" y="548640"/>
            <a:ext cx="3200400" cy="411480"/>
          </a:xfrm>
          <a:prstGeom prst="roundRect">
            <a:avLst/>
          </a:prstGeom>
          <a:noFill/>
          <a:ln w="25400">
            <a:solidFill>
              <a:srgbClr val="D4A854"/>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D4A854"/>
                </a:solidFill>
                <a:latin typeface="DM Sans"/>
              </a:rPr>
              <a:t>DALHIN · PANGAKO KO</a:t>
            </a:r>
          </a:p>
        </p:txBody>
      </p:sp>
      <p:sp>
        <p:nvSpPr>
          <p:cNvPr id="4" name="TextBox 3"/>
          <p:cNvSpPr txBox="1"/>
          <p:nvPr/>
        </p:nvSpPr>
        <p:spPr>
          <a:xfrm>
            <a:off x="731520" y="1143000"/>
            <a:ext cx="10728655" cy="677108"/>
          </a:xfrm>
          <a:prstGeom prst="rect">
            <a:avLst/>
          </a:prstGeom>
          <a:noFill/>
        </p:spPr>
        <p:txBody>
          <a:bodyPr wrap="square" lIns="0" tIns="0" rIns="0" bIns="0">
            <a:spAutoFit/>
          </a:bodyPr>
          <a:lstStyle/>
          <a:p>
            <a:pPr algn="ctr"/>
            <a:r>
              <a:rPr sz="4400" b="1" i="0">
                <a:solidFill>
                  <a:srgbClr val="FDFBF6"/>
                </a:solidFill>
                <a:latin typeface="Playfair Display"/>
              </a:rPr>
              <a:t>Pangako Ko</a:t>
            </a:r>
          </a:p>
        </p:txBody>
      </p:sp>
      <p:sp>
        <p:nvSpPr>
          <p:cNvPr id="5" name="Rounded Rectangle 4"/>
          <p:cNvSpPr/>
          <p:nvPr/>
        </p:nvSpPr>
        <p:spPr>
          <a:xfrm>
            <a:off x="914400" y="2240280"/>
            <a:ext cx="10362895" cy="2468880"/>
          </a:xfrm>
          <a:prstGeom prst="roundRect">
            <a:avLst/>
          </a:prstGeom>
          <a:solidFill>
            <a:srgbClr val="FDFBF6"/>
          </a:solidFill>
          <a:ln w="38100">
            <a:solidFill>
              <a:srgbClr val="B8882A"/>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l"/>
            <a:r>
              <a:rPr sz="2800" i="1">
                <a:solidFill>
                  <a:srgbClr val="1F4530"/>
                </a:solidFill>
                <a:latin typeface="Playfair Display"/>
              </a:rPr>
              <a:t>Hindi ako magiging show-up-when-I-feel-like-it.</a:t>
            </a:r>
          </a:p>
          <a:p>
            <a:pPr algn="l">
              <a:spcBef>
                <a:spcPts val="800"/>
              </a:spcBef>
            </a:pPr>
            <a:r>
              <a:rPr sz="2800" i="1">
                <a:solidFill>
                  <a:srgbClr val="1F4530"/>
                </a:solidFill>
                <a:latin typeface="Playfair Display"/>
              </a:rPr>
              <a:t>Hindi ko ititira ang aking kapatid sa pintuan ng pagsamba.</a:t>
            </a:r>
          </a:p>
          <a:p>
            <a:pPr algn="l">
              <a:spcBef>
                <a:spcPts val="800"/>
              </a:spcBef>
            </a:pPr>
            <a:r>
              <a:rPr sz="2800" i="1">
                <a:solidFill>
                  <a:srgbClr val="1F4530"/>
                </a:solidFill>
                <a:latin typeface="Playfair Display"/>
              </a:rPr>
              <a:t>Susulpot ako sa Linggo. Buong tao. Bawat linggo.</a:t>
            </a:r>
          </a:p>
          <a:p>
            <a:pPr algn="l">
              <a:spcBef>
                <a:spcPts val="800"/>
              </a:spcBef>
            </a:pPr>
            <a:r>
              <a:rPr sz="2800" i="1">
                <a:solidFill>
                  <a:srgbClr val="1F4530"/>
                </a:solidFill>
                <a:latin typeface="Playfair Display"/>
              </a:rPr>
              <a:t>Dahil mahal Niya ang Iglesya — at parte ako ng Kanyang Bride.</a:t>
            </a:r>
          </a:p>
        </p:txBody>
      </p:sp>
      <p:sp>
        <p:nvSpPr>
          <p:cNvPr id="6" name="TextBox 5"/>
          <p:cNvSpPr txBox="1"/>
          <p:nvPr/>
        </p:nvSpPr>
        <p:spPr>
          <a:xfrm>
            <a:off x="731520" y="5118390"/>
            <a:ext cx="10728655" cy="307777"/>
          </a:xfrm>
          <a:prstGeom prst="rect">
            <a:avLst/>
          </a:prstGeom>
          <a:noFill/>
        </p:spPr>
        <p:txBody>
          <a:bodyPr wrap="square" lIns="0" tIns="0" rIns="0" bIns="0">
            <a:spAutoFit/>
          </a:bodyPr>
          <a:lstStyle/>
          <a:p>
            <a:pPr algn="ctr"/>
            <a:r>
              <a:rPr sz="2000" b="0" i="1" dirty="0" err="1">
                <a:solidFill>
                  <a:srgbClr val="FDFBF6"/>
                </a:solidFill>
                <a:latin typeface="DM Sans"/>
              </a:rPr>
              <a:t>Bigkasin</a:t>
            </a:r>
            <a:r>
              <a:rPr sz="2000" b="0" i="1" dirty="0">
                <a:solidFill>
                  <a:srgbClr val="FDFBF6"/>
                </a:solidFill>
                <a:latin typeface="DM Sans"/>
              </a:rPr>
              <a:t> </a:t>
            </a:r>
            <a:r>
              <a:rPr sz="2000" b="0" i="1" dirty="0" err="1">
                <a:solidFill>
                  <a:srgbClr val="FDFBF6"/>
                </a:solidFill>
                <a:latin typeface="DM Sans"/>
              </a:rPr>
              <a:t>nang</a:t>
            </a:r>
            <a:r>
              <a:rPr sz="2000" b="0" i="1" dirty="0">
                <a:solidFill>
                  <a:srgbClr val="FDFBF6"/>
                </a:solidFill>
                <a:latin typeface="DM Sans"/>
              </a:rPr>
              <a:t> </a:t>
            </a:r>
            <a:r>
              <a:rPr sz="2000" b="0" i="1" dirty="0" err="1">
                <a:solidFill>
                  <a:srgbClr val="FDFBF6"/>
                </a:solidFill>
                <a:latin typeface="DM Sans"/>
              </a:rPr>
              <a:t>malakas</a:t>
            </a:r>
            <a:r>
              <a:rPr sz="2000" b="0" i="1" dirty="0">
                <a:solidFill>
                  <a:srgbClr val="FDFBF6"/>
                </a:solidFill>
                <a:latin typeface="DM Sans"/>
              </a:rPr>
              <a:t> · "Saksi ka." · "Saksi </a:t>
            </a:r>
            <a:r>
              <a:rPr sz="2000" b="0" i="1" dirty="0" err="1">
                <a:solidFill>
                  <a:srgbClr val="FDFBF6"/>
                </a:solidFill>
                <a:latin typeface="DM Sans"/>
              </a:rPr>
              <a:t>ako</a:t>
            </a:r>
            <a:r>
              <a:rPr sz="2000" b="0" i="1" dirty="0">
                <a:solidFill>
                  <a:srgbClr val="FDFBF6"/>
                </a:solidFill>
                <a:latin typeface="DM Sans"/>
              </a:rPr>
              <a:t>."</a:t>
            </a:r>
          </a:p>
        </p:txBody>
      </p:sp>
      <p:sp>
        <p:nvSpPr>
          <p:cNvPr id="7" name="TextBox 6"/>
          <p:cNvSpPr txBox="1"/>
          <p:nvPr/>
        </p:nvSpPr>
        <p:spPr>
          <a:xfrm>
            <a:off x="11571195" y="6400800"/>
            <a:ext cx="437620" cy="276999"/>
          </a:xfrm>
          <a:prstGeom prst="rect">
            <a:avLst/>
          </a:prstGeom>
          <a:noFill/>
        </p:spPr>
        <p:txBody>
          <a:bodyPr wrap="none" lIns="0" rIns="0">
            <a:spAutoFit/>
          </a:bodyPr>
          <a:lstStyle/>
          <a:p>
            <a:pPr algn="r"/>
            <a:r>
              <a:rPr sz="1200" b="1">
                <a:solidFill>
                  <a:srgbClr val="FDFBF6"/>
                </a:solidFill>
                <a:latin typeface="DM Sans"/>
              </a:rPr>
              <a:t>15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432748" y="548640"/>
            <a:ext cx="5066675" cy="411480"/>
          </a:xfrm>
          <a:prstGeom prst="roundRect">
            <a:avLst/>
          </a:prstGeom>
          <a:noFill/>
          <a:ln w="25400">
            <a:solidFill>
              <a:srgbClr val="D4A854"/>
            </a:solidFill>
          </a:ln>
        </p:spPr>
        <p:style>
          <a:lnRef idx="1">
            <a:schemeClr val="accent1"/>
          </a:lnRef>
          <a:fillRef idx="3">
            <a:schemeClr val="accent1"/>
          </a:fillRef>
          <a:effectRef idx="2">
            <a:schemeClr val="accent1"/>
          </a:effectRef>
          <a:fontRef idx="minor">
            <a:schemeClr val="lt1"/>
          </a:fontRef>
        </p:style>
        <p:txBody>
          <a:bodyPr lIns="182880" rIns="182880" rtlCol="0" anchor="ctr"/>
          <a:lstStyle/>
          <a:p>
            <a:pPr algn="ctr"/>
            <a:r>
              <a:rPr sz="2000" b="1">
                <a:solidFill>
                  <a:srgbClr val="D4A854"/>
                </a:solidFill>
                <a:latin typeface="DM Sans"/>
              </a:rPr>
              <a:t>L8 PREVIEW · SUSUNOD NA LINGGO</a:t>
            </a:r>
          </a:p>
        </p:txBody>
      </p:sp>
      <p:sp>
        <p:nvSpPr>
          <p:cNvPr id="4" name="TextBox 3"/>
          <p:cNvSpPr txBox="1"/>
          <p:nvPr/>
        </p:nvSpPr>
        <p:spPr>
          <a:xfrm>
            <a:off x="731520" y="1847535"/>
            <a:ext cx="10728655" cy="830997"/>
          </a:xfrm>
          <a:prstGeom prst="rect">
            <a:avLst/>
          </a:prstGeom>
          <a:noFill/>
        </p:spPr>
        <p:txBody>
          <a:bodyPr wrap="square" lIns="0" tIns="0" rIns="0" bIns="0">
            <a:spAutoFit/>
          </a:bodyPr>
          <a:lstStyle/>
          <a:p>
            <a:pPr algn="ctr"/>
            <a:r>
              <a:rPr sz="5400" b="1" i="0">
                <a:solidFill>
                  <a:srgbClr val="FDFBF6"/>
                </a:solidFill>
                <a:latin typeface="Playfair Display"/>
              </a:rPr>
              <a:t>Stewardship</a:t>
            </a:r>
          </a:p>
        </p:txBody>
      </p:sp>
      <p:sp>
        <p:nvSpPr>
          <p:cNvPr id="5" name="TextBox 4"/>
          <p:cNvSpPr txBox="1"/>
          <p:nvPr/>
        </p:nvSpPr>
        <p:spPr>
          <a:xfrm>
            <a:off x="731520" y="2944815"/>
            <a:ext cx="10728655" cy="492443"/>
          </a:xfrm>
          <a:prstGeom prst="rect">
            <a:avLst/>
          </a:prstGeom>
          <a:noFill/>
        </p:spPr>
        <p:txBody>
          <a:bodyPr wrap="square" lIns="0" tIns="0" rIns="0" bIns="0">
            <a:spAutoFit/>
          </a:bodyPr>
          <a:lstStyle/>
          <a:p>
            <a:pPr algn="ctr"/>
            <a:r>
              <a:rPr sz="3200" b="0" i="1">
                <a:solidFill>
                  <a:srgbClr val="FDFBF6"/>
                </a:solidFill>
                <a:latin typeface="Playfair Display"/>
              </a:rPr>
              <a:t>Mula sa weekly gathering → weekly giving.</a:t>
            </a:r>
          </a:p>
        </p:txBody>
      </p:sp>
      <p:sp>
        <p:nvSpPr>
          <p:cNvPr id="6" name="TextBox 5"/>
          <p:cNvSpPr txBox="1"/>
          <p:nvPr/>
        </p:nvSpPr>
        <p:spPr>
          <a:xfrm>
            <a:off x="731520" y="3767775"/>
            <a:ext cx="10728655" cy="984885"/>
          </a:xfrm>
          <a:prstGeom prst="rect">
            <a:avLst/>
          </a:prstGeom>
          <a:noFill/>
        </p:spPr>
        <p:txBody>
          <a:bodyPr wrap="square" lIns="0" tIns="0" rIns="0" bIns="0">
            <a:spAutoFit/>
          </a:bodyPr>
          <a:lstStyle/>
          <a:p>
            <a:pPr algn="ctr"/>
            <a:r>
              <a:rPr sz="3200" b="0" i="1">
                <a:solidFill>
                  <a:srgbClr val="FDFBF6"/>
                </a:solidFill>
                <a:latin typeface="Playfair Display"/>
              </a:rPr>
              <a:t>Paano ang relasyon ng disciple sa oras, talento, at pera kung tunay siyang sumusunod kay Cristo?</a:t>
            </a:r>
          </a:p>
        </p:txBody>
      </p:sp>
      <p:sp>
        <p:nvSpPr>
          <p:cNvPr id="7" name="TextBox 6"/>
          <p:cNvSpPr txBox="1"/>
          <p:nvPr/>
        </p:nvSpPr>
        <p:spPr>
          <a:xfrm>
            <a:off x="731520" y="5205328"/>
            <a:ext cx="10728655" cy="307777"/>
          </a:xfrm>
          <a:prstGeom prst="rect">
            <a:avLst/>
          </a:prstGeom>
          <a:noFill/>
        </p:spPr>
        <p:txBody>
          <a:bodyPr wrap="square" lIns="0" tIns="0" rIns="0" bIns="0">
            <a:spAutoFit/>
          </a:bodyPr>
          <a:lstStyle/>
          <a:p>
            <a:pPr algn="ctr"/>
            <a:r>
              <a:rPr sz="2000" b="0" i="1" dirty="0">
                <a:solidFill>
                  <a:srgbClr val="FDFBF6"/>
                </a:solidFill>
                <a:latin typeface="DM Sans"/>
              </a:rPr>
              <a:t>"A student who is fully trained will be like their teacher." — Luke 6:40</a:t>
            </a:r>
          </a:p>
        </p:txBody>
      </p:sp>
      <p:sp>
        <p:nvSpPr>
          <p:cNvPr id="8" name="TextBox 7"/>
          <p:cNvSpPr txBox="1"/>
          <p:nvPr/>
        </p:nvSpPr>
        <p:spPr>
          <a:xfrm>
            <a:off x="11569591" y="6400800"/>
            <a:ext cx="439224" cy="276999"/>
          </a:xfrm>
          <a:prstGeom prst="rect">
            <a:avLst/>
          </a:prstGeom>
          <a:noFill/>
        </p:spPr>
        <p:txBody>
          <a:bodyPr wrap="none" lIns="0" rIns="0">
            <a:spAutoFit/>
          </a:bodyPr>
          <a:lstStyle/>
          <a:p>
            <a:pPr algn="r"/>
            <a:r>
              <a:rPr sz="1200" b="1">
                <a:solidFill>
                  <a:srgbClr val="FDFBF6"/>
                </a:solidFill>
                <a:latin typeface="DM Sans"/>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2240</Words>
  <Application>Microsoft Office PowerPoint</Application>
  <PresentationFormat>Widescreen</PresentationFormat>
  <Paragraphs>219</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DM Sans</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af30421@365mso.com</cp:lastModifiedBy>
  <cp:revision>20</cp:revision>
  <dcterms:created xsi:type="dcterms:W3CDTF">2013-01-27T09:14:16Z</dcterms:created>
  <dcterms:modified xsi:type="dcterms:W3CDTF">2026-09-19T11:47:55Z</dcterms:modified>
  <cp:category/>
</cp:coreProperties>
</file>
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Bukas tayo sa BTLI 1 Lesson 7. Sundin ang USAD-L7 source structure (4-movement: TANAW/TUKLAS/TALAKAY/TUGON). Sa BTLI ay 5-movement (PUKAW/TUKLAS/TALAKAY/TUGON/DALHIN) — PUKAW at DALHIN ay Claude-added wrappers per Invariant #76. Total 60 min.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Pagbukas ng lesson, basahin ang Hebreo 10:25 nang sabay-sabay. Hindi pa ipakita ang 4-P breakdown — saving the surprise for slide 7. Goal here: anchor sa puso ng disciples ang exact wording ng verse — kasi ito ang me-memorize nila sa loob ng linggo.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PUKAW step 1 (L6 callback, 1.5 min): magpa-share ng 1-2 kapatid lang — hindi buong round. Step 2 (1-10 snapshot, 2 min): hindi shi-share ang numero sa LCG ngayon. Para sa sarili lang muna. Bahala kayo i-share later, pero hindi requirement. Watchout: huwag tanungin ang numero sa harap — humihiya kapag mababa.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PUKAW step 3 (Image-Pick, 4.5 min): pumili ng isa, isulat ang reason. Pagkatapos ng 2-3 min ng silent writing, magpa-share ng 2-3 kapatid. Iwasan ang pag-judge sa sagot. Kahit 'spiritual grocery store' ay magbibigay ng pintuan — hindi mo kailangang sabihing mali. Critical observation duty: kung may pumili ng grocery + hindi na-redirect, i-flag yung name sa intern.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TUKLAS step 1 (Big Idea, 3 min): sabay-sabay basahin. Pagkatapos: 'Bago natin kunin ang puso ng Hebreo 10:25, maikling kuwento muna...' — transition into Pang-CAT joke. Ang Big Idea ay magkasabay: pangangailangan AT pananagutan. Hindi alis-isa.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TUKLAS step 1 (Pang-CAT, ~60-90 sec lang): tapikin lang, huwag pa-drama-in. Pagkatapos sabihin: 'Bakit nakakatawa? Anong totoo dito?' Tapos sasagot ang LCG: ilang Christians nga ba ang nakita nating maliligtas + ma-baptize tapos no-show na. Watchout: ang joke ay disarmament, hindi punchline. Wag i-prolong para sa palakpakan.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TUKLAS step 2 (3 min): basahin sabay-sabay ang verse mula sa slide 2. Tapos i-reveal ang 4-P. Apat na utos sa isang verse — hindi kalat-kalat na ideas, sundoy ng pag-iisip ni Pablo (or whoever wrote Hebrews). Bawat parirala ay may sariling P. Pumunta tayo isa-isa.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TUKLAS step 3 (Pananagutan, 3 min): emphasize ang KO at AKIN sa Matthew 16:18 — personal kay Cristo ang Church. Hindi club. Hindi event. Idea Niya, gawa Niya, bayad Niya ng buhay (Eph 5:25). Pinakaforce ng slide: 'Hindi ka iniligtas to be apart from the Church. Iniligtas ka to be a PART OF the Church.' Pause after that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TUKLAS step 4 (Palusot, 5 min): 6 excuses Pew 2018 data. Quick-fire format — sasabihin mo ang excuse, sasagot ang LCG ng biblical rebuttal. 30-45 sec each. Wag pahabain ang debate. May posibleng triggered kapatid sa 'plastic kasi sa church' — kung may totoong sugat, sabihin: 'usapan natin pagkatapos.' Pero ang punto: hindi sapat na palusot ang isang masamang karanasan para iwasan ang buong katawan.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TUKLAS step 5 (Pangangailangan, 4 min): two-way. Pinakaimportante: hindi ka consumer — pareho kang TUMATANGGAP ng strengthening at NAGBIBIGAY. Scaling question (hindi shaming): 'Sa kanang column — spiritual gifts, paghayo, pag-disciple — gaano kalapit ka rito?' Pasagot ng 2 kapatid.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TUKLAS step 6 (Pagganyak, 2 min): last P. Eschatological motivation. Hindi takot — pagganyak. Closing line: 'Mamili ka.' Pause. Allow the weight of the choice to land. Tapos move to TALAKAY.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TALAKAY (12 min): Step 1 ay safe-space reset (1 min). Step 2 Q1 (3 min, sa NARINIG mo sa iba — safe entry). Step 3 Q2 (3 min, theological — bantayan ang dalawang extremes: lahat acceptable / wala acceptable). Step 4 Q3 (5 min — personal palusot, round-robin). Magsimula ka — pastor-led vulnerability. Watchout: kung may di nakapag-name, huwag i-force.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TUGON (12 min): Step 1 Eph 5:25 frame (1 min) — ang sinusulatan natin ay pagmamahal ng Bride sa Bridegroom. Step 2 silent writing ng 3 commitments (8 min) — konkreto, hindi vague. 'Magseserve ako' — hindi pwede. 'Magseserve ako sa worship team or ushering bago Q3 matapos' — pwede. Step 3 read-aloud + witness (3 min) — magpa-share ng 1 commitment lang per kapatid (hindi lahat 3). Watchout: kung may di nakapagsulat, tanong ng tahimik: 'Anong nakakahadlang?' — para sa post-lesson debrief.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DALHIN step 1-2 (5 min): 7-Sunday Watch setup (2 min) — para sa susunod na 7 Linggo, hindi i-fill ngayon. Step 2 EOLO Church-Invite Bridge (3 min) — ITO ANG PINAKA-CONFRONTING QUESTION ng lesson. 'Kapag dumating ang Araw at hindi mo siya nai-invite, ano ang sasabihin mo kay Cristo?' Hayaan ang katahimikan. Wag i-rush.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DALHIN step 4 (Pangako Ko, 2 min): Tumayo ang lahat. Sabay-sabay nating bigkasin nang malakas. Pagkatapos sabihin sa katabi: 'Saksi ka.' At sumagot ang katabi: 'Saksi ako.' Ang witness exchange ay mahalaga — ito ang Structural Motivation (Six Sources mapping). Locked into LCG memory.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DALHIN step 5 (end snapshot + L8 preview, 2 min): balikan ang 1-10 scale sa Dalhin. Ihambing sa PUKAW snapshot — anong pinakikilos ng Espiritu? Tapos L8 preview: 'Susunod na Linggo — Stewardship. Mula sa weekly gathering, lalapit tayo sa weekly giving.' Pwedeng optional closing video kung may 2 min 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5C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48640"/>
            <a:ext cx="10728655" cy="365760"/>
          </a:xfrm>
          <a:prstGeom prst="rect">
            <a:avLst/>
          </a:prstGeom>
          <a:noFill/>
        </p:spPr>
        <p:txBody>
          <a:bodyPr wrap="square" lIns="0" rIns="0" tIns="0" bIns="0">
            <a:spAutoFit/>
          </a:bodyPr>
          <a:lstStyle/>
          <a:p>
            <a:pPr algn="ctr"/>
            <a:r>
              <a:rPr sz="1400" b="1" i="0">
                <a:solidFill>
                  <a:srgbClr val="D4A854"/>
                </a:solidFill>
                <a:latin typeface="DM Sans"/>
              </a:rPr>
              <a:t>BTLI 1 · LESSON 7</a:t>
            </a:r>
          </a:p>
        </p:txBody>
      </p:sp>
      <p:sp>
        <p:nvSpPr>
          <p:cNvPr id="4" name="TextBox 3"/>
          <p:cNvSpPr txBox="1"/>
          <p:nvPr/>
        </p:nvSpPr>
        <p:spPr>
          <a:xfrm>
            <a:off x="731520" y="1051560"/>
            <a:ext cx="10728655" cy="1005840"/>
          </a:xfrm>
          <a:prstGeom prst="rect">
            <a:avLst/>
          </a:prstGeom>
          <a:noFill/>
        </p:spPr>
        <p:txBody>
          <a:bodyPr wrap="square" lIns="0" rIns="0" tIns="0" bIns="0">
            <a:spAutoFit/>
          </a:bodyPr>
          <a:lstStyle/>
          <a:p>
            <a:pPr algn="ctr"/>
            <a:r>
              <a:rPr sz="4400" b="1" i="0">
                <a:solidFill>
                  <a:srgbClr val="FDFBF6"/>
                </a:solidFill>
                <a:latin typeface="Playfair Display"/>
              </a:rPr>
              <a:t>Sama-Samang Pagsamba</a:t>
            </a:r>
          </a:p>
        </p:txBody>
      </p:sp>
      <p:sp>
        <p:nvSpPr>
          <p:cNvPr id="5" name="TextBox 4"/>
          <p:cNvSpPr txBox="1"/>
          <p:nvPr/>
        </p:nvSpPr>
        <p:spPr>
          <a:xfrm>
            <a:off x="731520" y="2148840"/>
            <a:ext cx="10728655" cy="548640"/>
          </a:xfrm>
          <a:prstGeom prst="rect">
            <a:avLst/>
          </a:prstGeom>
          <a:noFill/>
        </p:spPr>
        <p:txBody>
          <a:bodyPr wrap="square" lIns="0" rIns="0" tIns="0" bIns="0">
            <a:spAutoFit/>
          </a:bodyPr>
          <a:lstStyle/>
          <a:p>
            <a:pPr algn="ctr"/>
            <a:r>
              <a:rPr sz="2600" b="0" i="0">
                <a:solidFill>
                  <a:srgbClr val="FDFBF6"/>
                </a:solidFill>
                <a:latin typeface="Playfair Display"/>
              </a:rPr>
              <a:t>Church Worship Service</a:t>
            </a:r>
          </a:p>
        </p:txBody>
      </p:sp>
      <p:sp>
        <p:nvSpPr>
          <p:cNvPr id="6" name="TextBox 5"/>
          <p:cNvSpPr txBox="1"/>
          <p:nvPr/>
        </p:nvSpPr>
        <p:spPr>
          <a:xfrm>
            <a:off x="731520" y="2651760"/>
            <a:ext cx="10728655" cy="457200"/>
          </a:xfrm>
          <a:prstGeom prst="rect">
            <a:avLst/>
          </a:prstGeom>
          <a:noFill/>
        </p:spPr>
        <p:txBody>
          <a:bodyPr wrap="square" lIns="0" rIns="0" tIns="0" bIns="0">
            <a:spAutoFit/>
          </a:bodyPr>
          <a:lstStyle/>
          <a:p>
            <a:pPr algn="ctr"/>
            <a:r>
              <a:rPr sz="1800" b="0" i="1">
                <a:solidFill>
                  <a:srgbClr val="FDFBF6"/>
                </a:solidFill>
                <a:latin typeface="DM Sans"/>
              </a:rPr>
              <a:t>Bakit Mahalaga ang Pagsamba ng Magkakasama?</a:t>
            </a:r>
          </a:p>
        </p:txBody>
      </p:sp>
      <p:sp>
        <p:nvSpPr>
          <p:cNvPr id="7" name="TextBox 6"/>
          <p:cNvSpPr txBox="1"/>
          <p:nvPr/>
        </p:nvSpPr>
        <p:spPr>
          <a:xfrm>
            <a:off x="11094415" y="6400800"/>
            <a:ext cx="914400" cy="274320"/>
          </a:xfrm>
          <a:prstGeom prst="rect">
            <a:avLst/>
          </a:prstGeom>
          <a:noFill/>
        </p:spPr>
        <p:txBody>
          <a:bodyPr wrap="none" lIns="0" rIns="0">
            <a:spAutoFit/>
          </a:bodyPr>
          <a:lstStyle/>
          <a:p>
            <a:pPr algn="r"/>
            <a:r>
              <a:rPr sz="900" b="1">
                <a:solidFill>
                  <a:srgbClr val="FDFBF6"/>
                </a:solidFill>
                <a:latin typeface="DM Sans"/>
              </a:rPr>
              <a:t>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1200" b="1">
                <a:solidFill>
                  <a:srgbClr val="2A5C40"/>
                </a:solidFill>
                <a:latin typeface="DM Sans"/>
              </a:rPr>
              <a:t>MEMORY VERSE</a:t>
            </a:r>
          </a:p>
        </p:txBody>
      </p:sp>
      <p:sp>
        <p:nvSpPr>
          <p:cNvPr id="4" name="TextBox 3"/>
          <p:cNvSpPr txBox="1"/>
          <p:nvPr/>
        </p:nvSpPr>
        <p:spPr>
          <a:xfrm>
            <a:off x="731520" y="1143000"/>
            <a:ext cx="10728655" cy="1005840"/>
          </a:xfrm>
          <a:prstGeom prst="rect">
            <a:avLst/>
          </a:prstGeom>
          <a:noFill/>
        </p:spPr>
        <p:txBody>
          <a:bodyPr wrap="square" lIns="0" rIns="0" tIns="0" bIns="0">
            <a:spAutoFit/>
          </a:bodyPr>
          <a:lstStyle/>
          <a:p>
            <a:pPr algn="ctr"/>
            <a:r>
              <a:rPr sz="3600" b="1" i="0">
                <a:solidFill>
                  <a:srgbClr val="1A2E22"/>
                </a:solidFill>
                <a:latin typeface="Playfair Display"/>
              </a:rPr>
              <a:t>Hebreo 10:25</a:t>
            </a:r>
          </a:p>
        </p:txBody>
      </p:sp>
      <p:sp>
        <p:nvSpPr>
          <p:cNvPr id="5" name="Rounded Rectangle 4"/>
          <p:cNvSpPr/>
          <p:nvPr/>
        </p:nvSpPr>
        <p:spPr>
          <a:xfrm>
            <a:off x="1371600" y="2240280"/>
            <a:ext cx="9448495" cy="2011680"/>
          </a:xfrm>
          <a:prstGeom prst="roundRect">
            <a:avLst/>
          </a:prstGeom>
          <a:solidFill>
            <a:srgbClr val="F6F2E7"/>
          </a:solidFill>
          <a:ln w="25400">
            <a:solidFill>
              <a:srgbClr val="B8882A"/>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228600"/>
          <a:lstStyle/>
          <a:p>
            <a:pPr algn="l"/>
            <a:r>
              <a:rPr sz="1800" i="1">
                <a:solidFill>
                  <a:srgbClr val="1A2E22"/>
                </a:solidFill>
                <a:latin typeface="Playfair Display"/>
              </a:rPr>
              <a:t>"Huwag nating kaliligtaan ang pagdalo sa ating mga pagtitipon, gaya ng nakasanayan ng iba. Sa halip, palakasin natin ang loob ng isa't isa, lalo na ngayong nakikita nating malapit na ang Araw ng Panginoon."</a:t>
            </a:r>
          </a:p>
        </p:txBody>
      </p:sp>
      <p:sp>
        <p:nvSpPr>
          <p:cNvPr id="6" name="TextBox 5"/>
          <p:cNvSpPr txBox="1"/>
          <p:nvPr/>
        </p:nvSpPr>
        <p:spPr>
          <a:xfrm>
            <a:off x="11094415" y="6400800"/>
            <a:ext cx="914400" cy="274320"/>
          </a:xfrm>
          <a:prstGeom prst="rect">
            <a:avLst/>
          </a:prstGeom>
          <a:noFill/>
        </p:spPr>
        <p:txBody>
          <a:bodyPr wrap="none" lIns="0" rIns="0">
            <a:spAutoFit/>
          </a:bodyPr>
          <a:lstStyle/>
          <a:p>
            <a:pPr algn="r"/>
            <a:r>
              <a:rPr sz="900" b="1">
                <a:solidFill>
                  <a:srgbClr val="1A2E22"/>
                </a:solidFill>
                <a:latin typeface="DM Sans"/>
              </a:rPr>
              <a:t>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1200" b="1">
                <a:solidFill>
                  <a:srgbClr val="2A5C40"/>
                </a:solidFill>
                <a:latin typeface="DM Sans"/>
              </a:rPr>
              <a:t>PUKAW · 8 MIN</a:t>
            </a:r>
          </a:p>
        </p:txBody>
      </p:sp>
      <p:sp>
        <p:nvSpPr>
          <p:cNvPr id="4" name="TextBox 3"/>
          <p:cNvSpPr txBox="1"/>
          <p:nvPr/>
        </p:nvSpPr>
        <p:spPr>
          <a:xfrm>
            <a:off x="731520" y="1143000"/>
            <a:ext cx="10728655" cy="1005840"/>
          </a:xfrm>
          <a:prstGeom prst="rect">
            <a:avLst/>
          </a:prstGeom>
          <a:noFill/>
        </p:spPr>
        <p:txBody>
          <a:bodyPr wrap="square" lIns="0" rIns="0" tIns="0" bIns="0">
            <a:spAutoFit/>
          </a:bodyPr>
          <a:lstStyle/>
          <a:p>
            <a:pPr algn="ctr"/>
            <a:r>
              <a:rPr sz="3600" b="1" i="0">
                <a:solidFill>
                  <a:srgbClr val="1A2E22"/>
                </a:solidFill>
                <a:latin typeface="Playfair Display"/>
              </a:rPr>
              <a:t>Pagbalik sa L6 · Sariling Snapshot</a:t>
            </a:r>
          </a:p>
        </p:txBody>
      </p:sp>
      <p:sp>
        <p:nvSpPr>
          <p:cNvPr id="5" name="TextBox 4"/>
          <p:cNvSpPr txBox="1"/>
          <p:nvPr/>
        </p:nvSpPr>
        <p:spPr>
          <a:xfrm>
            <a:off x="731520" y="2240280"/>
            <a:ext cx="10728655" cy="365760"/>
          </a:xfrm>
          <a:prstGeom prst="rect">
            <a:avLst/>
          </a:prstGeom>
          <a:noFill/>
        </p:spPr>
        <p:txBody>
          <a:bodyPr wrap="square" lIns="0" rIns="0" tIns="0" bIns="0">
            <a:spAutoFit/>
          </a:bodyPr>
          <a:lstStyle/>
          <a:p>
            <a:pPr algn="ctr"/>
            <a:r>
              <a:rPr sz="1800" b="0" i="0">
                <a:solidFill>
                  <a:srgbClr val="1A2E22"/>
                </a:solidFill>
                <a:latin typeface="DM Sans"/>
              </a:rPr>
              <a:t>Kumusta ang Pangako Ko mo nung L6?</a:t>
            </a:r>
          </a:p>
        </p:txBody>
      </p:sp>
      <p:sp>
        <p:nvSpPr>
          <p:cNvPr id="6" name="TextBox 5"/>
          <p:cNvSpPr txBox="1"/>
          <p:nvPr/>
        </p:nvSpPr>
        <p:spPr>
          <a:xfrm>
            <a:off x="731520" y="2651760"/>
            <a:ext cx="10728655" cy="365760"/>
          </a:xfrm>
          <a:prstGeom prst="rect">
            <a:avLst/>
          </a:prstGeom>
          <a:noFill/>
        </p:spPr>
        <p:txBody>
          <a:bodyPr wrap="square" lIns="0" rIns="0" tIns="0" bIns="0">
            <a:spAutoFit/>
          </a:bodyPr>
          <a:lstStyle/>
          <a:p>
            <a:pPr algn="ctr"/>
            <a:r>
              <a:rPr sz="1800" b="0" i="0">
                <a:solidFill>
                  <a:srgbClr val="1A2E22"/>
                </a:solidFill>
                <a:latin typeface="DM Sans"/>
              </a:rPr>
              <a:t>Sino sa Box 4 ang naabot mo o pinanalanginan mo?</a:t>
            </a:r>
          </a:p>
        </p:txBody>
      </p:sp>
      <p:sp>
        <p:nvSpPr>
          <p:cNvPr id="7" name="TextBox 6"/>
          <p:cNvSpPr txBox="1"/>
          <p:nvPr/>
        </p:nvSpPr>
        <p:spPr>
          <a:xfrm>
            <a:off x="731520" y="3200400"/>
            <a:ext cx="10728655" cy="914400"/>
          </a:xfrm>
          <a:prstGeom prst="rect">
            <a:avLst/>
          </a:prstGeom>
          <a:noFill/>
        </p:spPr>
        <p:txBody>
          <a:bodyPr wrap="square" lIns="0" rIns="0" tIns="0" bIns="0">
            <a:spAutoFit/>
          </a:bodyPr>
          <a:lstStyle/>
          <a:p>
            <a:pPr algn="ctr"/>
            <a:r>
              <a:rPr sz="3000" b="1" i="1">
                <a:solidFill>
                  <a:srgbClr val="1F4530"/>
                </a:solidFill>
                <a:latin typeface="Playfair Display"/>
              </a:rPr>
              <a:t>1—10 Sunday Attendance Snapshot</a:t>
            </a:r>
          </a:p>
        </p:txBody>
      </p:sp>
      <p:sp>
        <p:nvSpPr>
          <p:cNvPr id="8" name="TextBox 7"/>
          <p:cNvSpPr txBox="1"/>
          <p:nvPr/>
        </p:nvSpPr>
        <p:spPr>
          <a:xfrm>
            <a:off x="731520" y="4023360"/>
            <a:ext cx="10728655" cy="365760"/>
          </a:xfrm>
          <a:prstGeom prst="rect">
            <a:avLst/>
          </a:prstGeom>
          <a:noFill/>
        </p:spPr>
        <p:txBody>
          <a:bodyPr wrap="square" lIns="0" rIns="0" tIns="0" bIns="0">
            <a:spAutoFit/>
          </a:bodyPr>
          <a:lstStyle/>
          <a:p>
            <a:pPr algn="ctr"/>
            <a:r>
              <a:rPr sz="1200" b="0" i="1">
                <a:solidFill>
                  <a:srgbClr val="1A2E22"/>
                </a:solidFill>
                <a:latin typeface="DM Sans"/>
              </a:rPr>
              <a:t>(8 linggo · sariling assessment · hindi shi-share ngayon)</a:t>
            </a:r>
          </a:p>
        </p:txBody>
      </p:sp>
      <p:sp>
        <p:nvSpPr>
          <p:cNvPr id="9" name="TextBox 8"/>
          <p:cNvSpPr txBox="1"/>
          <p:nvPr/>
        </p:nvSpPr>
        <p:spPr>
          <a:xfrm>
            <a:off x="11094415" y="6400800"/>
            <a:ext cx="914400" cy="274320"/>
          </a:xfrm>
          <a:prstGeom prst="rect">
            <a:avLst/>
          </a:prstGeom>
          <a:noFill/>
        </p:spPr>
        <p:txBody>
          <a:bodyPr wrap="none" lIns="0" rIns="0">
            <a:spAutoFit/>
          </a:bodyPr>
          <a:lstStyle/>
          <a:p>
            <a:pPr algn="r"/>
            <a:r>
              <a:rPr sz="900" b="1">
                <a:solidFill>
                  <a:srgbClr val="1A2E22"/>
                </a:solidFill>
                <a:latin typeface="DM Sans"/>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1200" b="1">
                <a:solidFill>
                  <a:srgbClr val="2A5C40"/>
                </a:solidFill>
                <a:latin typeface="DM Sans"/>
              </a:rPr>
              <a:t>PUKAW · ACTIVITY</a:t>
            </a:r>
          </a:p>
        </p:txBody>
      </p:sp>
      <p:sp>
        <p:nvSpPr>
          <p:cNvPr id="4" name="TextBox 3"/>
          <p:cNvSpPr txBox="1"/>
          <p:nvPr/>
        </p:nvSpPr>
        <p:spPr>
          <a:xfrm>
            <a:off x="731520" y="1143000"/>
            <a:ext cx="10728655" cy="1005840"/>
          </a:xfrm>
          <a:prstGeom prst="rect">
            <a:avLst/>
          </a:prstGeom>
          <a:noFill/>
        </p:spPr>
        <p:txBody>
          <a:bodyPr wrap="square" lIns="0" rIns="0" tIns="0" bIns="0">
            <a:spAutoFit/>
          </a:bodyPr>
          <a:lstStyle/>
          <a:p>
            <a:pPr algn="ctr"/>
            <a:r>
              <a:rPr sz="3600" b="1" i="0">
                <a:solidFill>
                  <a:srgbClr val="1A2E22"/>
                </a:solidFill>
                <a:latin typeface="Playfair Display"/>
              </a:rPr>
              <a:t>Alin ang nasa puso mo?</a:t>
            </a:r>
          </a:p>
        </p:txBody>
      </p:sp>
      <p:sp>
        <p:nvSpPr>
          <p:cNvPr id="5" name="TextBox 4"/>
          <p:cNvSpPr txBox="1"/>
          <p:nvPr/>
        </p:nvSpPr>
        <p:spPr>
          <a:xfrm>
            <a:off x="731520" y="2240280"/>
            <a:ext cx="10728655" cy="365760"/>
          </a:xfrm>
          <a:prstGeom prst="rect">
            <a:avLst/>
          </a:prstGeom>
          <a:noFill/>
        </p:spPr>
        <p:txBody>
          <a:bodyPr wrap="square" lIns="0" rIns="0" tIns="0" bIns="0">
            <a:spAutoFit/>
          </a:bodyPr>
          <a:lstStyle/>
          <a:p>
            <a:pPr algn="ctr"/>
            <a:r>
              <a:rPr sz="1400" b="0" i="1">
                <a:solidFill>
                  <a:srgbClr val="1A2E22"/>
                </a:solidFill>
                <a:latin typeface="DM Sans"/>
              </a:rPr>
              <a:t>Anong "church" image ang pinakamalapit sa'yo?</a:t>
            </a:r>
          </a:p>
        </p:txBody>
      </p:sp>
      <p:sp>
        <p:nvSpPr>
          <p:cNvPr id="6" name="Rounded Rectangle 5"/>
          <p:cNvSpPr/>
          <p:nvPr/>
        </p:nvSpPr>
        <p:spPr>
          <a:xfrm>
            <a:off x="731520" y="2697480"/>
            <a:ext cx="5181447" cy="1005840"/>
          </a:xfrm>
          <a:prstGeom prst="roundRect">
            <a:avLst/>
          </a:prstGeom>
          <a:solidFill>
            <a:srgbClr val="FDFBF6"/>
          </a:solidFill>
          <a:ln w="19050">
            <a:solidFill>
              <a:srgbClr val="1F453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1">
                <a:solidFill>
                  <a:srgbClr val="1F4530"/>
                </a:solidFill>
                <a:latin typeface="DM Sans"/>
              </a:rPr>
              <a:t>⛪ Place of Gathering</a:t>
            </a:r>
          </a:p>
          <a:p>
            <a:pPr algn="ctr"/>
            <a:r>
              <a:rPr sz="1100" i="1">
                <a:solidFill>
                  <a:srgbClr val="6B6253"/>
                </a:solidFill>
                <a:latin typeface="DM Sans"/>
              </a:rPr>
              <a:t>para sa mga banal</a:t>
            </a:r>
          </a:p>
        </p:txBody>
      </p:sp>
      <p:sp>
        <p:nvSpPr>
          <p:cNvPr id="7" name="Rounded Rectangle 6"/>
          <p:cNvSpPr/>
          <p:nvPr/>
        </p:nvSpPr>
        <p:spPr>
          <a:xfrm>
            <a:off x="6278727" y="2697480"/>
            <a:ext cx="5181447" cy="1005840"/>
          </a:xfrm>
          <a:prstGeom prst="roundRect">
            <a:avLst/>
          </a:prstGeom>
          <a:solidFill>
            <a:srgbClr val="FDFBF6"/>
          </a:solidFill>
          <a:ln w="19050">
            <a:solidFill>
              <a:srgbClr val="1F453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1">
                <a:solidFill>
                  <a:srgbClr val="1F4530"/>
                </a:solidFill>
                <a:latin typeface="DM Sans"/>
              </a:rPr>
              <a:t>🏥 Spiritual Hospital</a:t>
            </a:r>
          </a:p>
          <a:p>
            <a:pPr algn="ctr"/>
            <a:r>
              <a:rPr sz="1100" i="1">
                <a:solidFill>
                  <a:srgbClr val="6B6253"/>
                </a:solidFill>
                <a:latin typeface="DM Sans"/>
              </a:rPr>
              <a:t>para sa mga sugatang kaluluwa</a:t>
            </a:r>
          </a:p>
        </p:txBody>
      </p:sp>
      <p:sp>
        <p:nvSpPr>
          <p:cNvPr id="8" name="Rounded Rectangle 7"/>
          <p:cNvSpPr/>
          <p:nvPr/>
        </p:nvSpPr>
        <p:spPr>
          <a:xfrm>
            <a:off x="731520" y="3931920"/>
            <a:ext cx="5181447" cy="1005840"/>
          </a:xfrm>
          <a:prstGeom prst="roundRect">
            <a:avLst/>
          </a:prstGeom>
          <a:solidFill>
            <a:srgbClr val="FDFBF6"/>
          </a:solidFill>
          <a:ln w="19050">
            <a:solidFill>
              <a:srgbClr val="1F453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1">
                <a:solidFill>
                  <a:srgbClr val="1F4530"/>
                </a:solidFill>
                <a:latin typeface="DM Sans"/>
              </a:rPr>
              <a:t>🛒 Spiritual Grocery</a:t>
            </a:r>
          </a:p>
          <a:p>
            <a:pPr algn="ctr"/>
            <a:r>
              <a:rPr sz="1100" i="1">
                <a:solidFill>
                  <a:srgbClr val="6B6253"/>
                </a:solidFill>
                <a:latin typeface="DM Sans"/>
              </a:rPr>
              <a:t>para sa spiritual needs</a:t>
            </a:r>
          </a:p>
        </p:txBody>
      </p:sp>
      <p:sp>
        <p:nvSpPr>
          <p:cNvPr id="9" name="Rounded Rectangle 8"/>
          <p:cNvSpPr/>
          <p:nvPr/>
        </p:nvSpPr>
        <p:spPr>
          <a:xfrm>
            <a:off x="6278727" y="3931920"/>
            <a:ext cx="5181447" cy="1005840"/>
          </a:xfrm>
          <a:prstGeom prst="roundRect">
            <a:avLst/>
          </a:prstGeom>
          <a:solidFill>
            <a:srgbClr val="FDFBF6"/>
          </a:solidFill>
          <a:ln w="19050">
            <a:solidFill>
              <a:srgbClr val="1F453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1">
                <a:solidFill>
                  <a:srgbClr val="1F4530"/>
                </a:solidFill>
                <a:latin typeface="DM Sans"/>
              </a:rPr>
              <a:t>✎ Iba pa</a:t>
            </a:r>
          </a:p>
          <a:p>
            <a:pPr algn="ctr"/>
            <a:r>
              <a:rPr sz="1100" i="1">
                <a:solidFill>
                  <a:srgbClr val="6B6253"/>
                </a:solidFill>
                <a:latin typeface="DM Sans"/>
              </a:rPr>
              <a:t>isulat o iguhit</a:t>
            </a:r>
          </a:p>
        </p:txBody>
      </p:sp>
      <p:sp>
        <p:nvSpPr>
          <p:cNvPr id="10" name="TextBox 9"/>
          <p:cNvSpPr txBox="1"/>
          <p:nvPr/>
        </p:nvSpPr>
        <p:spPr>
          <a:xfrm>
            <a:off x="11094415" y="6400800"/>
            <a:ext cx="914400" cy="274320"/>
          </a:xfrm>
          <a:prstGeom prst="rect">
            <a:avLst/>
          </a:prstGeom>
          <a:noFill/>
        </p:spPr>
        <p:txBody>
          <a:bodyPr wrap="none" lIns="0" rIns="0">
            <a:spAutoFit/>
          </a:bodyPr>
          <a:lstStyle/>
          <a:p>
            <a:pPr algn="r"/>
            <a:r>
              <a:rPr sz="900" b="1">
                <a:solidFill>
                  <a:srgbClr val="1A2E22"/>
                </a:solidFill>
                <a:latin typeface="DM Sans"/>
              </a:rP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95647" y="548640"/>
            <a:ext cx="3200400" cy="411480"/>
          </a:xfrm>
          <a:prstGeom prst="roundRect">
            <a:avLst/>
          </a:prstGeom>
          <a:noFill/>
          <a:ln w="25400">
            <a:solidFill>
              <a:srgbClr val="D4A854"/>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1200" b="1">
                <a:solidFill>
                  <a:srgbClr val="D4A854"/>
                </a:solidFill>
                <a:latin typeface="DM Sans"/>
              </a:rPr>
              <a:t>TUKLAS · BIG IDEA</a:t>
            </a:r>
          </a:p>
        </p:txBody>
      </p:sp>
      <p:sp>
        <p:nvSpPr>
          <p:cNvPr id="4" name="TextBox 3"/>
          <p:cNvSpPr txBox="1"/>
          <p:nvPr/>
        </p:nvSpPr>
        <p:spPr>
          <a:xfrm>
            <a:off x="731520" y="1143000"/>
            <a:ext cx="10728655" cy="1005840"/>
          </a:xfrm>
          <a:prstGeom prst="rect">
            <a:avLst/>
          </a:prstGeom>
          <a:noFill/>
        </p:spPr>
        <p:txBody>
          <a:bodyPr wrap="square" lIns="0" rIns="0" tIns="0" bIns="0">
            <a:spAutoFit/>
          </a:bodyPr>
          <a:lstStyle/>
          <a:p>
            <a:pPr algn="ctr"/>
            <a:r>
              <a:rPr sz="3600" b="1" i="0">
                <a:solidFill>
                  <a:srgbClr val="FDFBF6"/>
                </a:solidFill>
                <a:latin typeface="Playfair Display"/>
              </a:rPr>
              <a:t>Ang Big Idea</a:t>
            </a:r>
          </a:p>
        </p:txBody>
      </p:sp>
      <p:sp>
        <p:nvSpPr>
          <p:cNvPr id="5" name="TextBox 4"/>
          <p:cNvSpPr txBox="1"/>
          <p:nvPr/>
        </p:nvSpPr>
        <p:spPr>
          <a:xfrm>
            <a:off x="731520" y="2240280"/>
            <a:ext cx="10728655" cy="2011680"/>
          </a:xfrm>
          <a:prstGeom prst="rect">
            <a:avLst/>
          </a:prstGeom>
          <a:noFill/>
        </p:spPr>
        <p:txBody>
          <a:bodyPr wrap="square" lIns="0" rIns="0" tIns="0" bIns="0">
            <a:spAutoFit/>
          </a:bodyPr>
          <a:lstStyle/>
          <a:p>
            <a:pPr algn="ctr"/>
            <a:r>
              <a:rPr sz="2800" b="1" i="1">
                <a:solidFill>
                  <a:srgbClr val="D4A854"/>
                </a:solidFill>
                <a:latin typeface="Playfair Display"/>
              </a:rPr>
              <a:t>Ang sama-samang pagsamba ay magkasabay na pangangailangan at pananagutan ng isang tunay na mananampalataya.</a:t>
            </a:r>
          </a:p>
        </p:txBody>
      </p:sp>
      <p:sp>
        <p:nvSpPr>
          <p:cNvPr id="6" name="TextBox 5"/>
          <p:cNvSpPr txBox="1"/>
          <p:nvPr/>
        </p:nvSpPr>
        <p:spPr>
          <a:xfrm>
            <a:off x="11094415" y="6400800"/>
            <a:ext cx="914400" cy="274320"/>
          </a:xfrm>
          <a:prstGeom prst="rect">
            <a:avLst/>
          </a:prstGeom>
          <a:noFill/>
        </p:spPr>
        <p:txBody>
          <a:bodyPr wrap="none" lIns="0" rIns="0">
            <a:spAutoFit/>
          </a:bodyPr>
          <a:lstStyle/>
          <a:p>
            <a:pPr algn="r"/>
            <a:r>
              <a:rPr sz="900" b="1">
                <a:solidFill>
                  <a:srgbClr val="FDFBF6"/>
                </a:solidFill>
                <a:latin typeface="DM Sans"/>
              </a:rP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1200" b="1">
                <a:solidFill>
                  <a:srgbClr val="2A5C40"/>
                </a:solidFill>
                <a:latin typeface="DM Sans"/>
              </a:rPr>
              <a:t>TUKLAS · COLD OPEN</a:t>
            </a:r>
          </a:p>
        </p:txBody>
      </p:sp>
      <p:sp>
        <p:nvSpPr>
          <p:cNvPr id="4" name="TextBox 3"/>
          <p:cNvSpPr txBox="1"/>
          <p:nvPr/>
        </p:nvSpPr>
        <p:spPr>
          <a:xfrm>
            <a:off x="731520" y="1143000"/>
            <a:ext cx="10728655" cy="1005840"/>
          </a:xfrm>
          <a:prstGeom prst="rect">
            <a:avLst/>
          </a:prstGeom>
          <a:noFill/>
        </p:spPr>
        <p:txBody>
          <a:bodyPr wrap="square" lIns="0" rIns="0" tIns="0" bIns="0">
            <a:spAutoFit/>
          </a:bodyPr>
          <a:lstStyle/>
          <a:p>
            <a:pPr algn="ctr"/>
            <a:r>
              <a:rPr sz="3600" b="1" i="0">
                <a:solidFill>
                  <a:srgbClr val="1A2E22"/>
                </a:solidFill>
                <a:latin typeface="Playfair Display"/>
              </a:rPr>
              <a:t>Pang-CAT…</a:t>
            </a:r>
          </a:p>
        </p:txBody>
      </p:sp>
      <p:sp>
        <p:nvSpPr>
          <p:cNvPr id="5" name="TextBox 4"/>
          <p:cNvSpPr txBox="1"/>
          <p:nvPr/>
        </p:nvSpPr>
        <p:spPr>
          <a:xfrm>
            <a:off x="731520" y="2240280"/>
            <a:ext cx="10728655" cy="777240"/>
          </a:xfrm>
          <a:prstGeom prst="rect">
            <a:avLst/>
          </a:prstGeom>
          <a:noFill/>
        </p:spPr>
        <p:txBody>
          <a:bodyPr wrap="square" lIns="0" rIns="0" tIns="0" bIns="0">
            <a:spAutoFit/>
          </a:bodyPr>
          <a:lstStyle/>
          <a:p>
            <a:pPr algn="ctr"/>
            <a:r>
              <a:rPr sz="1800" b="0" i="1">
                <a:solidFill>
                  <a:srgbClr val="1A2E22"/>
                </a:solidFill>
                <a:latin typeface="Playfair Display"/>
              </a:rPr>
              <a:t>Tatlong pastor: "Wa epek ang traps... bumabalik ang pusa kahit dalhin sa kabilang barangay."</a:t>
            </a:r>
          </a:p>
        </p:txBody>
      </p:sp>
      <p:sp>
        <p:nvSpPr>
          <p:cNvPr id="6" name="TextBox 5"/>
          <p:cNvSpPr txBox="1"/>
          <p:nvPr/>
        </p:nvSpPr>
        <p:spPr>
          <a:xfrm>
            <a:off x="731520" y="3063240"/>
            <a:ext cx="10728655" cy="777240"/>
          </a:xfrm>
          <a:prstGeom prst="rect">
            <a:avLst/>
          </a:prstGeom>
          <a:noFill/>
        </p:spPr>
        <p:txBody>
          <a:bodyPr wrap="square" lIns="0" rIns="0" tIns="0" bIns="0">
            <a:spAutoFit/>
          </a:bodyPr>
          <a:lstStyle/>
          <a:p>
            <a:pPr algn="ctr"/>
            <a:r>
              <a:rPr sz="1800" b="0" i="1">
                <a:solidFill>
                  <a:srgbClr val="1A2E22"/>
                </a:solidFill>
                <a:latin typeface="Playfair Display"/>
              </a:rPr>
              <a:t>Pangatlo: "Wala kaming problema d'yan. Winitnessan ko at binaptize. Simula nun — 'di na napagkikita sa church."</a:t>
            </a:r>
          </a:p>
        </p:txBody>
      </p:sp>
      <p:sp>
        <p:nvSpPr>
          <p:cNvPr id="7" name="TextBox 6"/>
          <p:cNvSpPr txBox="1"/>
          <p:nvPr/>
        </p:nvSpPr>
        <p:spPr>
          <a:xfrm>
            <a:off x="731520" y="3886200"/>
            <a:ext cx="10728655" cy="914400"/>
          </a:xfrm>
          <a:prstGeom prst="rect">
            <a:avLst/>
          </a:prstGeom>
          <a:noFill/>
        </p:spPr>
        <p:txBody>
          <a:bodyPr wrap="square" lIns="0" rIns="0" tIns="0" bIns="0">
            <a:spAutoFit/>
          </a:bodyPr>
          <a:lstStyle/>
          <a:p>
            <a:pPr algn="ctr"/>
            <a:r>
              <a:rPr sz="3000" b="1" i="1">
                <a:solidFill>
                  <a:srgbClr val="1F4530"/>
                </a:solidFill>
                <a:latin typeface="Playfair Display"/>
              </a:rPr>
              <a:t>Nakakatawa — pero may kurot ng katotohanan.</a:t>
            </a:r>
          </a:p>
        </p:txBody>
      </p:sp>
      <p:sp>
        <p:nvSpPr>
          <p:cNvPr id="8" name="TextBox 7"/>
          <p:cNvSpPr txBox="1"/>
          <p:nvPr/>
        </p:nvSpPr>
        <p:spPr>
          <a:xfrm>
            <a:off x="11094415" y="6400800"/>
            <a:ext cx="914400" cy="274320"/>
          </a:xfrm>
          <a:prstGeom prst="rect">
            <a:avLst/>
          </a:prstGeom>
          <a:noFill/>
        </p:spPr>
        <p:txBody>
          <a:bodyPr wrap="none" lIns="0" rIns="0">
            <a:spAutoFit/>
          </a:bodyPr>
          <a:lstStyle/>
          <a:p>
            <a:pPr algn="r"/>
            <a:r>
              <a:rPr sz="900" b="1">
                <a:solidFill>
                  <a:srgbClr val="1A2E22"/>
                </a:solidFill>
                <a:latin typeface="DM Sans"/>
              </a:rP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1200" b="1">
                <a:solidFill>
                  <a:srgbClr val="2A5C40"/>
                </a:solidFill>
                <a:latin typeface="DM Sans"/>
              </a:rPr>
              <a:t>TUKLAS · APAT NA P</a:t>
            </a:r>
          </a:p>
        </p:txBody>
      </p:sp>
      <p:sp>
        <p:nvSpPr>
          <p:cNvPr id="4" name="TextBox 3"/>
          <p:cNvSpPr txBox="1"/>
          <p:nvPr/>
        </p:nvSpPr>
        <p:spPr>
          <a:xfrm>
            <a:off x="731520" y="1143000"/>
            <a:ext cx="10728655" cy="1005840"/>
          </a:xfrm>
          <a:prstGeom prst="rect">
            <a:avLst/>
          </a:prstGeom>
          <a:noFill/>
        </p:spPr>
        <p:txBody>
          <a:bodyPr wrap="square" lIns="0" rIns="0" tIns="0" bIns="0">
            <a:spAutoFit/>
          </a:bodyPr>
          <a:lstStyle/>
          <a:p>
            <a:pPr algn="ctr"/>
            <a:r>
              <a:rPr sz="3600" b="1" i="0">
                <a:solidFill>
                  <a:srgbClr val="1A2E22"/>
                </a:solidFill>
                <a:latin typeface="Playfair Display"/>
              </a:rPr>
              <a:t>Hebreo 10:25 — Apat na P</a:t>
            </a:r>
          </a:p>
        </p:txBody>
      </p:sp>
      <p:sp>
        <p:nvSpPr>
          <p:cNvPr id="5" name="TextBox 4"/>
          <p:cNvSpPr txBox="1"/>
          <p:nvPr/>
        </p:nvSpPr>
        <p:spPr>
          <a:xfrm>
            <a:off x="731520" y="2240280"/>
            <a:ext cx="10728655" cy="365760"/>
          </a:xfrm>
          <a:prstGeom prst="rect">
            <a:avLst/>
          </a:prstGeom>
          <a:noFill/>
        </p:spPr>
        <p:txBody>
          <a:bodyPr wrap="square" lIns="0" rIns="0" tIns="0" bIns="0">
            <a:spAutoFit/>
          </a:bodyPr>
          <a:lstStyle/>
          <a:p>
            <a:pPr algn="ctr"/>
            <a:r>
              <a:rPr sz="1400" b="0" i="1">
                <a:solidFill>
                  <a:srgbClr val="1A2E22"/>
                </a:solidFill>
                <a:latin typeface="DM Sans"/>
              </a:rPr>
              <a:t>Apat na utos sa isang verse.</a:t>
            </a:r>
          </a:p>
        </p:txBody>
      </p:sp>
      <p:sp>
        <p:nvSpPr>
          <p:cNvPr id="6" name="Rounded Rectangle 5"/>
          <p:cNvSpPr/>
          <p:nvPr/>
        </p:nvSpPr>
        <p:spPr>
          <a:xfrm>
            <a:off x="731520" y="2697480"/>
            <a:ext cx="5181447" cy="960120"/>
          </a:xfrm>
          <a:prstGeom prst="roundRect">
            <a:avLst/>
          </a:prstGeom>
          <a:solidFill>
            <a:srgbClr val="B8882A"/>
          </a:solidFill>
          <a:ln w="19050">
            <a:solidFill>
              <a:srgbClr val="B8882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1440" bIns="91440"/>
          <a:lstStyle/>
          <a:p>
            <a:pPr algn="l"/>
            <a:r>
              <a:rPr sz="1900" b="1">
                <a:solidFill>
                  <a:srgbClr val="1F4530"/>
                </a:solidFill>
                <a:latin typeface="Playfair Display"/>
              </a:rPr>
              <a:t>P. Pananagutan</a:t>
            </a:r>
          </a:p>
          <a:p>
            <a:pPr algn="l"/>
            <a:r>
              <a:rPr sz="1200" i="1">
                <a:solidFill>
                  <a:srgbClr val="6B6253"/>
                </a:solidFill>
                <a:latin typeface="DM Sans"/>
              </a:rPr>
              <a:t>"Huwag nating kaliligtaan..."</a:t>
            </a:r>
          </a:p>
        </p:txBody>
      </p:sp>
      <p:sp>
        <p:nvSpPr>
          <p:cNvPr id="7" name="Rounded Rectangle 6"/>
          <p:cNvSpPr/>
          <p:nvPr/>
        </p:nvSpPr>
        <p:spPr>
          <a:xfrm>
            <a:off x="6278727" y="2697480"/>
            <a:ext cx="5181447" cy="960120"/>
          </a:xfrm>
          <a:prstGeom prst="roundRect">
            <a:avLst/>
          </a:prstGeom>
          <a:solidFill>
            <a:srgbClr val="B8882A"/>
          </a:solidFill>
          <a:ln w="19050">
            <a:solidFill>
              <a:srgbClr val="B8882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1440" bIns="91440"/>
          <a:lstStyle/>
          <a:p>
            <a:pPr algn="l"/>
            <a:r>
              <a:rPr sz="1900" b="1">
                <a:solidFill>
                  <a:srgbClr val="1F4530"/>
                </a:solidFill>
                <a:latin typeface="Playfair Display"/>
              </a:rPr>
              <a:t>P. Palusot</a:t>
            </a:r>
          </a:p>
          <a:p>
            <a:pPr algn="l"/>
            <a:r>
              <a:rPr sz="1200" i="1">
                <a:solidFill>
                  <a:srgbClr val="6B6253"/>
                </a:solidFill>
                <a:latin typeface="DM Sans"/>
              </a:rPr>
              <a:t>"...gaya ng nakasanayan ng iba..."</a:t>
            </a:r>
          </a:p>
        </p:txBody>
      </p:sp>
      <p:sp>
        <p:nvSpPr>
          <p:cNvPr id="8" name="Rounded Rectangle 7"/>
          <p:cNvSpPr/>
          <p:nvPr/>
        </p:nvSpPr>
        <p:spPr>
          <a:xfrm>
            <a:off x="731520" y="3886200"/>
            <a:ext cx="5181447" cy="960120"/>
          </a:xfrm>
          <a:prstGeom prst="roundRect">
            <a:avLst/>
          </a:prstGeom>
          <a:solidFill>
            <a:srgbClr val="B8882A"/>
          </a:solidFill>
          <a:ln w="19050">
            <a:solidFill>
              <a:srgbClr val="B8882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1440" bIns="91440"/>
          <a:lstStyle/>
          <a:p>
            <a:pPr algn="l"/>
            <a:r>
              <a:rPr sz="1900" b="1">
                <a:solidFill>
                  <a:srgbClr val="1F4530"/>
                </a:solidFill>
                <a:latin typeface="Playfair Display"/>
              </a:rPr>
              <a:t>P. Pangangailangan</a:t>
            </a:r>
          </a:p>
          <a:p>
            <a:pPr algn="l"/>
            <a:r>
              <a:rPr sz="1200" i="1">
                <a:solidFill>
                  <a:srgbClr val="6B6253"/>
                </a:solidFill>
                <a:latin typeface="DM Sans"/>
              </a:rPr>
              <a:t>"...palakasin natin ang loob ng isa't isa..."</a:t>
            </a:r>
          </a:p>
        </p:txBody>
      </p:sp>
      <p:sp>
        <p:nvSpPr>
          <p:cNvPr id="9" name="Rounded Rectangle 8"/>
          <p:cNvSpPr/>
          <p:nvPr/>
        </p:nvSpPr>
        <p:spPr>
          <a:xfrm>
            <a:off x="6278727" y="3886200"/>
            <a:ext cx="5181447" cy="960120"/>
          </a:xfrm>
          <a:prstGeom prst="roundRect">
            <a:avLst/>
          </a:prstGeom>
          <a:solidFill>
            <a:srgbClr val="B8882A"/>
          </a:solidFill>
          <a:ln w="19050">
            <a:solidFill>
              <a:srgbClr val="B8882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1440" bIns="91440"/>
          <a:lstStyle/>
          <a:p>
            <a:pPr algn="l"/>
            <a:r>
              <a:rPr sz="1900" b="1">
                <a:solidFill>
                  <a:srgbClr val="1F4530"/>
                </a:solidFill>
                <a:latin typeface="Playfair Display"/>
              </a:rPr>
              <a:t>P. Pagganyak</a:t>
            </a:r>
          </a:p>
          <a:p>
            <a:pPr algn="l"/>
            <a:r>
              <a:rPr sz="1200" i="1">
                <a:solidFill>
                  <a:srgbClr val="6B6253"/>
                </a:solidFill>
                <a:latin typeface="DM Sans"/>
              </a:rPr>
              <a:t>"...malapit na ang Araw ng Panginoon."</a:t>
            </a:r>
          </a:p>
        </p:txBody>
      </p:sp>
      <p:sp>
        <p:nvSpPr>
          <p:cNvPr id="10" name="TextBox 9"/>
          <p:cNvSpPr txBox="1"/>
          <p:nvPr/>
        </p:nvSpPr>
        <p:spPr>
          <a:xfrm>
            <a:off x="11094415" y="6400800"/>
            <a:ext cx="914400" cy="274320"/>
          </a:xfrm>
          <a:prstGeom prst="rect">
            <a:avLst/>
          </a:prstGeom>
          <a:noFill/>
        </p:spPr>
        <p:txBody>
          <a:bodyPr wrap="none" lIns="0" rIns="0">
            <a:spAutoFit/>
          </a:bodyPr>
          <a:lstStyle/>
          <a:p>
            <a:pPr algn="r"/>
            <a:r>
              <a:rPr sz="900" b="1">
                <a:solidFill>
                  <a:srgbClr val="1A2E22"/>
                </a:solidFill>
                <a:latin typeface="DM Sans"/>
              </a:rP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5C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95647" y="548640"/>
            <a:ext cx="3200400" cy="411480"/>
          </a:xfrm>
          <a:prstGeom prst="roundRect">
            <a:avLst/>
          </a:prstGeom>
          <a:noFill/>
          <a:ln w="25400">
            <a:solidFill>
              <a:srgbClr val="D4A854"/>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1200" b="1">
                <a:solidFill>
                  <a:srgbClr val="D4A854"/>
                </a:solidFill>
                <a:latin typeface="DM Sans"/>
              </a:rPr>
              <a:t>P1 · PANANAGUTAN</a:t>
            </a:r>
          </a:p>
        </p:txBody>
      </p:sp>
      <p:sp>
        <p:nvSpPr>
          <p:cNvPr id="4" name="TextBox 3"/>
          <p:cNvSpPr txBox="1"/>
          <p:nvPr/>
        </p:nvSpPr>
        <p:spPr>
          <a:xfrm>
            <a:off x="731520" y="1143000"/>
            <a:ext cx="10728655" cy="1005840"/>
          </a:xfrm>
          <a:prstGeom prst="rect">
            <a:avLst/>
          </a:prstGeom>
          <a:noFill/>
        </p:spPr>
        <p:txBody>
          <a:bodyPr wrap="square" lIns="0" rIns="0" tIns="0" bIns="0">
            <a:spAutoFit/>
          </a:bodyPr>
          <a:lstStyle/>
          <a:p>
            <a:pPr algn="ctr"/>
            <a:r>
              <a:rPr sz="3600" b="1" i="0">
                <a:solidFill>
                  <a:srgbClr val="FDFBF6"/>
                </a:solidFill>
                <a:latin typeface="Playfair Display"/>
              </a:rPr>
              <a:t>Hindi Request — Utos</a:t>
            </a:r>
          </a:p>
        </p:txBody>
      </p:sp>
      <p:sp>
        <p:nvSpPr>
          <p:cNvPr id="5" name="TextBox 4"/>
          <p:cNvSpPr txBox="1"/>
          <p:nvPr/>
        </p:nvSpPr>
        <p:spPr>
          <a:xfrm>
            <a:off x="731520" y="2240280"/>
            <a:ext cx="10728655" cy="548640"/>
          </a:xfrm>
          <a:prstGeom prst="rect">
            <a:avLst/>
          </a:prstGeom>
          <a:noFill/>
        </p:spPr>
        <p:txBody>
          <a:bodyPr wrap="square" lIns="0" rIns="0" tIns="0" bIns="0">
            <a:spAutoFit/>
          </a:bodyPr>
          <a:lstStyle/>
          <a:p>
            <a:pPr algn="ctr"/>
            <a:r>
              <a:rPr sz="1800" b="0" i="1">
                <a:solidFill>
                  <a:srgbClr val="FDFBF6"/>
                </a:solidFill>
                <a:latin typeface="Playfair Display"/>
              </a:rPr>
              <a:t>"Itatayo KO ang AKING iglesya..." — Mateo 16:18</a:t>
            </a:r>
          </a:p>
        </p:txBody>
      </p:sp>
      <p:sp>
        <p:nvSpPr>
          <p:cNvPr id="6" name="TextBox 5"/>
          <p:cNvSpPr txBox="1"/>
          <p:nvPr/>
        </p:nvSpPr>
        <p:spPr>
          <a:xfrm>
            <a:off x="731520" y="2880360"/>
            <a:ext cx="10728655" cy="2011680"/>
          </a:xfrm>
          <a:prstGeom prst="rect">
            <a:avLst/>
          </a:prstGeom>
          <a:noFill/>
        </p:spPr>
        <p:txBody>
          <a:bodyPr wrap="square" lIns="0" rIns="0" tIns="0" bIns="0">
            <a:spAutoFit/>
          </a:bodyPr>
          <a:lstStyle/>
          <a:p>
            <a:pPr algn="ctr"/>
            <a:r>
              <a:rPr sz="2800" b="1" i="1">
                <a:solidFill>
                  <a:srgbClr val="D4A854"/>
                </a:solidFill>
                <a:latin typeface="Playfair Display"/>
              </a:rPr>
              <a:t>Hindi ka iniligtas to be apart from the Church.</a:t>
            </a:r>
          </a:p>
          <a:p>
            <a:pPr algn="ctr"/>
            <a:r>
              <a:rPr sz="2800" b="1" i="1">
                <a:solidFill>
                  <a:srgbClr val="D4A854"/>
                </a:solidFill>
                <a:latin typeface="Playfair Display"/>
              </a:rPr>
              <a:t>Iniligtas ka to be a part of the Church.</a:t>
            </a:r>
          </a:p>
        </p:txBody>
      </p:sp>
      <p:sp>
        <p:nvSpPr>
          <p:cNvPr id="7" name="TextBox 6"/>
          <p:cNvSpPr txBox="1"/>
          <p:nvPr/>
        </p:nvSpPr>
        <p:spPr>
          <a:xfrm>
            <a:off x="731520" y="4709160"/>
            <a:ext cx="10728655" cy="548640"/>
          </a:xfrm>
          <a:prstGeom prst="rect">
            <a:avLst/>
          </a:prstGeom>
          <a:noFill/>
        </p:spPr>
        <p:txBody>
          <a:bodyPr wrap="square" lIns="0" rIns="0" tIns="0" bIns="0">
            <a:spAutoFit/>
          </a:bodyPr>
          <a:lstStyle/>
          <a:p>
            <a:pPr algn="ctr"/>
            <a:r>
              <a:rPr sz="1300" b="0" i="1">
                <a:solidFill>
                  <a:srgbClr val="FDFBF6"/>
                </a:solidFill>
                <a:latin typeface="DM Sans"/>
              </a:rPr>
              <a:t>Eph 5:25 — inihandog ni Cristo ang buhay para sa iglesya.</a:t>
            </a:r>
          </a:p>
        </p:txBody>
      </p:sp>
      <p:sp>
        <p:nvSpPr>
          <p:cNvPr id="8" name="TextBox 7"/>
          <p:cNvSpPr txBox="1"/>
          <p:nvPr/>
        </p:nvSpPr>
        <p:spPr>
          <a:xfrm>
            <a:off x="11094415" y="6400800"/>
            <a:ext cx="914400" cy="274320"/>
          </a:xfrm>
          <a:prstGeom prst="rect">
            <a:avLst/>
          </a:prstGeom>
          <a:noFill/>
        </p:spPr>
        <p:txBody>
          <a:bodyPr wrap="none" lIns="0" rIns="0">
            <a:spAutoFit/>
          </a:bodyPr>
          <a:lstStyle/>
          <a:p>
            <a:pPr algn="r"/>
            <a:r>
              <a:rPr sz="900" b="1">
                <a:solidFill>
                  <a:srgbClr val="FDFBF6"/>
                </a:solidFill>
                <a:latin typeface="DM Sans"/>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1200" b="1">
                <a:solidFill>
                  <a:srgbClr val="2A5C40"/>
                </a:solidFill>
                <a:latin typeface="DM Sans"/>
              </a:rPr>
              <a:t>P2 · PALUSOT</a:t>
            </a:r>
          </a:p>
        </p:txBody>
      </p:sp>
      <p:sp>
        <p:nvSpPr>
          <p:cNvPr id="4" name="TextBox 3"/>
          <p:cNvSpPr txBox="1"/>
          <p:nvPr/>
        </p:nvSpPr>
        <p:spPr>
          <a:xfrm>
            <a:off x="731520" y="1143000"/>
            <a:ext cx="10728655" cy="1005840"/>
          </a:xfrm>
          <a:prstGeom prst="rect">
            <a:avLst/>
          </a:prstGeom>
          <a:noFill/>
        </p:spPr>
        <p:txBody>
          <a:bodyPr wrap="square" lIns="0" rIns="0" tIns="0" bIns="0">
            <a:spAutoFit/>
          </a:bodyPr>
          <a:lstStyle/>
          <a:p>
            <a:pPr algn="ctr"/>
            <a:r>
              <a:rPr sz="3600" b="1" i="0">
                <a:solidFill>
                  <a:srgbClr val="1A2E22"/>
                </a:solidFill>
                <a:latin typeface="Playfair Display"/>
              </a:rPr>
              <a:t>Ang 6 Pinakapalusot</a:t>
            </a:r>
          </a:p>
        </p:txBody>
      </p:sp>
      <p:sp>
        <p:nvSpPr>
          <p:cNvPr id="5" name="TextBox 4"/>
          <p:cNvSpPr txBox="1"/>
          <p:nvPr/>
        </p:nvSpPr>
        <p:spPr>
          <a:xfrm>
            <a:off x="731520" y="2240280"/>
            <a:ext cx="10728655" cy="365760"/>
          </a:xfrm>
          <a:prstGeom prst="rect">
            <a:avLst/>
          </a:prstGeom>
          <a:noFill/>
        </p:spPr>
        <p:txBody>
          <a:bodyPr wrap="square" lIns="0" rIns="0" tIns="0" bIns="0">
            <a:spAutoFit/>
          </a:bodyPr>
          <a:lstStyle/>
          <a:p>
            <a:pPr algn="ctr"/>
            <a:r>
              <a:rPr sz="1400" b="0" i="1">
                <a:solidFill>
                  <a:srgbClr val="1A2E22"/>
                </a:solidFill>
                <a:latin typeface="DM Sans"/>
              </a:rPr>
              <a:t>Ayon sa Pew Research 2018:</a:t>
            </a:r>
          </a:p>
        </p:txBody>
      </p:sp>
      <p:sp>
        <p:nvSpPr>
          <p:cNvPr id="6" name="TextBox 5"/>
          <p:cNvSpPr txBox="1"/>
          <p:nvPr/>
        </p:nvSpPr>
        <p:spPr>
          <a:xfrm>
            <a:off x="1828800" y="2697480"/>
            <a:ext cx="8534095" cy="365760"/>
          </a:xfrm>
          <a:prstGeom prst="rect">
            <a:avLst/>
          </a:prstGeom>
          <a:noFill/>
        </p:spPr>
        <p:txBody>
          <a:bodyPr wrap="square" lIns="0" rIns="0" tIns="0" bIns="0">
            <a:spAutoFit/>
          </a:bodyPr>
          <a:lstStyle/>
          <a:p>
            <a:pPr algn="l"/>
            <a:r>
              <a:rPr sz="1600" i="1">
                <a:solidFill>
                  <a:srgbClr val="1A2E22"/>
                </a:solidFill>
                <a:latin typeface="DM Sans"/>
              </a:rPr>
              <a:t>1.  "Puwede naman akong sumamba nang mag-isa."</a:t>
            </a:r>
          </a:p>
        </p:txBody>
      </p:sp>
      <p:sp>
        <p:nvSpPr>
          <p:cNvPr id="7" name="TextBox 6"/>
          <p:cNvSpPr txBox="1"/>
          <p:nvPr/>
        </p:nvSpPr>
        <p:spPr>
          <a:xfrm>
            <a:off x="1828800" y="3081528"/>
            <a:ext cx="8534095" cy="365760"/>
          </a:xfrm>
          <a:prstGeom prst="rect">
            <a:avLst/>
          </a:prstGeom>
          <a:noFill/>
        </p:spPr>
        <p:txBody>
          <a:bodyPr wrap="square" lIns="0" rIns="0" tIns="0" bIns="0">
            <a:spAutoFit/>
          </a:bodyPr>
          <a:lstStyle/>
          <a:p>
            <a:pPr algn="l"/>
            <a:r>
              <a:rPr sz="1600" i="1">
                <a:solidFill>
                  <a:srgbClr val="1A2E22"/>
                </a:solidFill>
                <a:latin typeface="DM Sans"/>
              </a:rPr>
              <a:t>2.  "Wala pa akong nakikitang church na magugustuhan."</a:t>
            </a:r>
          </a:p>
        </p:txBody>
      </p:sp>
      <p:sp>
        <p:nvSpPr>
          <p:cNvPr id="8" name="TextBox 7"/>
          <p:cNvSpPr txBox="1"/>
          <p:nvPr/>
        </p:nvSpPr>
        <p:spPr>
          <a:xfrm>
            <a:off x="1828800" y="3465576"/>
            <a:ext cx="8534095" cy="365760"/>
          </a:xfrm>
          <a:prstGeom prst="rect">
            <a:avLst/>
          </a:prstGeom>
          <a:noFill/>
        </p:spPr>
        <p:txBody>
          <a:bodyPr wrap="square" lIns="0" rIns="0" tIns="0" bIns="0">
            <a:spAutoFit/>
          </a:bodyPr>
          <a:lstStyle/>
          <a:p>
            <a:pPr algn="l"/>
            <a:r>
              <a:rPr sz="1600" i="1">
                <a:solidFill>
                  <a:srgbClr val="1A2E22"/>
                </a:solidFill>
                <a:latin typeface="DM Sans"/>
              </a:rPr>
              <a:t>3.  "Hindi ko gusto yung mga sermon."</a:t>
            </a:r>
          </a:p>
        </p:txBody>
      </p:sp>
      <p:sp>
        <p:nvSpPr>
          <p:cNvPr id="9" name="TextBox 8"/>
          <p:cNvSpPr txBox="1"/>
          <p:nvPr/>
        </p:nvSpPr>
        <p:spPr>
          <a:xfrm>
            <a:off x="1828800" y="3849624"/>
            <a:ext cx="8534095" cy="365760"/>
          </a:xfrm>
          <a:prstGeom prst="rect">
            <a:avLst/>
          </a:prstGeom>
          <a:noFill/>
        </p:spPr>
        <p:txBody>
          <a:bodyPr wrap="square" lIns="0" rIns="0" tIns="0" bIns="0">
            <a:spAutoFit/>
          </a:bodyPr>
          <a:lstStyle/>
          <a:p>
            <a:pPr algn="l"/>
            <a:r>
              <a:rPr sz="1600" i="1">
                <a:solidFill>
                  <a:srgbClr val="1A2E22"/>
                </a:solidFill>
                <a:latin typeface="DM Sans"/>
              </a:rPr>
              <a:t>4.  "Feeling ko hindi ako welcome."</a:t>
            </a:r>
          </a:p>
        </p:txBody>
      </p:sp>
      <p:sp>
        <p:nvSpPr>
          <p:cNvPr id="10" name="TextBox 9"/>
          <p:cNvSpPr txBox="1"/>
          <p:nvPr/>
        </p:nvSpPr>
        <p:spPr>
          <a:xfrm>
            <a:off x="1828800" y="4233672"/>
            <a:ext cx="8534095" cy="365760"/>
          </a:xfrm>
          <a:prstGeom prst="rect">
            <a:avLst/>
          </a:prstGeom>
          <a:noFill/>
        </p:spPr>
        <p:txBody>
          <a:bodyPr wrap="square" lIns="0" rIns="0" tIns="0" bIns="0">
            <a:spAutoFit/>
          </a:bodyPr>
          <a:lstStyle/>
          <a:p>
            <a:pPr algn="l"/>
            <a:r>
              <a:rPr sz="1600" i="1">
                <a:solidFill>
                  <a:srgbClr val="1A2E22"/>
                </a:solidFill>
                <a:latin typeface="DM Sans"/>
              </a:rPr>
              <a:t>5.  "Wala akong time."</a:t>
            </a:r>
          </a:p>
        </p:txBody>
      </p:sp>
      <p:sp>
        <p:nvSpPr>
          <p:cNvPr id="11" name="TextBox 10"/>
          <p:cNvSpPr txBox="1"/>
          <p:nvPr/>
        </p:nvSpPr>
        <p:spPr>
          <a:xfrm>
            <a:off x="1828800" y="4617720"/>
            <a:ext cx="8534095" cy="365760"/>
          </a:xfrm>
          <a:prstGeom prst="rect">
            <a:avLst/>
          </a:prstGeom>
          <a:noFill/>
        </p:spPr>
        <p:txBody>
          <a:bodyPr wrap="square" lIns="0" rIns="0" tIns="0" bIns="0">
            <a:spAutoFit/>
          </a:bodyPr>
          <a:lstStyle/>
          <a:p>
            <a:pPr algn="l"/>
            <a:r>
              <a:rPr sz="1600" i="1">
                <a:solidFill>
                  <a:srgbClr val="1A2E22"/>
                </a:solidFill>
                <a:latin typeface="DM Sans"/>
              </a:rPr>
              <a:t>6.  "Puro plastic sa church."</a:t>
            </a:r>
          </a:p>
        </p:txBody>
      </p:sp>
      <p:sp>
        <p:nvSpPr>
          <p:cNvPr id="12" name="TextBox 11"/>
          <p:cNvSpPr txBox="1"/>
          <p:nvPr/>
        </p:nvSpPr>
        <p:spPr>
          <a:xfrm>
            <a:off x="11094415" y="6400800"/>
            <a:ext cx="914400" cy="274320"/>
          </a:xfrm>
          <a:prstGeom prst="rect">
            <a:avLst/>
          </a:prstGeom>
          <a:noFill/>
        </p:spPr>
        <p:txBody>
          <a:bodyPr wrap="none" lIns="0" rIns="0">
            <a:spAutoFit/>
          </a:bodyPr>
          <a:lstStyle/>
          <a:p>
            <a:pPr algn="r"/>
            <a:r>
              <a:rPr sz="900" b="1">
                <a:solidFill>
                  <a:srgbClr val="1A2E22"/>
                </a:solidFill>
                <a:latin typeface="DM Sans"/>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1200" b="1">
                <a:solidFill>
                  <a:srgbClr val="2A5C40"/>
                </a:solidFill>
                <a:latin typeface="DM Sans"/>
              </a:rPr>
              <a:t>P3 · PANGANGAILANGAN</a:t>
            </a:r>
          </a:p>
        </p:txBody>
      </p:sp>
      <p:sp>
        <p:nvSpPr>
          <p:cNvPr id="4" name="TextBox 3"/>
          <p:cNvSpPr txBox="1"/>
          <p:nvPr/>
        </p:nvSpPr>
        <p:spPr>
          <a:xfrm>
            <a:off x="731520" y="1143000"/>
            <a:ext cx="10728655" cy="1005840"/>
          </a:xfrm>
          <a:prstGeom prst="rect">
            <a:avLst/>
          </a:prstGeom>
          <a:noFill/>
        </p:spPr>
        <p:txBody>
          <a:bodyPr wrap="square" lIns="0" rIns="0" tIns="0" bIns="0">
            <a:spAutoFit/>
          </a:bodyPr>
          <a:lstStyle/>
          <a:p>
            <a:pPr algn="ctr"/>
            <a:r>
              <a:rPr sz="3600" b="1" i="0">
                <a:solidFill>
                  <a:srgbClr val="1A2E22"/>
                </a:solidFill>
                <a:latin typeface="Playfair Display"/>
              </a:rPr>
              <a:t>Two-Way Strengthening</a:t>
            </a:r>
          </a:p>
        </p:txBody>
      </p:sp>
      <p:sp>
        <p:nvSpPr>
          <p:cNvPr id="5" name="TextBox 4"/>
          <p:cNvSpPr txBox="1"/>
          <p:nvPr/>
        </p:nvSpPr>
        <p:spPr>
          <a:xfrm>
            <a:off x="731520" y="2240280"/>
            <a:ext cx="10728655" cy="365760"/>
          </a:xfrm>
          <a:prstGeom prst="rect">
            <a:avLst/>
          </a:prstGeom>
          <a:noFill/>
        </p:spPr>
        <p:txBody>
          <a:bodyPr wrap="square" lIns="0" rIns="0" tIns="0" bIns="0">
            <a:spAutoFit/>
          </a:bodyPr>
          <a:lstStyle/>
          <a:p>
            <a:pPr algn="ctr"/>
            <a:r>
              <a:rPr sz="1400" b="0" i="1">
                <a:solidFill>
                  <a:srgbClr val="1A2E22"/>
                </a:solidFill>
                <a:latin typeface="DM Sans"/>
              </a:rPr>
              <a:t>"Palakasin natin ang loob ng isa't isa..."</a:t>
            </a:r>
          </a:p>
        </p:txBody>
      </p:sp>
      <p:sp>
        <p:nvSpPr>
          <p:cNvPr id="6" name="Rounded Rectangle 5"/>
          <p:cNvSpPr/>
          <p:nvPr/>
        </p:nvSpPr>
        <p:spPr>
          <a:xfrm>
            <a:off x="731520" y="2697480"/>
            <a:ext cx="5181447" cy="2194560"/>
          </a:xfrm>
          <a:prstGeom prst="roundRect">
            <a:avLst/>
          </a:prstGeom>
          <a:solidFill>
            <a:srgbClr val="1F4530"/>
          </a:solidFill>
          <a:ln w="25400">
            <a:solidFill>
              <a:srgbClr val="D4A854"/>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l"/>
            <a:r>
              <a:rPr sz="1500" b="1">
                <a:solidFill>
                  <a:srgbClr val="D4A854"/>
                </a:solidFill>
                <a:latin typeface="Playfair Display"/>
              </a:rPr>
              <a:t>↓ Lalakas ka sa pamamagitan ng:</a:t>
            </a:r>
          </a:p>
          <a:p>
            <a:pPr algn="l">
              <a:spcBef>
                <a:spcPts val="400"/>
              </a:spcBef>
            </a:pPr>
            <a:r>
              <a:rPr sz="1300">
                <a:solidFill>
                  <a:srgbClr val="FDFBF6"/>
                </a:solidFill>
                <a:latin typeface="DM Sans"/>
              </a:rPr>
              <a:t>• Biblical teachings (1 Tim 4:6)</a:t>
            </a:r>
          </a:p>
          <a:p>
            <a:pPr algn="l">
              <a:spcBef>
                <a:spcPts val="400"/>
              </a:spcBef>
            </a:pPr>
            <a:r>
              <a:rPr sz="1300">
                <a:solidFill>
                  <a:srgbClr val="FDFBF6"/>
                </a:solidFill>
                <a:latin typeface="DM Sans"/>
              </a:rPr>
              <a:t>• Godly mentors (Tito 2:1-8)</a:t>
            </a:r>
          </a:p>
          <a:p>
            <a:pPr algn="l">
              <a:spcBef>
                <a:spcPts val="400"/>
              </a:spcBef>
            </a:pPr>
            <a:r>
              <a:rPr sz="1300">
                <a:solidFill>
                  <a:srgbClr val="FDFBF6"/>
                </a:solidFill>
                <a:latin typeface="DM Sans"/>
              </a:rPr>
              <a:t>• Christian friends (L6 callback)</a:t>
            </a:r>
          </a:p>
        </p:txBody>
      </p:sp>
      <p:sp>
        <p:nvSpPr>
          <p:cNvPr id="7" name="Rounded Rectangle 6"/>
          <p:cNvSpPr/>
          <p:nvPr/>
        </p:nvSpPr>
        <p:spPr>
          <a:xfrm>
            <a:off x="6278727" y="2697480"/>
            <a:ext cx="5181447" cy="2194560"/>
          </a:xfrm>
          <a:prstGeom prst="roundRect">
            <a:avLst/>
          </a:prstGeom>
          <a:solidFill>
            <a:srgbClr val="1F4530"/>
          </a:solidFill>
          <a:ln w="25400">
            <a:solidFill>
              <a:srgbClr val="D4A854"/>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l"/>
            <a:r>
              <a:rPr sz="1500" b="1">
                <a:solidFill>
                  <a:srgbClr val="D4A854"/>
                </a:solidFill>
                <a:latin typeface="Playfair Display"/>
              </a:rPr>
              <a:t>↑ Pagagamitin ka para palakasin ang iba:</a:t>
            </a:r>
          </a:p>
          <a:p>
            <a:pPr algn="l">
              <a:spcBef>
                <a:spcPts val="400"/>
              </a:spcBef>
            </a:pPr>
            <a:r>
              <a:rPr sz="1300">
                <a:solidFill>
                  <a:srgbClr val="FDFBF6"/>
                </a:solidFill>
                <a:latin typeface="DM Sans"/>
              </a:rPr>
              <a:t>• Spiritual gifts (Rom 12:3-8)</a:t>
            </a:r>
          </a:p>
          <a:p>
            <a:pPr algn="l">
              <a:spcBef>
                <a:spcPts val="400"/>
              </a:spcBef>
            </a:pPr>
            <a:r>
              <a:rPr sz="1300">
                <a:solidFill>
                  <a:srgbClr val="FDFBF6"/>
                </a:solidFill>
                <a:latin typeface="DM Sans"/>
              </a:rPr>
              <a:t>• Paghayo sa di-pa naliligtas (Mat 28:19-20)</a:t>
            </a:r>
          </a:p>
          <a:p>
            <a:pPr algn="l">
              <a:spcBef>
                <a:spcPts val="400"/>
              </a:spcBef>
            </a:pPr>
            <a:r>
              <a:rPr sz="1300">
                <a:solidFill>
                  <a:srgbClr val="FDFBF6"/>
                </a:solidFill>
                <a:latin typeface="DM Sans"/>
              </a:rPr>
              <a:t>• Pag-disciple sa pa-usbong (2 Tim 2:2)</a:t>
            </a:r>
          </a:p>
        </p:txBody>
      </p:sp>
      <p:sp>
        <p:nvSpPr>
          <p:cNvPr id="8" name="TextBox 7"/>
          <p:cNvSpPr txBox="1"/>
          <p:nvPr/>
        </p:nvSpPr>
        <p:spPr>
          <a:xfrm>
            <a:off x="11094415" y="6400800"/>
            <a:ext cx="914400" cy="274320"/>
          </a:xfrm>
          <a:prstGeom prst="rect">
            <a:avLst/>
          </a:prstGeom>
          <a:noFill/>
        </p:spPr>
        <p:txBody>
          <a:bodyPr wrap="none" lIns="0" rIns="0">
            <a:spAutoFit/>
          </a:bodyPr>
          <a:lstStyle/>
          <a:p>
            <a:pPr algn="r"/>
            <a:r>
              <a:rPr sz="900" b="1">
                <a:solidFill>
                  <a:srgbClr val="1A2E22"/>
                </a:solidFill>
                <a:latin typeface="DM Sans"/>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95647" y="548640"/>
            <a:ext cx="3200400" cy="411480"/>
          </a:xfrm>
          <a:prstGeom prst="roundRect">
            <a:avLst/>
          </a:prstGeom>
          <a:noFill/>
          <a:ln w="25400">
            <a:solidFill>
              <a:srgbClr val="D4A854"/>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1200" b="1">
                <a:solidFill>
                  <a:srgbClr val="D4A854"/>
                </a:solidFill>
                <a:latin typeface="DM Sans"/>
              </a:rPr>
              <a:t>P4 · PAGGANYAK</a:t>
            </a:r>
          </a:p>
        </p:txBody>
      </p:sp>
      <p:sp>
        <p:nvSpPr>
          <p:cNvPr id="4" name="TextBox 3"/>
          <p:cNvSpPr txBox="1"/>
          <p:nvPr/>
        </p:nvSpPr>
        <p:spPr>
          <a:xfrm>
            <a:off x="731520" y="1143000"/>
            <a:ext cx="10728655" cy="1005840"/>
          </a:xfrm>
          <a:prstGeom prst="rect">
            <a:avLst/>
          </a:prstGeom>
          <a:noFill/>
        </p:spPr>
        <p:txBody>
          <a:bodyPr wrap="square" lIns="0" rIns="0" tIns="0" bIns="0">
            <a:spAutoFit/>
          </a:bodyPr>
          <a:lstStyle/>
          <a:p>
            <a:pPr algn="ctr"/>
            <a:r>
              <a:rPr sz="3600" b="1" i="0">
                <a:solidFill>
                  <a:srgbClr val="FDFBF6"/>
                </a:solidFill>
                <a:latin typeface="Playfair Display"/>
              </a:rPr>
              <a:t>Malapit na ang Araw</a:t>
            </a:r>
          </a:p>
        </p:txBody>
      </p:sp>
      <p:sp>
        <p:nvSpPr>
          <p:cNvPr id="5" name="TextBox 4"/>
          <p:cNvSpPr txBox="1"/>
          <p:nvPr/>
        </p:nvSpPr>
        <p:spPr>
          <a:xfrm>
            <a:off x="731520" y="2240280"/>
            <a:ext cx="10728655" cy="777240"/>
          </a:xfrm>
          <a:prstGeom prst="rect">
            <a:avLst/>
          </a:prstGeom>
          <a:noFill/>
        </p:spPr>
        <p:txBody>
          <a:bodyPr wrap="square" lIns="0" rIns="0" tIns="0" bIns="0">
            <a:spAutoFit/>
          </a:bodyPr>
          <a:lstStyle/>
          <a:p>
            <a:pPr algn="ctr"/>
            <a:r>
              <a:rPr sz="1800" b="0" i="1">
                <a:solidFill>
                  <a:srgbClr val="FDFBF6"/>
                </a:solidFill>
                <a:latin typeface="Playfair Display"/>
              </a:rPr>
              <a:t>Hindi natin alam kung kailan.</a:t>
            </a:r>
          </a:p>
          <a:p>
            <a:pPr algn="ctr"/>
            <a:r>
              <a:rPr sz="1800" b="0" i="1">
                <a:solidFill>
                  <a:srgbClr val="FDFBF6"/>
                </a:solidFill>
                <a:latin typeface="Playfair Display"/>
              </a:rPr>
              <a:t>Pero alam natin: papalapit.</a:t>
            </a:r>
          </a:p>
        </p:txBody>
      </p:sp>
      <p:sp>
        <p:nvSpPr>
          <p:cNvPr id="6" name="TextBox 5"/>
          <p:cNvSpPr txBox="1"/>
          <p:nvPr/>
        </p:nvSpPr>
        <p:spPr>
          <a:xfrm>
            <a:off x="731520" y="3063240"/>
            <a:ext cx="10728655" cy="777240"/>
          </a:xfrm>
          <a:prstGeom prst="rect">
            <a:avLst/>
          </a:prstGeom>
          <a:noFill/>
        </p:spPr>
        <p:txBody>
          <a:bodyPr wrap="square" lIns="0" rIns="0" tIns="0" bIns="0">
            <a:spAutoFit/>
          </a:bodyPr>
          <a:lstStyle/>
          <a:p>
            <a:pPr algn="ctr"/>
            <a:r>
              <a:rPr sz="1800" b="0" i="1">
                <a:solidFill>
                  <a:srgbClr val="FDFBF6"/>
                </a:solidFill>
                <a:latin typeface="Playfair Display"/>
              </a:rPr>
              <a:t>Paano mo gustong masumpungan ni Cristo —</a:t>
            </a:r>
          </a:p>
          <a:p>
            <a:pPr algn="ctr"/>
            <a:r>
              <a:rPr sz="1800" b="0" i="1">
                <a:solidFill>
                  <a:srgbClr val="FDFBF6"/>
                </a:solidFill>
                <a:latin typeface="Playfair Display"/>
              </a:rPr>
              <a:t>naglilingkod kasama ng Church, o lumiliko sa agos ng mundo?</a:t>
            </a:r>
          </a:p>
        </p:txBody>
      </p:sp>
      <p:sp>
        <p:nvSpPr>
          <p:cNvPr id="7" name="TextBox 6"/>
          <p:cNvSpPr txBox="1"/>
          <p:nvPr/>
        </p:nvSpPr>
        <p:spPr>
          <a:xfrm>
            <a:off x="731520" y="3886200"/>
            <a:ext cx="10728655" cy="914400"/>
          </a:xfrm>
          <a:prstGeom prst="rect">
            <a:avLst/>
          </a:prstGeom>
          <a:noFill/>
        </p:spPr>
        <p:txBody>
          <a:bodyPr wrap="square" lIns="0" rIns="0" tIns="0" bIns="0">
            <a:spAutoFit/>
          </a:bodyPr>
          <a:lstStyle/>
          <a:p>
            <a:pPr algn="ctr"/>
            <a:r>
              <a:rPr sz="3000" b="1" i="1">
                <a:solidFill>
                  <a:srgbClr val="D4A854"/>
                </a:solidFill>
                <a:latin typeface="Playfair Display"/>
              </a:rPr>
              <a:t>Mamili ka.</a:t>
            </a:r>
          </a:p>
        </p:txBody>
      </p:sp>
      <p:sp>
        <p:nvSpPr>
          <p:cNvPr id="8" name="TextBox 7"/>
          <p:cNvSpPr txBox="1"/>
          <p:nvPr/>
        </p:nvSpPr>
        <p:spPr>
          <a:xfrm>
            <a:off x="11094415" y="6400800"/>
            <a:ext cx="914400" cy="274320"/>
          </a:xfrm>
          <a:prstGeom prst="rect">
            <a:avLst/>
          </a:prstGeom>
          <a:noFill/>
        </p:spPr>
        <p:txBody>
          <a:bodyPr wrap="none" lIns="0" rIns="0">
            <a:spAutoFit/>
          </a:bodyPr>
          <a:lstStyle/>
          <a:p>
            <a:pPr algn="r"/>
            <a:r>
              <a:rPr sz="900" b="1">
                <a:solidFill>
                  <a:srgbClr val="FDFBF6"/>
                </a:solidFill>
                <a:latin typeface="DM Sans"/>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1200" b="1">
                <a:solidFill>
                  <a:srgbClr val="2A5C40"/>
                </a:solidFill>
                <a:latin typeface="DM Sans"/>
              </a:rPr>
              <a:t>TALAKAY · 12 MIN</a:t>
            </a:r>
          </a:p>
        </p:txBody>
      </p:sp>
      <p:sp>
        <p:nvSpPr>
          <p:cNvPr id="4" name="TextBox 3"/>
          <p:cNvSpPr txBox="1"/>
          <p:nvPr/>
        </p:nvSpPr>
        <p:spPr>
          <a:xfrm>
            <a:off x="731520" y="1143000"/>
            <a:ext cx="10728655" cy="1005840"/>
          </a:xfrm>
          <a:prstGeom prst="rect">
            <a:avLst/>
          </a:prstGeom>
          <a:noFill/>
        </p:spPr>
        <p:txBody>
          <a:bodyPr wrap="square" lIns="0" rIns="0" tIns="0" bIns="0">
            <a:spAutoFit/>
          </a:bodyPr>
          <a:lstStyle/>
          <a:p>
            <a:pPr algn="ctr"/>
            <a:r>
              <a:rPr sz="3600" b="1" i="0">
                <a:solidFill>
                  <a:srgbClr val="1A2E22"/>
                </a:solidFill>
                <a:latin typeface="Playfair Display"/>
              </a:rPr>
              <a:t>Safe-Space Sharing</a:t>
            </a:r>
          </a:p>
        </p:txBody>
      </p:sp>
      <p:sp>
        <p:nvSpPr>
          <p:cNvPr id="5" name="TextBox 4"/>
          <p:cNvSpPr txBox="1"/>
          <p:nvPr/>
        </p:nvSpPr>
        <p:spPr>
          <a:xfrm>
            <a:off x="731520" y="2240280"/>
            <a:ext cx="10728655" cy="365760"/>
          </a:xfrm>
          <a:prstGeom prst="rect">
            <a:avLst/>
          </a:prstGeom>
          <a:noFill/>
        </p:spPr>
        <p:txBody>
          <a:bodyPr wrap="square" lIns="0" rIns="0" tIns="0" bIns="0">
            <a:spAutoFit/>
          </a:bodyPr>
          <a:lstStyle/>
          <a:p>
            <a:pPr algn="ctr"/>
            <a:r>
              <a:rPr sz="1400" b="0" i="1">
                <a:solidFill>
                  <a:srgbClr val="1A2E22"/>
                </a:solidFill>
                <a:latin typeface="DM Sans"/>
              </a:rPr>
              <a:t>4 rules: no fixing · no comparison · no advice unless asked · confidentiality</a:t>
            </a:r>
          </a:p>
        </p:txBody>
      </p:sp>
      <p:sp>
        <p:nvSpPr>
          <p:cNvPr id="6" name="TextBox 5"/>
          <p:cNvSpPr txBox="1"/>
          <p:nvPr/>
        </p:nvSpPr>
        <p:spPr>
          <a:xfrm>
            <a:off x="731520" y="2697480"/>
            <a:ext cx="10728655" cy="411480"/>
          </a:xfrm>
          <a:prstGeom prst="rect">
            <a:avLst/>
          </a:prstGeom>
          <a:noFill/>
        </p:spPr>
        <p:txBody>
          <a:bodyPr wrap="square" lIns="0" rIns="0" tIns="0" bIns="0">
            <a:spAutoFit/>
          </a:bodyPr>
          <a:lstStyle/>
          <a:p>
            <a:pPr algn="ctr"/>
            <a:r>
              <a:rPr sz="1500" b="0" i="1">
                <a:solidFill>
                  <a:srgbClr val="1A2E22"/>
                </a:solidFill>
                <a:latin typeface="DM Sans"/>
              </a:rPr>
              <a:t>Q1. Anong rason ang madalas mong naririnig kung bakit hindi dumadalo sa church?</a:t>
            </a:r>
          </a:p>
        </p:txBody>
      </p:sp>
      <p:sp>
        <p:nvSpPr>
          <p:cNvPr id="7" name="TextBox 6"/>
          <p:cNvSpPr txBox="1"/>
          <p:nvPr/>
        </p:nvSpPr>
        <p:spPr>
          <a:xfrm>
            <a:off x="731520" y="3154680"/>
            <a:ext cx="10728655" cy="411480"/>
          </a:xfrm>
          <a:prstGeom prst="rect">
            <a:avLst/>
          </a:prstGeom>
          <a:noFill/>
        </p:spPr>
        <p:txBody>
          <a:bodyPr wrap="square" lIns="0" rIns="0" tIns="0" bIns="0">
            <a:spAutoFit/>
          </a:bodyPr>
          <a:lstStyle/>
          <a:p>
            <a:pPr algn="ctr"/>
            <a:r>
              <a:rPr sz="1500" b="0" i="1">
                <a:solidFill>
                  <a:srgbClr val="1A2E22"/>
                </a:solidFill>
                <a:latin typeface="DM Sans"/>
              </a:rPr>
              <a:t>Q2. Mayroon ba talagang acceptable sa Dios na pumalya sa pagdalo?</a:t>
            </a:r>
          </a:p>
        </p:txBody>
      </p:sp>
      <p:sp>
        <p:nvSpPr>
          <p:cNvPr id="8" name="TextBox 7"/>
          <p:cNvSpPr txBox="1"/>
          <p:nvPr/>
        </p:nvSpPr>
        <p:spPr>
          <a:xfrm>
            <a:off x="731520" y="3611880"/>
            <a:ext cx="10728655" cy="411480"/>
          </a:xfrm>
          <a:prstGeom prst="rect">
            <a:avLst/>
          </a:prstGeom>
          <a:noFill/>
        </p:spPr>
        <p:txBody>
          <a:bodyPr wrap="square" lIns="0" rIns="0" tIns="0" bIns="0">
            <a:spAutoFit/>
          </a:bodyPr>
          <a:lstStyle/>
          <a:p>
            <a:pPr algn="ctr"/>
            <a:r>
              <a:rPr sz="1500" b="0" i="1">
                <a:solidFill>
                  <a:srgbClr val="1A2E22"/>
                </a:solidFill>
                <a:latin typeface="DM Sans"/>
              </a:rPr>
              <a:t>Q3. Alin sa 6 palusot ang madalas nasa puso mo? Be honest.</a:t>
            </a:r>
          </a:p>
        </p:txBody>
      </p:sp>
      <p:sp>
        <p:nvSpPr>
          <p:cNvPr id="9" name="TextBox 8"/>
          <p:cNvSpPr txBox="1"/>
          <p:nvPr/>
        </p:nvSpPr>
        <p:spPr>
          <a:xfrm>
            <a:off x="11094415" y="6400800"/>
            <a:ext cx="914400" cy="274320"/>
          </a:xfrm>
          <a:prstGeom prst="rect">
            <a:avLst/>
          </a:prstGeom>
          <a:noFill/>
        </p:spPr>
        <p:txBody>
          <a:bodyPr wrap="none" lIns="0" rIns="0">
            <a:spAutoFit/>
          </a:bodyPr>
          <a:lstStyle/>
          <a:p>
            <a:pPr algn="r"/>
            <a:r>
              <a:rPr sz="900" b="1">
                <a:solidFill>
                  <a:srgbClr val="1A2E22"/>
                </a:solidFill>
                <a:latin typeface="DM Sans"/>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4A8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95647" y="548640"/>
            <a:ext cx="3200400" cy="411480"/>
          </a:xfrm>
          <a:prstGeom prst="roundRect">
            <a:avLst/>
          </a:prstGeom>
          <a:noFill/>
          <a:ln w="25400">
            <a:solidFill>
              <a:srgbClr val="1F4530"/>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1200" b="1">
                <a:solidFill>
                  <a:srgbClr val="1F4530"/>
                </a:solidFill>
                <a:latin typeface="DM Sans"/>
              </a:rPr>
              <a:t>TUGON · 12 MIN</a:t>
            </a:r>
          </a:p>
        </p:txBody>
      </p:sp>
      <p:sp>
        <p:nvSpPr>
          <p:cNvPr id="4" name="TextBox 3"/>
          <p:cNvSpPr txBox="1"/>
          <p:nvPr/>
        </p:nvSpPr>
        <p:spPr>
          <a:xfrm>
            <a:off x="731520" y="1143000"/>
            <a:ext cx="10728655" cy="1005840"/>
          </a:xfrm>
          <a:prstGeom prst="rect">
            <a:avLst/>
          </a:prstGeom>
          <a:noFill/>
        </p:spPr>
        <p:txBody>
          <a:bodyPr wrap="square" lIns="0" rIns="0" tIns="0" bIns="0">
            <a:spAutoFit/>
          </a:bodyPr>
          <a:lstStyle/>
          <a:p>
            <a:pPr algn="ctr"/>
            <a:r>
              <a:rPr sz="3600" b="1" i="0">
                <a:solidFill>
                  <a:srgbClr val="1F4530"/>
                </a:solidFill>
                <a:latin typeface="Playfair Display"/>
              </a:rPr>
              <a:t>Church Worship Service Commitment Form</a:t>
            </a:r>
          </a:p>
        </p:txBody>
      </p:sp>
      <p:sp>
        <p:nvSpPr>
          <p:cNvPr id="5" name="TextBox 4"/>
          <p:cNvSpPr txBox="1"/>
          <p:nvPr/>
        </p:nvSpPr>
        <p:spPr>
          <a:xfrm>
            <a:off x="731520" y="2240280"/>
            <a:ext cx="10728655" cy="2011680"/>
          </a:xfrm>
          <a:prstGeom prst="rect">
            <a:avLst/>
          </a:prstGeom>
          <a:noFill/>
        </p:spPr>
        <p:txBody>
          <a:bodyPr wrap="square" lIns="0" rIns="0" tIns="0" bIns="0">
            <a:spAutoFit/>
          </a:bodyPr>
          <a:lstStyle/>
          <a:p>
            <a:pPr algn="ctr"/>
            <a:r>
              <a:rPr sz="2800" b="1" i="1">
                <a:solidFill>
                  <a:srgbClr val="1F4530"/>
                </a:solidFill>
                <a:latin typeface="Playfair Display"/>
              </a:rPr>
              <a:t>"Dahil mahal ko ang Panginoong Hesus at ang aking church na _____________, Nangangako ako na…"</a:t>
            </a:r>
          </a:p>
        </p:txBody>
      </p:sp>
      <p:sp>
        <p:nvSpPr>
          <p:cNvPr id="6" name="TextBox 5"/>
          <p:cNvSpPr txBox="1"/>
          <p:nvPr/>
        </p:nvSpPr>
        <p:spPr>
          <a:xfrm>
            <a:off x="731520" y="4069080"/>
            <a:ext cx="10728655" cy="777240"/>
          </a:xfrm>
          <a:prstGeom prst="rect">
            <a:avLst/>
          </a:prstGeom>
          <a:noFill/>
        </p:spPr>
        <p:txBody>
          <a:bodyPr wrap="square" lIns="0" rIns="0" tIns="0" bIns="0">
            <a:spAutoFit/>
          </a:bodyPr>
          <a:lstStyle/>
          <a:p>
            <a:pPr algn="ctr"/>
            <a:r>
              <a:rPr sz="1800" b="0" i="1">
                <a:solidFill>
                  <a:srgbClr val="1F4530"/>
                </a:solidFill>
                <a:latin typeface="Playfair Display"/>
              </a:rPr>
              <a:t>Tatlong commitments. Konkreto. Hindi vague. Nakasulat.</a:t>
            </a:r>
          </a:p>
        </p:txBody>
      </p:sp>
      <p:sp>
        <p:nvSpPr>
          <p:cNvPr id="7" name="TextBox 6"/>
          <p:cNvSpPr txBox="1"/>
          <p:nvPr/>
        </p:nvSpPr>
        <p:spPr>
          <a:xfrm>
            <a:off x="731520" y="4892040"/>
            <a:ext cx="10728655" cy="548640"/>
          </a:xfrm>
          <a:prstGeom prst="rect">
            <a:avLst/>
          </a:prstGeom>
          <a:noFill/>
        </p:spPr>
        <p:txBody>
          <a:bodyPr wrap="square" lIns="0" rIns="0" tIns="0" bIns="0">
            <a:spAutoFit/>
          </a:bodyPr>
          <a:lstStyle/>
          <a:p>
            <a:pPr algn="ctr"/>
            <a:r>
              <a:rPr sz="1300" b="0" i="1">
                <a:solidFill>
                  <a:srgbClr val="1F4530"/>
                </a:solidFill>
                <a:latin typeface="DM Sans"/>
              </a:rPr>
              <a:t>Mga lalaki, mahalin ninyo ang inyong asawa na gaya ng pagmamahal ni Cristo sa iglesya. — Eph 5:25</a:t>
            </a:r>
          </a:p>
        </p:txBody>
      </p:sp>
      <p:sp>
        <p:nvSpPr>
          <p:cNvPr id="8" name="TextBox 7"/>
          <p:cNvSpPr txBox="1"/>
          <p:nvPr/>
        </p:nvSpPr>
        <p:spPr>
          <a:xfrm>
            <a:off x="11094415" y="6400800"/>
            <a:ext cx="914400" cy="274320"/>
          </a:xfrm>
          <a:prstGeom prst="rect">
            <a:avLst/>
          </a:prstGeom>
          <a:noFill/>
        </p:spPr>
        <p:txBody>
          <a:bodyPr wrap="none" lIns="0" rIns="0">
            <a:spAutoFit/>
          </a:bodyPr>
          <a:lstStyle/>
          <a:p>
            <a:pPr algn="r"/>
            <a:r>
              <a:rPr sz="900" b="1">
                <a:solidFill>
                  <a:srgbClr val="1F4530"/>
                </a:solidFill>
                <a:latin typeface="DM Sans"/>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95647" y="548640"/>
            <a:ext cx="3200400" cy="411480"/>
          </a:xfrm>
          <a:prstGeom prst="roundRect">
            <a:avLst/>
          </a:prstGeom>
          <a:noFill/>
          <a:ln w="25400">
            <a:solidFill>
              <a:srgbClr val="2A5C40"/>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1200" b="1">
                <a:solidFill>
                  <a:srgbClr val="2A5C40"/>
                </a:solidFill>
                <a:latin typeface="DM Sans"/>
              </a:rPr>
              <a:t>DALHIN · WATCH + EOLO</a:t>
            </a:r>
          </a:p>
        </p:txBody>
      </p:sp>
      <p:sp>
        <p:nvSpPr>
          <p:cNvPr id="4" name="TextBox 3"/>
          <p:cNvSpPr txBox="1"/>
          <p:nvPr/>
        </p:nvSpPr>
        <p:spPr>
          <a:xfrm>
            <a:off x="731520" y="1143000"/>
            <a:ext cx="10728655" cy="1005840"/>
          </a:xfrm>
          <a:prstGeom prst="rect">
            <a:avLst/>
          </a:prstGeom>
          <a:noFill/>
        </p:spPr>
        <p:txBody>
          <a:bodyPr wrap="square" lIns="0" rIns="0" tIns="0" bIns="0">
            <a:spAutoFit/>
          </a:bodyPr>
          <a:lstStyle/>
          <a:p>
            <a:pPr algn="ctr"/>
            <a:r>
              <a:rPr sz="3600" b="1" i="0">
                <a:solidFill>
                  <a:srgbClr val="1A2E22"/>
                </a:solidFill>
                <a:latin typeface="Playfair Display"/>
              </a:rPr>
              <a:t>7-Sunday Watch</a:t>
            </a:r>
          </a:p>
        </p:txBody>
      </p:sp>
      <p:sp>
        <p:nvSpPr>
          <p:cNvPr id="5" name="TextBox 4"/>
          <p:cNvSpPr txBox="1"/>
          <p:nvPr/>
        </p:nvSpPr>
        <p:spPr>
          <a:xfrm>
            <a:off x="731520" y="2240280"/>
            <a:ext cx="10728655" cy="365760"/>
          </a:xfrm>
          <a:prstGeom prst="rect">
            <a:avLst/>
          </a:prstGeom>
          <a:noFill/>
        </p:spPr>
        <p:txBody>
          <a:bodyPr wrap="square" lIns="0" rIns="0" tIns="0" bIns="0">
            <a:spAutoFit/>
          </a:bodyPr>
          <a:lstStyle/>
          <a:p>
            <a:pPr algn="ctr"/>
            <a:r>
              <a:rPr sz="1400" b="0" i="1">
                <a:solidFill>
                  <a:srgbClr val="1A2E22"/>
                </a:solidFill>
                <a:latin typeface="DM Sans"/>
              </a:rPr>
              <a:t>Susunod na 7 Linggo · ✓ ang araw · isulat ang strengthening act.</a:t>
            </a:r>
          </a:p>
        </p:txBody>
      </p:sp>
      <p:sp>
        <p:nvSpPr>
          <p:cNvPr id="6" name="TextBox 5"/>
          <p:cNvSpPr txBox="1"/>
          <p:nvPr/>
        </p:nvSpPr>
        <p:spPr>
          <a:xfrm>
            <a:off x="731520" y="2697480"/>
            <a:ext cx="10728655" cy="548640"/>
          </a:xfrm>
          <a:prstGeom prst="rect">
            <a:avLst/>
          </a:prstGeom>
          <a:noFill/>
        </p:spPr>
        <p:txBody>
          <a:bodyPr wrap="square" lIns="0" rIns="0" tIns="0" bIns="0">
            <a:spAutoFit/>
          </a:bodyPr>
          <a:lstStyle/>
          <a:p>
            <a:pPr algn="ctr"/>
            <a:r>
              <a:rPr sz="2400" b="1" i="1">
                <a:solidFill>
                  <a:srgbClr val="A04646"/>
                </a:solidFill>
                <a:latin typeface="Playfair Display"/>
              </a:rPr>
              <a:t>EOLO Bridge:</a:t>
            </a:r>
          </a:p>
        </p:txBody>
      </p:sp>
      <p:sp>
        <p:nvSpPr>
          <p:cNvPr id="7" name="TextBox 6"/>
          <p:cNvSpPr txBox="1"/>
          <p:nvPr/>
        </p:nvSpPr>
        <p:spPr>
          <a:xfrm>
            <a:off x="731520" y="3291840"/>
            <a:ext cx="10728655" cy="777240"/>
          </a:xfrm>
          <a:prstGeom prst="rect">
            <a:avLst/>
          </a:prstGeom>
          <a:noFill/>
        </p:spPr>
        <p:txBody>
          <a:bodyPr wrap="square" lIns="0" rIns="0" tIns="0" bIns="0">
            <a:spAutoFit/>
          </a:bodyPr>
          <a:lstStyle/>
          <a:p>
            <a:pPr algn="ctr"/>
            <a:r>
              <a:rPr sz="1800" b="0" i="1">
                <a:solidFill>
                  <a:srgbClr val="1A2E22"/>
                </a:solidFill>
                <a:latin typeface="Playfair Display"/>
              </a:rPr>
              <a:t>May isa ba sa 3-5 EOLO names mo na ii-imbita mo sa church ngayong Linggo?</a:t>
            </a:r>
          </a:p>
        </p:txBody>
      </p:sp>
      <p:sp>
        <p:nvSpPr>
          <p:cNvPr id="8" name="TextBox 7"/>
          <p:cNvSpPr txBox="1"/>
          <p:nvPr/>
        </p:nvSpPr>
        <p:spPr>
          <a:xfrm>
            <a:off x="731520" y="4114800"/>
            <a:ext cx="10728655" cy="777240"/>
          </a:xfrm>
          <a:prstGeom prst="rect">
            <a:avLst/>
          </a:prstGeom>
          <a:noFill/>
        </p:spPr>
        <p:txBody>
          <a:bodyPr wrap="square" lIns="0" rIns="0" tIns="0" bIns="0">
            <a:spAutoFit/>
          </a:bodyPr>
          <a:lstStyle/>
          <a:p>
            <a:pPr algn="ctr"/>
            <a:r>
              <a:rPr sz="1800" b="0" i="1">
                <a:solidFill>
                  <a:srgbClr val="1A2E22"/>
                </a:solidFill>
                <a:latin typeface="Playfair Display"/>
              </a:rPr>
              <a:t>Hindi mañana. Hindi "tingnan ko."</a:t>
            </a:r>
          </a:p>
          <a:p>
            <a:pPr algn="ctr"/>
            <a:r>
              <a:rPr sz="1800" b="0" i="1">
                <a:solidFill>
                  <a:srgbClr val="1A2E22"/>
                </a:solidFill>
                <a:latin typeface="Playfair Display"/>
              </a:rPr>
              <a:t>Ngayong Linggo.</a:t>
            </a:r>
          </a:p>
        </p:txBody>
      </p:sp>
      <p:sp>
        <p:nvSpPr>
          <p:cNvPr id="9" name="TextBox 8"/>
          <p:cNvSpPr txBox="1"/>
          <p:nvPr/>
        </p:nvSpPr>
        <p:spPr>
          <a:xfrm>
            <a:off x="11094415" y="6400800"/>
            <a:ext cx="914400" cy="274320"/>
          </a:xfrm>
          <a:prstGeom prst="rect">
            <a:avLst/>
          </a:prstGeom>
          <a:noFill/>
        </p:spPr>
        <p:txBody>
          <a:bodyPr wrap="none" lIns="0" rIns="0">
            <a:spAutoFit/>
          </a:bodyPr>
          <a:lstStyle/>
          <a:p>
            <a:pPr algn="r"/>
            <a:r>
              <a:rPr sz="900" b="1">
                <a:solidFill>
                  <a:srgbClr val="1A2E22"/>
                </a:solidFill>
                <a:latin typeface="DM Sans"/>
              </a:rP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5C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95647" y="548640"/>
            <a:ext cx="3200400" cy="411480"/>
          </a:xfrm>
          <a:prstGeom prst="roundRect">
            <a:avLst/>
          </a:prstGeom>
          <a:noFill/>
          <a:ln w="25400">
            <a:solidFill>
              <a:srgbClr val="D4A854"/>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1200" b="1">
                <a:solidFill>
                  <a:srgbClr val="D4A854"/>
                </a:solidFill>
                <a:latin typeface="DM Sans"/>
              </a:rPr>
              <a:t>DALHIN · PANGAKO KO</a:t>
            </a:r>
          </a:p>
        </p:txBody>
      </p:sp>
      <p:sp>
        <p:nvSpPr>
          <p:cNvPr id="4" name="TextBox 3"/>
          <p:cNvSpPr txBox="1"/>
          <p:nvPr/>
        </p:nvSpPr>
        <p:spPr>
          <a:xfrm>
            <a:off x="731520" y="1143000"/>
            <a:ext cx="10728655" cy="1005840"/>
          </a:xfrm>
          <a:prstGeom prst="rect">
            <a:avLst/>
          </a:prstGeom>
          <a:noFill/>
        </p:spPr>
        <p:txBody>
          <a:bodyPr wrap="square" lIns="0" rIns="0" tIns="0" bIns="0">
            <a:spAutoFit/>
          </a:bodyPr>
          <a:lstStyle/>
          <a:p>
            <a:pPr algn="ctr"/>
            <a:r>
              <a:rPr sz="3600" b="1" i="0">
                <a:solidFill>
                  <a:srgbClr val="FDFBF6"/>
                </a:solidFill>
                <a:latin typeface="Playfair Display"/>
              </a:rPr>
              <a:t>Pangako Ko</a:t>
            </a:r>
          </a:p>
        </p:txBody>
      </p:sp>
      <p:sp>
        <p:nvSpPr>
          <p:cNvPr id="5" name="Rounded Rectangle 4"/>
          <p:cNvSpPr/>
          <p:nvPr/>
        </p:nvSpPr>
        <p:spPr>
          <a:xfrm>
            <a:off x="914400" y="2240280"/>
            <a:ext cx="10362895" cy="2468880"/>
          </a:xfrm>
          <a:prstGeom prst="roundRect">
            <a:avLst/>
          </a:prstGeom>
          <a:solidFill>
            <a:srgbClr val="FDFBF6"/>
          </a:solidFill>
          <a:ln w="38100">
            <a:solidFill>
              <a:srgbClr val="B8882A"/>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l"/>
            <a:r>
              <a:rPr sz="2000" i="1">
                <a:solidFill>
                  <a:srgbClr val="1F4530"/>
                </a:solidFill>
                <a:latin typeface="Playfair Display"/>
              </a:rPr>
              <a:t>Hindi ako magiging show-up-when-I-feel-like-it.</a:t>
            </a:r>
          </a:p>
          <a:p>
            <a:pPr algn="l">
              <a:spcBef>
                <a:spcPts val="800"/>
              </a:spcBef>
            </a:pPr>
            <a:r>
              <a:rPr sz="2000" i="1">
                <a:solidFill>
                  <a:srgbClr val="1F4530"/>
                </a:solidFill>
                <a:latin typeface="Playfair Display"/>
              </a:rPr>
              <a:t>Hindi ko ititira ang aking kapatid sa pintuan ng pagsamba.</a:t>
            </a:r>
          </a:p>
          <a:p>
            <a:pPr algn="l">
              <a:spcBef>
                <a:spcPts val="800"/>
              </a:spcBef>
            </a:pPr>
            <a:r>
              <a:rPr sz="2000" i="1">
                <a:solidFill>
                  <a:srgbClr val="1F4530"/>
                </a:solidFill>
                <a:latin typeface="Playfair Display"/>
              </a:rPr>
              <a:t>Susulpot ako sa Linggo. Buong tao. Bawat linggo.</a:t>
            </a:r>
          </a:p>
          <a:p>
            <a:pPr algn="l">
              <a:spcBef>
                <a:spcPts val="800"/>
              </a:spcBef>
            </a:pPr>
            <a:r>
              <a:rPr sz="2000" i="1">
                <a:solidFill>
                  <a:srgbClr val="1F4530"/>
                </a:solidFill>
                <a:latin typeface="Playfair Display"/>
              </a:rPr>
              <a:t>Dahil mahal Niya ang Iglesya — at parte ako ng Kanyang Bride.</a:t>
            </a:r>
          </a:p>
        </p:txBody>
      </p:sp>
      <p:sp>
        <p:nvSpPr>
          <p:cNvPr id="6" name="TextBox 5"/>
          <p:cNvSpPr txBox="1"/>
          <p:nvPr/>
        </p:nvSpPr>
        <p:spPr>
          <a:xfrm>
            <a:off x="731520" y="4983480"/>
            <a:ext cx="10728655" cy="548640"/>
          </a:xfrm>
          <a:prstGeom prst="rect">
            <a:avLst/>
          </a:prstGeom>
          <a:noFill/>
        </p:spPr>
        <p:txBody>
          <a:bodyPr wrap="square" lIns="0" rIns="0" tIns="0" bIns="0">
            <a:spAutoFit/>
          </a:bodyPr>
          <a:lstStyle/>
          <a:p>
            <a:pPr algn="ctr"/>
            <a:r>
              <a:rPr sz="1300" b="0" i="1">
                <a:solidFill>
                  <a:srgbClr val="FDFBF6"/>
                </a:solidFill>
                <a:latin typeface="DM Sans"/>
              </a:rPr>
              <a:t>Bigkasin nang malakas · "Saksi ka." · "Saksi ako."</a:t>
            </a:r>
          </a:p>
        </p:txBody>
      </p:sp>
      <p:sp>
        <p:nvSpPr>
          <p:cNvPr id="7" name="TextBox 6"/>
          <p:cNvSpPr txBox="1"/>
          <p:nvPr/>
        </p:nvSpPr>
        <p:spPr>
          <a:xfrm>
            <a:off x="11094415" y="6400800"/>
            <a:ext cx="914400" cy="274320"/>
          </a:xfrm>
          <a:prstGeom prst="rect">
            <a:avLst/>
          </a:prstGeom>
          <a:noFill/>
        </p:spPr>
        <p:txBody>
          <a:bodyPr wrap="none" lIns="0" rIns="0">
            <a:spAutoFit/>
          </a:bodyPr>
          <a:lstStyle/>
          <a:p>
            <a:pPr algn="r"/>
            <a:r>
              <a:rPr sz="900" b="1">
                <a:solidFill>
                  <a:srgbClr val="FDFBF6"/>
                </a:solidFill>
                <a:latin typeface="DM Sans"/>
              </a:rP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95647" y="548640"/>
            <a:ext cx="3200400" cy="411480"/>
          </a:xfrm>
          <a:prstGeom prst="roundRect">
            <a:avLst/>
          </a:prstGeom>
          <a:noFill/>
          <a:ln w="25400">
            <a:solidFill>
              <a:srgbClr val="D4A854"/>
            </a:solidFill>
          </a:ln>
        </p:spPr>
        <p:style>
          <a:lnRef idx="1">
            <a:schemeClr val="accent1"/>
          </a:lnRef>
          <a:fillRef idx="3">
            <a:schemeClr val="accent1"/>
          </a:fillRef>
          <a:effectRef idx="2">
            <a:schemeClr val="accent1"/>
          </a:effectRef>
          <a:fontRef idx="minor">
            <a:schemeClr val="lt1"/>
          </a:fontRef>
        </p:style>
        <p:txBody>
          <a:bodyPr rtlCol="0" anchor="ctr" lIns="182880" rIns="182880"/>
          <a:lstStyle/>
          <a:p>
            <a:pPr algn="ctr"/>
            <a:r>
              <a:rPr sz="1200" b="1">
                <a:solidFill>
                  <a:srgbClr val="D4A854"/>
                </a:solidFill>
                <a:latin typeface="DM Sans"/>
              </a:rPr>
              <a:t>L8 PREVIEW · SUSUNOD NA LINGGO</a:t>
            </a:r>
          </a:p>
        </p:txBody>
      </p:sp>
      <p:sp>
        <p:nvSpPr>
          <p:cNvPr id="4" name="TextBox 3"/>
          <p:cNvSpPr txBox="1"/>
          <p:nvPr/>
        </p:nvSpPr>
        <p:spPr>
          <a:xfrm>
            <a:off x="731520" y="1143000"/>
            <a:ext cx="10728655" cy="1005840"/>
          </a:xfrm>
          <a:prstGeom prst="rect">
            <a:avLst/>
          </a:prstGeom>
          <a:noFill/>
        </p:spPr>
        <p:txBody>
          <a:bodyPr wrap="square" lIns="0" rIns="0" tIns="0" bIns="0">
            <a:spAutoFit/>
          </a:bodyPr>
          <a:lstStyle/>
          <a:p>
            <a:pPr algn="ctr"/>
            <a:r>
              <a:rPr sz="3600" b="1" i="0">
                <a:solidFill>
                  <a:srgbClr val="FDFBF6"/>
                </a:solidFill>
                <a:latin typeface="Playfair Display"/>
              </a:rPr>
              <a:t>Stewardship</a:t>
            </a:r>
          </a:p>
        </p:txBody>
      </p:sp>
      <p:sp>
        <p:nvSpPr>
          <p:cNvPr id="5" name="TextBox 4"/>
          <p:cNvSpPr txBox="1"/>
          <p:nvPr/>
        </p:nvSpPr>
        <p:spPr>
          <a:xfrm>
            <a:off x="731520" y="2240280"/>
            <a:ext cx="10728655" cy="777240"/>
          </a:xfrm>
          <a:prstGeom prst="rect">
            <a:avLst/>
          </a:prstGeom>
          <a:noFill/>
        </p:spPr>
        <p:txBody>
          <a:bodyPr wrap="square" lIns="0" rIns="0" tIns="0" bIns="0">
            <a:spAutoFit/>
          </a:bodyPr>
          <a:lstStyle/>
          <a:p>
            <a:pPr algn="ctr"/>
            <a:r>
              <a:rPr sz="1800" b="0" i="1">
                <a:solidFill>
                  <a:srgbClr val="FDFBF6"/>
                </a:solidFill>
                <a:latin typeface="Playfair Display"/>
              </a:rPr>
              <a:t>Mula sa weekly gathering → weekly giving.</a:t>
            </a:r>
          </a:p>
        </p:txBody>
      </p:sp>
      <p:sp>
        <p:nvSpPr>
          <p:cNvPr id="6" name="TextBox 5"/>
          <p:cNvSpPr txBox="1"/>
          <p:nvPr/>
        </p:nvSpPr>
        <p:spPr>
          <a:xfrm>
            <a:off x="731520" y="3063240"/>
            <a:ext cx="10728655" cy="777240"/>
          </a:xfrm>
          <a:prstGeom prst="rect">
            <a:avLst/>
          </a:prstGeom>
          <a:noFill/>
        </p:spPr>
        <p:txBody>
          <a:bodyPr wrap="square" lIns="0" rIns="0" tIns="0" bIns="0">
            <a:spAutoFit/>
          </a:bodyPr>
          <a:lstStyle/>
          <a:p>
            <a:pPr algn="ctr"/>
            <a:r>
              <a:rPr sz="1800" b="0" i="1">
                <a:solidFill>
                  <a:srgbClr val="FDFBF6"/>
                </a:solidFill>
                <a:latin typeface="Playfair Display"/>
              </a:rPr>
              <a:t>Paano ang relasyon ng disciple sa oras, talento, at pera kung tunay siyang sumusunod kay Cristo?</a:t>
            </a:r>
          </a:p>
        </p:txBody>
      </p:sp>
      <p:sp>
        <p:nvSpPr>
          <p:cNvPr id="7" name="TextBox 6"/>
          <p:cNvSpPr txBox="1"/>
          <p:nvPr/>
        </p:nvSpPr>
        <p:spPr>
          <a:xfrm>
            <a:off x="731520" y="3886200"/>
            <a:ext cx="10728655" cy="548640"/>
          </a:xfrm>
          <a:prstGeom prst="rect">
            <a:avLst/>
          </a:prstGeom>
          <a:noFill/>
        </p:spPr>
        <p:txBody>
          <a:bodyPr wrap="square" lIns="0" rIns="0" tIns="0" bIns="0">
            <a:spAutoFit/>
          </a:bodyPr>
          <a:lstStyle/>
          <a:p>
            <a:pPr algn="ctr"/>
            <a:r>
              <a:rPr sz="1300" b="0" i="1">
                <a:solidFill>
                  <a:srgbClr val="FDFBF6"/>
                </a:solidFill>
                <a:latin typeface="DM Sans"/>
              </a:rPr>
              <a:t>"A student who is fully trained will be like their teacher." — Luke 6:40</a:t>
            </a:r>
          </a:p>
        </p:txBody>
      </p:sp>
      <p:sp>
        <p:nvSpPr>
          <p:cNvPr id="8" name="TextBox 7"/>
          <p:cNvSpPr txBox="1"/>
          <p:nvPr/>
        </p:nvSpPr>
        <p:spPr>
          <a:xfrm>
            <a:off x="11094415" y="6400800"/>
            <a:ext cx="914400" cy="274320"/>
          </a:xfrm>
          <a:prstGeom prst="rect">
            <a:avLst/>
          </a:prstGeom>
          <a:noFill/>
        </p:spPr>
        <p:txBody>
          <a:bodyPr wrap="none" lIns="0" rIns="0">
            <a:spAutoFit/>
          </a:bodyPr>
          <a:lstStyle/>
          <a:p>
            <a:pPr algn="r"/>
            <a:r>
              <a:rPr sz="900" b="1">
                <a:solidFill>
                  <a:srgbClr val="FDFBF6"/>
                </a:solidFill>
                <a:latin typeface="DM Sans"/>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
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73" r:id="rId24"/>
    <p:sldId id="274" r:id="rId25"/>
    <p:sldId id="259" r:id="rId5"/>
    <p:sldId id="275" r:id="rId26"/>
    <p:sldId id="260" r:id="rId6"/>
    <p:sldId id="261" r:id="rId7"/>
    <p:sldId id="276" r:id="rId27"/>
    <p:sldId id="272" r:id="rId8"/>
    <p:sldId id="262" r:id="rId9"/>
    <p:sldId id="263" r:id="rId10"/>
    <p:sldId id="264" r:id="rId11"/>
    <p:sldId id="265" r:id="rId12"/>
    <p:sldId id="277" r:id="rId28"/>
    <p:sldId id="266" r:id="rId13"/>
    <p:sldId id="278" r:id="rId29"/>
    <p:sldId id="267" r:id="rId14"/>
    <p:sldId id="279" r:id="rId30"/>
    <p:sldId id="280" r:id="rId31"/>
    <p:sldId id="281" r:id="rId32"/>
    <p:sldId id="268" r:id="rId15"/>
    <p:sldId id="282" r:id="rId33"/>
    <p:sldId id="269" r:id="rId16"/>
    <p:sldId id="283" r:id="rId34"/>
    <p:sldId id="270" r:id="rId17"/>
    <p:sldId id="284" r:id="rId35"/>
    <p:sldId id="271"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1893" autoAdjust="0"/>
  </p:normalViewPr>
  <p:slideViewPr>
    <p:cSldViewPr snapToGrid="0" snapToObjects="1">
      <p:cViewPr varScale="1">
        <p:scale>
          <a:sx n="51" d="100"/>
          <a:sy n="51" d="100"/>
        </p:scale>
        <p:origin x="1800" y="53"/>
      </p:cViewPr>
      <p:guideLst>
        <p:guide orient="horz" pos="2160"/>
        <p:guide pos="2880"/>
      </p:guideLst>
    </p:cSldViewPr>
  </p:slideViewPr>
  <p:notesTextViewPr>
    <p:cViewPr>
      <p:scale>
        <a:sx n="125" d="100"/>
        <a:sy n="125" d="100"/>
      </p:scale>
      <p:origin x="0" y="0"/>
    </p:cViewPr>
  </p:notesTextViewPr>
  <p:notesViewPr>
    <p:cSldViewPr snapToGrid="0" snapToObjects="1">
      <p:cViewPr varScale="1">
        <p:scale>
          <a:sx n="65" d="100"/>
          <a:sy n="65" d="100"/>
        </p:scale>
        <p:origin x="2894" y="53"/>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91365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COVER · 60-min lesson</a:t>
            </a:r>
          </a:p>
          <a:p>
            <a:r>
              <a:t>Bukas tayo sa BTLI 1 Lesson 7. Sundin ang USAD-L7 source structure (4-movement: TANAW/TUKLAS/TALAKAY/TUGON). Sa BTLI ay 5-movement (PUKAW/TUKLAS/TALAKAY/TUGON/DALHIN) — PUKAW at DALHIN ay Claude-added wrappers per Invariant #76. Total 60 min.</a:t>
            </a:r>
          </a:p>
          <a:p/>
          <a:p>
            <a:r>
              <a:t>Lesson Anchors</a:t>
            </a:r>
          </a:p>
          <a:p>
            <a:r>
              <a:t>Character anchor: Pananagutan (Responsibility) — covenant-faithfulness sa katawan ni Cristo. </a:t>
            </a:r>
          </a:p>
          <a:p>
            <a:r>
              <a:t>Competence anchor: 4-P Worship Anchor</a:t>
            </a:r>
          </a:p>
          <a:p>
            <a:r>
              <a:t>GRACE stage: A → C (Anchor transitioning to Cultivate)</a:t>
            </a:r>
          </a:p>
          <a:p>
            <a:r>
              <a:t>Lesson Aims (mula sa USAD Leader's Guide)</a:t>
            </a:r>
          </a:p>
          <a:p>
            <a:r>
              <a:t>Pagkatapos ng lesson na ito, ang disciple ay dapat:</a:t>
            </a:r>
          </a:p>
          <a:p>
            <a:r>
              <a:t>Maunawaan ang kahalagahan ng sama-samang pagsamba ng mga mananampalataya.</a:t>
            </a:r>
          </a:p>
          <a:p>
            <a:r>
              <a:t>Makilala ang sariling pananagutan at pagganyak sa church worship service.</a:t>
            </a:r>
          </a:p>
          <a:p>
            <a:r>
              <a:t>Matukoy ang mga palusot ng mga mananampalataya sa 'di pagdalo sa church worship services.</a:t>
            </a:r>
          </a:p>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PUKAW · 1 min (target 00:01)</a:t>
            </a:r>
          </a:p>
          <a:p>
            <a:r>
              <a:t>Pagbukas ng lesson, basahin ang Hebreo 10:25 nang sabay-sabay. </a:t>
            </a:r>
          </a:p>
          <a:p>
            <a:r>
              <a:t>Hindi pa ipakita ang 4-P breakdown — saving the surprise for slide 7. </a:t>
            </a:r>
          </a:p>
          <a:p>
            <a:r>
              <a:t>Goal here: anchor sa puso ng disciples ang exact wording ng verse — kasi ito ang me-memorize nila sa loob ng linggo.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PUKAW · 1 min (target 00:02)</a:t>
            </a:r>
          </a:p>
          <a:p>
            <a:r>
              <a:t>PUKAW step 1 (L6 callback, 1.5 min): magpa-share ng 1-2 kapatid lang — hindi buong round. </a:t>
            </a:r>
          </a:p>
          <a:p>
            <a:r>
              <a:t>Step 2 (1-10 snapshot, 2 min): hindi shi-share ang numero sa LCG ngayon. </a:t>
            </a:r>
          </a:p>
          <a:p>
            <a:r>
              <a:t>Para sa sarili lang muna. </a:t>
            </a:r>
          </a:p>
          <a:p>
            <a:r>
              <a:t>Bahala kayo i-share later, pero hindi requirement. </a:t>
            </a:r>
          </a:p>
          <a:p>
            <a:r>
              <a:t>Watchout: huwag tanungin ang numero sa harap — humihiya kapag mababa.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PUKAW · 2 min (target 00:06)</a:t>
            </a:r>
          </a:p>
          <a:p>
            <a:r>
              <a:t>PUKAW step 3 (Image-Pick, 4.5 min): pumili ng isa, isulat ang reason. </a:t>
            </a:r>
          </a:p>
          <a:p>
            <a:r>
              <a:t>Pagkatapos ng 2-3 min ng silent writing, magpa-share ng 2-3 kapatid. </a:t>
            </a:r>
          </a:p>
          <a:p>
            <a:r>
              <a:t>Iwasan ang pag-judge sa sagot. </a:t>
            </a:r>
          </a:p>
          <a:p>
            <a:r>
              <a:t>Kahit 'spiritual grocery store' ay magbibigay ng pintuan — hindi mo kailangang sabihing mali. </a:t>
            </a:r>
          </a:p>
          <a:p>
            <a:r>
              <a:t>Critical observation duty: kung may pumili ng grocery + hindi na-redirect, i-flag yung name sa intern.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TUKLAS · 2 min (target 00:10)</a:t>
            </a:r>
          </a:p>
          <a:p>
            <a:r>
              <a:t>TUKLAS step 1 (Big Idea, 3 min): sabay-sabay basahin. </a:t>
            </a:r>
          </a:p>
          <a:p>
            <a:r>
              <a:t>Pagkatapos: 'Bago natin kunin ang puso ng Hebreo 10:25, maikling kuwento muna...' — transition into Pang-CAT joke. </a:t>
            </a:r>
          </a:p>
          <a:p>
            <a:r>
              <a:t>Ang Big Idea ay magkasabay: pangangailangan AT pananagutan. Hindi alis-isa.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TUKLAS · 1 min (target 00:11)</a:t>
            </a:r>
          </a:p>
          <a:p>
            <a:r>
              <a:t>TUKLAS step 1 (Pang-CAT, ~60-90 sec lang): tapikin lang, huwag pa-drama-in. </a:t>
            </a:r>
          </a:p>
          <a:p/>
          <a:p>
            <a:r>
              <a:t>Minsan, may tatlong magkakaibigang pastor na nagkuwentuhan tungkol sa common problem nila sa church – ang notorious na “PANG-CAT”, mga pusang-gala na mahilig magwalâ! Madalas nilang sirain ang mga church equipment at kursonadang dumumi kung saan-saan. </a:t>
            </a:r>
          </a:p>
          <a:p>
            <a:r>
              <a:t>“Nagbibigay ako ng cash incentives sa members para sa bawat mahuhuli nilang pusa kaso takot silang manghuli dahil pumapalag kaya ’wa epek!”, sambit ng unang pastor. “Gumawa kami ng mga trap para sa mga pusa at nang mahuli ang mga salarin, inilagaw namin sa kabilang barangay... kaso nga lang wala pang kalahating araw e nakabalik na agad”, yamot na pagkakasabi ng ikalawang pastor. “Kawawa naman kayo, kami kasi wala ng problema riyan e”, mapang-inis na kabig ng ikatlong pastor. “Ano’ng sikreto mo? Paano mo ’yun nagawa?!” sabay na bulalas ng dalawa. “Simple lang! Winitnessan ko at binaptize”, sagot niya, “Ayun, simula nun, ’di ko na nakikita sa church!”</a:t>
            </a:r>
          </a:p>
          <a:p/>
          <a:p>
            <a:r>
              <a:t>Pagkatapos sabihin: 'Bakit nakakatawa? Anong totoo dito?' </a:t>
            </a:r>
          </a:p>
          <a:p>
            <a:r>
              <a:t>Tapos sasagot ang LCG: ilang Christians nga ba ang nakita nating maliligtas + ma-baptize tapos no-show na. </a:t>
            </a:r>
          </a:p>
          <a:p>
            <a:r>
              <a:t>Watchout: ang joke ay disarmament, hindi punchline. </a:t>
            </a:r>
          </a:p>
          <a:p>
            <a:r>
              <a:t>Wag i-prolong para sa palakpakan.</a:t>
            </a:r>
          </a:p>
          <a:p/>
          <a:p>
            <a:r>
              <a:t>TUKLAS step 2 (3 min): basahin sabay-sabay ang verse mula sa slide 2. Tapos i-reveal ang 4-P… </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ACB3D-5F9A-96D4-2B73-643D5183DD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C5F55-DA9B-6AF6-4207-22F65E58C3F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DD7584B-E0EF-FFDF-0812-97C1B70B65E2}"/>
              </a:ext>
            </a:extLst>
          </p:cNvPr>
          <p:cNvSpPr>
            <a:spLocks noGrp="1"/>
          </p:cNvSpPr>
          <p:nvPr>
            <p:ph type="body" sz="quarter" idx="3"/>
          </p:nvPr>
        </p:nvSpPr>
        <p:spPr/>
        <p:txBody>
          <a:bodyPr/>
          <a:lstStyle/>
          <a:p>
            <a:r>
              <a:t>TUKLAS · 1 min (target 00:13)</a:t>
            </a:r>
          </a:p>
          <a:p>
            <a:r>
              <a:t>Tukoy sa 4-Ps next slide…</a:t>
            </a:r>
          </a:p>
        </p:txBody>
      </p:sp>
      <p:sp>
        <p:nvSpPr>
          <p:cNvPr id="4" name="Slide Number Placeholder 3">
            <a:extLst>
              <a:ext uri="{FF2B5EF4-FFF2-40B4-BE49-F238E27FC236}">
                <a16:creationId xmlns:a16="http://schemas.microsoft.com/office/drawing/2014/main" id="{D529FB11-DCEB-362A-4872-1D390ABE3227}"/>
              </a:ext>
            </a:extLst>
          </p:cNvPr>
          <p:cNvSpPr>
            <a:spLocks noGrp="1"/>
          </p:cNvSpPr>
          <p:nvPr>
            <p:ph type="sldNum" sz="quarter" idx="5"/>
          </p:nvPr>
        </p:nvSpPr>
        <p:spPr/>
      </p:sp>
    </p:spTree>
    <p:extLst>
      <p:ext uri="{BB962C8B-B14F-4D97-AF65-F5344CB8AC3E}">
        <p14:creationId xmlns:p14="http://schemas.microsoft.com/office/powerpoint/2010/main" val="14108796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TUKLAS · 2 min (target 00:15)</a:t>
            </a:r>
          </a:p>
          <a:p>
            <a:r>
              <a:t>Apat na utos sa isang verse — hindi kalat-kalat na ideas. Bawat parirala ay may sariling P. Pumunta tayo isa-isa.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TUKLAS · 2 min (target 00:17)</a:t>
            </a:r>
          </a:p>
          <a:p>
            <a:r>
              <a:t>TUKLAS step 3 (Pananagutan, 3 min): emphasize ang KO at AKIN sa Matthew 16:18 — personal kay Cristo ang Church. </a:t>
            </a:r>
          </a:p>
          <a:p>
            <a:r>
              <a:t>Hindi club. </a:t>
            </a:r>
          </a:p>
          <a:p>
            <a:r>
              <a:t>Hindi event. </a:t>
            </a:r>
          </a:p>
          <a:p>
            <a:r>
              <a:t>Idea Niya, gawa Niya, bayad Niya ng buhay (Eph 5:25). </a:t>
            </a:r>
          </a:p>
          <a:p>
            <a:r>
              <a:t>Pinakaforce ng slide: 'Hindi ka iniligtas to be apart from the Church. </a:t>
            </a:r>
          </a:p>
          <a:p>
            <a:r>
              <a:t>Iniligtas ka to be a PART OF the Church.' </a:t>
            </a:r>
          </a:p>
          <a:p>
            <a:r>
              <a:t>Pause after that line.</a:t>
            </a:r>
          </a:p>
          <a:p/>
          <a:p>
            <a:r>
              <a:t>Pero may mga tao na hindi pumupunta sa church at may mga dahilan.</a:t>
            </a:r>
          </a:p>
          <a:p>
            <a:r>
              <a:t>Ito ang kanilang mga dahilan…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TUKLAS · 3 min (target 00:20)</a:t>
            </a:r>
          </a:p>
          <a:p>
            <a:r>
              <a:t>TUKLAS step 4 (Palusot, 5 min): 6 excuses Pew 2018 data. </a:t>
            </a:r>
          </a:p>
          <a:p>
            <a:r>
              <a:t>Quick-fire format — sasabihin mo ang excuse, sasagot ang LCG ng biblical rebuttal (nasa participant guide nila ang sagot)</a:t>
            </a:r>
          </a:p>
          <a:p>
            <a:r>
              <a:t>30-45 sec each. </a:t>
            </a:r>
          </a:p>
          <a:p>
            <a:r>
              <a:t>Wag pahabain ang debate. </a:t>
            </a:r>
          </a:p>
          <a:p>
            <a:r>
              <a:t>May posibleng triggered kapatid sa 'plastic kasi sa church' — kung may totoong sugat, sabihin: 'usapan natin pagkatapos.' </a:t>
            </a:r>
          </a:p>
          <a:p>
            <a:r>
              <a:t>Pero ang punto: hindi sapat na palusot ang isang masamang karanasan para iwasan ang buong katawan.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TUKLAS · 3 min (target 00:23)</a:t>
            </a:r>
          </a:p>
          <a:p>
            <a:r>
              <a:t>TUKLAS step 5 (Pangangailangan, 4 min): two-way. Pinakaimportante: hindi ka consumer — pareho kang TUMATANGGAP ng strengthening at NAGBIBIGAY. </a:t>
            </a:r>
          </a:p>
          <a:p>
            <a:r>
              <a:t>Scaling question (hindi shaming): 'Sa kanang column — spiritual gifts, paghayo, pag-disciple — gaano kalapit ka rito?' </a:t>
            </a:r>
          </a:p>
          <a:p>
            <a:r>
              <a:t>Pasagot ng 2 kapatid.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TUKLAS · 1 min (target 00:25)</a:t>
            </a:r>
          </a:p>
          <a:p>
            <a:r>
              <a:t>TUKLAS step 6 (Pagganyak, 2 min): last P. Eschatological motivation. </a:t>
            </a:r>
          </a:p>
          <a:p>
            <a:r>
              <a:t>Hindi takot — pagganyak. </a:t>
            </a:r>
          </a:p>
          <a:p>
            <a:r>
              <a:t>Closing line: 'Mamili ka.' </a:t>
            </a:r>
          </a:p>
          <a:p>
            <a:r>
              <a:t>Pause. </a:t>
            </a:r>
          </a:p>
          <a:p>
            <a:r>
              <a:t>Allow the weight of the choice to land. </a:t>
            </a:r>
          </a:p>
          <a:p>
            <a:r>
              <a:t>Tapos move to TALAKAY.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TALAKAY · 1 min (target 00:27)</a:t>
            </a:r>
          </a:p>
          <a:p>
            <a:r>
              <a:t>TALAKAY (12 min): Step 1 ay safe-space reset (1 min). </a:t>
            </a:r>
          </a:p>
          <a:p>
            <a:r>
              <a:t>Step 2 Q1 (3 min, sa NARINIG mo sa iba — safe entry). </a:t>
            </a:r>
          </a:p>
          <a:p>
            <a:r>
              <a:t>Step 3 Q2 (3 min, theological — bantayan ang dalawang extremes: lahat acceptable / wala acceptable). </a:t>
            </a:r>
          </a:p>
          <a:p>
            <a:r>
              <a:t>Step 4 Q3 (5 min — personal palusot, round-robin). Magsimula ka — pastor-led vulnerability. Watchout: kung may di nakapag-name, huwag i-force.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TUGON · 2 min (target 00:40)</a:t>
            </a:r>
          </a:p>
          <a:p>
            <a:r>
              <a:t>TUGON (12 min): Step 1 Eph 5:25 frame (1 min) — ang sinusulatan natin ay pagmamahal ng Bride sa Bridegroom. </a:t>
            </a:r>
          </a:p>
          <a:p>
            <a:r>
              <a:t>Si Cristo ay super sold out sa Church. </a:t>
            </a:r>
          </a:p>
          <a:p>
            <a:r>
              <a:t>Mahal Niya ito hanggang ialay ang Sariling buhay (Eph 5:25). </a:t>
            </a:r>
          </a:p>
          <a:p>
            <a:r>
              <a:t>Tinawag pa Niya itong "Bride". </a:t>
            </a:r>
          </a:p>
          <a:p>
            <a:r>
              <a:t>At dahil parte tayo ng Kaniyang Church, parte tayo ng Kaniyang Bride.</a:t>
            </a:r>
          </a:p>
          <a:p>
            <a:r>
              <a:t>Ngayong natutunan natin ang 4-P, oras na para gumawa ng commitment — hindi vague, hindi puro feeling. </a:t>
            </a:r>
          </a:p>
          <a:p>
            <a:r>
              <a:t>Konkreto. </a:t>
            </a:r>
          </a:p>
          <a:p>
            <a:r>
              <a:t>Nakasulat. </a:t>
            </a:r>
          </a:p>
          <a:p>
            <a:r>
              <a:t>Pirmahan ng sarili mong kamay sa commitment form sa inyong Participant Guide.</a:t>
            </a:r>
          </a:p>
          <a:p>
            <a:r>
              <a:t>Step 2 silent writing ng 3 commitments (8 min) — konkreto, hindi vague. </a:t>
            </a:r>
          </a:p>
          <a:p>
            <a:r>
              <a:t>Example:</a:t>
            </a:r>
          </a:p>
          <a:p>
            <a:r>
              <a:t>'Magseserve ako' — hindi pwede. </a:t>
            </a:r>
          </a:p>
          <a:p>
            <a:r>
              <a:t>'Magseserve ako sa worship team or ushering bago Q3 matapos' — pwede. </a:t>
            </a:r>
          </a:p>
          <a:p>
            <a:r>
              <a:t>Step 3 read-aloud + witness (3 min) — magpa-share ng 1 commitment lang per kapatid (hindi lahat 3). </a:t>
            </a:r>
          </a:p>
          <a:p>
            <a:r>
              <a:t>Watchout: kung may di nakapagsulat, tanong ng tahimik: 'Anong nakakahadlang?' — para sa post-lesson debrief.</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DALHIN · 2 min (target 00:52)</a:t>
            </a:r>
          </a:p>
          <a:p>
            <a:r>
              <a:t>DALHIN step 1-2 (5 min): 7-Sunday Watch setup (2 min) — para sa susunod na 7 Linggo, hindi i-fill ngayon. </a:t>
            </a:r>
          </a:p>
          <a:p>
            <a:r>
              <a:t>Step 2 EOLO Church-Invite Bridge (3 min) — ITO ANG PINAKA-CONFRONTING QUESTION ng lesson. 'Kapag dumating ang Araw at hindi mo siya nai-invite, ano ang sasabihin mo kay Cristo?' </a:t>
            </a:r>
          </a:p>
          <a:p>
            <a:r>
              <a:t>Hayaan ang katahimikan. </a:t>
            </a:r>
          </a:p>
          <a:p>
            <a:r>
              <a:t>Wag i-rush.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DALHIN · 2 min (target 00:57)</a:t>
            </a:r>
          </a:p>
          <a:p>
            <a:r>
              <a:t>DALHIN step 4 (Pangako Ko, 2 min): Tumayo ang lahat. </a:t>
            </a:r>
          </a:p>
          <a:p>
            <a:r>
              <a:t>Sabay-sabay nating bigkasin nang malakas. </a:t>
            </a:r>
          </a:p>
          <a:p>
            <a:r>
              <a:t>Pagkatapos sabihin sa katabi: 'Saksi ka.' </a:t>
            </a:r>
          </a:p>
          <a:p>
            <a:r>
              <a:t>At sumagot ang katabi: 'Saksi ako.' </a:t>
            </a:r>
          </a:p>
          <a:p>
            <a:r>
              <a:t>Ang witness exchange ay mahalaga — ito ang Structural Motivation (Six Sources mapping). </a:t>
            </a:r>
          </a:p>
          <a:p>
            <a:r>
              <a:t>Locked into LCG memory.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DALHIN · 2 min (target 01:00)</a:t>
            </a:r>
          </a:p>
          <a:p>
            <a:r>
              <a:t>DALHIN step 5 (end snapshot + L8 preview, 2 min): balikan ang 1-10 scale sa Dalhin. Ihambing sa PUKAW snapshot — anong pinakikilos ng Espiritu? Tapos L8 preview: 'Susunod na Linggo — Stewardship. Mula sa weekly gathering, lalapit tayo sa weekly giving.' Pwedeng optional closing video kung may 2 min pa.</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PUKAW · 1 min (target 00:03)</a:t>
            </a:r>
          </a:p>
          <a:p>
            <a:r>
              <a:t>PARTICIPANT GUIDE QUESTION. L6 callback (1.5 min ng PUKAW). Magpa-share ng 1-2 kapatid lang — hindi buong round. Box 4 = tamang kasama na hindi pa kapatid. Ipagdiwang ang bawat panalangin at pag-abot kahit maliit; celebrate, don't shame the misses. Data ito para sa EOLO follow-up ng grupo.</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PUKAW · 1 min (target 00:04)</a:t>
            </a:r>
          </a:p>
          <a:p>
            <a:r>
              <a:t>PARTICIPANT GUIDE QUESTION. 1-10 Sunday Attendance Snapshot (2 min). Para sa sarili lang — HUWAG tanungin ang numero sa harap; nakakahiya kapag mababa. Bahala sila kung ibabahagi mamaya, pero hindi requirement. Babalikan ang numerong ito sa End Snapshot, kaya ipasulat talaga sa Participant Guide.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PUKAW · 2 min (target 00:08)</a:t>
            </a:r>
          </a:p>
          <a:p>
            <a:r>
              <a:t>PARTICIPANT GUIDE QUESTION. Image-Pick (4.5 min): Place of Gathering / Spiritual Hospital / Spiritual Grocery / Iba pa. 2-3 min silent writing, tapos magpa-share ng 2-3 kapatid. Iwasan ang pag-judge — kahit 'spiritual grocery store' ay pintuan, hindi mo kailangang sabihing mali. CRITICAL observation duty: kung may pumili ng grocery at hindi na-redirect sa loob ng lesson, i-flag ang pangalan sa intern para sa follow-up.</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TUKLAS · 1 min (target 00:12)</a:t>
            </a:r>
          </a:p>
          <a:p>
            <a:r>
              <a:t>PARTICIPANT GUIDE QUESTION. Kasunod ng Pang-CAT joke (60-90 sec lang ang kuwento — tapikin, huwag i-drama). Itanong: 'Bakit nakakatawa? Anong totoo dito?' Hayaang mag-ambag ang LCG ng mga naaalala nilang kaso — walang pangalanang tao sa harap; ang bilang at pattern ang usapan, hindi ang tsismis. Ang joke ay disarmament papunta sa Hebreo 10:25, hindi punchline na pahahabain.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TUKLAS · 1 min (target 00:24)</a:t>
            </a:r>
          </a:p>
          <a:p>
            <a:r>
              <a:t>PARTICIPANT GUIDE QUESTION. Kasunod ng Two-Way Strengthening (P3). Ang sagot ng guide: HINDI — idinesenyo ng Diyos ang Christian growth para mangyari sa loob ng katawan ni Cristo. Hayaan muna silang sumulat bago mo ibigay ang sagot; ang dahilan nila ang mahalaga. Scaling follow-up (hindi shaming): 'Sa kanang column — gifts, paghayo, pag-disciple — gaano kalapit ka rito?' Pasagot ng 2 kapatid.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TUKLAS · 1 min (target 00:26)</a:t>
            </a:r>
          </a:p>
          <a:p>
            <a:r>
              <a:t>PARTICIPANT GUIDE QUESTION. P4 Pagganyak (eschatological motivation — hindi takot, pagganyak). Pagkatapos ng 'Mamili ka' sa content slide, ito ang tahimik na sandali ng pagpili. Hayaang bumigat ang katahimikan bago magpatuloy sa TALAKAY — huwag itong madaliin; dito madalas gumagalaw ang Espiritu.</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TALAKAY · 3 min (target 00:30)</a:t>
            </a:r>
          </a:p>
          <a:p>
            <a:r>
              <a:t>PARTICIPANT GUIDE QUESTION. TALAKAY Q1 (3 min) — safe entry: tungkol sa NARINIG sa IBA, hindi pa sa sarili. Bago ito, i-reset ang safe space (4 rules): no fixing, no comparison, no advice unless asked, confidentiality. Mabilis na round — huwag hayaang maging debate.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TALAKAY · 3 min (target 00:33)</a:t>
            </a:r>
          </a:p>
          <a:p>
            <a:r>
              <a:t>PARTICIPANT GUIDE QUESTION. TALAKAY Q2 (3 min) — theological. Bantayan ang dalawang extremes: 'lahat acceptable' (grace na walang pananagutan) at 'walang acceptable' (legalism — may sakit, may sanggol, may sakuna). Ang balanse: may mga totoong hadlang, pero ang PATTERN ng pag-iwas ay ibang usapan sa okasyonal na hindi pagdalo.</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TALAKAY · 5 min (target 00:38)</a:t>
            </a:r>
          </a:p>
          <a:p>
            <a:r>
              <a:t>PARTICIPANT GUIDE QUESTION. TALAKAY Q3 (5 min) — ang personal na palusot. Round-robin, at IKAW ang magsimula — pastor-led vulnerability ang nagbubukas ng pinto. Kung may hindi makapag-name ng palusot, huwag i-force; tandaan para sa one-on-one. Kung may tumamang sugat ('plastic sa church'), sabihin: 'usapan natin pagkatapos' — huwag i-process sa harap.</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TUGON · 10 min (target 00:50)</a:t>
            </a:r>
          </a:p>
          <a:p>
            <a:r>
              <a:t>PARTICIPANT GUIDE QUESTION. Church Worship Service Commitment Form (10 min sa slide na ito: ~8 min silent writing + ~2 min read-aloud). Frame: Eph 5:25 — ang sinusulatan ay pagmamahal ng Bride sa Bridegroom, hindi attendance contract. Konkreto ang pamantayan: 'Magseserve ako' — hindi pwede; 'Magseserve ako sa worship team o ushering bago matapos ang Q3' — pwede. Sa read-aloud: ISANG commitment lang per kapatid, may witness. Kung may hindi nakapagsulat, tahimik na itanong pagkatapos: 'Anong nakakahadlang?' — para sa debrief.</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DALHIN · 3 min (target 00:55)</a:t>
            </a:r>
          </a:p>
          <a:p>
            <a:r>
              <a:t>PARTICIPANT GUIDE QUESTION. EOLO Church-Invite Bridge (3 min) — ITO ANG PINAKA-CONFRONTING QUESTION ng lesson. Kailangan ng pangalan AT araw — walang 'baka' at walang 'tingnan ko.' Pagkatapos nilang sumulat, ang mabigat na tanong mula sa facilitator guide: 'Kapag dumating ang Araw at hindi mo siya nai-invite, ano ang sasabihin mo kay Cristo?' Hayaan ang katahimikan. Huwag i-rush. Ang 7-Sunday Watch ay naka-setup na sa naunang slide — fill-in ito sa susunod na mga linggo, hindi ngayon.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DALHIN · 1 min (target 00:58)</a:t>
            </a:r>
          </a:p>
          <a:p>
            <a:r>
              <a:t>PARTICIPANT GUIDE QUESTION. End Snapshot (1 min). Balikan ang 1-10 sa PUKAW at ihambing — anong pinakikilos ng Espiritu? Hindi ang laki ng talon ang mahalaga kundi ang direksyon. Tanggapin ang 1-2 maikling realization kung may kusa — huwag pilitin. Kasunod nito ang L8 preview (Stewardship).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A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548640"/>
            <a:ext cx="10728655" cy="365760"/>
          </a:xfrm>
          <a:prstGeom prst="rect">
            <a:avLst/>
          </a:prstGeom>
          <a:noFill/>
        </p:spPr>
        <p:txBody>
          <a:bodyPr wrap="square" lIns="0" tIns="0" rIns="0" bIns="0">
            <a:spAutoFit/>
          </a:bodyPr>
          <a:lstStyle/>
          <a:p>
            <a:pPr algn="ctr"/>
            <a:r>
              <a:rPr sz="1400" b="1" i="0">
                <a:solidFill>
                  <a:srgbClr val="D4A854"/>
                </a:solidFill>
                <a:latin typeface="DM Sans"/>
              </a:rPr>
              <a:t>BTLI 1 · LESSON 7</a:t>
            </a:r>
          </a:p>
        </p:txBody>
      </p:sp>
      <p:sp>
        <p:nvSpPr>
          <p:cNvPr id="4" name="TextBox 3"/>
          <p:cNvSpPr txBox="1"/>
          <p:nvPr/>
        </p:nvSpPr>
        <p:spPr>
          <a:xfrm>
            <a:off x="731520" y="1935976"/>
            <a:ext cx="10728655" cy="1015663"/>
          </a:xfrm>
          <a:prstGeom prst="rect">
            <a:avLst/>
          </a:prstGeom>
          <a:noFill/>
        </p:spPr>
        <p:txBody>
          <a:bodyPr wrap="square" lIns="0" tIns="0" rIns="0" bIns="0">
            <a:spAutoFit/>
          </a:bodyPr>
          <a:lstStyle/>
          <a:p>
            <a:pPr algn="ctr"/>
            <a:r>
              <a:rPr sz="6600" b="1" i="0">
                <a:solidFill>
                  <a:srgbClr val="FDFBF6"/>
                </a:solidFill>
                <a:latin typeface="Playfair Display"/>
              </a:rPr>
              <a:t>Sama-Samang Pagsamba</a:t>
            </a:r>
          </a:p>
        </p:txBody>
      </p:sp>
      <p:sp>
        <p:nvSpPr>
          <p:cNvPr id="5" name="TextBox 4"/>
          <p:cNvSpPr txBox="1"/>
          <p:nvPr/>
        </p:nvSpPr>
        <p:spPr>
          <a:xfrm>
            <a:off x="731520" y="3033256"/>
            <a:ext cx="10728655" cy="615553"/>
          </a:xfrm>
          <a:prstGeom prst="rect">
            <a:avLst/>
          </a:prstGeom>
          <a:noFill/>
        </p:spPr>
        <p:txBody>
          <a:bodyPr wrap="square" lIns="0" tIns="0" rIns="0" bIns="0">
            <a:spAutoFit/>
          </a:bodyPr>
          <a:lstStyle/>
          <a:p>
            <a:pPr algn="ctr"/>
            <a:r>
              <a:rPr sz="4000" b="0" i="0">
                <a:solidFill>
                  <a:srgbClr val="FDFBF6"/>
                </a:solidFill>
                <a:latin typeface="Playfair Display"/>
              </a:rPr>
              <a:t>Church Worship Service</a:t>
            </a:r>
          </a:p>
        </p:txBody>
      </p:sp>
      <p:sp>
        <p:nvSpPr>
          <p:cNvPr id="6" name="TextBox 5"/>
          <p:cNvSpPr txBox="1"/>
          <p:nvPr/>
        </p:nvSpPr>
        <p:spPr>
          <a:xfrm>
            <a:off x="731520" y="3880946"/>
            <a:ext cx="10728655" cy="492443"/>
          </a:xfrm>
          <a:prstGeom prst="rect">
            <a:avLst/>
          </a:prstGeom>
          <a:noFill/>
        </p:spPr>
        <p:txBody>
          <a:bodyPr wrap="square" lIns="0" tIns="0" rIns="0" bIns="0">
            <a:spAutoFit/>
          </a:bodyPr>
          <a:lstStyle/>
          <a:p>
            <a:pPr algn="ctr"/>
            <a:r>
              <a:rPr sz="3200" b="0" i="1" dirty="0">
                <a:solidFill>
                  <a:srgbClr val="FDFBF6"/>
                </a:solidFill>
                <a:latin typeface="DM Sans"/>
              </a:rPr>
              <a:t>Bakit </a:t>
            </a:r>
            <a:r>
              <a:rPr sz="3200" b="0" i="1" dirty="0" err="1">
                <a:solidFill>
                  <a:srgbClr val="FDFBF6"/>
                </a:solidFill>
                <a:latin typeface="DM Sans"/>
              </a:rPr>
              <a:t>Mahalaga</a:t>
            </a:r>
            <a:r>
              <a:rPr sz="3200" b="0" i="1" dirty="0">
                <a:solidFill>
                  <a:srgbClr val="FDFBF6"/>
                </a:solidFill>
                <a:latin typeface="DM Sans"/>
              </a:rPr>
              <a:t> ang </a:t>
            </a:r>
            <a:r>
              <a:rPr sz="3200" b="0" i="1" dirty="0" err="1">
                <a:solidFill>
                  <a:srgbClr val="FDFBF6"/>
                </a:solidFill>
                <a:latin typeface="DM Sans"/>
              </a:rPr>
              <a:t>Pagsamba</a:t>
            </a:r>
            <a:r>
              <a:rPr sz="3200" b="0" i="1" dirty="0">
                <a:solidFill>
                  <a:srgbClr val="FDFBF6"/>
                </a:solidFill>
                <a:latin typeface="DM Sans"/>
              </a:rPr>
              <a:t> </a:t>
            </a:r>
            <a:r>
              <a:rPr sz="3200" b="0" i="1" dirty="0" err="1">
                <a:solidFill>
                  <a:srgbClr val="FDFBF6"/>
                </a:solidFill>
                <a:latin typeface="DM Sans"/>
              </a:rPr>
              <a:t>n</a:t>
            </a:r>
            <a:r>
              <a:rPr lang="en-US" sz="3200" b="0" i="1" dirty="0" err="1">
                <a:solidFill>
                  <a:srgbClr val="FDFBF6"/>
                </a:solidFill>
                <a:latin typeface="DM Sans"/>
              </a:rPr>
              <a:t>ang</a:t>
            </a:r>
            <a:r>
              <a:rPr sz="3200" b="0" i="1" dirty="0">
                <a:solidFill>
                  <a:srgbClr val="FDFBF6"/>
                </a:solidFill>
                <a:latin typeface="DM Sans"/>
              </a:rPr>
              <a:t> </a:t>
            </a:r>
            <a:r>
              <a:rPr sz="3200" b="0" i="1" dirty="0" err="1">
                <a:solidFill>
                  <a:srgbClr val="FDFBF6"/>
                </a:solidFill>
                <a:latin typeface="DM Sans"/>
              </a:rPr>
              <a:t>Magkakasama</a:t>
            </a:r>
            <a:r>
              <a:rPr sz="3200" b="0" i="1" dirty="0">
                <a:solidFill>
                  <a:srgbClr val="FDFBF6"/>
                </a:solidFill>
                <a:latin typeface="DM Sans"/>
              </a:rPr>
              <a:t>?</a:t>
            </a:r>
          </a:p>
        </p:txBody>
      </p:sp>
      <p:sp>
        <p:nvSpPr>
          <p:cNvPr id="7" name="TextBox 6"/>
          <p:cNvSpPr txBox="1"/>
          <p:nvPr/>
        </p:nvSpPr>
        <p:spPr>
          <a:xfrm>
            <a:off x="11094415" y="6400800"/>
            <a:ext cx="914400" cy="274320"/>
          </a:xfrm>
          <a:prstGeom prst="rect">
            <a:avLst/>
          </a:prstGeom>
          <a:noFill/>
        </p:spPr>
        <p:txBody>
          <a:bodyPr wrap="none" lIns="0" rIns="0">
            <a:spAutoFit/>
          </a:bodyPr>
          <a:lstStyle/>
          <a:p>
            <a:pPr algn="r"/>
            <a:r>
              <a:rPr sz="900" b="1">
                <a:solidFill>
                  <a:srgbClr val="FDFBF6"/>
                </a:solidFill>
                <a:latin typeface="DM Sans"/>
              </a:rPr>
              <a:t>1 / 29</a:t>
            </a:r>
          </a:p>
        </p:txBody>
      </p:sp>
      <p:sp>
        <p:nvSpPr>
          <p:cNvPr id="8" name="Rounded Rectangle 7"/>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60-min lesson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b="1">
                <a:solidFill>
                  <a:srgbClr val="2A5C40"/>
                </a:solidFill>
                <a:latin typeface="DM Sans"/>
              </a:rPr>
              <a:t>MEMORY VERSE</a:t>
            </a:r>
          </a:p>
        </p:txBody>
      </p:sp>
      <p:sp>
        <p:nvSpPr>
          <p:cNvPr id="4" name="TextBox 3"/>
          <p:cNvSpPr txBox="1"/>
          <p:nvPr/>
        </p:nvSpPr>
        <p:spPr>
          <a:xfrm>
            <a:off x="731520" y="1143000"/>
            <a:ext cx="10728655" cy="1005840"/>
          </a:xfrm>
          <a:prstGeom prst="rect">
            <a:avLst/>
          </a:prstGeom>
          <a:noFill/>
        </p:spPr>
        <p:txBody>
          <a:bodyPr wrap="square" lIns="0" tIns="0" rIns="0" bIns="0">
            <a:spAutoFit/>
          </a:bodyPr>
          <a:lstStyle/>
          <a:p>
            <a:pPr algn="ctr"/>
            <a:r>
              <a:rPr sz="3600" b="1" i="0">
                <a:solidFill>
                  <a:srgbClr val="1A2E22"/>
                </a:solidFill>
                <a:latin typeface="Playfair Display"/>
              </a:rPr>
              <a:t>Hebreo 10:25</a:t>
            </a:r>
          </a:p>
        </p:txBody>
      </p:sp>
      <p:sp>
        <p:nvSpPr>
          <p:cNvPr id="5" name="Rounded Rectangle 4"/>
          <p:cNvSpPr/>
          <p:nvPr/>
        </p:nvSpPr>
        <p:spPr>
          <a:xfrm>
            <a:off x="1371600" y="2240280"/>
            <a:ext cx="9448495" cy="2011680"/>
          </a:xfrm>
          <a:prstGeom prst="roundRect">
            <a:avLst/>
          </a:prstGeom>
          <a:solidFill>
            <a:srgbClr val="F6F2E7"/>
          </a:solidFill>
          <a:ln w="25400">
            <a:solidFill>
              <a:srgbClr val="B8882A"/>
            </a:solidFill>
          </a:ln>
        </p:spPr>
        <p:style>
          <a:lnRef idx="1">
            <a:schemeClr val="accent1"/>
          </a:lnRef>
          <a:fillRef idx="3">
            <a:schemeClr val="accent1"/>
          </a:fillRef>
          <a:effectRef idx="2">
            <a:schemeClr val="accent1"/>
          </a:effectRef>
          <a:fontRef idx="minor">
            <a:schemeClr val="lt1"/>
          </a:fontRef>
        </p:style>
        <p:txBody>
          <a:bodyPr wrap="square" lIns="320040" tIns="228600" rIns="320040" bIns="228600" rtlCol="0" anchor="ctr"/>
          <a:lstStyle/>
          <a:p>
            <a:pPr algn="l"/>
            <a:r>
              <a:rPr sz="2800" i="1">
                <a:solidFill>
                  <a:srgbClr val="1A2E22"/>
                </a:solidFill>
                <a:latin typeface="Playfair Display"/>
              </a:rPr>
              <a:t>"Huwag nating kaliligtaan ang pagdalo sa ating mga pagtitipon, gaya ng nakasanayan ng iba. Sa halip, palakasin natin ang loob ng isa't isa, lalo na ngayong nakikita nating malapit na ang Araw ng Panginoon."</a:t>
            </a:r>
          </a:p>
        </p:txBody>
      </p:sp>
      <p:sp>
        <p:nvSpPr>
          <p:cNvPr id="6" name="TextBox 5"/>
          <p:cNvSpPr txBox="1"/>
          <p:nvPr/>
        </p:nvSpPr>
        <p:spPr>
          <a:xfrm>
            <a:off x="11632109" y="6400800"/>
            <a:ext cx="376706" cy="276999"/>
          </a:xfrm>
          <a:prstGeom prst="rect">
            <a:avLst/>
          </a:prstGeom>
          <a:noFill/>
        </p:spPr>
        <p:txBody>
          <a:bodyPr wrap="none" lIns="0" rIns="0">
            <a:spAutoFit/>
          </a:bodyPr>
          <a:lstStyle/>
          <a:p>
            <a:pPr algn="r"/>
            <a:r>
              <a:rPr sz="1200" b="1">
                <a:solidFill>
                  <a:srgbClr val="1A2E22"/>
                </a:solidFill>
                <a:latin typeface="DM Sans"/>
              </a:rPr>
              <a:t>2 / 29</a:t>
            </a:r>
          </a:p>
        </p:txBody>
      </p:sp>
      <p:sp>
        <p:nvSpPr>
          <p:cNvPr id="7" name="Rounded Rectangle 6"/>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⌛00:01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b="1">
                <a:solidFill>
                  <a:srgbClr val="2A5C40"/>
                </a:solidFill>
                <a:latin typeface="DM Sans"/>
              </a:rPr>
              <a:t>PUKAW · 8 MIN</a:t>
            </a:r>
          </a:p>
        </p:txBody>
      </p:sp>
      <p:sp>
        <p:nvSpPr>
          <p:cNvPr id="4" name="TextBox 3"/>
          <p:cNvSpPr txBox="1"/>
          <p:nvPr/>
        </p:nvSpPr>
        <p:spPr>
          <a:xfrm>
            <a:off x="731520" y="1143000"/>
            <a:ext cx="10728655" cy="738664"/>
          </a:xfrm>
          <a:prstGeom prst="rect">
            <a:avLst/>
          </a:prstGeom>
          <a:noFill/>
        </p:spPr>
        <p:txBody>
          <a:bodyPr wrap="square" lIns="0" tIns="0" rIns="0" bIns="0">
            <a:spAutoFit/>
          </a:bodyPr>
          <a:lstStyle/>
          <a:p>
            <a:pPr algn="ctr"/>
            <a:r>
              <a:rPr sz="4800" b="1" i="0">
                <a:solidFill>
                  <a:srgbClr val="1A2E22"/>
                </a:solidFill>
                <a:latin typeface="Playfair Display"/>
              </a:rPr>
              <a:t>Pagbalik sa L6 · Sariling Snapshot</a:t>
            </a:r>
          </a:p>
        </p:txBody>
      </p:sp>
      <p:sp>
        <p:nvSpPr>
          <p:cNvPr id="5" name="TextBox 4"/>
          <p:cNvSpPr txBox="1"/>
          <p:nvPr/>
        </p:nvSpPr>
        <p:spPr>
          <a:xfrm>
            <a:off x="731520" y="2240280"/>
            <a:ext cx="10728655" cy="430887"/>
          </a:xfrm>
          <a:prstGeom prst="rect">
            <a:avLst/>
          </a:prstGeom>
          <a:noFill/>
        </p:spPr>
        <p:txBody>
          <a:bodyPr wrap="square" lIns="0" tIns="0" rIns="0" bIns="0">
            <a:spAutoFit/>
          </a:bodyPr>
          <a:lstStyle/>
          <a:p>
            <a:pPr algn="ctr"/>
            <a:r>
              <a:rPr sz="2800" b="0" i="0">
                <a:solidFill>
                  <a:srgbClr val="1A2E22"/>
                </a:solidFill>
                <a:latin typeface="DM Sans"/>
              </a:rPr>
              <a:t>Kumusta ang Pangako Ko mo nung L6?</a:t>
            </a:r>
          </a:p>
        </p:txBody>
      </p:sp>
      <p:sp>
        <p:nvSpPr>
          <p:cNvPr id="6" name="TextBox 5"/>
          <p:cNvSpPr txBox="1"/>
          <p:nvPr/>
        </p:nvSpPr>
        <p:spPr>
          <a:xfrm>
            <a:off x="731520" y="2651760"/>
            <a:ext cx="10728655" cy="430887"/>
          </a:xfrm>
          <a:prstGeom prst="rect">
            <a:avLst/>
          </a:prstGeom>
          <a:noFill/>
        </p:spPr>
        <p:txBody>
          <a:bodyPr wrap="square" lIns="0" tIns="0" rIns="0" bIns="0">
            <a:spAutoFit/>
          </a:bodyPr>
          <a:lstStyle/>
          <a:p>
            <a:pPr algn="ctr"/>
            <a:r>
              <a:rPr sz="2800" b="0" i="0">
                <a:solidFill>
                  <a:srgbClr val="1A2E22"/>
                </a:solidFill>
                <a:latin typeface="DM Sans"/>
              </a:rPr>
              <a:t>Sino sa Box 4 ang naabot mo o pinanalanginan mo?</a:t>
            </a:r>
          </a:p>
        </p:txBody>
      </p:sp>
      <p:sp>
        <p:nvSpPr>
          <p:cNvPr id="7" name="TextBox 6"/>
          <p:cNvSpPr txBox="1"/>
          <p:nvPr/>
        </p:nvSpPr>
        <p:spPr>
          <a:xfrm>
            <a:off x="731520" y="3200400"/>
            <a:ext cx="10728655" cy="615553"/>
          </a:xfrm>
          <a:prstGeom prst="rect">
            <a:avLst/>
          </a:prstGeom>
          <a:noFill/>
        </p:spPr>
        <p:txBody>
          <a:bodyPr wrap="square" lIns="0" tIns="0" rIns="0" bIns="0">
            <a:spAutoFit/>
          </a:bodyPr>
          <a:lstStyle/>
          <a:p>
            <a:pPr algn="ctr"/>
            <a:r>
              <a:rPr sz="4000" b="1" i="1" dirty="0">
                <a:solidFill>
                  <a:srgbClr val="1F4530"/>
                </a:solidFill>
                <a:latin typeface="Playfair Display"/>
              </a:rPr>
              <a:t>1—10 Sunday Attendance S</a:t>
            </a:r>
            <a:r>
              <a:rPr lang="en-US" sz="4000" b="1" i="1" dirty="0">
                <a:solidFill>
                  <a:srgbClr val="1F4530"/>
                </a:solidFill>
                <a:latin typeface="Playfair Display"/>
              </a:rPr>
              <a:t>core</a:t>
            </a:r>
            <a:endParaRPr sz="4000" b="1" i="1" dirty="0">
              <a:solidFill>
                <a:srgbClr val="1F4530"/>
              </a:solidFill>
              <a:latin typeface="Playfair Display"/>
            </a:endParaRPr>
          </a:p>
        </p:txBody>
      </p:sp>
      <p:sp>
        <p:nvSpPr>
          <p:cNvPr id="8" name="TextBox 7"/>
          <p:cNvSpPr txBox="1"/>
          <p:nvPr/>
        </p:nvSpPr>
        <p:spPr>
          <a:xfrm>
            <a:off x="731520" y="4023360"/>
            <a:ext cx="10728655" cy="276999"/>
          </a:xfrm>
          <a:prstGeom prst="rect">
            <a:avLst/>
          </a:prstGeom>
          <a:noFill/>
        </p:spPr>
        <p:txBody>
          <a:bodyPr wrap="square" lIns="0" tIns="0" rIns="0" bIns="0">
            <a:spAutoFit/>
          </a:bodyPr>
          <a:lstStyle/>
          <a:p>
            <a:pPr algn="ctr"/>
            <a:r>
              <a:rPr b="0" i="1">
                <a:solidFill>
                  <a:srgbClr val="1A2E22"/>
                </a:solidFill>
                <a:latin typeface="DM Sans"/>
              </a:rPr>
              <a:t>(8 linggo · sariling assessment · hindi shi-share ngayon)</a:t>
            </a:r>
          </a:p>
        </p:txBody>
      </p:sp>
      <p:sp>
        <p:nvSpPr>
          <p:cNvPr id="9" name="TextBox 8"/>
          <p:cNvSpPr txBox="1"/>
          <p:nvPr/>
        </p:nvSpPr>
        <p:spPr>
          <a:xfrm>
            <a:off x="11660963" y="6400800"/>
            <a:ext cx="347852" cy="261610"/>
          </a:xfrm>
          <a:prstGeom prst="rect">
            <a:avLst/>
          </a:prstGeom>
          <a:noFill/>
        </p:spPr>
        <p:txBody>
          <a:bodyPr wrap="none" lIns="0" rIns="0">
            <a:spAutoFit/>
          </a:bodyPr>
          <a:lstStyle/>
          <a:p>
            <a:pPr algn="r"/>
            <a:r>
              <a:rPr sz="1100" b="1">
                <a:solidFill>
                  <a:srgbClr val="1A2E22"/>
                </a:solidFill>
                <a:latin typeface="DM Sans"/>
              </a:rPr>
              <a:t>3 / 29</a:t>
            </a:r>
          </a:p>
        </p:txBody>
      </p:sp>
      <p:sp>
        <p:nvSpPr>
          <p:cNvPr id="10" name="Rounded Rectangle 9"/>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⌛00:02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2A5C40"/>
                </a:solidFill>
                <a:latin typeface="DM Sans"/>
              </a:rPr>
              <a:t>PUKAW · ACTIVITY</a:t>
            </a:r>
          </a:p>
        </p:txBody>
      </p:sp>
      <p:sp>
        <p:nvSpPr>
          <p:cNvPr id="4" name="TextBox 3"/>
          <p:cNvSpPr txBox="1"/>
          <p:nvPr/>
        </p:nvSpPr>
        <p:spPr>
          <a:xfrm>
            <a:off x="731520" y="1143000"/>
            <a:ext cx="10728655" cy="830997"/>
          </a:xfrm>
          <a:prstGeom prst="rect">
            <a:avLst/>
          </a:prstGeom>
          <a:noFill/>
        </p:spPr>
        <p:txBody>
          <a:bodyPr wrap="square" lIns="0" tIns="0" rIns="0" bIns="0">
            <a:spAutoFit/>
          </a:bodyPr>
          <a:lstStyle/>
          <a:p>
            <a:pPr algn="ctr"/>
            <a:r>
              <a:rPr sz="5400" b="1" i="0">
                <a:solidFill>
                  <a:srgbClr val="1A2E22"/>
                </a:solidFill>
                <a:latin typeface="Playfair Display"/>
              </a:rPr>
              <a:t>Alin ang nasa puso mo?</a:t>
            </a:r>
          </a:p>
        </p:txBody>
      </p:sp>
      <p:sp>
        <p:nvSpPr>
          <p:cNvPr id="5" name="TextBox 4"/>
          <p:cNvSpPr txBox="1"/>
          <p:nvPr/>
        </p:nvSpPr>
        <p:spPr>
          <a:xfrm>
            <a:off x="731520" y="2240280"/>
            <a:ext cx="10728655" cy="369332"/>
          </a:xfrm>
          <a:prstGeom prst="rect">
            <a:avLst/>
          </a:prstGeom>
          <a:noFill/>
        </p:spPr>
        <p:txBody>
          <a:bodyPr wrap="square" lIns="0" tIns="0" rIns="0" bIns="0">
            <a:spAutoFit/>
          </a:bodyPr>
          <a:lstStyle/>
          <a:p>
            <a:pPr algn="ctr"/>
            <a:r>
              <a:rPr sz="2400" b="0" i="1">
                <a:solidFill>
                  <a:srgbClr val="1A2E22"/>
                </a:solidFill>
                <a:latin typeface="DM Sans"/>
              </a:rPr>
              <a:t>Anong "church" image ang pinakamalapit sa'yo?</a:t>
            </a:r>
          </a:p>
        </p:txBody>
      </p:sp>
      <p:sp>
        <p:nvSpPr>
          <p:cNvPr id="6" name="Rounded Rectangle 5"/>
          <p:cNvSpPr/>
          <p:nvPr/>
        </p:nvSpPr>
        <p:spPr>
          <a:xfrm>
            <a:off x="731520" y="2697480"/>
            <a:ext cx="5181447" cy="1005840"/>
          </a:xfrm>
          <a:prstGeom prst="roundRect">
            <a:avLst/>
          </a:prstGeom>
          <a:solidFill>
            <a:srgbClr val="FDFBF6"/>
          </a:solidFill>
          <a:ln w="19050">
            <a:solidFill>
              <a:srgbClr val="1F4530"/>
            </a:solid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3200" b="1">
                <a:solidFill>
                  <a:srgbClr val="1F4530"/>
                </a:solidFill>
                <a:latin typeface="DM Sans"/>
              </a:rPr>
              <a:t>⛪ Place of Gathering</a:t>
            </a:r>
          </a:p>
          <a:p>
            <a:pPr algn="ctr"/>
            <a:r>
              <a:rPr i="1">
                <a:solidFill>
                  <a:srgbClr val="6B6253"/>
                </a:solidFill>
                <a:latin typeface="DM Sans"/>
              </a:rPr>
              <a:t>para sa mga banal</a:t>
            </a:r>
          </a:p>
        </p:txBody>
      </p:sp>
      <p:sp>
        <p:nvSpPr>
          <p:cNvPr id="7" name="Rounded Rectangle 6"/>
          <p:cNvSpPr/>
          <p:nvPr/>
        </p:nvSpPr>
        <p:spPr>
          <a:xfrm>
            <a:off x="6278727" y="2697480"/>
            <a:ext cx="5181447" cy="1005840"/>
          </a:xfrm>
          <a:prstGeom prst="roundRect">
            <a:avLst/>
          </a:prstGeom>
          <a:solidFill>
            <a:srgbClr val="FDFBF6"/>
          </a:solidFill>
          <a:ln w="19050">
            <a:solidFill>
              <a:srgbClr val="1F4530"/>
            </a:solid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3200" b="1">
                <a:solidFill>
                  <a:srgbClr val="1F4530"/>
                </a:solidFill>
                <a:latin typeface="DM Sans"/>
              </a:rPr>
              <a:t>🏥 Spiritual Hospital</a:t>
            </a:r>
          </a:p>
          <a:p>
            <a:pPr algn="ctr"/>
            <a:r>
              <a:rPr i="1">
                <a:solidFill>
                  <a:srgbClr val="6B6253"/>
                </a:solidFill>
                <a:latin typeface="DM Sans"/>
              </a:rPr>
              <a:t>para sa mga sugatang kaluluwa</a:t>
            </a:r>
          </a:p>
        </p:txBody>
      </p:sp>
      <p:sp>
        <p:nvSpPr>
          <p:cNvPr id="8" name="Rounded Rectangle 7"/>
          <p:cNvSpPr/>
          <p:nvPr/>
        </p:nvSpPr>
        <p:spPr>
          <a:xfrm>
            <a:off x="731520" y="3931920"/>
            <a:ext cx="5181447" cy="1005840"/>
          </a:xfrm>
          <a:prstGeom prst="roundRect">
            <a:avLst/>
          </a:prstGeom>
          <a:solidFill>
            <a:srgbClr val="FDFBF6"/>
          </a:solidFill>
          <a:ln w="19050">
            <a:solidFill>
              <a:srgbClr val="1F4530"/>
            </a:solid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3200" b="1">
                <a:solidFill>
                  <a:srgbClr val="1F4530"/>
                </a:solidFill>
                <a:latin typeface="DM Sans"/>
              </a:rPr>
              <a:t>🛒 Spiritual Grocery</a:t>
            </a:r>
          </a:p>
          <a:p>
            <a:pPr algn="ctr"/>
            <a:r>
              <a:rPr i="1">
                <a:solidFill>
                  <a:srgbClr val="6B6253"/>
                </a:solidFill>
                <a:latin typeface="DM Sans"/>
              </a:rPr>
              <a:t>para sa spiritual needs</a:t>
            </a:r>
          </a:p>
        </p:txBody>
      </p:sp>
      <p:sp>
        <p:nvSpPr>
          <p:cNvPr id="9" name="Rounded Rectangle 8"/>
          <p:cNvSpPr/>
          <p:nvPr/>
        </p:nvSpPr>
        <p:spPr>
          <a:xfrm>
            <a:off x="6278727" y="3931920"/>
            <a:ext cx="5181447" cy="1005840"/>
          </a:xfrm>
          <a:prstGeom prst="roundRect">
            <a:avLst/>
          </a:prstGeom>
          <a:solidFill>
            <a:srgbClr val="FDFBF6"/>
          </a:solidFill>
          <a:ln w="19050">
            <a:solidFill>
              <a:srgbClr val="1F4530"/>
            </a:solid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3200" b="1">
                <a:solidFill>
                  <a:srgbClr val="1F4530"/>
                </a:solidFill>
                <a:latin typeface="DM Sans"/>
              </a:rPr>
              <a:t>✎ Iba pa</a:t>
            </a:r>
          </a:p>
          <a:p>
            <a:pPr algn="ctr"/>
            <a:r>
              <a:rPr i="1">
                <a:solidFill>
                  <a:srgbClr val="6B6253"/>
                </a:solidFill>
                <a:latin typeface="DM Sans"/>
              </a:rPr>
              <a:t>isulat o iguhit</a:t>
            </a:r>
          </a:p>
        </p:txBody>
      </p:sp>
      <p:sp>
        <p:nvSpPr>
          <p:cNvPr id="10" name="TextBox 9"/>
          <p:cNvSpPr txBox="1"/>
          <p:nvPr/>
        </p:nvSpPr>
        <p:spPr>
          <a:xfrm>
            <a:off x="11620887" y="6400800"/>
            <a:ext cx="387928" cy="276999"/>
          </a:xfrm>
          <a:prstGeom prst="rect">
            <a:avLst/>
          </a:prstGeom>
          <a:noFill/>
        </p:spPr>
        <p:txBody>
          <a:bodyPr wrap="none" lIns="0" rIns="0">
            <a:spAutoFit/>
          </a:bodyPr>
          <a:lstStyle/>
          <a:p>
            <a:pPr algn="r"/>
            <a:r>
              <a:rPr sz="1200" b="1">
                <a:solidFill>
                  <a:srgbClr val="1A2E22"/>
                </a:solidFill>
                <a:latin typeface="DM Sans"/>
              </a:rPr>
              <a:t>6 / 29</a:t>
            </a:r>
          </a:p>
        </p:txBody>
      </p:sp>
      <p:sp>
        <p:nvSpPr>
          <p:cNvPr id="11" name="Rounded Rectangle 10"/>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2 min · ⌛00:06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4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D4A854"/>
                </a:solidFill>
                <a:latin typeface="DM Sans"/>
              </a:rPr>
              <a:t>TUKLAS · BIG IDEA</a:t>
            </a:r>
          </a:p>
        </p:txBody>
      </p:sp>
      <p:sp>
        <p:nvSpPr>
          <p:cNvPr id="4" name="TextBox 3"/>
          <p:cNvSpPr txBox="1"/>
          <p:nvPr/>
        </p:nvSpPr>
        <p:spPr>
          <a:xfrm>
            <a:off x="731520" y="1143000"/>
            <a:ext cx="10728655" cy="830997"/>
          </a:xfrm>
          <a:prstGeom prst="rect">
            <a:avLst/>
          </a:prstGeom>
          <a:noFill/>
        </p:spPr>
        <p:txBody>
          <a:bodyPr wrap="square" lIns="0" tIns="0" rIns="0" bIns="0">
            <a:spAutoFit/>
          </a:bodyPr>
          <a:lstStyle/>
          <a:p>
            <a:pPr algn="ctr"/>
            <a:r>
              <a:rPr sz="5400" b="1" i="0">
                <a:solidFill>
                  <a:srgbClr val="FDFBF6"/>
                </a:solidFill>
                <a:latin typeface="Playfair Display"/>
              </a:rPr>
              <a:t>Ang Big Idea</a:t>
            </a:r>
          </a:p>
        </p:txBody>
      </p:sp>
      <p:sp>
        <p:nvSpPr>
          <p:cNvPr id="5" name="TextBox 4"/>
          <p:cNvSpPr txBox="1"/>
          <p:nvPr/>
        </p:nvSpPr>
        <p:spPr>
          <a:xfrm>
            <a:off x="731520" y="2240280"/>
            <a:ext cx="10728655" cy="2708434"/>
          </a:xfrm>
          <a:prstGeom prst="rect">
            <a:avLst/>
          </a:prstGeom>
          <a:noFill/>
        </p:spPr>
        <p:txBody>
          <a:bodyPr wrap="square" lIns="0" tIns="0" rIns="0" bIns="0">
            <a:spAutoFit/>
          </a:bodyPr>
          <a:lstStyle/>
          <a:p>
            <a:pPr algn="ctr"/>
            <a:r>
              <a:rPr sz="4400" b="1" i="1">
                <a:solidFill>
                  <a:srgbClr val="D4A854"/>
                </a:solidFill>
                <a:latin typeface="Playfair Display"/>
              </a:rPr>
              <a:t>Ang sama-samang pagsamba ay magkasabay na pangangailangan at pananagutan ng isang tunay na mananampalataya.</a:t>
            </a:r>
          </a:p>
        </p:txBody>
      </p:sp>
      <p:sp>
        <p:nvSpPr>
          <p:cNvPr id="6" name="TextBox 5"/>
          <p:cNvSpPr txBox="1"/>
          <p:nvPr/>
        </p:nvSpPr>
        <p:spPr>
          <a:xfrm>
            <a:off x="11624094" y="6400800"/>
            <a:ext cx="384721" cy="276999"/>
          </a:xfrm>
          <a:prstGeom prst="rect">
            <a:avLst/>
          </a:prstGeom>
          <a:noFill/>
        </p:spPr>
        <p:txBody>
          <a:bodyPr wrap="none" lIns="0" rIns="0">
            <a:spAutoFit/>
          </a:bodyPr>
          <a:lstStyle/>
          <a:p>
            <a:pPr algn="r"/>
            <a:r>
              <a:rPr sz="1200" b="1">
                <a:solidFill>
                  <a:srgbClr val="FDFBF6"/>
                </a:solidFill>
                <a:latin typeface="DM Sans"/>
              </a:rPr>
              <a:t>8 / 29</a:t>
            </a:r>
          </a:p>
        </p:txBody>
      </p:sp>
      <p:sp>
        <p:nvSpPr>
          <p:cNvPr id="7" name="Rounded Rectangle 6"/>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2 min · ⌛00:10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499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2A5C40"/>
                </a:solidFill>
                <a:latin typeface="DM Sans"/>
              </a:rPr>
              <a:t>TUKLAS · COLD OPEN</a:t>
            </a:r>
          </a:p>
        </p:txBody>
      </p:sp>
      <p:sp>
        <p:nvSpPr>
          <p:cNvPr id="4" name="TextBox 3"/>
          <p:cNvSpPr txBox="1"/>
          <p:nvPr/>
        </p:nvSpPr>
        <p:spPr>
          <a:xfrm>
            <a:off x="731519" y="2382481"/>
            <a:ext cx="10728655" cy="830997"/>
          </a:xfrm>
          <a:prstGeom prst="rect">
            <a:avLst/>
          </a:prstGeom>
          <a:noFill/>
        </p:spPr>
        <p:txBody>
          <a:bodyPr wrap="square" lIns="0" tIns="0" rIns="0" bIns="0">
            <a:spAutoFit/>
          </a:bodyPr>
          <a:lstStyle/>
          <a:p>
            <a:pPr algn="ctr"/>
            <a:r>
              <a:rPr lang="en-US" sz="5400" b="1" i="0" dirty="0" err="1">
                <a:solidFill>
                  <a:srgbClr val="1A2E22"/>
                </a:solidFill>
                <a:latin typeface="Playfair Display"/>
              </a:rPr>
              <a:t>Kuwentong</a:t>
            </a:r>
            <a:r>
              <a:rPr lang="en-US" sz="5400" b="1" i="0" dirty="0">
                <a:solidFill>
                  <a:srgbClr val="1A2E22"/>
                </a:solidFill>
                <a:latin typeface="Playfair Display"/>
              </a:rPr>
              <a:t> </a:t>
            </a:r>
            <a:r>
              <a:rPr sz="5400" b="1" i="0" dirty="0">
                <a:solidFill>
                  <a:srgbClr val="1A2E22"/>
                </a:solidFill>
                <a:latin typeface="Playfair Display"/>
              </a:rPr>
              <a:t>Pang-CAT…</a:t>
            </a:r>
          </a:p>
        </p:txBody>
      </p:sp>
      <p:sp>
        <p:nvSpPr>
          <p:cNvPr id="7" name="TextBox 6"/>
          <p:cNvSpPr txBox="1"/>
          <p:nvPr/>
        </p:nvSpPr>
        <p:spPr>
          <a:xfrm>
            <a:off x="731520" y="4500795"/>
            <a:ext cx="10728655" cy="1354217"/>
          </a:xfrm>
          <a:prstGeom prst="rect">
            <a:avLst/>
          </a:prstGeom>
          <a:noFill/>
        </p:spPr>
        <p:txBody>
          <a:bodyPr wrap="square" lIns="0" tIns="0" rIns="0" bIns="0">
            <a:spAutoFit/>
          </a:bodyPr>
          <a:lstStyle/>
          <a:p>
            <a:pPr algn="ctr"/>
            <a:r>
              <a:rPr sz="4400" b="1" i="1" dirty="0" err="1">
                <a:solidFill>
                  <a:srgbClr val="1F4530"/>
                </a:solidFill>
                <a:latin typeface="Playfair Display"/>
              </a:rPr>
              <a:t>Nakakatawa</a:t>
            </a:r>
            <a:r>
              <a:rPr sz="4400" b="1" i="1" dirty="0">
                <a:solidFill>
                  <a:srgbClr val="1F4530"/>
                </a:solidFill>
                <a:latin typeface="Playfair Display"/>
              </a:rPr>
              <a:t> — </a:t>
            </a:r>
            <a:r>
              <a:rPr sz="4400" b="1" i="1" dirty="0" err="1">
                <a:solidFill>
                  <a:srgbClr val="1F4530"/>
                </a:solidFill>
                <a:latin typeface="Playfair Display"/>
              </a:rPr>
              <a:t>pero</a:t>
            </a:r>
            <a:r>
              <a:rPr sz="4400" b="1" i="1" dirty="0">
                <a:solidFill>
                  <a:srgbClr val="1F4530"/>
                </a:solidFill>
                <a:latin typeface="Playfair Display"/>
              </a:rPr>
              <a:t> may </a:t>
            </a:r>
            <a:r>
              <a:rPr sz="4400" b="1" i="1" dirty="0" err="1">
                <a:solidFill>
                  <a:srgbClr val="1F4530"/>
                </a:solidFill>
                <a:latin typeface="Playfair Display"/>
              </a:rPr>
              <a:t>kurot</a:t>
            </a:r>
            <a:r>
              <a:rPr sz="4400" b="1" i="1" dirty="0">
                <a:solidFill>
                  <a:srgbClr val="1F4530"/>
                </a:solidFill>
                <a:latin typeface="Playfair Display"/>
              </a:rPr>
              <a:t> ng </a:t>
            </a:r>
            <a:r>
              <a:rPr sz="4400" b="1" i="1" dirty="0" err="1">
                <a:solidFill>
                  <a:srgbClr val="1F4530"/>
                </a:solidFill>
                <a:latin typeface="Playfair Display"/>
              </a:rPr>
              <a:t>katotohanan</a:t>
            </a:r>
            <a:r>
              <a:rPr sz="4400" b="1" i="1" dirty="0">
                <a:solidFill>
                  <a:srgbClr val="1F4530"/>
                </a:solidFill>
                <a:latin typeface="Playfair Display"/>
              </a:rPr>
              <a:t>.</a:t>
            </a:r>
          </a:p>
        </p:txBody>
      </p:sp>
      <p:sp>
        <p:nvSpPr>
          <p:cNvPr id="8" name="TextBox 7"/>
          <p:cNvSpPr txBox="1"/>
          <p:nvPr/>
        </p:nvSpPr>
        <p:spPr>
          <a:xfrm>
            <a:off x="11622491" y="6400800"/>
            <a:ext cx="386324" cy="276999"/>
          </a:xfrm>
          <a:prstGeom prst="rect">
            <a:avLst/>
          </a:prstGeom>
          <a:noFill/>
        </p:spPr>
        <p:txBody>
          <a:bodyPr wrap="none" lIns="0" rIns="0">
            <a:spAutoFit/>
          </a:bodyPr>
          <a:lstStyle/>
          <a:p>
            <a:pPr algn="r"/>
            <a:r>
              <a:rPr sz="1200" b="1">
                <a:solidFill>
                  <a:srgbClr val="1A2E22"/>
                </a:solidFill>
                <a:latin typeface="DM Sans"/>
              </a:rPr>
              <a:t>9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⌛00:11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D07580-A623-FE22-5EEC-58D06CE633E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A199175-25A1-B986-586B-4550A82E46E9}"/>
              </a:ext>
            </a:extLst>
          </p:cNvPr>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a:extLst>
              <a:ext uri="{FF2B5EF4-FFF2-40B4-BE49-F238E27FC236}">
                <a16:creationId xmlns:a16="http://schemas.microsoft.com/office/drawing/2014/main" id="{7F37E781-725D-DFFF-4AD9-8DD868E9A120}"/>
              </a:ext>
            </a:extLst>
          </p:cNvPr>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b="1">
                <a:solidFill>
                  <a:srgbClr val="2A5C40"/>
                </a:solidFill>
                <a:latin typeface="DM Sans"/>
              </a:rPr>
              <a:t>MEMORY VERSE</a:t>
            </a:r>
          </a:p>
        </p:txBody>
      </p:sp>
      <p:sp>
        <p:nvSpPr>
          <p:cNvPr id="4" name="TextBox 3">
            <a:extLst>
              <a:ext uri="{FF2B5EF4-FFF2-40B4-BE49-F238E27FC236}">
                <a16:creationId xmlns:a16="http://schemas.microsoft.com/office/drawing/2014/main" id="{CA7B302D-45F5-BD97-41D2-0FA78EED3B87}"/>
              </a:ext>
            </a:extLst>
          </p:cNvPr>
          <p:cNvSpPr txBox="1"/>
          <p:nvPr/>
        </p:nvSpPr>
        <p:spPr>
          <a:xfrm>
            <a:off x="731520" y="1143000"/>
            <a:ext cx="10728655" cy="1005840"/>
          </a:xfrm>
          <a:prstGeom prst="rect">
            <a:avLst/>
          </a:prstGeom>
          <a:noFill/>
        </p:spPr>
        <p:txBody>
          <a:bodyPr wrap="square" lIns="0" tIns="0" rIns="0" bIns="0">
            <a:spAutoFit/>
          </a:bodyPr>
          <a:lstStyle/>
          <a:p>
            <a:pPr algn="ctr"/>
            <a:r>
              <a:rPr sz="3600" b="1" i="0">
                <a:solidFill>
                  <a:srgbClr val="1A2E22"/>
                </a:solidFill>
                <a:latin typeface="Playfair Display"/>
              </a:rPr>
              <a:t>Hebreo 10:25</a:t>
            </a:r>
          </a:p>
        </p:txBody>
      </p:sp>
      <p:sp>
        <p:nvSpPr>
          <p:cNvPr id="5" name="Rounded Rectangle 4">
            <a:extLst>
              <a:ext uri="{FF2B5EF4-FFF2-40B4-BE49-F238E27FC236}">
                <a16:creationId xmlns:a16="http://schemas.microsoft.com/office/drawing/2014/main" id="{BEAF2178-4D6C-B1E7-0138-6D19F14DD766}"/>
              </a:ext>
            </a:extLst>
          </p:cNvPr>
          <p:cNvSpPr/>
          <p:nvPr/>
        </p:nvSpPr>
        <p:spPr>
          <a:xfrm>
            <a:off x="1371600" y="2240280"/>
            <a:ext cx="9448495" cy="2011680"/>
          </a:xfrm>
          <a:prstGeom prst="roundRect">
            <a:avLst/>
          </a:prstGeom>
          <a:solidFill>
            <a:srgbClr val="F6F2E7"/>
          </a:solidFill>
          <a:ln w="25400">
            <a:solidFill>
              <a:srgbClr val="B8882A"/>
            </a:solidFill>
          </a:ln>
        </p:spPr>
        <p:style>
          <a:lnRef idx="1">
            <a:schemeClr val="accent1"/>
          </a:lnRef>
          <a:fillRef idx="3">
            <a:schemeClr val="accent1"/>
          </a:fillRef>
          <a:effectRef idx="2">
            <a:schemeClr val="accent1"/>
          </a:effectRef>
          <a:fontRef idx="minor">
            <a:schemeClr val="lt1"/>
          </a:fontRef>
        </p:style>
        <p:txBody>
          <a:bodyPr wrap="square" lIns="320040" tIns="228600" rIns="320040" bIns="228600" rtlCol="0" anchor="ctr"/>
          <a:lstStyle/>
          <a:p>
            <a:pPr algn="l"/>
            <a:r>
              <a:rPr sz="2800" i="1">
                <a:solidFill>
                  <a:srgbClr val="1A2E22"/>
                </a:solidFill>
                <a:latin typeface="Playfair Display"/>
              </a:rPr>
              <a:t>"Huwag nating kaliligtaan ang pagdalo sa ating mga pagtitipon, gaya ng nakasanayan ng iba. Sa halip, palakasin natin ang loob ng isa't isa, lalo na ngayong nakikita nating malapit na ang Araw ng Panginoon."</a:t>
            </a:r>
          </a:p>
        </p:txBody>
      </p:sp>
      <p:sp>
        <p:nvSpPr>
          <p:cNvPr id="6" name="TextBox 5">
            <a:extLst>
              <a:ext uri="{FF2B5EF4-FFF2-40B4-BE49-F238E27FC236}">
                <a16:creationId xmlns:a16="http://schemas.microsoft.com/office/drawing/2014/main" id="{F60F4B26-5731-719C-3496-851CB45BA779}"/>
              </a:ext>
            </a:extLst>
          </p:cNvPr>
          <p:cNvSpPr txBox="1"/>
          <p:nvPr/>
        </p:nvSpPr>
        <p:spPr>
          <a:xfrm>
            <a:off x="11632109" y="6400800"/>
            <a:ext cx="376706" cy="276999"/>
          </a:xfrm>
          <a:prstGeom prst="rect">
            <a:avLst/>
          </a:prstGeom>
          <a:noFill/>
        </p:spPr>
        <p:txBody>
          <a:bodyPr wrap="none" lIns="0" rIns="0">
            <a:spAutoFit/>
          </a:bodyPr>
          <a:lstStyle/>
          <a:p>
            <a:pPr algn="r"/>
            <a:r>
              <a:rPr sz="1200" b="1">
                <a:solidFill>
                  <a:srgbClr val="1A2E22"/>
                </a:solidFill>
                <a:latin typeface="DM Sans"/>
              </a:rPr>
              <a:t>11 / 29</a:t>
            </a:r>
          </a:p>
        </p:txBody>
      </p:sp>
      <p:sp>
        <p:nvSpPr>
          <p:cNvPr id="7" name="Rounded Rectangle 6"/>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⌛00:13</a:t>
            </a:r>
          </a:p>
        </p:txBody>
      </p:sp>
    </p:spTree>
    <p:extLst>
      <p:ext uri="{BB962C8B-B14F-4D97-AF65-F5344CB8AC3E}">
        <p14:creationId xmlns:p14="http://schemas.microsoft.com/office/powerpoint/2010/main" val="1292467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2A5C40"/>
                </a:solidFill>
                <a:latin typeface="DM Sans"/>
              </a:rPr>
              <a:t>TUKLAS · APAT NA P</a:t>
            </a:r>
          </a:p>
        </p:txBody>
      </p:sp>
      <p:sp>
        <p:nvSpPr>
          <p:cNvPr id="4" name="TextBox 3"/>
          <p:cNvSpPr txBox="1"/>
          <p:nvPr/>
        </p:nvSpPr>
        <p:spPr>
          <a:xfrm>
            <a:off x="731520" y="1143000"/>
            <a:ext cx="10728655" cy="830997"/>
          </a:xfrm>
          <a:prstGeom prst="rect">
            <a:avLst/>
          </a:prstGeom>
          <a:noFill/>
        </p:spPr>
        <p:txBody>
          <a:bodyPr wrap="square" lIns="0" tIns="0" rIns="0" bIns="0">
            <a:spAutoFit/>
          </a:bodyPr>
          <a:lstStyle/>
          <a:p>
            <a:pPr algn="ctr"/>
            <a:r>
              <a:rPr sz="5400" b="1" i="0">
                <a:solidFill>
                  <a:srgbClr val="1A2E22"/>
                </a:solidFill>
                <a:latin typeface="Playfair Display"/>
              </a:rPr>
              <a:t>Hebreo 10:25 — Apat na P</a:t>
            </a:r>
          </a:p>
        </p:txBody>
      </p:sp>
      <p:sp>
        <p:nvSpPr>
          <p:cNvPr id="5" name="TextBox 4"/>
          <p:cNvSpPr txBox="1"/>
          <p:nvPr/>
        </p:nvSpPr>
        <p:spPr>
          <a:xfrm>
            <a:off x="731520" y="2240280"/>
            <a:ext cx="10728655" cy="369332"/>
          </a:xfrm>
          <a:prstGeom prst="rect">
            <a:avLst/>
          </a:prstGeom>
          <a:noFill/>
        </p:spPr>
        <p:txBody>
          <a:bodyPr wrap="square" lIns="0" tIns="0" rIns="0" bIns="0">
            <a:spAutoFit/>
          </a:bodyPr>
          <a:lstStyle/>
          <a:p>
            <a:pPr algn="ctr"/>
            <a:r>
              <a:rPr sz="2400" b="0" i="1">
                <a:solidFill>
                  <a:srgbClr val="1A2E22"/>
                </a:solidFill>
                <a:latin typeface="DM Sans"/>
              </a:rPr>
              <a:t>Apat na utos sa isang verse.</a:t>
            </a:r>
          </a:p>
        </p:txBody>
      </p:sp>
      <p:sp>
        <p:nvSpPr>
          <p:cNvPr id="6" name="Rounded Rectangle 5"/>
          <p:cNvSpPr/>
          <p:nvPr/>
        </p:nvSpPr>
        <p:spPr>
          <a:xfrm>
            <a:off x="731520" y="2697480"/>
            <a:ext cx="5181447" cy="960120"/>
          </a:xfrm>
          <a:prstGeom prst="roundRect">
            <a:avLst/>
          </a:prstGeom>
          <a:solidFill>
            <a:srgbClr val="B8882A"/>
          </a:solidFill>
          <a:ln w="19050">
            <a:solidFill>
              <a:srgbClr val="B8882A"/>
            </a:solidFill>
          </a:ln>
        </p:spPr>
        <p:style>
          <a:lnRef idx="1">
            <a:schemeClr val="accent1"/>
          </a:lnRef>
          <a:fillRef idx="3">
            <a:schemeClr val="accent1"/>
          </a:fillRef>
          <a:effectRef idx="2">
            <a:schemeClr val="accent1"/>
          </a:effectRef>
          <a:fontRef idx="minor">
            <a:schemeClr val="lt1"/>
          </a:fontRef>
        </p:style>
        <p:txBody>
          <a:bodyPr wrap="square" lIns="182880" tIns="91440" rIns="182880" bIns="91440" rtlCol="0" anchor="ctr"/>
          <a:lstStyle/>
          <a:p>
            <a:pPr algn="l"/>
            <a:r>
              <a:rPr sz="3200" b="1">
                <a:solidFill>
                  <a:srgbClr val="1F4530"/>
                </a:solidFill>
                <a:latin typeface="Playfair Display"/>
              </a:rPr>
              <a:t>P. Pananagutan</a:t>
            </a:r>
          </a:p>
          <a:p>
            <a:pPr algn="l"/>
            <a:r>
              <a:rPr sz="2000" i="1">
                <a:solidFill>
                  <a:srgbClr val="6B6253"/>
                </a:solidFill>
                <a:latin typeface="DM Sans"/>
              </a:rPr>
              <a:t>"Huwag nating kaliligtaan..."</a:t>
            </a:r>
          </a:p>
        </p:txBody>
      </p:sp>
      <p:sp>
        <p:nvSpPr>
          <p:cNvPr id="7" name="Rounded Rectangle 6"/>
          <p:cNvSpPr/>
          <p:nvPr/>
        </p:nvSpPr>
        <p:spPr>
          <a:xfrm>
            <a:off x="6278727" y="2697480"/>
            <a:ext cx="5181447" cy="960120"/>
          </a:xfrm>
          <a:prstGeom prst="roundRect">
            <a:avLst/>
          </a:prstGeom>
          <a:solidFill>
            <a:srgbClr val="B8882A"/>
          </a:solidFill>
          <a:ln w="19050">
            <a:solidFill>
              <a:srgbClr val="B8882A"/>
            </a:solidFill>
          </a:ln>
        </p:spPr>
        <p:style>
          <a:lnRef idx="1">
            <a:schemeClr val="accent1"/>
          </a:lnRef>
          <a:fillRef idx="3">
            <a:schemeClr val="accent1"/>
          </a:fillRef>
          <a:effectRef idx="2">
            <a:schemeClr val="accent1"/>
          </a:effectRef>
          <a:fontRef idx="minor">
            <a:schemeClr val="lt1"/>
          </a:fontRef>
        </p:style>
        <p:txBody>
          <a:bodyPr wrap="square" lIns="182880" tIns="91440" rIns="182880" bIns="91440" rtlCol="0" anchor="ctr"/>
          <a:lstStyle/>
          <a:p>
            <a:pPr algn="l"/>
            <a:r>
              <a:rPr sz="3200" b="1">
                <a:solidFill>
                  <a:srgbClr val="1F4530"/>
                </a:solidFill>
                <a:latin typeface="Playfair Display"/>
              </a:rPr>
              <a:t>P. Palusot</a:t>
            </a:r>
          </a:p>
          <a:p>
            <a:pPr algn="l"/>
            <a:r>
              <a:rPr sz="2000" i="1">
                <a:solidFill>
                  <a:srgbClr val="6B6253"/>
                </a:solidFill>
                <a:latin typeface="DM Sans"/>
              </a:rPr>
              <a:t>"...gaya ng nakasanayan ng iba..."</a:t>
            </a:r>
          </a:p>
        </p:txBody>
      </p:sp>
      <p:sp>
        <p:nvSpPr>
          <p:cNvPr id="8" name="Rounded Rectangle 7"/>
          <p:cNvSpPr/>
          <p:nvPr/>
        </p:nvSpPr>
        <p:spPr>
          <a:xfrm>
            <a:off x="731520" y="3886200"/>
            <a:ext cx="5181447" cy="960120"/>
          </a:xfrm>
          <a:prstGeom prst="roundRect">
            <a:avLst/>
          </a:prstGeom>
          <a:solidFill>
            <a:srgbClr val="B8882A"/>
          </a:solidFill>
          <a:ln w="19050">
            <a:solidFill>
              <a:srgbClr val="B8882A"/>
            </a:solidFill>
          </a:ln>
        </p:spPr>
        <p:style>
          <a:lnRef idx="1">
            <a:schemeClr val="accent1"/>
          </a:lnRef>
          <a:fillRef idx="3">
            <a:schemeClr val="accent1"/>
          </a:fillRef>
          <a:effectRef idx="2">
            <a:schemeClr val="accent1"/>
          </a:effectRef>
          <a:fontRef idx="minor">
            <a:schemeClr val="lt1"/>
          </a:fontRef>
        </p:style>
        <p:txBody>
          <a:bodyPr wrap="square" lIns="182880" tIns="91440" rIns="182880" bIns="91440" rtlCol="0" anchor="ctr"/>
          <a:lstStyle/>
          <a:p>
            <a:pPr algn="l"/>
            <a:r>
              <a:rPr sz="3200" b="1">
                <a:solidFill>
                  <a:srgbClr val="1F4530"/>
                </a:solidFill>
                <a:latin typeface="Playfair Display"/>
              </a:rPr>
              <a:t>P. Pangangailangan</a:t>
            </a:r>
          </a:p>
          <a:p>
            <a:pPr algn="l"/>
            <a:r>
              <a:rPr sz="2000" i="1">
                <a:solidFill>
                  <a:srgbClr val="6B6253"/>
                </a:solidFill>
                <a:latin typeface="DM Sans"/>
              </a:rPr>
              <a:t>"...palakasin natin ang loob ng isa't isa..."</a:t>
            </a:r>
          </a:p>
        </p:txBody>
      </p:sp>
      <p:sp>
        <p:nvSpPr>
          <p:cNvPr id="9" name="Rounded Rectangle 8"/>
          <p:cNvSpPr/>
          <p:nvPr/>
        </p:nvSpPr>
        <p:spPr>
          <a:xfrm>
            <a:off x="6278727" y="3886200"/>
            <a:ext cx="5181447" cy="960120"/>
          </a:xfrm>
          <a:prstGeom prst="roundRect">
            <a:avLst/>
          </a:prstGeom>
          <a:solidFill>
            <a:srgbClr val="B8882A"/>
          </a:solidFill>
          <a:ln w="19050">
            <a:solidFill>
              <a:srgbClr val="B8882A"/>
            </a:solidFill>
          </a:ln>
        </p:spPr>
        <p:style>
          <a:lnRef idx="1">
            <a:schemeClr val="accent1"/>
          </a:lnRef>
          <a:fillRef idx="3">
            <a:schemeClr val="accent1"/>
          </a:fillRef>
          <a:effectRef idx="2">
            <a:schemeClr val="accent1"/>
          </a:effectRef>
          <a:fontRef idx="minor">
            <a:schemeClr val="lt1"/>
          </a:fontRef>
        </p:style>
        <p:txBody>
          <a:bodyPr wrap="square" lIns="182880" tIns="91440" rIns="182880" bIns="91440" rtlCol="0" anchor="ctr"/>
          <a:lstStyle/>
          <a:p>
            <a:pPr algn="l"/>
            <a:r>
              <a:rPr sz="3200" b="1">
                <a:solidFill>
                  <a:srgbClr val="1F4530"/>
                </a:solidFill>
                <a:latin typeface="Playfair Display"/>
              </a:rPr>
              <a:t>P. Pagganyak</a:t>
            </a:r>
          </a:p>
          <a:p>
            <a:pPr algn="l"/>
            <a:r>
              <a:rPr sz="2000" i="1">
                <a:solidFill>
                  <a:srgbClr val="6B6253"/>
                </a:solidFill>
                <a:latin typeface="DM Sans"/>
              </a:rPr>
              <a:t>"...malapit na ang Araw ng Panginoon."</a:t>
            </a:r>
          </a:p>
        </p:txBody>
      </p:sp>
      <p:sp>
        <p:nvSpPr>
          <p:cNvPr id="10" name="TextBox 9"/>
          <p:cNvSpPr txBox="1"/>
          <p:nvPr/>
        </p:nvSpPr>
        <p:spPr>
          <a:xfrm>
            <a:off x="11638521" y="6400800"/>
            <a:ext cx="370294" cy="276999"/>
          </a:xfrm>
          <a:prstGeom prst="rect">
            <a:avLst/>
          </a:prstGeom>
          <a:noFill/>
        </p:spPr>
        <p:txBody>
          <a:bodyPr wrap="none" lIns="0" rIns="0">
            <a:spAutoFit/>
          </a:bodyPr>
          <a:lstStyle/>
          <a:p>
            <a:pPr algn="r"/>
            <a:r>
              <a:rPr sz="1200" b="1">
                <a:solidFill>
                  <a:srgbClr val="1A2E22"/>
                </a:solidFill>
                <a:latin typeface="DM Sans"/>
              </a:rPr>
              <a:t>12 / 29</a:t>
            </a:r>
          </a:p>
        </p:txBody>
      </p:sp>
      <p:sp>
        <p:nvSpPr>
          <p:cNvPr id="11" name="Rounded Rectangle 10"/>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2 min · ⌛00:15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A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D4A854"/>
                </a:solidFill>
                <a:latin typeface="DM Sans"/>
              </a:rPr>
              <a:t>P1 · PANANAGUTAN</a:t>
            </a:r>
          </a:p>
        </p:txBody>
      </p:sp>
      <p:sp>
        <p:nvSpPr>
          <p:cNvPr id="4" name="TextBox 3"/>
          <p:cNvSpPr txBox="1"/>
          <p:nvPr/>
        </p:nvSpPr>
        <p:spPr>
          <a:xfrm>
            <a:off x="731520" y="1143000"/>
            <a:ext cx="10728655" cy="830997"/>
          </a:xfrm>
          <a:prstGeom prst="rect">
            <a:avLst/>
          </a:prstGeom>
          <a:noFill/>
        </p:spPr>
        <p:txBody>
          <a:bodyPr wrap="square" lIns="0" tIns="0" rIns="0" bIns="0">
            <a:spAutoFit/>
          </a:bodyPr>
          <a:lstStyle/>
          <a:p>
            <a:pPr algn="ctr"/>
            <a:r>
              <a:rPr sz="5400" b="1" i="0">
                <a:solidFill>
                  <a:srgbClr val="FDFBF6"/>
                </a:solidFill>
                <a:latin typeface="Playfair Display"/>
              </a:rPr>
              <a:t>Hindi Request — Utos</a:t>
            </a:r>
          </a:p>
        </p:txBody>
      </p:sp>
      <p:sp>
        <p:nvSpPr>
          <p:cNvPr id="5" name="TextBox 4"/>
          <p:cNvSpPr txBox="1"/>
          <p:nvPr/>
        </p:nvSpPr>
        <p:spPr>
          <a:xfrm>
            <a:off x="731520" y="2240280"/>
            <a:ext cx="10728655" cy="492443"/>
          </a:xfrm>
          <a:prstGeom prst="rect">
            <a:avLst/>
          </a:prstGeom>
          <a:noFill/>
        </p:spPr>
        <p:txBody>
          <a:bodyPr wrap="square" lIns="0" tIns="0" rIns="0" bIns="0">
            <a:spAutoFit/>
          </a:bodyPr>
          <a:lstStyle/>
          <a:p>
            <a:pPr algn="ctr"/>
            <a:r>
              <a:rPr sz="3200" b="0" i="1">
                <a:solidFill>
                  <a:srgbClr val="FDFBF6"/>
                </a:solidFill>
                <a:latin typeface="Playfair Display"/>
              </a:rPr>
              <a:t>"Itatayo KO ang AKING iglesya..." — Mateo 16:18</a:t>
            </a:r>
          </a:p>
        </p:txBody>
      </p:sp>
      <p:sp>
        <p:nvSpPr>
          <p:cNvPr id="6" name="TextBox 5"/>
          <p:cNvSpPr txBox="1"/>
          <p:nvPr/>
        </p:nvSpPr>
        <p:spPr>
          <a:xfrm>
            <a:off x="731520" y="2880360"/>
            <a:ext cx="10728655" cy="2031325"/>
          </a:xfrm>
          <a:prstGeom prst="rect">
            <a:avLst/>
          </a:prstGeom>
          <a:noFill/>
        </p:spPr>
        <p:txBody>
          <a:bodyPr wrap="square" lIns="0" tIns="0" rIns="0" bIns="0">
            <a:spAutoFit/>
          </a:bodyPr>
          <a:lstStyle/>
          <a:p>
            <a:pPr algn="ctr"/>
            <a:r>
              <a:rPr sz="4400" b="1" i="1">
                <a:solidFill>
                  <a:srgbClr val="D4A854"/>
                </a:solidFill>
                <a:latin typeface="Playfair Display"/>
              </a:rPr>
              <a:t>Hindi ka iniligtas to be apart from the Church.</a:t>
            </a:r>
          </a:p>
          <a:p>
            <a:pPr algn="ctr"/>
            <a:r>
              <a:rPr sz="4400" b="1" i="1">
                <a:solidFill>
                  <a:srgbClr val="D4A854"/>
                </a:solidFill>
                <a:latin typeface="Playfair Display"/>
              </a:rPr>
              <a:t>Iniligtas ka to be a part of the Church.</a:t>
            </a:r>
          </a:p>
        </p:txBody>
      </p:sp>
      <p:sp>
        <p:nvSpPr>
          <p:cNvPr id="7" name="TextBox 6"/>
          <p:cNvSpPr txBox="1"/>
          <p:nvPr/>
        </p:nvSpPr>
        <p:spPr>
          <a:xfrm>
            <a:off x="731520" y="5338746"/>
            <a:ext cx="10728655" cy="307777"/>
          </a:xfrm>
          <a:prstGeom prst="rect">
            <a:avLst/>
          </a:prstGeom>
          <a:noFill/>
        </p:spPr>
        <p:txBody>
          <a:bodyPr wrap="square" lIns="0" tIns="0" rIns="0" bIns="0">
            <a:spAutoFit/>
          </a:bodyPr>
          <a:lstStyle/>
          <a:p>
            <a:pPr algn="ctr"/>
            <a:r>
              <a:rPr sz="2000" b="0" i="1" dirty="0">
                <a:solidFill>
                  <a:srgbClr val="FDFBF6"/>
                </a:solidFill>
                <a:latin typeface="DM Sans"/>
              </a:rPr>
              <a:t>Eph 5:25 — </a:t>
            </a:r>
            <a:r>
              <a:rPr sz="2000" b="0" i="1" dirty="0" err="1">
                <a:solidFill>
                  <a:srgbClr val="FDFBF6"/>
                </a:solidFill>
                <a:latin typeface="DM Sans"/>
              </a:rPr>
              <a:t>inihandog</a:t>
            </a:r>
            <a:r>
              <a:rPr sz="2000" b="0" i="1" dirty="0">
                <a:solidFill>
                  <a:srgbClr val="FDFBF6"/>
                </a:solidFill>
                <a:latin typeface="DM Sans"/>
              </a:rPr>
              <a:t> </a:t>
            </a:r>
            <a:r>
              <a:rPr sz="2000" b="0" i="1" dirty="0" err="1">
                <a:solidFill>
                  <a:srgbClr val="FDFBF6"/>
                </a:solidFill>
                <a:latin typeface="DM Sans"/>
              </a:rPr>
              <a:t>ni</a:t>
            </a:r>
            <a:r>
              <a:rPr sz="2000" b="0" i="1" dirty="0">
                <a:solidFill>
                  <a:srgbClr val="FDFBF6"/>
                </a:solidFill>
                <a:latin typeface="DM Sans"/>
              </a:rPr>
              <a:t> Cristo ang </a:t>
            </a:r>
            <a:r>
              <a:rPr sz="2000" b="0" i="1" dirty="0" err="1">
                <a:solidFill>
                  <a:srgbClr val="FDFBF6"/>
                </a:solidFill>
                <a:latin typeface="DM Sans"/>
              </a:rPr>
              <a:t>buhay</a:t>
            </a:r>
            <a:r>
              <a:rPr sz="2000" b="0" i="1" dirty="0">
                <a:solidFill>
                  <a:srgbClr val="FDFBF6"/>
                </a:solidFill>
                <a:latin typeface="DM Sans"/>
              </a:rPr>
              <a:t> para </a:t>
            </a:r>
            <a:r>
              <a:rPr sz="2000" b="0" i="1" dirty="0" err="1">
                <a:solidFill>
                  <a:srgbClr val="FDFBF6"/>
                </a:solidFill>
                <a:latin typeface="DM Sans"/>
              </a:rPr>
              <a:t>sa</a:t>
            </a:r>
            <a:r>
              <a:rPr sz="2000" b="0" i="1" dirty="0">
                <a:solidFill>
                  <a:srgbClr val="FDFBF6"/>
                </a:solidFill>
                <a:latin typeface="DM Sans"/>
              </a:rPr>
              <a:t> </a:t>
            </a:r>
            <a:r>
              <a:rPr sz="2000" b="0" i="1" dirty="0" err="1">
                <a:solidFill>
                  <a:srgbClr val="FDFBF6"/>
                </a:solidFill>
                <a:latin typeface="DM Sans"/>
              </a:rPr>
              <a:t>iglesya</a:t>
            </a:r>
            <a:r>
              <a:rPr sz="2000" b="0" i="1" dirty="0">
                <a:solidFill>
                  <a:srgbClr val="FDFBF6"/>
                </a:solidFill>
                <a:latin typeface="DM Sans"/>
              </a:rPr>
              <a:t>.</a:t>
            </a:r>
          </a:p>
        </p:txBody>
      </p:sp>
      <p:sp>
        <p:nvSpPr>
          <p:cNvPr id="8" name="TextBox 7"/>
          <p:cNvSpPr txBox="1"/>
          <p:nvPr/>
        </p:nvSpPr>
        <p:spPr>
          <a:xfrm>
            <a:off x="11624094" y="6400800"/>
            <a:ext cx="384721" cy="276999"/>
          </a:xfrm>
          <a:prstGeom prst="rect">
            <a:avLst/>
          </a:prstGeom>
          <a:noFill/>
        </p:spPr>
        <p:txBody>
          <a:bodyPr wrap="none" lIns="0" rIns="0">
            <a:spAutoFit/>
          </a:bodyPr>
          <a:lstStyle/>
          <a:p>
            <a:pPr algn="r"/>
            <a:r>
              <a:rPr sz="1200" b="1">
                <a:solidFill>
                  <a:srgbClr val="FDFBF6"/>
                </a:solidFill>
                <a:latin typeface="DM Sans"/>
              </a:rPr>
              <a:t>13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2 min · ⌛00:17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2A5C40"/>
                </a:solidFill>
                <a:latin typeface="DM Sans"/>
              </a:rPr>
              <a:t>P2 · PALUSOT</a:t>
            </a:r>
          </a:p>
        </p:txBody>
      </p:sp>
      <p:sp>
        <p:nvSpPr>
          <p:cNvPr id="4" name="TextBox 3"/>
          <p:cNvSpPr txBox="1"/>
          <p:nvPr/>
        </p:nvSpPr>
        <p:spPr>
          <a:xfrm>
            <a:off x="731520" y="1143000"/>
            <a:ext cx="10728655" cy="830997"/>
          </a:xfrm>
          <a:prstGeom prst="rect">
            <a:avLst/>
          </a:prstGeom>
          <a:noFill/>
        </p:spPr>
        <p:txBody>
          <a:bodyPr wrap="square" lIns="0" tIns="0" rIns="0" bIns="0">
            <a:spAutoFit/>
          </a:bodyPr>
          <a:lstStyle/>
          <a:p>
            <a:pPr algn="ctr"/>
            <a:r>
              <a:rPr sz="5400" b="1" i="0">
                <a:solidFill>
                  <a:srgbClr val="1A2E22"/>
                </a:solidFill>
                <a:latin typeface="Playfair Display"/>
              </a:rPr>
              <a:t>Ang 6 Pinakapalusot</a:t>
            </a:r>
          </a:p>
        </p:txBody>
      </p:sp>
      <p:sp>
        <p:nvSpPr>
          <p:cNvPr id="5" name="TextBox 4"/>
          <p:cNvSpPr txBox="1"/>
          <p:nvPr/>
        </p:nvSpPr>
        <p:spPr>
          <a:xfrm>
            <a:off x="731520" y="2240280"/>
            <a:ext cx="10728655" cy="369332"/>
          </a:xfrm>
          <a:prstGeom prst="rect">
            <a:avLst/>
          </a:prstGeom>
          <a:noFill/>
        </p:spPr>
        <p:txBody>
          <a:bodyPr wrap="square" lIns="0" tIns="0" rIns="0" bIns="0">
            <a:spAutoFit/>
          </a:bodyPr>
          <a:lstStyle/>
          <a:p>
            <a:pPr algn="ctr"/>
            <a:r>
              <a:rPr sz="2400" b="0" i="1">
                <a:solidFill>
                  <a:srgbClr val="1A2E22"/>
                </a:solidFill>
                <a:latin typeface="DM Sans"/>
              </a:rPr>
              <a:t>Ayon sa Pew Research 2018:</a:t>
            </a:r>
          </a:p>
        </p:txBody>
      </p:sp>
      <p:sp>
        <p:nvSpPr>
          <p:cNvPr id="6" name="TextBox 5"/>
          <p:cNvSpPr txBox="1"/>
          <p:nvPr/>
        </p:nvSpPr>
        <p:spPr>
          <a:xfrm>
            <a:off x="1828800" y="2697480"/>
            <a:ext cx="8534095" cy="430887"/>
          </a:xfrm>
          <a:prstGeom prst="rect">
            <a:avLst/>
          </a:prstGeom>
          <a:noFill/>
        </p:spPr>
        <p:txBody>
          <a:bodyPr wrap="square" lIns="0" tIns="0" rIns="0" bIns="0">
            <a:spAutoFit/>
          </a:bodyPr>
          <a:lstStyle/>
          <a:p>
            <a:pPr algn="l"/>
            <a:r>
              <a:rPr sz="2800" i="1">
                <a:solidFill>
                  <a:srgbClr val="1A2E22"/>
                </a:solidFill>
                <a:latin typeface="DM Sans"/>
              </a:rPr>
              <a:t>1.  "Puwede naman akong sumamba nang mag-isa."</a:t>
            </a:r>
          </a:p>
        </p:txBody>
      </p:sp>
      <p:sp>
        <p:nvSpPr>
          <p:cNvPr id="7" name="TextBox 6"/>
          <p:cNvSpPr txBox="1"/>
          <p:nvPr/>
        </p:nvSpPr>
        <p:spPr>
          <a:xfrm>
            <a:off x="1828800" y="3081528"/>
            <a:ext cx="8534095" cy="861774"/>
          </a:xfrm>
          <a:prstGeom prst="rect">
            <a:avLst/>
          </a:prstGeom>
          <a:noFill/>
        </p:spPr>
        <p:txBody>
          <a:bodyPr wrap="square" lIns="0" tIns="0" rIns="0" bIns="0">
            <a:spAutoFit/>
          </a:bodyPr>
          <a:lstStyle/>
          <a:p>
            <a:pPr algn="l"/>
            <a:r>
              <a:rPr sz="2800" i="1">
                <a:solidFill>
                  <a:srgbClr val="1A2E22"/>
                </a:solidFill>
                <a:latin typeface="DM Sans"/>
              </a:rPr>
              <a:t>2.  "Wala pa akong nakikitang church na magugustuhan."</a:t>
            </a:r>
          </a:p>
        </p:txBody>
      </p:sp>
      <p:sp>
        <p:nvSpPr>
          <p:cNvPr id="8" name="TextBox 7"/>
          <p:cNvSpPr txBox="1"/>
          <p:nvPr/>
        </p:nvSpPr>
        <p:spPr>
          <a:xfrm>
            <a:off x="1828800" y="3945256"/>
            <a:ext cx="8534095" cy="430887"/>
          </a:xfrm>
          <a:prstGeom prst="rect">
            <a:avLst/>
          </a:prstGeom>
          <a:noFill/>
        </p:spPr>
        <p:txBody>
          <a:bodyPr wrap="square" lIns="0" tIns="0" rIns="0" bIns="0">
            <a:spAutoFit/>
          </a:bodyPr>
          <a:lstStyle/>
          <a:p>
            <a:pPr algn="l"/>
            <a:r>
              <a:rPr sz="2800" i="1" dirty="0">
                <a:solidFill>
                  <a:srgbClr val="1A2E22"/>
                </a:solidFill>
                <a:latin typeface="DM Sans"/>
              </a:rPr>
              <a:t>3.  "Hindi ko gusto </a:t>
            </a:r>
            <a:r>
              <a:rPr sz="2800" i="1" dirty="0" err="1">
                <a:solidFill>
                  <a:srgbClr val="1A2E22"/>
                </a:solidFill>
                <a:latin typeface="DM Sans"/>
              </a:rPr>
              <a:t>yung</a:t>
            </a:r>
            <a:r>
              <a:rPr sz="2800" i="1" dirty="0">
                <a:solidFill>
                  <a:srgbClr val="1A2E22"/>
                </a:solidFill>
                <a:latin typeface="DM Sans"/>
              </a:rPr>
              <a:t> </a:t>
            </a:r>
            <a:r>
              <a:rPr sz="2800" i="1" dirty="0" err="1">
                <a:solidFill>
                  <a:srgbClr val="1A2E22"/>
                </a:solidFill>
                <a:latin typeface="DM Sans"/>
              </a:rPr>
              <a:t>mga</a:t>
            </a:r>
            <a:r>
              <a:rPr sz="2800" i="1" dirty="0">
                <a:solidFill>
                  <a:srgbClr val="1A2E22"/>
                </a:solidFill>
                <a:latin typeface="DM Sans"/>
              </a:rPr>
              <a:t> sermon."</a:t>
            </a:r>
          </a:p>
        </p:txBody>
      </p:sp>
      <p:sp>
        <p:nvSpPr>
          <p:cNvPr id="9" name="TextBox 8"/>
          <p:cNvSpPr txBox="1"/>
          <p:nvPr/>
        </p:nvSpPr>
        <p:spPr>
          <a:xfrm>
            <a:off x="1828800" y="4314319"/>
            <a:ext cx="8534095" cy="430887"/>
          </a:xfrm>
          <a:prstGeom prst="rect">
            <a:avLst/>
          </a:prstGeom>
          <a:noFill/>
        </p:spPr>
        <p:txBody>
          <a:bodyPr wrap="square" lIns="0" tIns="0" rIns="0" bIns="0">
            <a:spAutoFit/>
          </a:bodyPr>
          <a:lstStyle/>
          <a:p>
            <a:pPr algn="l"/>
            <a:r>
              <a:rPr sz="2800" i="1">
                <a:solidFill>
                  <a:srgbClr val="1A2E22"/>
                </a:solidFill>
                <a:latin typeface="DM Sans"/>
              </a:rPr>
              <a:t>4.  "Feeling ko hindi ako welcome."</a:t>
            </a:r>
          </a:p>
        </p:txBody>
      </p:sp>
      <p:sp>
        <p:nvSpPr>
          <p:cNvPr id="10" name="TextBox 9"/>
          <p:cNvSpPr txBox="1"/>
          <p:nvPr/>
        </p:nvSpPr>
        <p:spPr>
          <a:xfrm>
            <a:off x="1828800" y="4698367"/>
            <a:ext cx="8534095" cy="430887"/>
          </a:xfrm>
          <a:prstGeom prst="rect">
            <a:avLst/>
          </a:prstGeom>
          <a:noFill/>
        </p:spPr>
        <p:txBody>
          <a:bodyPr wrap="square" lIns="0" tIns="0" rIns="0" bIns="0">
            <a:spAutoFit/>
          </a:bodyPr>
          <a:lstStyle/>
          <a:p>
            <a:pPr algn="l"/>
            <a:r>
              <a:rPr sz="2800" i="1">
                <a:solidFill>
                  <a:srgbClr val="1A2E22"/>
                </a:solidFill>
                <a:latin typeface="DM Sans"/>
              </a:rPr>
              <a:t>5.  "Wala akong time."</a:t>
            </a:r>
          </a:p>
        </p:txBody>
      </p:sp>
      <p:sp>
        <p:nvSpPr>
          <p:cNvPr id="11" name="TextBox 10"/>
          <p:cNvSpPr txBox="1"/>
          <p:nvPr/>
        </p:nvSpPr>
        <p:spPr>
          <a:xfrm>
            <a:off x="1828800" y="5082415"/>
            <a:ext cx="8534095" cy="430887"/>
          </a:xfrm>
          <a:prstGeom prst="rect">
            <a:avLst/>
          </a:prstGeom>
          <a:noFill/>
        </p:spPr>
        <p:txBody>
          <a:bodyPr wrap="square" lIns="0" tIns="0" rIns="0" bIns="0">
            <a:spAutoFit/>
          </a:bodyPr>
          <a:lstStyle/>
          <a:p>
            <a:pPr algn="l"/>
            <a:r>
              <a:rPr sz="2800" i="1">
                <a:solidFill>
                  <a:srgbClr val="1A2E22"/>
                </a:solidFill>
                <a:latin typeface="DM Sans"/>
              </a:rPr>
              <a:t>6.  "Puro plastic sa church."</a:t>
            </a:r>
          </a:p>
        </p:txBody>
      </p:sp>
      <p:sp>
        <p:nvSpPr>
          <p:cNvPr id="12" name="TextBox 11"/>
          <p:cNvSpPr txBox="1"/>
          <p:nvPr/>
        </p:nvSpPr>
        <p:spPr>
          <a:xfrm>
            <a:off x="11622491" y="6400800"/>
            <a:ext cx="386324" cy="276999"/>
          </a:xfrm>
          <a:prstGeom prst="rect">
            <a:avLst/>
          </a:prstGeom>
          <a:noFill/>
        </p:spPr>
        <p:txBody>
          <a:bodyPr wrap="none" lIns="0" rIns="0">
            <a:spAutoFit/>
          </a:bodyPr>
          <a:lstStyle/>
          <a:p>
            <a:pPr algn="r"/>
            <a:r>
              <a:rPr sz="1200" b="1">
                <a:solidFill>
                  <a:srgbClr val="1A2E22"/>
                </a:solidFill>
                <a:latin typeface="DM Sans"/>
              </a:rPr>
              <a:t>14 / 29</a:t>
            </a:r>
          </a:p>
        </p:txBody>
      </p:sp>
      <p:sp>
        <p:nvSpPr>
          <p:cNvPr id="13" name="Rounded Rectangle 12"/>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3 min · ⌛00:20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b="1">
                <a:solidFill>
                  <a:srgbClr val="2A5C40"/>
                </a:solidFill>
                <a:latin typeface="DM Sans"/>
              </a:rPr>
              <a:t>P3 · PANGANGAILANGAN</a:t>
            </a:r>
          </a:p>
        </p:txBody>
      </p:sp>
      <p:sp>
        <p:nvSpPr>
          <p:cNvPr id="4" name="TextBox 3"/>
          <p:cNvSpPr txBox="1"/>
          <p:nvPr/>
        </p:nvSpPr>
        <p:spPr>
          <a:xfrm>
            <a:off x="731520" y="1143000"/>
            <a:ext cx="10728655" cy="738664"/>
          </a:xfrm>
          <a:prstGeom prst="rect">
            <a:avLst/>
          </a:prstGeom>
          <a:noFill/>
        </p:spPr>
        <p:txBody>
          <a:bodyPr wrap="square" lIns="0" tIns="0" rIns="0" bIns="0">
            <a:spAutoFit/>
          </a:bodyPr>
          <a:lstStyle/>
          <a:p>
            <a:pPr algn="ctr"/>
            <a:r>
              <a:rPr sz="4800" b="1" i="0">
                <a:solidFill>
                  <a:srgbClr val="1A2E22"/>
                </a:solidFill>
                <a:latin typeface="Playfair Display"/>
              </a:rPr>
              <a:t>Two-Way Strengthening</a:t>
            </a:r>
          </a:p>
        </p:txBody>
      </p:sp>
      <p:sp>
        <p:nvSpPr>
          <p:cNvPr id="5" name="TextBox 4"/>
          <p:cNvSpPr txBox="1"/>
          <p:nvPr/>
        </p:nvSpPr>
        <p:spPr>
          <a:xfrm>
            <a:off x="731520" y="2240280"/>
            <a:ext cx="10728655" cy="307777"/>
          </a:xfrm>
          <a:prstGeom prst="rect">
            <a:avLst/>
          </a:prstGeom>
          <a:noFill/>
        </p:spPr>
        <p:txBody>
          <a:bodyPr wrap="square" lIns="0" tIns="0" rIns="0" bIns="0">
            <a:spAutoFit/>
          </a:bodyPr>
          <a:lstStyle/>
          <a:p>
            <a:pPr algn="ctr"/>
            <a:r>
              <a:rPr sz="2000" b="0" i="1">
                <a:solidFill>
                  <a:srgbClr val="1A2E22"/>
                </a:solidFill>
                <a:latin typeface="DM Sans"/>
              </a:rPr>
              <a:t>"Palakasin natin ang loob ng isa't isa..."</a:t>
            </a:r>
          </a:p>
        </p:txBody>
      </p:sp>
      <p:sp>
        <p:nvSpPr>
          <p:cNvPr id="6" name="Rounded Rectangle 5"/>
          <p:cNvSpPr/>
          <p:nvPr/>
        </p:nvSpPr>
        <p:spPr>
          <a:xfrm>
            <a:off x="731520" y="2697480"/>
            <a:ext cx="5181447" cy="2194560"/>
          </a:xfrm>
          <a:prstGeom prst="roundRect">
            <a:avLst/>
          </a:prstGeom>
          <a:solidFill>
            <a:srgbClr val="1F4530"/>
          </a:solidFill>
          <a:ln w="25400">
            <a:solidFill>
              <a:srgbClr val="D4A854"/>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l"/>
            <a:r>
              <a:rPr sz="2000" b="1">
                <a:solidFill>
                  <a:srgbClr val="D4A854"/>
                </a:solidFill>
                <a:latin typeface="Playfair Display"/>
              </a:rPr>
              <a:t>↓ Lalakas ka sa pamamagitan ng:</a:t>
            </a:r>
          </a:p>
          <a:p>
            <a:pPr algn="l">
              <a:spcBef>
                <a:spcPts val="400"/>
              </a:spcBef>
            </a:pPr>
            <a:r>
              <a:rPr>
                <a:solidFill>
                  <a:srgbClr val="FDFBF6"/>
                </a:solidFill>
                <a:latin typeface="DM Sans"/>
              </a:rPr>
              <a:t>• Biblical teachings (1 Tim 4:6)</a:t>
            </a:r>
          </a:p>
          <a:p>
            <a:pPr algn="l">
              <a:spcBef>
                <a:spcPts val="400"/>
              </a:spcBef>
            </a:pPr>
            <a:r>
              <a:rPr>
                <a:solidFill>
                  <a:srgbClr val="FDFBF6"/>
                </a:solidFill>
                <a:latin typeface="DM Sans"/>
              </a:rPr>
              <a:t>• Godly mentors (Tito 2:1-8)</a:t>
            </a:r>
          </a:p>
          <a:p>
            <a:pPr algn="l">
              <a:spcBef>
                <a:spcPts val="400"/>
              </a:spcBef>
            </a:pPr>
            <a:r>
              <a:rPr>
                <a:solidFill>
                  <a:srgbClr val="FDFBF6"/>
                </a:solidFill>
                <a:latin typeface="DM Sans"/>
              </a:rPr>
              <a:t>• Christian friends (L6 callback)</a:t>
            </a:r>
          </a:p>
        </p:txBody>
      </p:sp>
      <p:sp>
        <p:nvSpPr>
          <p:cNvPr id="7" name="Rounded Rectangle 6"/>
          <p:cNvSpPr/>
          <p:nvPr/>
        </p:nvSpPr>
        <p:spPr>
          <a:xfrm>
            <a:off x="6278727" y="2697480"/>
            <a:ext cx="5181447" cy="2194560"/>
          </a:xfrm>
          <a:prstGeom prst="roundRect">
            <a:avLst/>
          </a:prstGeom>
          <a:solidFill>
            <a:srgbClr val="1F4530"/>
          </a:solidFill>
          <a:ln w="25400">
            <a:solidFill>
              <a:srgbClr val="D4A854"/>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l"/>
            <a:r>
              <a:rPr sz="2000" b="1">
                <a:solidFill>
                  <a:srgbClr val="D4A854"/>
                </a:solidFill>
                <a:latin typeface="Playfair Display"/>
              </a:rPr>
              <a:t>↑ Pagagamitin ka para palakasin ang iba:</a:t>
            </a:r>
          </a:p>
          <a:p>
            <a:pPr algn="l">
              <a:spcBef>
                <a:spcPts val="400"/>
              </a:spcBef>
            </a:pPr>
            <a:r>
              <a:rPr>
                <a:solidFill>
                  <a:srgbClr val="FDFBF6"/>
                </a:solidFill>
                <a:latin typeface="DM Sans"/>
              </a:rPr>
              <a:t>• Spiritual gifts (Rom 12:3-8)</a:t>
            </a:r>
          </a:p>
          <a:p>
            <a:pPr algn="l">
              <a:spcBef>
                <a:spcPts val="400"/>
              </a:spcBef>
            </a:pPr>
            <a:r>
              <a:rPr>
                <a:solidFill>
                  <a:srgbClr val="FDFBF6"/>
                </a:solidFill>
                <a:latin typeface="DM Sans"/>
              </a:rPr>
              <a:t>• Paghayo sa di-pa naliligtas (Mat 28:19-20)</a:t>
            </a:r>
          </a:p>
          <a:p>
            <a:pPr algn="l">
              <a:spcBef>
                <a:spcPts val="400"/>
              </a:spcBef>
            </a:pPr>
            <a:r>
              <a:rPr>
                <a:solidFill>
                  <a:srgbClr val="FDFBF6"/>
                </a:solidFill>
                <a:latin typeface="DM Sans"/>
              </a:rPr>
              <a:t>• Pag-disciple sa pa-usbong (2 Tim 2:2)</a:t>
            </a:r>
          </a:p>
        </p:txBody>
      </p:sp>
      <p:sp>
        <p:nvSpPr>
          <p:cNvPr id="8" name="TextBox 7"/>
          <p:cNvSpPr txBox="1"/>
          <p:nvPr/>
        </p:nvSpPr>
        <p:spPr>
          <a:xfrm>
            <a:off x="11596843" y="6400800"/>
            <a:ext cx="411972" cy="261610"/>
          </a:xfrm>
          <a:prstGeom prst="rect">
            <a:avLst/>
          </a:prstGeom>
          <a:noFill/>
        </p:spPr>
        <p:txBody>
          <a:bodyPr wrap="none" lIns="0" rIns="0">
            <a:spAutoFit/>
          </a:bodyPr>
          <a:lstStyle/>
          <a:p>
            <a:pPr algn="r"/>
            <a:r>
              <a:rPr sz="1100" b="1">
                <a:solidFill>
                  <a:srgbClr val="1A2E22"/>
                </a:solidFill>
                <a:latin typeface="DM Sans"/>
              </a:rPr>
              <a:t>15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3 min · ⌛00:23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4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D4A854"/>
                </a:solidFill>
                <a:latin typeface="DM Sans"/>
              </a:rPr>
              <a:t>P4 · PAGGANYAK</a:t>
            </a:r>
          </a:p>
        </p:txBody>
      </p:sp>
      <p:sp>
        <p:nvSpPr>
          <p:cNvPr id="4" name="TextBox 3"/>
          <p:cNvSpPr txBox="1"/>
          <p:nvPr/>
        </p:nvSpPr>
        <p:spPr>
          <a:xfrm>
            <a:off x="731520" y="1143000"/>
            <a:ext cx="10728655" cy="830997"/>
          </a:xfrm>
          <a:prstGeom prst="rect">
            <a:avLst/>
          </a:prstGeom>
          <a:noFill/>
        </p:spPr>
        <p:txBody>
          <a:bodyPr wrap="square" lIns="0" tIns="0" rIns="0" bIns="0">
            <a:spAutoFit/>
          </a:bodyPr>
          <a:lstStyle/>
          <a:p>
            <a:pPr algn="ctr"/>
            <a:r>
              <a:rPr sz="5400" b="1" i="0">
                <a:solidFill>
                  <a:srgbClr val="FDFBF6"/>
                </a:solidFill>
                <a:latin typeface="Playfair Display"/>
              </a:rPr>
              <a:t>Malapit na ang Araw</a:t>
            </a:r>
          </a:p>
        </p:txBody>
      </p:sp>
      <p:sp>
        <p:nvSpPr>
          <p:cNvPr id="5" name="TextBox 4"/>
          <p:cNvSpPr txBox="1"/>
          <p:nvPr/>
        </p:nvSpPr>
        <p:spPr>
          <a:xfrm>
            <a:off x="731520" y="2240280"/>
            <a:ext cx="10728655" cy="984885"/>
          </a:xfrm>
          <a:prstGeom prst="rect">
            <a:avLst/>
          </a:prstGeom>
          <a:noFill/>
        </p:spPr>
        <p:txBody>
          <a:bodyPr wrap="square" lIns="0" tIns="0" rIns="0" bIns="0">
            <a:spAutoFit/>
          </a:bodyPr>
          <a:lstStyle/>
          <a:p>
            <a:pPr algn="ctr"/>
            <a:r>
              <a:rPr sz="3200" b="0" i="1">
                <a:solidFill>
                  <a:srgbClr val="FDFBF6"/>
                </a:solidFill>
                <a:latin typeface="Playfair Display"/>
              </a:rPr>
              <a:t>Hindi natin alam kung kailan.</a:t>
            </a:r>
          </a:p>
          <a:p>
            <a:pPr algn="ctr"/>
            <a:r>
              <a:rPr sz="3200" b="0" i="1">
                <a:solidFill>
                  <a:srgbClr val="FDFBF6"/>
                </a:solidFill>
                <a:latin typeface="Playfair Display"/>
              </a:rPr>
              <a:t>Pero alam natin: papalapit.</a:t>
            </a:r>
          </a:p>
        </p:txBody>
      </p:sp>
      <p:sp>
        <p:nvSpPr>
          <p:cNvPr id="6" name="TextBox 5"/>
          <p:cNvSpPr txBox="1"/>
          <p:nvPr/>
        </p:nvSpPr>
        <p:spPr>
          <a:xfrm>
            <a:off x="731520" y="3063240"/>
            <a:ext cx="10728655" cy="1477328"/>
          </a:xfrm>
          <a:prstGeom prst="rect">
            <a:avLst/>
          </a:prstGeom>
          <a:noFill/>
        </p:spPr>
        <p:txBody>
          <a:bodyPr wrap="square" lIns="0" tIns="0" rIns="0" bIns="0">
            <a:spAutoFit/>
          </a:bodyPr>
          <a:lstStyle/>
          <a:p>
            <a:pPr algn="ctr"/>
            <a:r>
              <a:rPr sz="3200" b="0" i="1">
                <a:solidFill>
                  <a:srgbClr val="FDFBF6"/>
                </a:solidFill>
                <a:latin typeface="Playfair Display"/>
              </a:rPr>
              <a:t>Paano mo gustong masumpungan ni Cristo —</a:t>
            </a:r>
          </a:p>
          <a:p>
            <a:pPr algn="ctr"/>
            <a:r>
              <a:rPr sz="3200" b="0" i="1">
                <a:solidFill>
                  <a:srgbClr val="FDFBF6"/>
                </a:solidFill>
                <a:latin typeface="Playfair Display"/>
              </a:rPr>
              <a:t>naglilingkod kasama ng Church, o lumiliko sa agos ng mundo?</a:t>
            </a:r>
          </a:p>
        </p:txBody>
      </p:sp>
      <p:sp>
        <p:nvSpPr>
          <p:cNvPr id="7" name="TextBox 6"/>
          <p:cNvSpPr txBox="1"/>
          <p:nvPr/>
        </p:nvSpPr>
        <p:spPr>
          <a:xfrm>
            <a:off x="731520" y="4770618"/>
            <a:ext cx="10728655" cy="677108"/>
          </a:xfrm>
          <a:prstGeom prst="rect">
            <a:avLst/>
          </a:prstGeom>
          <a:noFill/>
        </p:spPr>
        <p:txBody>
          <a:bodyPr wrap="square" lIns="0" tIns="0" rIns="0" bIns="0">
            <a:spAutoFit/>
          </a:bodyPr>
          <a:lstStyle/>
          <a:p>
            <a:pPr algn="ctr"/>
            <a:r>
              <a:rPr sz="4400" b="1" i="1" dirty="0" err="1">
                <a:solidFill>
                  <a:srgbClr val="D4A854"/>
                </a:solidFill>
                <a:latin typeface="Playfair Display"/>
              </a:rPr>
              <a:t>Mamili</a:t>
            </a:r>
            <a:r>
              <a:rPr sz="4400" b="1" i="1" dirty="0">
                <a:solidFill>
                  <a:srgbClr val="D4A854"/>
                </a:solidFill>
                <a:latin typeface="Playfair Display"/>
              </a:rPr>
              <a:t> ka.</a:t>
            </a:r>
          </a:p>
        </p:txBody>
      </p:sp>
      <p:sp>
        <p:nvSpPr>
          <p:cNvPr id="8" name="TextBox 7"/>
          <p:cNvSpPr txBox="1"/>
          <p:nvPr/>
        </p:nvSpPr>
        <p:spPr>
          <a:xfrm>
            <a:off x="11614475" y="6400800"/>
            <a:ext cx="394340" cy="276999"/>
          </a:xfrm>
          <a:prstGeom prst="rect">
            <a:avLst/>
          </a:prstGeom>
          <a:noFill/>
        </p:spPr>
        <p:txBody>
          <a:bodyPr wrap="none" lIns="0" rIns="0">
            <a:spAutoFit/>
          </a:bodyPr>
          <a:lstStyle/>
          <a:p>
            <a:pPr algn="r"/>
            <a:r>
              <a:rPr sz="1200" b="1">
                <a:solidFill>
                  <a:srgbClr val="FDFBF6"/>
                </a:solidFill>
                <a:latin typeface="DM Sans"/>
              </a:rPr>
              <a:t>17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⌛00:25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2A5C40"/>
                </a:solidFill>
                <a:latin typeface="DM Sans"/>
              </a:rPr>
              <a:t>TALAKAY · 12 MIN</a:t>
            </a:r>
          </a:p>
        </p:txBody>
      </p:sp>
      <p:sp>
        <p:nvSpPr>
          <p:cNvPr id="4" name="TextBox 3"/>
          <p:cNvSpPr txBox="1"/>
          <p:nvPr/>
        </p:nvSpPr>
        <p:spPr>
          <a:xfrm>
            <a:off x="731520" y="1143000"/>
            <a:ext cx="10728655" cy="830997"/>
          </a:xfrm>
          <a:prstGeom prst="rect">
            <a:avLst/>
          </a:prstGeom>
          <a:noFill/>
        </p:spPr>
        <p:txBody>
          <a:bodyPr wrap="square" lIns="0" tIns="0" rIns="0" bIns="0">
            <a:spAutoFit/>
          </a:bodyPr>
          <a:lstStyle/>
          <a:p>
            <a:pPr algn="ctr"/>
            <a:r>
              <a:rPr sz="5400" b="1" i="0">
                <a:solidFill>
                  <a:srgbClr val="1A2E22"/>
                </a:solidFill>
                <a:latin typeface="Playfair Display"/>
              </a:rPr>
              <a:t>Safe-Space Sharing</a:t>
            </a:r>
          </a:p>
        </p:txBody>
      </p:sp>
      <p:sp>
        <p:nvSpPr>
          <p:cNvPr id="5" name="TextBox 4"/>
          <p:cNvSpPr txBox="1"/>
          <p:nvPr/>
        </p:nvSpPr>
        <p:spPr>
          <a:xfrm>
            <a:off x="731520" y="2480120"/>
            <a:ext cx="10728655" cy="369332"/>
          </a:xfrm>
          <a:prstGeom prst="rect">
            <a:avLst/>
          </a:prstGeom>
          <a:noFill/>
        </p:spPr>
        <p:txBody>
          <a:bodyPr wrap="square" lIns="0" tIns="0" rIns="0" bIns="0">
            <a:spAutoFit/>
          </a:bodyPr>
          <a:lstStyle/>
          <a:p>
            <a:pPr algn="ctr"/>
            <a:r>
              <a:rPr sz="2400" b="0" i="1" dirty="0">
                <a:solidFill>
                  <a:srgbClr val="1A2E22"/>
                </a:solidFill>
                <a:latin typeface="DM Sans"/>
              </a:rPr>
              <a:t>4 rules: no fixing · no comparison · no advice unless asked · confidentiality</a:t>
            </a:r>
          </a:p>
        </p:txBody>
      </p:sp>
      <p:sp>
        <p:nvSpPr>
          <p:cNvPr id="6" name="TextBox 5"/>
          <p:cNvSpPr txBox="1"/>
          <p:nvPr/>
        </p:nvSpPr>
        <p:spPr>
          <a:xfrm>
            <a:off x="731520" y="3491954"/>
            <a:ext cx="10728655" cy="738664"/>
          </a:xfrm>
          <a:prstGeom prst="rect">
            <a:avLst/>
          </a:prstGeom>
          <a:noFill/>
        </p:spPr>
        <p:txBody>
          <a:bodyPr wrap="square" lIns="0" tIns="0" rIns="0" bIns="0">
            <a:spAutoFit/>
          </a:bodyPr>
          <a:lstStyle/>
          <a:p>
            <a:pPr algn="ctr"/>
            <a:r>
              <a:rPr sz="2400" b="0" i="1">
                <a:solidFill>
                  <a:srgbClr val="1A2E22"/>
                </a:solidFill>
                <a:latin typeface="DM Sans"/>
              </a:rPr>
              <a:t>Q1. Anong rason ang madalas mong naririnig kung bakit hindi dumadalo sa church?</a:t>
            </a:r>
          </a:p>
        </p:txBody>
      </p:sp>
      <p:sp>
        <p:nvSpPr>
          <p:cNvPr id="7" name="TextBox 6"/>
          <p:cNvSpPr txBox="1"/>
          <p:nvPr/>
        </p:nvSpPr>
        <p:spPr>
          <a:xfrm>
            <a:off x="731520" y="4278937"/>
            <a:ext cx="10728655" cy="369332"/>
          </a:xfrm>
          <a:prstGeom prst="rect">
            <a:avLst/>
          </a:prstGeom>
          <a:noFill/>
        </p:spPr>
        <p:txBody>
          <a:bodyPr wrap="square" lIns="0" tIns="0" rIns="0" bIns="0">
            <a:spAutoFit/>
          </a:bodyPr>
          <a:lstStyle/>
          <a:p>
            <a:pPr algn="ctr"/>
            <a:r>
              <a:rPr sz="2400" b="0" i="1">
                <a:solidFill>
                  <a:srgbClr val="1A2E22"/>
                </a:solidFill>
                <a:latin typeface="DM Sans"/>
              </a:rPr>
              <a:t>Q2. Mayroon ba talagang acceptable sa Dios na pumalya sa pagdalo?</a:t>
            </a:r>
          </a:p>
        </p:txBody>
      </p:sp>
      <p:sp>
        <p:nvSpPr>
          <p:cNvPr id="8" name="TextBox 7"/>
          <p:cNvSpPr txBox="1"/>
          <p:nvPr/>
        </p:nvSpPr>
        <p:spPr>
          <a:xfrm>
            <a:off x="731520" y="4796095"/>
            <a:ext cx="10728655" cy="369332"/>
          </a:xfrm>
          <a:prstGeom prst="rect">
            <a:avLst/>
          </a:prstGeom>
          <a:noFill/>
        </p:spPr>
        <p:txBody>
          <a:bodyPr wrap="square" lIns="0" tIns="0" rIns="0" bIns="0">
            <a:spAutoFit/>
          </a:bodyPr>
          <a:lstStyle/>
          <a:p>
            <a:pPr algn="ctr"/>
            <a:r>
              <a:rPr sz="2400" b="0" i="1">
                <a:solidFill>
                  <a:srgbClr val="1A2E22"/>
                </a:solidFill>
                <a:latin typeface="DM Sans"/>
              </a:rPr>
              <a:t>Q3. Alin sa 6 palusot ang madalas nasa puso mo? Be honest.</a:t>
            </a:r>
          </a:p>
        </p:txBody>
      </p:sp>
      <p:sp>
        <p:nvSpPr>
          <p:cNvPr id="9" name="TextBox 8"/>
          <p:cNvSpPr txBox="1"/>
          <p:nvPr/>
        </p:nvSpPr>
        <p:spPr>
          <a:xfrm>
            <a:off x="11579209" y="6400800"/>
            <a:ext cx="429606" cy="276999"/>
          </a:xfrm>
          <a:prstGeom prst="rect">
            <a:avLst/>
          </a:prstGeom>
          <a:noFill/>
        </p:spPr>
        <p:txBody>
          <a:bodyPr wrap="none" lIns="0" rIns="0">
            <a:spAutoFit/>
          </a:bodyPr>
          <a:lstStyle/>
          <a:p>
            <a:pPr algn="r"/>
            <a:r>
              <a:rPr sz="1200" b="1">
                <a:solidFill>
                  <a:srgbClr val="1A2E22"/>
                </a:solidFill>
                <a:latin typeface="DM Sans"/>
              </a:rPr>
              <a:t>19 / 29</a:t>
            </a:r>
          </a:p>
        </p:txBody>
      </p:sp>
      <p:sp>
        <p:nvSpPr>
          <p:cNvPr id="10" name="Rounded Rectangle 9"/>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⌛00:27</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D4A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1F453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1F4530"/>
                </a:solidFill>
                <a:latin typeface="DM Sans"/>
              </a:rPr>
              <a:t>TUGON · 12 MIN</a:t>
            </a:r>
          </a:p>
        </p:txBody>
      </p:sp>
      <p:sp>
        <p:nvSpPr>
          <p:cNvPr id="4" name="TextBox 3"/>
          <p:cNvSpPr txBox="1"/>
          <p:nvPr/>
        </p:nvSpPr>
        <p:spPr>
          <a:xfrm>
            <a:off x="731520" y="1143000"/>
            <a:ext cx="10728655" cy="1661993"/>
          </a:xfrm>
          <a:prstGeom prst="rect">
            <a:avLst/>
          </a:prstGeom>
          <a:noFill/>
        </p:spPr>
        <p:txBody>
          <a:bodyPr wrap="square" lIns="0" tIns="0" rIns="0" bIns="0">
            <a:spAutoFit/>
          </a:bodyPr>
          <a:lstStyle/>
          <a:p>
            <a:pPr algn="ctr"/>
            <a:r>
              <a:rPr sz="5400" b="1" i="0">
                <a:solidFill>
                  <a:srgbClr val="1F4530"/>
                </a:solidFill>
                <a:latin typeface="Playfair Display"/>
              </a:rPr>
              <a:t>Church Worship Service Commitment Form</a:t>
            </a:r>
          </a:p>
        </p:txBody>
      </p:sp>
      <p:sp>
        <p:nvSpPr>
          <p:cNvPr id="5" name="TextBox 4"/>
          <p:cNvSpPr txBox="1"/>
          <p:nvPr/>
        </p:nvSpPr>
        <p:spPr>
          <a:xfrm>
            <a:off x="731520" y="2899844"/>
            <a:ext cx="10728655" cy="2031325"/>
          </a:xfrm>
          <a:prstGeom prst="rect">
            <a:avLst/>
          </a:prstGeom>
          <a:noFill/>
        </p:spPr>
        <p:txBody>
          <a:bodyPr wrap="square" lIns="0" tIns="0" rIns="0" bIns="0">
            <a:spAutoFit/>
          </a:bodyPr>
          <a:lstStyle/>
          <a:p>
            <a:pPr algn="ctr"/>
            <a:r>
              <a:rPr sz="4400" b="1" i="1">
                <a:solidFill>
                  <a:srgbClr val="1F4530"/>
                </a:solidFill>
                <a:latin typeface="Playfair Display"/>
              </a:rPr>
              <a:t>"Dahil mahal ko ang Panginoong Hesus at ang aking church na _____________, Nangangako ako na…"</a:t>
            </a:r>
          </a:p>
        </p:txBody>
      </p:sp>
      <p:sp>
        <p:nvSpPr>
          <p:cNvPr id="6" name="TextBox 5"/>
          <p:cNvSpPr txBox="1"/>
          <p:nvPr/>
        </p:nvSpPr>
        <p:spPr>
          <a:xfrm>
            <a:off x="731520" y="4968484"/>
            <a:ext cx="10728655" cy="492443"/>
          </a:xfrm>
          <a:prstGeom prst="rect">
            <a:avLst/>
          </a:prstGeom>
          <a:noFill/>
        </p:spPr>
        <p:txBody>
          <a:bodyPr wrap="square" lIns="0" tIns="0" rIns="0" bIns="0">
            <a:spAutoFit/>
          </a:bodyPr>
          <a:lstStyle/>
          <a:p>
            <a:pPr algn="ctr"/>
            <a:r>
              <a:rPr sz="3200" b="0" i="1" dirty="0" err="1">
                <a:solidFill>
                  <a:srgbClr val="1F4530"/>
                </a:solidFill>
                <a:latin typeface="Playfair Display"/>
              </a:rPr>
              <a:t>Tatlong</a:t>
            </a:r>
            <a:r>
              <a:rPr sz="3200" b="0" i="1" dirty="0">
                <a:solidFill>
                  <a:srgbClr val="1F4530"/>
                </a:solidFill>
                <a:latin typeface="Playfair Display"/>
              </a:rPr>
              <a:t> commitments. </a:t>
            </a:r>
            <a:r>
              <a:rPr sz="3200" b="0" i="1" dirty="0" err="1">
                <a:solidFill>
                  <a:srgbClr val="1F4530"/>
                </a:solidFill>
                <a:latin typeface="Playfair Display"/>
              </a:rPr>
              <a:t>Konkreto</a:t>
            </a:r>
            <a:r>
              <a:rPr sz="3200" b="0" i="1" dirty="0">
                <a:solidFill>
                  <a:srgbClr val="1F4530"/>
                </a:solidFill>
                <a:latin typeface="Playfair Display"/>
              </a:rPr>
              <a:t>. Hindi vague. </a:t>
            </a:r>
            <a:r>
              <a:rPr sz="3200" b="0" i="1" dirty="0" err="1">
                <a:solidFill>
                  <a:srgbClr val="1F4530"/>
                </a:solidFill>
                <a:latin typeface="Playfair Display"/>
              </a:rPr>
              <a:t>Nakasulat</a:t>
            </a:r>
            <a:r>
              <a:rPr sz="3200" b="0" i="1" dirty="0">
                <a:solidFill>
                  <a:srgbClr val="1F4530"/>
                </a:solidFill>
                <a:latin typeface="Playfair Display"/>
              </a:rPr>
              <a:t>.</a:t>
            </a:r>
          </a:p>
        </p:txBody>
      </p:sp>
      <p:sp>
        <p:nvSpPr>
          <p:cNvPr id="7" name="TextBox 6"/>
          <p:cNvSpPr txBox="1"/>
          <p:nvPr/>
        </p:nvSpPr>
        <p:spPr>
          <a:xfrm>
            <a:off x="731520" y="5731484"/>
            <a:ext cx="10728655" cy="615553"/>
          </a:xfrm>
          <a:prstGeom prst="rect">
            <a:avLst/>
          </a:prstGeom>
          <a:noFill/>
        </p:spPr>
        <p:txBody>
          <a:bodyPr wrap="square" lIns="0" tIns="0" rIns="0" bIns="0">
            <a:spAutoFit/>
          </a:bodyPr>
          <a:lstStyle/>
          <a:p>
            <a:pPr algn="ctr"/>
            <a:r>
              <a:rPr sz="2000" b="0" i="1" dirty="0">
                <a:solidFill>
                  <a:srgbClr val="1F4530"/>
                </a:solidFill>
                <a:latin typeface="DM Sans"/>
              </a:rPr>
              <a:t>Mga </a:t>
            </a:r>
            <a:r>
              <a:rPr sz="2000" b="0" i="1" dirty="0" err="1">
                <a:solidFill>
                  <a:srgbClr val="1F4530"/>
                </a:solidFill>
                <a:latin typeface="DM Sans"/>
              </a:rPr>
              <a:t>lalaki</a:t>
            </a:r>
            <a:r>
              <a:rPr sz="2000" b="0" i="1" dirty="0">
                <a:solidFill>
                  <a:srgbClr val="1F4530"/>
                </a:solidFill>
                <a:latin typeface="DM Sans"/>
              </a:rPr>
              <a:t>, </a:t>
            </a:r>
            <a:r>
              <a:rPr sz="2000" b="0" i="1" dirty="0" err="1">
                <a:solidFill>
                  <a:srgbClr val="1F4530"/>
                </a:solidFill>
                <a:latin typeface="DM Sans"/>
              </a:rPr>
              <a:t>mahalin</a:t>
            </a:r>
            <a:r>
              <a:rPr sz="2000" b="0" i="1" dirty="0">
                <a:solidFill>
                  <a:srgbClr val="1F4530"/>
                </a:solidFill>
                <a:latin typeface="DM Sans"/>
              </a:rPr>
              <a:t> </a:t>
            </a:r>
            <a:r>
              <a:rPr sz="2000" b="0" i="1" dirty="0" err="1">
                <a:solidFill>
                  <a:srgbClr val="1F4530"/>
                </a:solidFill>
                <a:latin typeface="DM Sans"/>
              </a:rPr>
              <a:t>ninyo</a:t>
            </a:r>
            <a:r>
              <a:rPr sz="2000" b="0" i="1" dirty="0">
                <a:solidFill>
                  <a:srgbClr val="1F4530"/>
                </a:solidFill>
                <a:latin typeface="DM Sans"/>
              </a:rPr>
              <a:t> ang </a:t>
            </a:r>
            <a:r>
              <a:rPr sz="2000" b="0" i="1" dirty="0" err="1">
                <a:solidFill>
                  <a:srgbClr val="1F4530"/>
                </a:solidFill>
                <a:latin typeface="DM Sans"/>
              </a:rPr>
              <a:t>inyong</a:t>
            </a:r>
            <a:r>
              <a:rPr sz="2000" b="0" i="1" dirty="0">
                <a:solidFill>
                  <a:srgbClr val="1F4530"/>
                </a:solidFill>
                <a:latin typeface="DM Sans"/>
              </a:rPr>
              <a:t> </a:t>
            </a:r>
            <a:r>
              <a:rPr sz="2000" b="0" i="1" dirty="0" err="1">
                <a:solidFill>
                  <a:srgbClr val="1F4530"/>
                </a:solidFill>
                <a:latin typeface="DM Sans"/>
              </a:rPr>
              <a:t>asawa</a:t>
            </a:r>
            <a:r>
              <a:rPr sz="2000" b="0" i="1" dirty="0">
                <a:solidFill>
                  <a:srgbClr val="1F4530"/>
                </a:solidFill>
                <a:latin typeface="DM Sans"/>
              </a:rPr>
              <a:t> </a:t>
            </a:r>
            <a:r>
              <a:rPr sz="2000" b="0" i="1" dirty="0" err="1">
                <a:solidFill>
                  <a:srgbClr val="1F4530"/>
                </a:solidFill>
                <a:latin typeface="DM Sans"/>
              </a:rPr>
              <a:t>na</a:t>
            </a:r>
            <a:r>
              <a:rPr sz="2000" b="0" i="1" dirty="0">
                <a:solidFill>
                  <a:srgbClr val="1F4530"/>
                </a:solidFill>
                <a:latin typeface="DM Sans"/>
              </a:rPr>
              <a:t> </a:t>
            </a:r>
            <a:r>
              <a:rPr sz="2000" b="0" i="1" dirty="0" err="1">
                <a:solidFill>
                  <a:srgbClr val="1F4530"/>
                </a:solidFill>
                <a:latin typeface="DM Sans"/>
              </a:rPr>
              <a:t>gaya</a:t>
            </a:r>
            <a:r>
              <a:rPr sz="2000" b="0" i="1" dirty="0">
                <a:solidFill>
                  <a:srgbClr val="1F4530"/>
                </a:solidFill>
                <a:latin typeface="DM Sans"/>
              </a:rPr>
              <a:t> ng </a:t>
            </a:r>
            <a:r>
              <a:rPr sz="2000" b="0" i="1" dirty="0" err="1">
                <a:solidFill>
                  <a:srgbClr val="1F4530"/>
                </a:solidFill>
                <a:latin typeface="DM Sans"/>
              </a:rPr>
              <a:t>pagmamahal</a:t>
            </a:r>
            <a:r>
              <a:rPr sz="2000" b="0" i="1" dirty="0">
                <a:solidFill>
                  <a:srgbClr val="1F4530"/>
                </a:solidFill>
                <a:latin typeface="DM Sans"/>
              </a:rPr>
              <a:t> </a:t>
            </a:r>
            <a:r>
              <a:rPr sz="2000" b="0" i="1" dirty="0" err="1">
                <a:solidFill>
                  <a:srgbClr val="1F4530"/>
                </a:solidFill>
                <a:latin typeface="DM Sans"/>
              </a:rPr>
              <a:t>ni</a:t>
            </a:r>
            <a:r>
              <a:rPr sz="2000" b="0" i="1" dirty="0">
                <a:solidFill>
                  <a:srgbClr val="1F4530"/>
                </a:solidFill>
                <a:latin typeface="DM Sans"/>
              </a:rPr>
              <a:t> Cristo </a:t>
            </a:r>
            <a:r>
              <a:rPr sz="2000" b="0" i="1" dirty="0" err="1">
                <a:solidFill>
                  <a:srgbClr val="1F4530"/>
                </a:solidFill>
                <a:latin typeface="DM Sans"/>
              </a:rPr>
              <a:t>sa</a:t>
            </a:r>
            <a:r>
              <a:rPr sz="2000" b="0" i="1" dirty="0">
                <a:solidFill>
                  <a:srgbClr val="1F4530"/>
                </a:solidFill>
                <a:latin typeface="DM Sans"/>
              </a:rPr>
              <a:t> </a:t>
            </a:r>
            <a:r>
              <a:rPr sz="2000" b="0" i="1" dirty="0" err="1">
                <a:solidFill>
                  <a:srgbClr val="1F4530"/>
                </a:solidFill>
                <a:latin typeface="DM Sans"/>
              </a:rPr>
              <a:t>iglesya</a:t>
            </a:r>
            <a:r>
              <a:rPr sz="2000" b="0" i="1" dirty="0">
                <a:solidFill>
                  <a:srgbClr val="1F4530"/>
                </a:solidFill>
                <a:latin typeface="DM Sans"/>
              </a:rPr>
              <a:t>. — Eph 5:25</a:t>
            </a:r>
          </a:p>
        </p:txBody>
      </p:sp>
      <p:sp>
        <p:nvSpPr>
          <p:cNvPr id="8" name="TextBox 7"/>
          <p:cNvSpPr txBox="1"/>
          <p:nvPr/>
        </p:nvSpPr>
        <p:spPr>
          <a:xfrm>
            <a:off x="11576003" y="6400800"/>
            <a:ext cx="432812" cy="276999"/>
          </a:xfrm>
          <a:prstGeom prst="rect">
            <a:avLst/>
          </a:prstGeom>
          <a:noFill/>
        </p:spPr>
        <p:txBody>
          <a:bodyPr wrap="none" lIns="0" rIns="0">
            <a:spAutoFit/>
          </a:bodyPr>
          <a:lstStyle/>
          <a:p>
            <a:pPr algn="r"/>
            <a:r>
              <a:rPr sz="1200" b="1">
                <a:solidFill>
                  <a:srgbClr val="1F4530"/>
                </a:solidFill>
                <a:latin typeface="DM Sans"/>
              </a:rPr>
              <a:t>23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2 min · ⌛00:40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b="1">
                <a:solidFill>
                  <a:srgbClr val="2A5C40"/>
                </a:solidFill>
                <a:latin typeface="DM Sans"/>
              </a:rPr>
              <a:t>DALHIN · WATCH + EOLO</a:t>
            </a:r>
          </a:p>
        </p:txBody>
      </p:sp>
      <p:sp>
        <p:nvSpPr>
          <p:cNvPr id="4" name="TextBox 3"/>
          <p:cNvSpPr txBox="1"/>
          <p:nvPr/>
        </p:nvSpPr>
        <p:spPr>
          <a:xfrm>
            <a:off x="731520" y="1143000"/>
            <a:ext cx="10728655" cy="830997"/>
          </a:xfrm>
          <a:prstGeom prst="rect">
            <a:avLst/>
          </a:prstGeom>
          <a:noFill/>
        </p:spPr>
        <p:txBody>
          <a:bodyPr wrap="square" lIns="0" tIns="0" rIns="0" bIns="0">
            <a:spAutoFit/>
          </a:bodyPr>
          <a:lstStyle/>
          <a:p>
            <a:pPr algn="ctr"/>
            <a:r>
              <a:rPr sz="5400" b="1" i="0">
                <a:solidFill>
                  <a:srgbClr val="1A2E22"/>
                </a:solidFill>
                <a:latin typeface="Playfair Display"/>
              </a:rPr>
              <a:t>7-Sunday Watch</a:t>
            </a:r>
          </a:p>
        </p:txBody>
      </p:sp>
      <p:sp>
        <p:nvSpPr>
          <p:cNvPr id="5" name="TextBox 4"/>
          <p:cNvSpPr txBox="1"/>
          <p:nvPr/>
        </p:nvSpPr>
        <p:spPr>
          <a:xfrm>
            <a:off x="731520" y="2240280"/>
            <a:ext cx="10728655" cy="369332"/>
          </a:xfrm>
          <a:prstGeom prst="rect">
            <a:avLst/>
          </a:prstGeom>
          <a:noFill/>
        </p:spPr>
        <p:txBody>
          <a:bodyPr wrap="square" lIns="0" tIns="0" rIns="0" bIns="0">
            <a:spAutoFit/>
          </a:bodyPr>
          <a:lstStyle/>
          <a:p>
            <a:pPr algn="ctr"/>
            <a:r>
              <a:rPr sz="2400" b="0" i="1">
                <a:solidFill>
                  <a:srgbClr val="1A2E22"/>
                </a:solidFill>
                <a:latin typeface="DM Sans"/>
              </a:rPr>
              <a:t>Susunod na 7 Linggo · ✓ ang araw · isulat ang strengthening act.</a:t>
            </a:r>
          </a:p>
        </p:txBody>
      </p:sp>
      <p:sp>
        <p:nvSpPr>
          <p:cNvPr id="6" name="TextBox 5"/>
          <p:cNvSpPr txBox="1"/>
          <p:nvPr/>
        </p:nvSpPr>
        <p:spPr>
          <a:xfrm>
            <a:off x="731520" y="3387026"/>
            <a:ext cx="10728655" cy="615553"/>
          </a:xfrm>
          <a:prstGeom prst="rect">
            <a:avLst/>
          </a:prstGeom>
          <a:noFill/>
        </p:spPr>
        <p:txBody>
          <a:bodyPr wrap="square" lIns="0" tIns="0" rIns="0" bIns="0">
            <a:spAutoFit/>
          </a:bodyPr>
          <a:lstStyle/>
          <a:p>
            <a:pPr algn="ctr"/>
            <a:r>
              <a:rPr sz="4000" b="1" i="1">
                <a:solidFill>
                  <a:srgbClr val="A04646"/>
                </a:solidFill>
                <a:latin typeface="Playfair Display"/>
              </a:rPr>
              <a:t>EOLO Bridge:</a:t>
            </a:r>
          </a:p>
        </p:txBody>
      </p:sp>
      <p:sp>
        <p:nvSpPr>
          <p:cNvPr id="7" name="TextBox 6"/>
          <p:cNvSpPr txBox="1"/>
          <p:nvPr/>
        </p:nvSpPr>
        <p:spPr>
          <a:xfrm>
            <a:off x="731520" y="4101306"/>
            <a:ext cx="10728655" cy="984885"/>
          </a:xfrm>
          <a:prstGeom prst="rect">
            <a:avLst/>
          </a:prstGeom>
          <a:noFill/>
        </p:spPr>
        <p:txBody>
          <a:bodyPr wrap="square" lIns="0" tIns="0" rIns="0" bIns="0">
            <a:spAutoFit/>
          </a:bodyPr>
          <a:lstStyle/>
          <a:p>
            <a:pPr algn="ctr"/>
            <a:r>
              <a:rPr sz="3200" b="0" i="1" dirty="0">
                <a:solidFill>
                  <a:srgbClr val="1A2E22"/>
                </a:solidFill>
                <a:latin typeface="Playfair Display"/>
              </a:rPr>
              <a:t>May isa </a:t>
            </a:r>
            <a:r>
              <a:rPr sz="3200" b="0" i="1" dirty="0" err="1">
                <a:solidFill>
                  <a:srgbClr val="1A2E22"/>
                </a:solidFill>
                <a:latin typeface="Playfair Display"/>
              </a:rPr>
              <a:t>ba</a:t>
            </a:r>
            <a:r>
              <a:rPr sz="3200" b="0" i="1" dirty="0">
                <a:solidFill>
                  <a:srgbClr val="1A2E22"/>
                </a:solidFill>
                <a:latin typeface="Playfair Display"/>
              </a:rPr>
              <a:t> </a:t>
            </a:r>
            <a:r>
              <a:rPr sz="3200" b="0" i="1" dirty="0" err="1">
                <a:solidFill>
                  <a:srgbClr val="1A2E22"/>
                </a:solidFill>
                <a:latin typeface="Playfair Display"/>
              </a:rPr>
              <a:t>sa</a:t>
            </a:r>
            <a:r>
              <a:rPr sz="3200" b="0" i="1" dirty="0">
                <a:solidFill>
                  <a:srgbClr val="1A2E22"/>
                </a:solidFill>
                <a:latin typeface="Playfair Display"/>
              </a:rPr>
              <a:t> EOLO names </a:t>
            </a:r>
            <a:r>
              <a:rPr sz="3200" b="0" i="1" dirty="0" err="1">
                <a:solidFill>
                  <a:srgbClr val="1A2E22"/>
                </a:solidFill>
                <a:latin typeface="Playfair Display"/>
              </a:rPr>
              <a:t>mo</a:t>
            </a:r>
            <a:r>
              <a:rPr sz="3200" b="0" i="1" dirty="0">
                <a:solidFill>
                  <a:srgbClr val="1A2E22"/>
                </a:solidFill>
                <a:latin typeface="Playfair Display"/>
              </a:rPr>
              <a:t> </a:t>
            </a:r>
            <a:r>
              <a:rPr sz="3200" b="0" i="1" dirty="0" err="1">
                <a:solidFill>
                  <a:srgbClr val="1A2E22"/>
                </a:solidFill>
                <a:latin typeface="Playfair Display"/>
              </a:rPr>
              <a:t>na</a:t>
            </a:r>
            <a:r>
              <a:rPr sz="3200" b="0" i="1" dirty="0">
                <a:solidFill>
                  <a:srgbClr val="1A2E22"/>
                </a:solidFill>
                <a:latin typeface="Playfair Display"/>
              </a:rPr>
              <a:t> ii-</a:t>
            </a:r>
            <a:r>
              <a:rPr sz="3200" b="0" i="1" dirty="0" err="1">
                <a:solidFill>
                  <a:srgbClr val="1A2E22"/>
                </a:solidFill>
                <a:latin typeface="Playfair Display"/>
              </a:rPr>
              <a:t>imbita</a:t>
            </a:r>
            <a:r>
              <a:rPr sz="3200" b="0" i="1" dirty="0">
                <a:solidFill>
                  <a:srgbClr val="1A2E22"/>
                </a:solidFill>
                <a:latin typeface="Playfair Display"/>
              </a:rPr>
              <a:t> </a:t>
            </a:r>
            <a:r>
              <a:rPr sz="3200" b="0" i="1" dirty="0" err="1">
                <a:solidFill>
                  <a:srgbClr val="1A2E22"/>
                </a:solidFill>
                <a:latin typeface="Playfair Display"/>
              </a:rPr>
              <a:t>mo</a:t>
            </a:r>
            <a:r>
              <a:rPr sz="3200" b="0" i="1" dirty="0">
                <a:solidFill>
                  <a:srgbClr val="1A2E22"/>
                </a:solidFill>
                <a:latin typeface="Playfair Display"/>
              </a:rPr>
              <a:t> </a:t>
            </a:r>
            <a:r>
              <a:rPr sz="3200" b="0" i="1" dirty="0" err="1">
                <a:solidFill>
                  <a:srgbClr val="1A2E22"/>
                </a:solidFill>
                <a:latin typeface="Playfair Display"/>
              </a:rPr>
              <a:t>sa</a:t>
            </a:r>
            <a:r>
              <a:rPr sz="3200" b="0" i="1" dirty="0">
                <a:solidFill>
                  <a:srgbClr val="1A2E22"/>
                </a:solidFill>
                <a:latin typeface="Playfair Display"/>
              </a:rPr>
              <a:t> church </a:t>
            </a:r>
            <a:r>
              <a:rPr sz="3200" b="0" i="1" dirty="0" err="1">
                <a:solidFill>
                  <a:srgbClr val="1A2E22"/>
                </a:solidFill>
                <a:latin typeface="Playfair Display"/>
              </a:rPr>
              <a:t>ngayong</a:t>
            </a:r>
            <a:r>
              <a:rPr sz="3200" b="0" i="1" dirty="0">
                <a:solidFill>
                  <a:srgbClr val="1A2E22"/>
                </a:solidFill>
                <a:latin typeface="Playfair Display"/>
              </a:rPr>
              <a:t> </a:t>
            </a:r>
            <a:r>
              <a:rPr sz="3200" b="0" i="1" dirty="0" err="1">
                <a:solidFill>
                  <a:srgbClr val="1A2E22"/>
                </a:solidFill>
                <a:latin typeface="Playfair Display"/>
              </a:rPr>
              <a:t>Linggo</a:t>
            </a:r>
            <a:r>
              <a:rPr sz="3200" b="0" i="1" dirty="0">
                <a:solidFill>
                  <a:srgbClr val="1A2E22"/>
                </a:solidFill>
                <a:latin typeface="Playfair Display"/>
              </a:rPr>
              <a:t>?</a:t>
            </a:r>
          </a:p>
        </p:txBody>
      </p:sp>
      <p:sp>
        <p:nvSpPr>
          <p:cNvPr id="8" name="TextBox 7"/>
          <p:cNvSpPr txBox="1"/>
          <p:nvPr/>
        </p:nvSpPr>
        <p:spPr>
          <a:xfrm>
            <a:off x="731520" y="5299016"/>
            <a:ext cx="10728655" cy="984885"/>
          </a:xfrm>
          <a:prstGeom prst="rect">
            <a:avLst/>
          </a:prstGeom>
          <a:noFill/>
        </p:spPr>
        <p:txBody>
          <a:bodyPr wrap="square" lIns="0" tIns="0" rIns="0" bIns="0">
            <a:spAutoFit/>
          </a:bodyPr>
          <a:lstStyle/>
          <a:p>
            <a:pPr algn="ctr"/>
            <a:r>
              <a:rPr sz="3200" b="0" i="1" dirty="0">
                <a:solidFill>
                  <a:srgbClr val="1A2E22"/>
                </a:solidFill>
                <a:latin typeface="Playfair Display"/>
              </a:rPr>
              <a:t>Hindi </a:t>
            </a:r>
            <a:r>
              <a:rPr sz="3200" b="0" i="1" dirty="0" err="1">
                <a:solidFill>
                  <a:srgbClr val="1A2E22"/>
                </a:solidFill>
                <a:latin typeface="Playfair Display"/>
              </a:rPr>
              <a:t>mañana</a:t>
            </a:r>
            <a:r>
              <a:rPr sz="3200" b="0" i="1" dirty="0">
                <a:solidFill>
                  <a:srgbClr val="1A2E22"/>
                </a:solidFill>
                <a:latin typeface="Playfair Display"/>
              </a:rPr>
              <a:t>. Hindi "</a:t>
            </a:r>
            <a:r>
              <a:rPr sz="3200" b="0" i="1" dirty="0" err="1">
                <a:solidFill>
                  <a:srgbClr val="1A2E22"/>
                </a:solidFill>
                <a:latin typeface="Playfair Display"/>
              </a:rPr>
              <a:t>tingnan</a:t>
            </a:r>
            <a:r>
              <a:rPr sz="3200" b="0" i="1" dirty="0">
                <a:solidFill>
                  <a:srgbClr val="1A2E22"/>
                </a:solidFill>
                <a:latin typeface="Playfair Display"/>
              </a:rPr>
              <a:t> ko."</a:t>
            </a:r>
          </a:p>
          <a:p>
            <a:pPr algn="ctr"/>
            <a:r>
              <a:rPr sz="3200" b="0" i="1" dirty="0" err="1">
                <a:solidFill>
                  <a:srgbClr val="1A2E22"/>
                </a:solidFill>
                <a:latin typeface="Playfair Display"/>
              </a:rPr>
              <a:t>Ngayong</a:t>
            </a:r>
            <a:r>
              <a:rPr sz="3200" b="0" i="1" dirty="0">
                <a:solidFill>
                  <a:srgbClr val="1A2E22"/>
                </a:solidFill>
                <a:latin typeface="Playfair Display"/>
              </a:rPr>
              <a:t> </a:t>
            </a:r>
            <a:r>
              <a:rPr sz="3200" b="0" i="1" dirty="0" err="1">
                <a:solidFill>
                  <a:srgbClr val="1A2E22"/>
                </a:solidFill>
                <a:latin typeface="Playfair Display"/>
              </a:rPr>
              <a:t>Linggo</a:t>
            </a:r>
            <a:r>
              <a:rPr sz="3200" b="0" i="1" dirty="0">
                <a:solidFill>
                  <a:srgbClr val="1A2E22"/>
                </a:solidFill>
                <a:latin typeface="Playfair Display"/>
              </a:rPr>
              <a:t>.</a:t>
            </a:r>
          </a:p>
        </p:txBody>
      </p:sp>
      <p:sp>
        <p:nvSpPr>
          <p:cNvPr id="9" name="TextBox 8"/>
          <p:cNvSpPr txBox="1"/>
          <p:nvPr/>
        </p:nvSpPr>
        <p:spPr>
          <a:xfrm>
            <a:off x="11567989" y="6400800"/>
            <a:ext cx="440826" cy="276999"/>
          </a:xfrm>
          <a:prstGeom prst="rect">
            <a:avLst/>
          </a:prstGeom>
          <a:noFill/>
        </p:spPr>
        <p:txBody>
          <a:bodyPr wrap="none" lIns="0" rIns="0">
            <a:spAutoFit/>
          </a:bodyPr>
          <a:lstStyle/>
          <a:p>
            <a:pPr algn="r"/>
            <a:r>
              <a:rPr sz="1200" b="1">
                <a:solidFill>
                  <a:srgbClr val="1A2E22"/>
                </a:solidFill>
                <a:latin typeface="DM Sans"/>
              </a:rPr>
              <a:t>25 / 29</a:t>
            </a:r>
          </a:p>
        </p:txBody>
      </p:sp>
      <p:sp>
        <p:nvSpPr>
          <p:cNvPr id="10" name="Rounded Rectangle 9"/>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2 min · ⌛00:52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A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495647" y="548640"/>
            <a:ext cx="3200400"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D4A854"/>
                </a:solidFill>
                <a:latin typeface="DM Sans"/>
              </a:rPr>
              <a:t>DALHIN · PANGAKO KO</a:t>
            </a:r>
          </a:p>
        </p:txBody>
      </p:sp>
      <p:sp>
        <p:nvSpPr>
          <p:cNvPr id="4" name="TextBox 3"/>
          <p:cNvSpPr txBox="1"/>
          <p:nvPr/>
        </p:nvSpPr>
        <p:spPr>
          <a:xfrm>
            <a:off x="731520" y="1143000"/>
            <a:ext cx="10728655" cy="677108"/>
          </a:xfrm>
          <a:prstGeom prst="rect">
            <a:avLst/>
          </a:prstGeom>
          <a:noFill/>
        </p:spPr>
        <p:txBody>
          <a:bodyPr wrap="square" lIns="0" tIns="0" rIns="0" bIns="0">
            <a:spAutoFit/>
          </a:bodyPr>
          <a:lstStyle/>
          <a:p>
            <a:pPr algn="ctr"/>
            <a:r>
              <a:rPr sz="4400" b="1" i="0">
                <a:solidFill>
                  <a:srgbClr val="FDFBF6"/>
                </a:solidFill>
                <a:latin typeface="Playfair Display"/>
              </a:rPr>
              <a:t>Pangako Ko</a:t>
            </a:r>
          </a:p>
        </p:txBody>
      </p:sp>
      <p:sp>
        <p:nvSpPr>
          <p:cNvPr id="5" name="Rounded Rectangle 4"/>
          <p:cNvSpPr/>
          <p:nvPr/>
        </p:nvSpPr>
        <p:spPr>
          <a:xfrm>
            <a:off x="914400" y="2240280"/>
            <a:ext cx="10362895" cy="2468880"/>
          </a:xfrm>
          <a:prstGeom prst="roundRect">
            <a:avLst/>
          </a:prstGeom>
          <a:solidFill>
            <a:srgbClr val="FDFBF6"/>
          </a:solidFill>
          <a:ln w="38100">
            <a:solidFill>
              <a:srgbClr val="B8882A"/>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l"/>
            <a:r>
              <a:rPr sz="2800" i="1">
                <a:solidFill>
                  <a:srgbClr val="1F4530"/>
                </a:solidFill>
                <a:latin typeface="Playfair Display"/>
              </a:rPr>
              <a:t>Hindi ako magiging show-up-when-I-feel-like-it.</a:t>
            </a:r>
          </a:p>
          <a:p>
            <a:pPr algn="l">
              <a:spcBef>
                <a:spcPts val="800"/>
              </a:spcBef>
            </a:pPr>
            <a:r>
              <a:rPr sz="2800" i="1">
                <a:solidFill>
                  <a:srgbClr val="1F4530"/>
                </a:solidFill>
                <a:latin typeface="Playfair Display"/>
              </a:rPr>
              <a:t>Hindi ko ititira ang aking kapatid sa pintuan ng pagsamba.</a:t>
            </a:r>
          </a:p>
          <a:p>
            <a:pPr algn="l">
              <a:spcBef>
                <a:spcPts val="800"/>
              </a:spcBef>
            </a:pPr>
            <a:r>
              <a:rPr sz="2800" i="1">
                <a:solidFill>
                  <a:srgbClr val="1F4530"/>
                </a:solidFill>
                <a:latin typeface="Playfair Display"/>
              </a:rPr>
              <a:t>Susulpot ako sa Linggo. Buong tao. Bawat linggo.</a:t>
            </a:r>
          </a:p>
          <a:p>
            <a:pPr algn="l">
              <a:spcBef>
                <a:spcPts val="800"/>
              </a:spcBef>
            </a:pPr>
            <a:r>
              <a:rPr sz="2800" i="1">
                <a:solidFill>
                  <a:srgbClr val="1F4530"/>
                </a:solidFill>
                <a:latin typeface="Playfair Display"/>
              </a:rPr>
              <a:t>Dahil mahal Niya ang Iglesya — at parte ako ng Kanyang Bride.</a:t>
            </a:r>
          </a:p>
        </p:txBody>
      </p:sp>
      <p:sp>
        <p:nvSpPr>
          <p:cNvPr id="6" name="TextBox 5"/>
          <p:cNvSpPr txBox="1"/>
          <p:nvPr/>
        </p:nvSpPr>
        <p:spPr>
          <a:xfrm>
            <a:off x="731520" y="5118390"/>
            <a:ext cx="10728655" cy="307777"/>
          </a:xfrm>
          <a:prstGeom prst="rect">
            <a:avLst/>
          </a:prstGeom>
          <a:noFill/>
        </p:spPr>
        <p:txBody>
          <a:bodyPr wrap="square" lIns="0" tIns="0" rIns="0" bIns="0">
            <a:spAutoFit/>
          </a:bodyPr>
          <a:lstStyle/>
          <a:p>
            <a:pPr algn="ctr"/>
            <a:r>
              <a:rPr sz="2000" b="0" i="1" dirty="0" err="1">
                <a:solidFill>
                  <a:srgbClr val="FDFBF6"/>
                </a:solidFill>
                <a:latin typeface="DM Sans"/>
              </a:rPr>
              <a:t>Bigkasin</a:t>
            </a:r>
            <a:r>
              <a:rPr sz="2000" b="0" i="1" dirty="0">
                <a:solidFill>
                  <a:srgbClr val="FDFBF6"/>
                </a:solidFill>
                <a:latin typeface="DM Sans"/>
              </a:rPr>
              <a:t> </a:t>
            </a:r>
            <a:r>
              <a:rPr sz="2000" b="0" i="1" dirty="0" err="1">
                <a:solidFill>
                  <a:srgbClr val="FDFBF6"/>
                </a:solidFill>
                <a:latin typeface="DM Sans"/>
              </a:rPr>
              <a:t>nang</a:t>
            </a:r>
            <a:r>
              <a:rPr sz="2000" b="0" i="1" dirty="0">
                <a:solidFill>
                  <a:srgbClr val="FDFBF6"/>
                </a:solidFill>
                <a:latin typeface="DM Sans"/>
              </a:rPr>
              <a:t> </a:t>
            </a:r>
            <a:r>
              <a:rPr sz="2000" b="0" i="1" dirty="0" err="1">
                <a:solidFill>
                  <a:srgbClr val="FDFBF6"/>
                </a:solidFill>
                <a:latin typeface="DM Sans"/>
              </a:rPr>
              <a:t>malakas</a:t>
            </a:r>
            <a:r>
              <a:rPr sz="2000" b="0" i="1" dirty="0">
                <a:solidFill>
                  <a:srgbClr val="FDFBF6"/>
                </a:solidFill>
                <a:latin typeface="DM Sans"/>
              </a:rPr>
              <a:t> · "Saksi ka." · "Saksi </a:t>
            </a:r>
            <a:r>
              <a:rPr sz="2000" b="0" i="1" dirty="0" err="1">
                <a:solidFill>
                  <a:srgbClr val="FDFBF6"/>
                </a:solidFill>
                <a:latin typeface="DM Sans"/>
              </a:rPr>
              <a:t>ako</a:t>
            </a:r>
            <a:r>
              <a:rPr sz="2000" b="0" i="1" dirty="0">
                <a:solidFill>
                  <a:srgbClr val="FDFBF6"/>
                </a:solidFill>
                <a:latin typeface="DM Sans"/>
              </a:rPr>
              <a:t>."</a:t>
            </a:r>
          </a:p>
        </p:txBody>
      </p:sp>
      <p:sp>
        <p:nvSpPr>
          <p:cNvPr id="7" name="TextBox 6"/>
          <p:cNvSpPr txBox="1"/>
          <p:nvPr/>
        </p:nvSpPr>
        <p:spPr>
          <a:xfrm>
            <a:off x="11571195" y="6400800"/>
            <a:ext cx="437620" cy="276999"/>
          </a:xfrm>
          <a:prstGeom prst="rect">
            <a:avLst/>
          </a:prstGeom>
          <a:noFill/>
        </p:spPr>
        <p:txBody>
          <a:bodyPr wrap="none" lIns="0" rIns="0">
            <a:spAutoFit/>
          </a:bodyPr>
          <a:lstStyle/>
          <a:p>
            <a:pPr algn="r"/>
            <a:r>
              <a:rPr sz="1200" b="1">
                <a:solidFill>
                  <a:srgbClr val="FDFBF6"/>
                </a:solidFill>
                <a:latin typeface="DM Sans"/>
              </a:rPr>
              <a:t>27 / 29</a:t>
            </a:r>
          </a:p>
        </p:txBody>
      </p:sp>
      <p:sp>
        <p:nvSpPr>
          <p:cNvPr id="8" name="Rounded Rectangle 7"/>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2 min · ⌛00:57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4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432748" y="548640"/>
            <a:ext cx="5066675"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lIns="182880" rIns="182880" rtlCol="0" anchor="ctr"/>
          <a:lstStyle/>
          <a:p>
            <a:pPr algn="ctr"/>
            <a:r>
              <a:rPr sz="2000" b="1">
                <a:solidFill>
                  <a:srgbClr val="D4A854"/>
                </a:solidFill>
                <a:latin typeface="DM Sans"/>
              </a:rPr>
              <a:t>L8 PREVIEW · SUSUNOD NA LINGGO</a:t>
            </a:r>
          </a:p>
        </p:txBody>
      </p:sp>
      <p:sp>
        <p:nvSpPr>
          <p:cNvPr id="4" name="TextBox 3"/>
          <p:cNvSpPr txBox="1"/>
          <p:nvPr/>
        </p:nvSpPr>
        <p:spPr>
          <a:xfrm>
            <a:off x="731520" y="1847535"/>
            <a:ext cx="10728655" cy="830997"/>
          </a:xfrm>
          <a:prstGeom prst="rect">
            <a:avLst/>
          </a:prstGeom>
          <a:noFill/>
        </p:spPr>
        <p:txBody>
          <a:bodyPr wrap="square" lIns="0" tIns="0" rIns="0" bIns="0">
            <a:spAutoFit/>
          </a:bodyPr>
          <a:lstStyle/>
          <a:p>
            <a:pPr algn="ctr"/>
            <a:r>
              <a:rPr sz="5400" b="1" i="0">
                <a:solidFill>
                  <a:srgbClr val="FDFBF6"/>
                </a:solidFill>
                <a:latin typeface="Playfair Display"/>
              </a:rPr>
              <a:t>Stewardship</a:t>
            </a:r>
          </a:p>
        </p:txBody>
      </p:sp>
      <p:sp>
        <p:nvSpPr>
          <p:cNvPr id="5" name="TextBox 4"/>
          <p:cNvSpPr txBox="1"/>
          <p:nvPr/>
        </p:nvSpPr>
        <p:spPr>
          <a:xfrm>
            <a:off x="731520" y="2944815"/>
            <a:ext cx="10728655" cy="492443"/>
          </a:xfrm>
          <a:prstGeom prst="rect">
            <a:avLst/>
          </a:prstGeom>
          <a:noFill/>
        </p:spPr>
        <p:txBody>
          <a:bodyPr wrap="square" lIns="0" tIns="0" rIns="0" bIns="0">
            <a:spAutoFit/>
          </a:bodyPr>
          <a:lstStyle/>
          <a:p>
            <a:pPr algn="ctr"/>
            <a:r>
              <a:rPr sz="3200" b="0" i="1">
                <a:solidFill>
                  <a:srgbClr val="FDFBF6"/>
                </a:solidFill>
                <a:latin typeface="Playfair Display"/>
              </a:rPr>
              <a:t>Mula sa weekly gathering → weekly giving.</a:t>
            </a:r>
          </a:p>
        </p:txBody>
      </p:sp>
      <p:sp>
        <p:nvSpPr>
          <p:cNvPr id="6" name="TextBox 5"/>
          <p:cNvSpPr txBox="1"/>
          <p:nvPr/>
        </p:nvSpPr>
        <p:spPr>
          <a:xfrm>
            <a:off x="731520" y="3767775"/>
            <a:ext cx="10728655" cy="984885"/>
          </a:xfrm>
          <a:prstGeom prst="rect">
            <a:avLst/>
          </a:prstGeom>
          <a:noFill/>
        </p:spPr>
        <p:txBody>
          <a:bodyPr wrap="square" lIns="0" tIns="0" rIns="0" bIns="0">
            <a:spAutoFit/>
          </a:bodyPr>
          <a:lstStyle/>
          <a:p>
            <a:pPr algn="ctr"/>
            <a:r>
              <a:rPr sz="3200" b="0" i="1">
                <a:solidFill>
                  <a:srgbClr val="FDFBF6"/>
                </a:solidFill>
                <a:latin typeface="Playfair Display"/>
              </a:rPr>
              <a:t>Paano ang relasyon ng disciple sa oras, talento, at pera kung tunay siyang sumusunod kay Cristo?</a:t>
            </a:r>
          </a:p>
        </p:txBody>
      </p:sp>
      <p:sp>
        <p:nvSpPr>
          <p:cNvPr id="7" name="TextBox 6"/>
          <p:cNvSpPr txBox="1"/>
          <p:nvPr/>
        </p:nvSpPr>
        <p:spPr>
          <a:xfrm>
            <a:off x="731520" y="5205328"/>
            <a:ext cx="10728655" cy="307777"/>
          </a:xfrm>
          <a:prstGeom prst="rect">
            <a:avLst/>
          </a:prstGeom>
          <a:noFill/>
        </p:spPr>
        <p:txBody>
          <a:bodyPr wrap="square" lIns="0" tIns="0" rIns="0" bIns="0">
            <a:spAutoFit/>
          </a:bodyPr>
          <a:lstStyle/>
          <a:p>
            <a:pPr algn="ctr"/>
            <a:r>
              <a:rPr sz="2000" b="0" i="1" dirty="0">
                <a:solidFill>
                  <a:srgbClr val="FDFBF6"/>
                </a:solidFill>
                <a:latin typeface="DM Sans"/>
              </a:rPr>
              <a:t>"A student who is fully trained will be like their teacher." — Luke 6:40</a:t>
            </a:r>
          </a:p>
        </p:txBody>
      </p:sp>
      <p:sp>
        <p:nvSpPr>
          <p:cNvPr id="8" name="TextBox 7"/>
          <p:cNvSpPr txBox="1"/>
          <p:nvPr/>
        </p:nvSpPr>
        <p:spPr>
          <a:xfrm>
            <a:off x="11569591" y="6400800"/>
            <a:ext cx="439224" cy="276999"/>
          </a:xfrm>
          <a:prstGeom prst="rect">
            <a:avLst/>
          </a:prstGeom>
          <a:noFill/>
        </p:spPr>
        <p:txBody>
          <a:bodyPr wrap="none" lIns="0" rIns="0">
            <a:spAutoFit/>
          </a:bodyPr>
          <a:lstStyle/>
          <a:p>
            <a:pPr algn="r"/>
            <a:r>
              <a:rPr sz="1200" b="1">
                <a:solidFill>
                  <a:srgbClr val="FDFBF6"/>
                </a:solidFill>
                <a:latin typeface="DM Sans"/>
              </a:rPr>
              <a:t>29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2 min · ⌛01:00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PUKAW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4400" b="1" i="0">
                <a:solidFill>
                  <a:srgbClr val="FEFCF8"/>
                </a:solidFill>
                <a:latin typeface="Calibri"/>
              </a:rPr>
              <a:t>Kumusta ang Pangako Ko mo nung nakaraang linggo? Sino sa Box 4 mo ang ipinanalanginan o naabot mo?</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1-2 kapatid lang — maikling balita.</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4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⌛00:03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PUKAW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5400" b="1" i="0">
                <a:solidFill>
                  <a:srgbClr val="FEFCF8"/>
                </a:solidFill>
                <a:latin typeface="Calibri"/>
              </a:rPr>
              <a:t>Sa nakalipas na 8 linggo: 1-10, gaano ka-faithful ang Sunday attendance mo?</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Tahimik na sagot — isulat sa Participant Guide. Hindi shi-share ngayon.</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5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PUKAW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5400" b="1" i="0">
                <a:solidFill>
                  <a:srgbClr val="FEFCF8"/>
                </a:solidFill>
                <a:latin typeface="Calibri"/>
              </a:rPr>
              <a:t>Anong "Church" ang nasa puso mo — at bakit ito ang napili mo?</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Pumili sa apat na larawan · isulat ang dahilan sa Participant Guide.</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7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2 min · ⌛00:08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TUKLAS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4400" b="1" i="0">
                <a:solidFill>
                  <a:srgbClr val="FEFCF8"/>
                </a:solidFill>
                <a:latin typeface="Calibri"/>
              </a:rPr>
              <a:t>Ilang Christians na nga ba ang nakita nating ma-baptize — tapos no-show na sa church?</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Maikling pag-usapan sa tables.</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10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TUKLAS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4400" b="1" i="0">
                <a:solidFill>
                  <a:srgbClr val="FEFCF8"/>
                </a:solidFill>
                <a:latin typeface="Calibri"/>
              </a:rPr>
              <a:t>Pwede bang maging matured at malakas ang isang mananampalataya kung hindi siya dumadalo at hindi nakikilahok?</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Isulat ang sagot mo at ang dahilan sa Participant Guide.</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16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TUKLAS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4400" b="1" i="0">
                <a:solidFill>
                  <a:srgbClr val="FEFCF8"/>
                </a:solidFill>
                <a:latin typeface="Calibri"/>
              </a:rPr>
              <a:t>Kapag dumating ang Araw, paano mo gustong masumpungan ni Cristo — naglilingkod kasama ng buong Church, o lumiliko sa agos ng mundo?</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Tahimik na pagninilay — isulat sa Participant Guide. Mamili ka.</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18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TALAKAY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4400" b="1" i="0">
                <a:solidFill>
                  <a:srgbClr val="FEFCF8"/>
                </a:solidFill>
                <a:latin typeface="Calibri"/>
              </a:rPr>
              <a:t>Anong rason ang madalas mong naririnig kung bakit hindi dumadalo sa church ang ibang tao?</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Sa tables — pag-usapan. Safe space: 4 rules.</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20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3 min · ⌛00:30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TALAKAY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4400" b="1" i="0">
                <a:solidFill>
                  <a:srgbClr val="FEFCF8"/>
                </a:solidFill>
                <a:latin typeface="Calibri"/>
              </a:rPr>
              <a:t>Mayroon ba talagang acceptable sa Diyos na dahilan para pumalya sa pagdalo? Kung mayroon, ano-ano? Kung wala, bakit?</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Sa tables — pag-usapan.</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21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3 min · ⌛00:33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TALAKAY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5400" b="1" i="0">
                <a:solidFill>
                  <a:srgbClr val="FEFCF8"/>
                </a:solidFill>
                <a:latin typeface="Calibri"/>
              </a:rPr>
              <a:t>Alin sa 6 na palusot ang madalas nasa puso mo? Be honest.</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Round-robin sa tables. Ang dito ay nananatili dito.</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22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5 min · ⌛00:38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TUGON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4400" b="1" i="0">
                <a:solidFill>
                  <a:srgbClr val="FEFCF8"/>
                </a:solidFill>
                <a:latin typeface="Calibri"/>
              </a:rPr>
              <a:t>"Dahil mahal ko ang Panginoong Hesus at ang aking church, nangangako ako na…" — isulat ang tatlong konkretong commitments mo.</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Silent writing sa Participant Guide. Konkreto. Hindi vague. Nakasulat.</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24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10 min · ⌛00:50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DALHIN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4400" b="1" i="0">
                <a:solidFill>
                  <a:srgbClr val="FEFCF8"/>
                </a:solidFill>
                <a:latin typeface="Calibri"/>
              </a:rPr>
              <a:t>Sino sa EOLO names mo ang ii-invite mo sa church ngayong Linggo — at anong day ng Sunday service?</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Ngayong Linggo. Hindi mañana. Hindi "tingnan ko."</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26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3 min · ⌛00:55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64592"/>
            <a:ext cx="4572000" cy="310896"/>
          </a:xfrm>
          <a:prstGeom prst="rect">
            <a:avLst/>
          </a:prstGeom>
          <a:noFill/>
        </p:spPr>
        <p:txBody>
          <a:bodyPr wrap="square" anchor="t" lIns="0" rIns="0" tIns="0" bIns="0">
            <a:spAutoFit/>
          </a:bodyPr>
          <a:lstStyle/>
          <a:p>
            <a:pPr algn="l"/>
            <a:r>
              <a:rPr sz="1100" b="1" i="0">
                <a:solidFill>
                  <a:srgbClr val="808080"/>
                </a:solidFill>
                <a:latin typeface="Calibri"/>
              </a:rPr>
              <a:t>MULTIPLY · DISCIPLE-MAKING PIPELINE</a:t>
            </a:r>
          </a:p>
        </p:txBody>
      </p:sp>
      <p:sp>
        <p:nvSpPr>
          <p:cNvPr id="4" name="TextBox 3"/>
          <p:cNvSpPr txBox="1"/>
          <p:nvPr/>
        </p:nvSpPr>
        <p:spPr>
          <a:xfrm>
            <a:off x="914400" y="658368"/>
            <a:ext cx="10363200" cy="594360"/>
          </a:xfrm>
          <a:prstGeom prst="rect">
            <a:avLst/>
          </a:prstGeom>
          <a:noFill/>
        </p:spPr>
        <p:txBody>
          <a:bodyPr wrap="square" anchor="t" lIns="0" rIns="0" tIns="0" bIns="0">
            <a:spAutoFit/>
          </a:bodyPr>
          <a:lstStyle/>
          <a:p>
            <a:pPr algn="ctr"/>
            <a:r>
              <a:rPr sz="2800" b="1" i="0">
                <a:solidFill>
                  <a:srgbClr val="D4A84A"/>
                </a:solidFill>
                <a:latin typeface="Calibri"/>
              </a:rPr>
              <a:t>🏠 DALHIN · TANONG</a:t>
            </a:r>
          </a:p>
        </p:txBody>
      </p:sp>
      <p:sp>
        <p:nvSpPr>
          <p:cNvPr id="5" name="Rounded Rectangle 4"/>
          <p:cNvSpPr/>
          <p:nvPr/>
        </p:nvSpPr>
        <p:spPr>
          <a:xfrm>
            <a:off x="3810000" y="1444752"/>
            <a:ext cx="4572000" cy="50292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600" b="1">
                <a:solidFill>
                  <a:srgbClr val="141628"/>
                </a:solidFill>
                <a:latin typeface="Calibri"/>
              </a:rPr>
              <a:t>📋 Participant Guide Question</a:t>
            </a:r>
          </a:p>
        </p:txBody>
      </p:sp>
      <p:sp>
        <p:nvSpPr>
          <p:cNvPr id="6" name="TextBox 5"/>
          <p:cNvSpPr txBox="1"/>
          <p:nvPr/>
        </p:nvSpPr>
        <p:spPr>
          <a:xfrm>
            <a:off x="914400" y="2148840"/>
            <a:ext cx="10363200" cy="3246120"/>
          </a:xfrm>
          <a:prstGeom prst="rect">
            <a:avLst/>
          </a:prstGeom>
          <a:noFill/>
        </p:spPr>
        <p:txBody>
          <a:bodyPr wrap="square" anchor="ctr" lIns="0" rIns="0" tIns="0" bIns="0">
            <a:spAutoFit/>
          </a:bodyPr>
          <a:lstStyle/>
          <a:p>
            <a:pPr algn="ctr"/>
            <a:r>
              <a:rPr sz="4400" b="1" i="0">
                <a:solidFill>
                  <a:srgbClr val="FEFCF8"/>
                </a:solidFill>
                <a:latin typeface="Calibri"/>
              </a:rPr>
              <a:t>Pagkatapos ng aralin: 1-10, gaano kahanda ang puso mo para sa faithful weekly church attendance sa susunod na 7 Linggo?</a:t>
            </a:r>
          </a:p>
        </p:txBody>
      </p:sp>
      <p:sp>
        <p:nvSpPr>
          <p:cNvPr id="7" name="TextBox 6"/>
          <p:cNvSpPr txBox="1"/>
          <p:nvPr/>
        </p:nvSpPr>
        <p:spPr>
          <a:xfrm>
            <a:off x="914400" y="5669280"/>
            <a:ext cx="10363200" cy="548640"/>
          </a:xfrm>
          <a:prstGeom prst="rect">
            <a:avLst/>
          </a:prstGeom>
          <a:noFill/>
        </p:spPr>
        <p:txBody>
          <a:bodyPr wrap="square" anchor="t" lIns="0" rIns="0" tIns="0" bIns="0">
            <a:spAutoFit/>
          </a:bodyPr>
          <a:lstStyle/>
          <a:p>
            <a:pPr algn="ctr"/>
            <a:r>
              <a:rPr sz="2400" b="0" i="1">
                <a:solidFill>
                  <a:srgbClr val="D4A84A"/>
                </a:solidFill>
                <a:latin typeface="Calibri"/>
              </a:rPr>
              <a:t>Ihambing sa PUKAW snapshot mo — tahimik na sagot.</a:t>
            </a:r>
          </a:p>
        </p:txBody>
      </p:sp>
      <p:sp>
        <p:nvSpPr>
          <p:cNvPr id="8" name="TextBox 7"/>
          <p:cNvSpPr txBox="1"/>
          <p:nvPr/>
        </p:nvSpPr>
        <p:spPr>
          <a:xfrm>
            <a:off x="10911840" y="6355080"/>
            <a:ext cx="960120" cy="310896"/>
          </a:xfrm>
          <a:prstGeom prst="rect">
            <a:avLst/>
          </a:prstGeom>
          <a:noFill/>
        </p:spPr>
        <p:txBody>
          <a:bodyPr wrap="square" anchor="t" lIns="0" rIns="0" tIns="0" bIns="0">
            <a:spAutoFit/>
          </a:bodyPr>
          <a:lstStyle/>
          <a:p>
            <a:pPr algn="r"/>
            <a:r>
              <a:rPr sz="1200" b="0" i="0">
                <a:solidFill>
                  <a:srgbClr val="808080"/>
                </a:solidFill>
                <a:latin typeface="Calibri"/>
              </a:rPr>
              <a:t>28 / 29</a:t>
            </a:r>
          </a:p>
        </p:txBody>
      </p:sp>
      <p:sp>
        <p:nvSpPr>
          <p:cNvPr id="9" name="Rounded Rectangle 8"/>
          <p:cNvSpPr/>
          <p:nvPr/>
        </p:nvSpPr>
        <p:spPr>
          <a:xfrm>
            <a:off x="9951720" y="137160"/>
            <a:ext cx="2011680" cy="384048"/>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1100" b="1">
                <a:solidFill>
                  <a:srgbClr val="141628"/>
                </a:solidFill>
                <a:latin typeface="Calibri"/>
              </a:rPr>
              <a:t>⏱ 1 min · ⌛00:58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TotalTime>
  <Words>2240</Words>
  <Application>Microsoft Office PowerPoint</Application>
  <PresentationFormat>Widescreen</PresentationFormat>
  <Paragraphs>219</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Arial</vt:lpstr>
      <vt:lpstr>Calibri</vt:lpstr>
      <vt:lpstr>DM Sans</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af30421@365mso.com</cp:lastModifiedBy>
  <cp:revision>20</cp:revision>
  <dcterms:created xsi:type="dcterms:W3CDTF">2013-01-27T09:14:16Z</dcterms:created>
  <dcterms:modified xsi:type="dcterms:W3CDTF">2026-09-19T11:47:55Z</dcterms:modified>
  <cp:category/>
</cp:coreProperties>
</file>
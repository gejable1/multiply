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project while participants settle. Don't speak over it. Lesson 12 of BTLI 1, second lesson of the UNLAD spine, paired with Mac Lake's Leading Yourself Module 2 (Emotional Intelligence · Self-Control). Character anchor: Self-Control — the discipline that refuses the comparison loop. Competence: S.H.A.P.E. Discovery feeding the MULTIPLY assessment battery. When ready: "Magandang gabi, kapatid. Magsisimula tayo." Move to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PUKAW ~2 min (target 3:00). Honor what they carried home from Lesson 11. ASK: "Sino ang naka-check kahit isang araw sa 10-day tracker? Itaas ang kamay." Celebrate every hand. ONE volunteer, 30 seconds: "Anong isang bagay ang ginawa mo alinsunod sa misyon mo?" PASTORAL: someone with zero checks is watching your face. Say plainly: "Kung wala kang na-check — welcome pa rin. Ang tracker ay tulong, hindi timbangan." Celebrate, don't shame.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PUKAW ~1 min (target 4:00). Read together, twice — once from the slide, once with eyes closed repeating after you. Land on one phrase: "pinakamahusay na gawa" — masterpiece. Tease: "Babalikan natin ang salitang ito mamaya. Greek pa nga ang pinanggalingan e." Plant the seed; don't teach it yet.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PUKAW ~4 min (target 8:00). Tell the UNLAD fable theatrically with your 4 pre-asked readers. The crow flies free — until it envies the swan's white feathers. The swan envies the parrot's two-tone. The parrot envies the peacock's colors. The peacock — surrounded by fans, walang privacy — sighs: "Sana isa na lang akong uwak!" FULL STOP after that line. Let the room feel the loop close: nobody in the comparison loop is happy, because the loop has no exit. Don't explain the moral — the next slide's question does that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PUKAW ~4 min (target 12:00). PARTICIPANT GUIDE QUESTION — two parts, answered in the guide after table talk. Tables discuss 2 minutes, then everyone writes. Listen for the word "inggit" and for social-media comparisons — they will surface. Interns roam: the personal example unlocks quiet tables ("Ako, noong college, lagi kong ikinukumpara ang sarili ko kay ___"). Then bridge: "Mahirap mabuhay sa anino ng ibang tao... Nilikha ka ng Dios na natatangi at kakaiba. Tingnan natin ang Salita."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TUKLAS ~2 min (target 14:00). Read it slowly, TWICE. This single sentence is the spine of the night — everything after it is evidence and application. "'Wag kang mabuhay para sa palakpak nila, kundi para sa ngiti ng iyong Lumikha."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TUKLAS ~3 min (target 17:00). Have someone read the Pinoy Version aloud — it bites. Point at the last phrase: Apostle Paul calls the comparison game FOOLISHNESS — kamangmangan, not a weakness or a quirk. Connect to the birds: "Ang uwak, swan, parrot at peacock — lahat sila ginawang standard ang isa't isa. Lahat sila malungkot. Mga 'di sila nag-iisip." Land the image from the book: fixated on what's "uso," we drift into deep water — palutang-lutang, waiting for the next wave.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TUKLAS ~3 min (target 20:00). The exit from the prison. Teach the one Greek word of the night: POIEMA — literally "work of art," the root of our word "poem." Some translations: workmanship. "Kapag sinabi ng Diyos na ikaw ay poiema, sinasabi Niya: 'Hindi ka aksidente. Tinula kita.'" A painting doesn't compare itself to another painting — it fulfills the painter's intent. PASTORAL: for those told all their lives na "walang silbi" sila — this verse is surgery, not information. If you see wet eyes, slow down. The next slide gives a private place to respond.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TUKLAS ~3 min (target 23:00). PARTICIPANT GUIDE QUESTION — written privately first; then 1-2 volunteers only. This is the book's own margin question at the poiema passage. Keep the room quiet while they write. No forced sharing — the honest "hindi pa" written privately is worth more than a performed "oo."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TUKLAS ~3 min (target 26:00). "Hindi ka ginawang masterpiece ni God para maging display lang!" The good works were PREPARED IN ADVANCE (Eph 2:10b). Two witnesses: Jeremiah — chosen before conception to be a prophet; Paul — set apart before birth, called to preach to the Gentiles. God's pattern: design precedes birth; mission is stitched into design. "Hindi ka lang basta nabubuhay para magtrabaho, kumita, magkaroon ng career at pamilya — gagamitin ka ni Lord para sa makabuluhang impact."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TUKLAS ~3 min (target 29:00). PARTICIPANT GUIDE QUESTION. Lesson 11 alumni pull up their mission statement draft — continuity, not a new question. First-timers write their best current guess. Normalize the blank: "Kung clueless ka pa — hindi ka nag-iisa, at may mapa tayo ngayong gabi." That's the bridge to S.H.A.P.E.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TUKLAS ~3 min (target 32:00). Bridge: "Kung clueless ka pa sa specific na misyon mo — may mapa: limang bintana para makita ang disenyo ng Dios sa'yo." The acronym popularized by Rick Warren. Quote Erik Rees: "Kapag naka-align ang mga pangarap mo sa mga pagnanais ng Dios, nagkakaroon ka ng kumpiyansa na tanggapin ang iyong natatanging kingdom assignment." Tell them the plan: "Bago natin buksan ang limang bintana — may bantay muna tayong kailangan: self-control. Ang disenyo ay nakikita lang ng pusong hindi hinihila ng inggit."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~2 min (target 34:00). Character anchor from Mac Lake's Leading Yourself Module 2: SELF-CONTROL — managing and restraining your impulses, emotions, and desires, exercising discipline to make thoughtful decisions. Proverbs 25:28: a person without self-control is a city with broken walls — anything gets in: inggit, insecurity, pride, padalos-dalos na salita. Connect to tonight: THE COMPARISON LOOP IS AN EMOTIONS PROBLEM. The crow didn't have an information problem — it had an unguarded heart. Self-control is the wall that keeps comparison out and design 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~2 min (target 36:00). PARTICIPANT GUIDE QUESTION — from Leading Yourself Module 2's Scripture reflection. External AND internal reactions: ang mukha at ang kalooban. Push for a real situation — "ngayong buwan, hindi 'minsan.'" This is emotional self-awareness in writing: the first EI skill. Interns: no sharing required on this one; it feeds the emotions journal assignment in DALHIN.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~2 min (target 38:00). Mac Lake's Emotional Intelligence Triangle: God at the apex, You and Others at the base. EI defined: understanding your own or others' emotions and allowing the Holy Spirit to guide you toward a wise response. Four movements around the triangle: AWARENESS (name what you feel), HONESTY (name the true cause, not the justified version), EMPATHY (understand the other's perspective), WISDOM (respond grounded in God's truth). Why here: the five S.H.A.P.E. windows require exactly this honesty — you cannot see your design through unexamined emotions. The downloadable Triangle tool is pointed to in DALHIN (multiplygroup.org/leadingyourself).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~2 min (target 40:00). Not the same as natural talent — quote Leslie Flynn: talents concern techniques and methods; spiritual gifts concern spiritual abilities; talent depends on your own skill, gifts depend on God's power. Three truths, fast: (1) not about you or for you — "para sa ikabubuti ng lahat"; (2) every believer has at least one; (3) we are not gifted alike. MULTIPLY note: "May Spiritual Gifts Assessment tayo sa Member Tool — babalikan natin mamaya sa GAWIN."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~2 min (target 42:00). Rick Warren: just as each of us has unique thumbprints, eye prints and voice prints, we each have a unique EMOTIONAL HEARTBEAT — magandang clues kung saang area ka dapat maglingkod. Notice the EI connection: an emotionally aware disciple can actually read their own heartbeat. Preview the three Passion Questions coming in GAWIN: ano ang nagpapa-alab; kanino ka sobrang concerned; anong God-centered dreams. The old Nescafe hook for #2: "Para kanino ka bumabangon?"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~1 min (target 43:00). Tom Paterson's warning: undiscovered, undeveloped abilities leave a person poor in purpose, meaning, and worth. Walang tapon at walang sayang. Quick caveat from the book: God WILL sometimes take them outside-of-comfort-zone — the bottom line is dependence on the Lord, not self-optimization. Keep this window to one minute — the four inventory prompts land in GAWIN.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~1 min (target 44:00). APA definition, simplified: your distinct way of thinking, relating, behaving. The punchline the room needs: "Walang mas superior sa mga categories na yan." Introvert is not a broken extrovert; reserved is not a failed expressive. God gave your innate personality so your gifts get expressed EFFECTIVELY — and our differences exist so we can complement one another. One minute — the six pairs get tapped in GAWIN.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~2 min (target 46:00). The window people flinch at — successes AND wounds. God uses achievements to inspire; and the painful roads — abuse, poverty, addiction, serious illness — surrendered whole to Him become a KAKAIBANG ATTRACTION: credibility no seminary can grant, for reaching people on the same road. PASTORAL — say it out loud NOW, before GAWIN: "Ang isusulat ninyo sa Experiences window ay sa inyo at sa Dios. Walang pipilitin mag-share." If someone discloses trauma to you afterward: listen fully, thank them for trusting you, walk with them to the Pastor privately.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~3 min (target 49:00). PARTICIPANT GUIDE QUESTION — Interact debate 1. Let tables argue BOTH sides ~90 seconds, sticky note verdicts on the wall, read 2 aloud. Then land it: sympathy for the wound — but the verdict is Ephesians 2:10. Calling God's masterpiece worthless is not humility; it is disagreement with the Artist. Debate ideas, never persons — there are comparison-wounded people at every table.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TALAKAY ~3 min (target 52:00). PARTICIPANT GUIDE QUESTION — Interact debate 2, the mirror image. Draw out the insight: INFERIORITY AND SUPERIORITY ARE THE SAME DISEASE — eyes locked on self instead of the Designer, an unguarded city on both counts (Prov 25:28). Manliliit ka o mangmamaliit ka — parehong nasa comparison loop, parehong kulang sa self-control. The cure for both: 1 Cor 12:7 — the gifts are "para sa ikabubuti ng lahat," never trophies. 60-second landing, then transition to GAWIN: "Tama na ang usapan TUNGKOL sa disenyo — tuklasin na natin ang SA INYO."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~1 min (target 53:00). Everyone opens the Participant Guide (QR on screen). Explain the workflow: you advance one question per slide; they write. Quiet worship music under the whole block. Interns are a quiet presence — help the stuck with PROMPTS, never answers. "Walang tama o mali. First draft ito ng larawan ng disenyo ng Dios sa'yo. Gamitin ang honesty na pinag-usapan natin sa EI Triangle."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~2 min (target 55:00). PARTICIPANT GUIDE QUESTION — the book points back to the Spiritual Gifts Survey from Book 2 (USAD); ours lives in the MULTIPLY Member Tool. Never taken it? Best guess + star — the assessment battery in DALHIN closes the gap before Lesson 13. Interns: note who has starred blanks — they are the assessment follow-up 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~2 min (target 57:00). PARTICIPANT GUIDE QUESTION — Passion Question 1. Frame from the book: passions placed by the Lord cannot be ignored, like a burn. Some are ablaze for unreached tribes, others for teaching, music, multimedia, sports, community service. The test is the phrase "walang bayad at panghabang-buhay" — not 'gusto ko' but 'hindi ko mailagan.'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~2 min (target 59:00). PARTICIPANT GUIDE QUESTION — Passion Question 2. "Para kanino ka bumabangon?" Beyond the obvious answer (para kay Lord): which people group is genuinely closest to their heart — physically/mentally challenged or gifted? Yayamanin, middle class, o masa? Kids, teens, young professionals, adults? Who is already in their sphere of influence? Specificity here becomes ministry placement data.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~2 min (target 61:00). PARTICIPANT GUIDE QUESTION — Passion Question 3. What do they long to see accomplished in their lifetime? What is their dream for the Church? What do they already have that they are ready to offer for the expansion of the kingdom — like the boy's five loaves and two fish (John 6:9)? Small offerings, surrendered, feed thousands.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~2 min (target 63:00). PARTICIPANT GUIDE QUESTION — the four-part Abilities inventory, answered as one block: strengths · deep enjoyment · repeated commendation · natural-to-you-hard-for-others. Kapag malinaw ang sagot sa apat, lulutang ang abilities. Intern prompt for the stuck: "Anong bagay ang nire-request sa'yo ng mga tao paulit-ulit? Iyon ang bakas ng ability." Or ask the seatmate — minsan mas nakikita ng mesa kaysa sa kanya.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~2 min (target 65:00). PARTICIPANT GUIDE QUESTION — six binary pairs, tapped in the guide. Repeat the line as they tap: "Walang mas superior sa mga categories na ito." Then the short written follow-up in the guide: paano magagamit ng Dios ang personality nila. Kapag mas naintindihan natin ang ating mga pagkakaiba, mas maco-complement natin ang isa't isa.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~2 min (target 67:00). PARTICIPANT GUIDE QUESTION — the gentlest two minutes of the night. One success God has already used; one wound God could use (2 Cor 1:4). RESTATE the privacy line: "Sa'yo at sa Dios lang ito. Walang pipilitin mag-share." Nobody shares this block aloud. Interns: quiet nod for tears, no attention called; approach privately after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~2 min (target 69:00). Five one-line summaries — one per window — and the Participant Guide assembles them into a single paragraph: their first-draft S.H.A.P.E. Self-Portrait, opening with "Ako ay pinakamahusay na gawa ng Dios." Imperfect is the goal. First drafts only; the assessments this week will sharpen it. If time is collapsing, this slide can compress — the portrait finishes at home.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~1 min (target 70:00). Sixty seconds: two world-class runners at the 1924 Paris Olympics. Harold Abrahams ran to win; Eric Liddell ran for the glory of Christ — refused to run on Sunday, won the 400m with a world record, later gave his life as a missionary to China. The 1981 Academy Award-winning film Chariots of Fire immortalized his line — read it from the slide, slowly. This is what a life looks like when design is embraced instead of compared. Notice: self-control was his hallmark too — the discipline to say no even to an Olympic race.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GAWIN ~2 min (target 72:00). PARTICIPANT GUIDE QUESTION — the Liddell fill-in, the emotional summit of the night. Fill the two blanks, then PAIRS: each person says their declaration OUT LOUD to their seatmate. Something changes when design is spoken, not just written. DO NOT CUT THIS even if time collapses — protect slides 24, 28, and 33 above everything else in GAWIN. Interns: make sure every pair at your table actually says it aloud.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DALHIN ~3 min (target 75:00). TWO assignments. (1) The book says "HUWAG NA HUWAG ITONG I-MISS" about its SHAPE test — ours lives in the app: complete every MULTIPLY assessment not yet taken before Lesson 13. Path: Member Tool → My Profile → My Assessments. Checklist in the Participant Guide; "dalhin ang resulta sa Lesson 13." (2) From Leading Yourself Module 2: the DAILY EMOTIONS JOURNAL — each night, a few minutes: what did I feel today, how did I respond, did I process it well? 10-day tracker in the guide. Optional deeper practices in the guide's at-home section: the EI Triangle tool download and the Ignatian Examen. WHY IT MATTERS: assessments feed ministry placement; the journal builds the self-awareness that makes every future lesson land deeper.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DALHIN ~3 min (target 78:00). "Hindi ka ginawang masterpiece para maging display lang." EOLO bridge: write the name + how their S.H.A.P.E. specifically can love that person this week — baka ang heart mo para sa kabataan at teenager siya; baka ang experience mo sa ___ at doon din siya dumadaan. Then Pangako: one thing, specific, doable, two weeks. Interns lead the table-level EOLO prayer BY NAME — specific prayer, hindi generic ritual.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DALHIN ~2 min (target 80:00). L13 preview in one sentence: "Ngayong alam mo na ang disenyo mo — susunod nating pag-aaralan kung paano ito ginagamit sa paraan ni Jesus: hindi para paglingkuran, kundi para maglingkod. Lesson 13: Servant Leadership, Mark 10:43-44." CLOSING RITUAL — SACRED: everyone stands · Ephesians 2:10 together from memory, final time · you pray specifically (2-3 names, one S.H.A.P.E. detail heard tonight, their EOLO persons) · everyone, hands raised: "Disciples who make disciples." Table Coaches dismiss — remind next session date + the two assignments.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80-min lesson</a:t>
            </a:r>
          </a:p>
        </p:txBody>
      </p:sp>
      <p:sp>
        <p:nvSpPr>
          <p:cNvPr id="6" name="TextBox 5"/>
          <p:cNvSpPr txBox="1"/>
          <p:nvPr/>
        </p:nvSpPr>
        <p:spPr>
          <a:xfrm>
            <a:off x="457200" y="914400"/>
            <a:ext cx="8229600" cy="365760"/>
          </a:xfrm>
          <a:prstGeom prst="rect">
            <a:avLst/>
          </a:prstGeom>
          <a:noFill/>
        </p:spPr>
        <p:txBody>
          <a:bodyPr wrap="square" anchor="t" lIns="0" rIns="0" tIns="0" bIns="0">
            <a:spAutoFit/>
          </a:bodyPr>
          <a:lstStyle/>
          <a:p>
            <a:pPr algn="ctr"/>
            <a:r>
              <a:rPr sz="1500" b="1" i="0">
                <a:solidFill>
                  <a:srgbClr val="D4A84A"/>
                </a:solidFill>
                <a:latin typeface="Calibri"/>
              </a:rPr>
              <a:t>BTLI 1 · LESSON 12</a:t>
            </a:r>
          </a:p>
        </p:txBody>
      </p:sp>
      <p:sp>
        <p:nvSpPr>
          <p:cNvPr id="7" name="TextBox 6"/>
          <p:cNvSpPr txBox="1"/>
          <p:nvPr/>
        </p:nvSpPr>
        <p:spPr>
          <a:xfrm>
            <a:off x="457200" y="1371600"/>
            <a:ext cx="8229600" cy="1554480"/>
          </a:xfrm>
          <a:prstGeom prst="rect">
            <a:avLst/>
          </a:prstGeom>
          <a:noFill/>
        </p:spPr>
        <p:txBody>
          <a:bodyPr wrap="square" lIns="0" rIns="0" tIns="0" bIns="0">
            <a:spAutoFit/>
          </a:bodyPr>
          <a:lstStyle/>
          <a:p>
            <a:pPr algn="ctr"/>
            <a:r>
              <a:rPr sz="4400" b="1">
                <a:solidFill>
                  <a:srgbClr val="141628"/>
                </a:solidFill>
                <a:latin typeface="Calibri"/>
              </a:rPr>
              <a:t>Natatanging</a:t>
            </a:r>
          </a:p>
          <a:p>
            <a:pPr algn="ctr"/>
            <a:r>
              <a:rPr sz="4400" b="1">
                <a:solidFill>
                  <a:srgbClr val="141628"/>
                </a:solidFill>
                <a:latin typeface="Calibri"/>
              </a:rPr>
              <a:t>Disenyo</a:t>
            </a:r>
          </a:p>
        </p:txBody>
      </p:sp>
      <p:sp>
        <p:nvSpPr>
          <p:cNvPr id="8" name="TextBox 7"/>
          <p:cNvSpPr txBox="1"/>
          <p:nvPr/>
        </p:nvSpPr>
        <p:spPr>
          <a:xfrm>
            <a:off x="457200" y="3017520"/>
            <a:ext cx="8229600" cy="411480"/>
          </a:xfrm>
          <a:prstGeom prst="rect">
            <a:avLst/>
          </a:prstGeom>
          <a:noFill/>
        </p:spPr>
        <p:txBody>
          <a:bodyPr wrap="square" anchor="t" lIns="0" rIns="0" tIns="0" bIns="0">
            <a:spAutoFit/>
          </a:bodyPr>
          <a:lstStyle/>
          <a:p>
            <a:pPr algn="ctr"/>
            <a:r>
              <a:rPr sz="1800" b="0" i="1">
                <a:solidFill>
                  <a:srgbClr val="808080"/>
                </a:solidFill>
                <a:latin typeface="Calibri"/>
              </a:rPr>
              <a:t>Understanding My Unique Design</a:t>
            </a:r>
          </a:p>
        </p:txBody>
      </p:sp>
      <p:sp>
        <p:nvSpPr>
          <p:cNvPr id="9" name="TextBox 8"/>
          <p:cNvSpPr txBox="1"/>
          <p:nvPr/>
        </p:nvSpPr>
        <p:spPr>
          <a:xfrm>
            <a:off x="822960" y="3520440"/>
            <a:ext cx="7498079" cy="640080"/>
          </a:xfrm>
          <a:prstGeom prst="rect">
            <a:avLst/>
          </a:prstGeom>
          <a:noFill/>
        </p:spPr>
        <p:txBody>
          <a:bodyPr wrap="square" anchor="t" lIns="0" rIns="0" tIns="0" bIns="0">
            <a:spAutoFit/>
          </a:bodyPr>
          <a:lstStyle/>
          <a:p>
            <a:pPr algn="ctr"/>
            <a:r>
              <a:rPr sz="1400" b="0" i="0">
                <a:solidFill>
                  <a:srgbClr val="141628"/>
                </a:solidFill>
                <a:latin typeface="Calibri"/>
              </a:rPr>
              <a:t>Paano ko matutuklasan ang natatanging disenyo ng Dios sa buhay ko?</a:t>
            </a:r>
          </a:p>
        </p:txBody>
      </p:sp>
      <p:sp>
        <p:nvSpPr>
          <p:cNvPr id="10" name="Rounded Rectangle 9"/>
          <p:cNvSpPr/>
          <p:nvPr/>
        </p:nvSpPr>
        <p:spPr>
          <a:xfrm>
            <a:off x="2606040" y="4389120"/>
            <a:ext cx="1554480" cy="365760"/>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Self-Control</a:t>
            </a:r>
          </a:p>
        </p:txBody>
      </p:sp>
      <p:sp>
        <p:nvSpPr>
          <p:cNvPr id="11" name="Rounded Rectangle 10"/>
          <p:cNvSpPr/>
          <p:nvPr/>
        </p:nvSpPr>
        <p:spPr>
          <a:xfrm>
            <a:off x="4343400" y="4389120"/>
            <a:ext cx="2194560" cy="365760"/>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S.H.A.P.E.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⌛3:00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PUKAW · L11 CALLBACK</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Kumusta ang 10-day</a:t>
            </a:r>
          </a:p>
          <a:p>
            <a:pPr algn="ctr"/>
            <a:r>
              <a:rPr sz="2800" b="1">
                <a:solidFill>
                  <a:srgbClr val="141628"/>
                </a:solidFill>
                <a:latin typeface="Calibri"/>
              </a:rPr>
              <a:t>mission journal natin?</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Sino ang naka-check kahit isang araw sa tracker? Itaas ang kamay.</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1 volunteer · 30-second story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3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1 min · ⌛4:00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PUKAW · MEMORY VERSE</a:t>
            </a:r>
          </a:p>
        </p:txBody>
      </p:sp>
      <p:sp>
        <p:nvSpPr>
          <p:cNvPr id="7" name="TextBox 6"/>
          <p:cNvSpPr txBox="1"/>
          <p:nvPr/>
        </p:nvSpPr>
        <p:spPr>
          <a:xfrm>
            <a:off x="457200" y="1005840"/>
            <a:ext cx="8229600" cy="502920"/>
          </a:xfrm>
          <a:prstGeom prst="rect">
            <a:avLst/>
          </a:prstGeom>
          <a:noFill/>
        </p:spPr>
        <p:txBody>
          <a:bodyPr wrap="square" anchor="t" lIns="0" rIns="0" tIns="0" bIns="0">
            <a:spAutoFit/>
          </a:bodyPr>
          <a:lstStyle/>
          <a:p>
            <a:pPr algn="ctr"/>
            <a:r>
              <a:rPr sz="2400" b="1" i="0">
                <a:solidFill>
                  <a:srgbClr val="FEFCF8"/>
                </a:solidFill>
                <a:latin typeface="Calibri"/>
              </a:rPr>
              <a:t>MEMORY VERSE</a:t>
            </a:r>
          </a:p>
        </p:txBody>
      </p:sp>
      <p:sp>
        <p:nvSpPr>
          <p:cNvPr id="8" name="TextBox 7"/>
          <p:cNvSpPr txBox="1"/>
          <p:nvPr/>
        </p:nvSpPr>
        <p:spPr>
          <a:xfrm>
            <a:off x="731520" y="1737360"/>
            <a:ext cx="7680960" cy="2377440"/>
          </a:xfrm>
          <a:prstGeom prst="rect">
            <a:avLst/>
          </a:prstGeom>
          <a:noFill/>
        </p:spPr>
        <p:txBody>
          <a:bodyPr wrap="square" anchor="ctr" lIns="0" rIns="0" tIns="0" bIns="0">
            <a:spAutoFit/>
          </a:bodyPr>
          <a:lstStyle/>
          <a:p>
            <a:pPr algn="ctr"/>
            <a:r>
              <a:rPr sz="1800" b="1" i="0">
                <a:solidFill>
                  <a:srgbClr val="FEFCF8"/>
                </a:solidFill>
                <a:latin typeface="Calibri"/>
              </a:rPr>
              <a:t>"Sapagkat tayo'y kanyang pinakamahusay na gawa, na nilalang kay Cristo Jesus para sa mabubuting gawa, na inihanda ng Diyos nang una upang siya nating lakaran."</a:t>
            </a:r>
          </a:p>
        </p:txBody>
      </p:sp>
      <p:sp>
        <p:nvSpPr>
          <p:cNvPr id="9" name="TextBox 8"/>
          <p:cNvSpPr txBox="1"/>
          <p:nvPr/>
        </p:nvSpPr>
        <p:spPr>
          <a:xfrm>
            <a:off x="457200" y="4343400"/>
            <a:ext cx="8229600" cy="411480"/>
          </a:xfrm>
          <a:prstGeom prst="rect">
            <a:avLst/>
          </a:prstGeom>
          <a:noFill/>
        </p:spPr>
        <p:txBody>
          <a:bodyPr wrap="square" anchor="t" lIns="0" rIns="0" tIns="0" bIns="0">
            <a:spAutoFit/>
          </a:bodyPr>
          <a:lstStyle/>
          <a:p>
            <a:pPr algn="ctr"/>
            <a:r>
              <a:rPr sz="1200" b="1" i="0">
                <a:solidFill>
                  <a:srgbClr val="D4A84A"/>
                </a:solidFill>
                <a:latin typeface="Calibri"/>
              </a:rPr>
              <a:t>EPHESIANS 2:10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4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4 min · ⌛8:00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PUKAW · TANAW</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Ang Uwak na Naghanap ng</a:t>
            </a:r>
          </a:p>
          <a:p>
            <a:pPr algn="ctr"/>
            <a:r>
              <a:rPr sz="2800" b="1">
                <a:solidFill>
                  <a:srgbClr val="141628"/>
                </a:solidFill>
                <a:latin typeface="Calibri"/>
              </a:rPr>
              <a:t>Pinakamasayang Ibon</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Uwak ➜ Swan ➜ Parrot ➜ Peacock ➜ … "Sana isa na lang akong uwak!"</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4 VOLUNTEER READERS · READER'S THEATER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5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4 min · ⌛12:00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PUKAW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600" b="1" i="0">
                <a:solidFill>
                  <a:srgbClr val="FEFCF8"/>
                </a:solidFill>
                <a:latin typeface="Calibri"/>
              </a:rPr>
              <a:t>Ano ang moral of the story? Ano ang magiging epekto 'pag lagi mong ikinukumpara ang iyong sarili sa ibang tao?</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Pag-usapan sa mesa — pagkatapos, isulat sa Participant Guide.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6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⌛14:00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TUKLAS · BIG IDEA</a:t>
            </a:r>
          </a:p>
        </p:txBody>
      </p:sp>
      <p:sp>
        <p:nvSpPr>
          <p:cNvPr id="7" name="TextBox 6"/>
          <p:cNvSpPr txBox="1"/>
          <p:nvPr/>
        </p:nvSpPr>
        <p:spPr>
          <a:xfrm>
            <a:off x="457200" y="1005840"/>
            <a:ext cx="8229600" cy="502920"/>
          </a:xfrm>
          <a:prstGeom prst="rect">
            <a:avLst/>
          </a:prstGeom>
          <a:noFill/>
        </p:spPr>
        <p:txBody>
          <a:bodyPr wrap="square" anchor="t" lIns="0" rIns="0" tIns="0" bIns="0">
            <a:spAutoFit/>
          </a:bodyPr>
          <a:lstStyle/>
          <a:p>
            <a:pPr algn="ctr"/>
            <a:r>
              <a:rPr sz="2400" b="1" i="0">
                <a:solidFill>
                  <a:srgbClr val="FEFCF8"/>
                </a:solidFill>
                <a:latin typeface="Calibri"/>
              </a:rPr>
              <a:t>BIG IDEA</a:t>
            </a:r>
          </a:p>
        </p:txBody>
      </p:sp>
      <p:sp>
        <p:nvSpPr>
          <p:cNvPr id="8" name="TextBox 7"/>
          <p:cNvSpPr txBox="1"/>
          <p:nvPr/>
        </p:nvSpPr>
        <p:spPr>
          <a:xfrm>
            <a:off x="731520" y="1737360"/>
            <a:ext cx="7680960" cy="2377440"/>
          </a:xfrm>
          <a:prstGeom prst="rect">
            <a:avLst/>
          </a:prstGeom>
          <a:noFill/>
        </p:spPr>
        <p:txBody>
          <a:bodyPr wrap="square" anchor="ctr" lIns="0" rIns="0" tIns="0" bIns="0">
            <a:spAutoFit/>
          </a:bodyPr>
          <a:lstStyle/>
          <a:p>
            <a:pPr algn="ctr"/>
            <a:r>
              <a:rPr sz="2200" b="1" i="0">
                <a:solidFill>
                  <a:srgbClr val="FEFCF8"/>
                </a:solidFill>
                <a:latin typeface="Calibri"/>
              </a:rPr>
              <a:t>Nag-iisa lang ang kagaya mo sa mundo — iwasan ang kakakumpara. Mabuhay at maglingkod nang husto ayon sa disenyo ng Lumikha.</a:t>
            </a:r>
          </a:p>
        </p:txBody>
      </p:sp>
      <p:sp>
        <p:nvSpPr>
          <p:cNvPr id="9" name="TextBox 8"/>
          <p:cNvSpPr txBox="1"/>
          <p:nvPr/>
        </p:nvSpPr>
        <p:spPr>
          <a:xfrm>
            <a:off x="457200" y="4343400"/>
            <a:ext cx="8229600" cy="411480"/>
          </a:xfrm>
          <a:prstGeom prst="rect">
            <a:avLst/>
          </a:prstGeom>
          <a:noFill/>
        </p:spPr>
        <p:txBody>
          <a:bodyPr wrap="square" anchor="t" lIns="0" rIns="0" tIns="0" bIns="0">
            <a:spAutoFit/>
          </a:bodyPr>
          <a:lstStyle/>
          <a:p>
            <a:pPr algn="ctr"/>
            <a:r>
              <a:rPr sz="1200" b="1" i="0">
                <a:solidFill>
                  <a:srgbClr val="D4A84A"/>
                </a:solidFill>
                <a:latin typeface="Calibri"/>
              </a:rPr>
              <a:t>UNLAD · LESSON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7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⌛17:00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TUKLAS · ANG BABALA</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"Mga 'di sila nag-iisip!"</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400" b="0" i="0">
                <a:solidFill>
                  <a:srgbClr val="141628"/>
                </a:solidFill>
                <a:latin typeface="Calibri"/>
              </a:rPr>
              <a:t>"Hindi namin iko-compare ang sarili namin sa mga taong mataas ang tingin sa sarili nila. Ginagawa nilang standard ang mga sarili nila, tapos sila-sila lang din ang nagko-compare sa isat-isa!"</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2 CORINTHIANS 10:12 · NEW TESTAMENT: PINOY VERSION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8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⌛20:00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TUKLAS · POIEMA</a:t>
            </a:r>
          </a:p>
        </p:txBody>
      </p:sp>
      <p:sp>
        <p:nvSpPr>
          <p:cNvPr id="7" name="TextBox 6"/>
          <p:cNvSpPr txBox="1"/>
          <p:nvPr/>
        </p:nvSpPr>
        <p:spPr>
          <a:xfrm>
            <a:off x="457200" y="1005840"/>
            <a:ext cx="8229600" cy="502920"/>
          </a:xfrm>
          <a:prstGeom prst="rect">
            <a:avLst/>
          </a:prstGeom>
          <a:noFill/>
        </p:spPr>
        <p:txBody>
          <a:bodyPr wrap="square" anchor="t" lIns="0" rIns="0" tIns="0" bIns="0">
            <a:spAutoFit/>
          </a:bodyPr>
          <a:lstStyle/>
          <a:p>
            <a:pPr algn="ctr"/>
            <a:r>
              <a:rPr sz="2400" b="1" i="0">
                <a:solidFill>
                  <a:srgbClr val="FEFCF8"/>
                </a:solidFill>
                <a:latin typeface="Calibri"/>
              </a:rPr>
              <a:t>MASTERPIECE.</a:t>
            </a:r>
          </a:p>
        </p:txBody>
      </p:sp>
      <p:sp>
        <p:nvSpPr>
          <p:cNvPr id="8" name="TextBox 7"/>
          <p:cNvSpPr txBox="1"/>
          <p:nvPr/>
        </p:nvSpPr>
        <p:spPr>
          <a:xfrm>
            <a:off x="731520" y="1737360"/>
            <a:ext cx="7680960" cy="2377440"/>
          </a:xfrm>
          <a:prstGeom prst="rect">
            <a:avLst/>
          </a:prstGeom>
          <a:noFill/>
        </p:spPr>
        <p:txBody>
          <a:bodyPr wrap="square" anchor="ctr" lIns="0" rIns="0" tIns="0" bIns="0">
            <a:spAutoFit/>
          </a:bodyPr>
          <a:lstStyle/>
          <a:p>
            <a:pPr algn="ctr"/>
            <a:r>
              <a:rPr sz="2200" b="1" i="0">
                <a:solidFill>
                  <a:srgbClr val="FEFCF8"/>
                </a:solidFill>
                <a:latin typeface="Calibri"/>
              </a:rPr>
              <a:t>"For we are God's masterpiece. He has created us anew in Christ Jesus, so we can do the good things he planned for us long ago."</a:t>
            </a:r>
          </a:p>
        </p:txBody>
      </p:sp>
      <p:sp>
        <p:nvSpPr>
          <p:cNvPr id="9" name="TextBox 8"/>
          <p:cNvSpPr txBox="1"/>
          <p:nvPr/>
        </p:nvSpPr>
        <p:spPr>
          <a:xfrm>
            <a:off x="457200" y="4343400"/>
            <a:ext cx="8229600" cy="411480"/>
          </a:xfrm>
          <a:prstGeom prst="rect">
            <a:avLst/>
          </a:prstGeom>
          <a:noFill/>
        </p:spPr>
        <p:txBody>
          <a:bodyPr wrap="square" anchor="t" lIns="0" rIns="0" tIns="0" bIns="0">
            <a:spAutoFit/>
          </a:bodyPr>
          <a:lstStyle/>
          <a:p>
            <a:pPr algn="ctr"/>
            <a:r>
              <a:rPr sz="1200" b="1" i="0">
                <a:solidFill>
                  <a:srgbClr val="D4A84A"/>
                </a:solidFill>
                <a:latin typeface="Calibri"/>
              </a:rPr>
              <a:t>EPHESIANS 2:10 (NLT) · Greek: POIEMA — "work of 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9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⌛23:00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TUKLAS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600" b="1" i="0">
                <a:solidFill>
                  <a:srgbClr val="FEFCF8"/>
                </a:solidFill>
                <a:latin typeface="Calibri"/>
              </a:rPr>
              <a:t>Kung haharap ka sa ating Dakilang Maestro ngayon, masasabi mo ba nang may kumpiyansa na nabubuhay ka ayon sa Kaniyang disenyo?</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Tahimik na sagot — isulat sa Participant Guide.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10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⌛26:00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TUKLAS · NATATANGING AMBAG</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Natatanging Disenyo,</a:t>
            </a:r>
          </a:p>
          <a:p>
            <a:pPr algn="ctr"/>
            <a:r>
              <a:rPr sz="2800" b="1">
                <a:solidFill>
                  <a:srgbClr val="141628"/>
                </a:solidFill>
                <a:latin typeface="Calibri"/>
              </a:rPr>
              <a:t>Natatanging Ambag</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Jeremiah 1:5 — "Bago ka pa ipinaglihi... pinili na kita." · Galatians 1:15-16 — "...pinili niya ako bago pa ako ipanganak."</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MAY MISYON KA SA MUNDO — 'YAN ANG CALLING 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11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⌛29:00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TUKLAS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3000" b="1" i="0">
                <a:solidFill>
                  <a:srgbClr val="FEFCF8"/>
                </a:solidFill>
                <a:latin typeface="Calibri"/>
              </a:rPr>
              <a:t>Alam mo na ba kung ano ang iyong misyon sa buhay? Ano ito?</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Isulat sa Participant Guide — balikan ang Lesson 11 mission statement kung mayroon ka 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12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⌛32:00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TUKLAS · ANG MAPA</a:t>
            </a:r>
          </a:p>
        </p:txBody>
      </p:sp>
      <p:sp>
        <p:nvSpPr>
          <p:cNvPr id="7" name="TextBox 6"/>
          <p:cNvSpPr txBox="1"/>
          <p:nvPr/>
        </p:nvSpPr>
        <p:spPr>
          <a:xfrm>
            <a:off x="457200" y="1005840"/>
            <a:ext cx="8229600" cy="502920"/>
          </a:xfrm>
          <a:prstGeom prst="rect">
            <a:avLst/>
          </a:prstGeom>
          <a:noFill/>
        </p:spPr>
        <p:txBody>
          <a:bodyPr wrap="square" anchor="t" lIns="0" rIns="0" tIns="0" bIns="0">
            <a:spAutoFit/>
          </a:bodyPr>
          <a:lstStyle/>
          <a:p>
            <a:pPr algn="ctr"/>
            <a:r>
              <a:rPr sz="2400" b="1" i="0">
                <a:solidFill>
                  <a:srgbClr val="FEFCF8"/>
                </a:solidFill>
                <a:latin typeface="Calibri"/>
              </a:rPr>
              <a:t>S.H.A.P.E.</a:t>
            </a:r>
          </a:p>
        </p:txBody>
      </p:sp>
      <p:sp>
        <p:nvSpPr>
          <p:cNvPr id="8" name="TextBox 7"/>
          <p:cNvSpPr txBox="1"/>
          <p:nvPr/>
        </p:nvSpPr>
        <p:spPr>
          <a:xfrm>
            <a:off x="731520" y="1737360"/>
            <a:ext cx="7680960" cy="2377440"/>
          </a:xfrm>
          <a:prstGeom prst="rect">
            <a:avLst/>
          </a:prstGeom>
          <a:noFill/>
        </p:spPr>
        <p:txBody>
          <a:bodyPr wrap="square" anchor="ctr" lIns="0" rIns="0" tIns="0" bIns="0">
            <a:spAutoFit/>
          </a:bodyPr>
          <a:lstStyle/>
          <a:p>
            <a:pPr algn="ctr"/>
            <a:r>
              <a:rPr sz="2200" b="1" i="0">
                <a:solidFill>
                  <a:srgbClr val="FEFCF8"/>
                </a:solidFill>
                <a:latin typeface="Calibri"/>
              </a:rPr>
              <a:t>Spiritual Gifts · Heart · Abilities · Personality · Experiences</a:t>
            </a:r>
          </a:p>
        </p:txBody>
      </p:sp>
      <p:sp>
        <p:nvSpPr>
          <p:cNvPr id="9" name="TextBox 8"/>
          <p:cNvSpPr txBox="1"/>
          <p:nvPr/>
        </p:nvSpPr>
        <p:spPr>
          <a:xfrm>
            <a:off x="457200" y="4343400"/>
            <a:ext cx="8229600" cy="411480"/>
          </a:xfrm>
          <a:prstGeom prst="rect">
            <a:avLst/>
          </a:prstGeom>
          <a:noFill/>
        </p:spPr>
        <p:txBody>
          <a:bodyPr wrap="square" anchor="t" lIns="0" rIns="0" tIns="0" bIns="0">
            <a:spAutoFit/>
          </a:bodyPr>
          <a:lstStyle/>
          <a:p>
            <a:pPr algn="ctr"/>
            <a:r>
              <a:rPr sz="1200" b="1" i="0">
                <a:solidFill>
                  <a:srgbClr val="D4A84A"/>
                </a:solidFill>
                <a:latin typeface="Calibri"/>
              </a:rPr>
              <a:t>LIMANG BINTANA SA DISENYO NG DIOS · Rick Warren / Erik Rees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13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⌛34:00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TALAKAY · CHARACTER ANCHOR</a:t>
            </a:r>
          </a:p>
        </p:txBody>
      </p:sp>
      <p:sp>
        <p:nvSpPr>
          <p:cNvPr id="7" name="TextBox 6"/>
          <p:cNvSpPr txBox="1"/>
          <p:nvPr/>
        </p:nvSpPr>
        <p:spPr>
          <a:xfrm>
            <a:off x="457200" y="1005840"/>
            <a:ext cx="8229600" cy="502920"/>
          </a:xfrm>
          <a:prstGeom prst="rect">
            <a:avLst/>
          </a:prstGeom>
          <a:noFill/>
        </p:spPr>
        <p:txBody>
          <a:bodyPr wrap="square" anchor="t" lIns="0" rIns="0" tIns="0" bIns="0">
            <a:spAutoFit/>
          </a:bodyPr>
          <a:lstStyle/>
          <a:p>
            <a:pPr algn="ctr"/>
            <a:r>
              <a:rPr sz="2400" b="1" i="0">
                <a:solidFill>
                  <a:srgbClr val="FEFCF8"/>
                </a:solidFill>
                <a:latin typeface="Calibri"/>
              </a:rPr>
              <a:t>Self-Control</a:t>
            </a:r>
          </a:p>
        </p:txBody>
      </p:sp>
      <p:sp>
        <p:nvSpPr>
          <p:cNvPr id="8" name="TextBox 7"/>
          <p:cNvSpPr txBox="1"/>
          <p:nvPr/>
        </p:nvSpPr>
        <p:spPr>
          <a:xfrm>
            <a:off x="731520" y="1737360"/>
            <a:ext cx="7680960" cy="2377440"/>
          </a:xfrm>
          <a:prstGeom prst="rect">
            <a:avLst/>
          </a:prstGeom>
          <a:noFill/>
        </p:spPr>
        <p:txBody>
          <a:bodyPr wrap="square" anchor="ctr" lIns="0" rIns="0" tIns="0" bIns="0">
            <a:spAutoFit/>
          </a:bodyPr>
          <a:lstStyle/>
          <a:p>
            <a:pPr algn="ctr"/>
            <a:r>
              <a:rPr sz="2200" b="1" i="0">
                <a:solidFill>
                  <a:srgbClr val="FEFCF8"/>
                </a:solidFill>
                <a:latin typeface="Calibri"/>
              </a:rPr>
              <a:t>"Like a city whose walls are broken through is a person who lacks self-control."</a:t>
            </a:r>
          </a:p>
        </p:txBody>
      </p:sp>
      <p:sp>
        <p:nvSpPr>
          <p:cNvPr id="9" name="TextBox 8"/>
          <p:cNvSpPr txBox="1"/>
          <p:nvPr/>
        </p:nvSpPr>
        <p:spPr>
          <a:xfrm>
            <a:off x="457200" y="4343400"/>
            <a:ext cx="8229600" cy="411480"/>
          </a:xfrm>
          <a:prstGeom prst="rect">
            <a:avLst/>
          </a:prstGeom>
          <a:noFill/>
        </p:spPr>
        <p:txBody>
          <a:bodyPr wrap="square" anchor="t" lIns="0" rIns="0" tIns="0" bIns="0">
            <a:spAutoFit/>
          </a:bodyPr>
          <a:lstStyle/>
          <a:p>
            <a:pPr algn="ctr"/>
            <a:r>
              <a:rPr sz="1200" b="1" i="0">
                <a:solidFill>
                  <a:srgbClr val="D4A84A"/>
                </a:solidFill>
                <a:latin typeface="Calibri"/>
              </a:rPr>
              <a:t>PROVERBS 25:28 · MAC LAKE, LEADING YOURSELF MODULE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14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⌛36:00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TALAKAY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600" b="1" i="0">
                <a:solidFill>
                  <a:srgbClr val="FEFCF8"/>
                </a:solidFill>
                <a:latin typeface="Calibri"/>
              </a:rPr>
              <a:t>Paano ka karaniwang nagre-react — sa labas at sa loob — kapag may pressure o conflict? Paano ito mababago ng self-control?</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Isulat sa Participant Guide — isang totoong sitwasyon, hindi generic.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15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⌛38:00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TALAKAY · EI TRIANGLE</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The Emotional Intelligence</a:t>
            </a:r>
          </a:p>
          <a:p>
            <a:pPr algn="ctr"/>
            <a:r>
              <a:rPr sz="2800" b="1">
                <a:solidFill>
                  <a:srgbClr val="141628"/>
                </a:solidFill>
                <a:latin typeface="Calibri"/>
              </a:rPr>
              <a:t>Triangle</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400" b="0" i="0">
                <a:solidFill>
                  <a:srgbClr val="141628"/>
                </a:solidFill>
                <a:latin typeface="Calibri"/>
              </a:rPr>
              <a:t>GOD — YOU — OTHERS. Bawat emosyon, dinadala sa tatlong sulok: aware ka ba (YOU)? Tapat at may empathy ka ba (OTHERS)? Naaayon ba sa katotohanan ng Dios ang tugon mo (GOD)?</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AWARENESS · HONESTY · EMPATHY · WISDOM — MAC LAKE, LEADING YOURSELF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16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⌛40:00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TALAKAY · UNANG BINTANA</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S · Spiritual Gifts</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Hindi ito tungkol sa IYO at para sa IYO (1 Cor 12:7) · Bawat mananampalataya ay may tinanggap (1 Cor 7:7) · Hindi tayo pare-pareho (1 Cor 7:7)</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050" b="1" i="0">
                <a:solidFill>
                  <a:srgbClr val="808080"/>
                </a:solidFill>
                <a:latin typeface="Calibri"/>
              </a:rPr>
              <a:t>"Nakadepende ang talent sa sariling galing, nakadepende ang spiritual gifts sa kakayanan ng Dios." — LESLIE FLYNN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17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⌛42:00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TALAKAY · IKALAWANG BINTANA</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H · Heart</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May unique kang emotional heartbeat — tumitibok ito nang husto para sa mga bagay na sobrang mahalaga sa'yo.</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TATLONG PASSION QUESTIONS — SASAGUTIN SA GAWIN · "Para kanino ka bumabangon?"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18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1 min · ⌛43:00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TALAKAY · IKATLONG BINTANA</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A · Abilities</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"Ang taong hindi alam o hindi dinedevelop ang angking kakayahan… ay salat sa layunin, kahulugan at halaga." — TOM PATERSON</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WALANG TAPON AT WALANG SAYANG SA MGA ABILIDAD NA IBINIGAY NI LORD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19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1 min · ⌛44:00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TALAKAY · IKAAPAT NA BINTANA</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P · Personality</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Ang katangi-tanging paraan ng pag-iisip, pakiki-relate at pag-uugali — bigay ng Dios para mas ma-express ang iyong gifts, abilities at heart.</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"WALANG MAS SUPERIOR SA MGA CATEGORIES NA YAN" — MAS MACO-COMPLEMENT NATIN ANG ISA'T ISA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20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⌛46:00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TALAKAY · IKALIMANG BINTANA</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E · Experiences</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"Inaaliw niya kami sa lahat ng aming kapighatian upang makatulong naman kami sa mga naghihirap." — 2 Corinthians 1:4</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WALANG SAYANG NA BAHAGI NG BUHAY KUNG ISUSUKO NANG BUONG-BUO SA KANIYA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21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⌛49:00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TALAKAY · INTERACT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600" b="1" i="0">
                <a:solidFill>
                  <a:srgbClr val="FEFCF8"/>
                </a:solidFill>
                <a:latin typeface="Calibri"/>
              </a:rPr>
              <a:t>Justifiable ba ang inferiority complex ng ibang Christians dahil wala sila ng mga bagay na taglay ng iba?</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Debate sa mesa — AGREE o DISAGREE + isang dahilan. Pagkatapos, isulat ang paninindigan mo sa Participant Guide.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22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⌛52:00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TALAKAY · INTERACT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600" b="1" i="0">
                <a:solidFill>
                  <a:srgbClr val="FEFCF8"/>
                </a:solidFill>
                <a:latin typeface="Calibri"/>
              </a:rPr>
              <a:t>Paano ka magre-respond sa isang believer na masyado namang mataas ang tingin sa sarili dahil sa mga S.H.A.P.E. na taglay niya?</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Debate sa mesa — pagkatapos, isulat sa Participant Guide.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23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1 min · ⌛53:00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GAWIN · S.H.A.P.E. INVENTORY</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Ngayon — ang disenyo MO.</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Buksan ang Participant Guide. Sampung tanong, isa-isa. Sagutan nang tapat — first draft lang, hindi final exam.</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TAHIMIK NA PAGSULAT · QUIET WORSHIP MUSIC · INTERNS: PROMPTS, HINDI SAGOT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24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⌛55:00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GAWIN · S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600" b="1" i="0">
                <a:solidFill>
                  <a:srgbClr val="FEFCF8"/>
                </a:solidFill>
                <a:latin typeface="Calibri"/>
              </a:rPr>
              <a:t>Balikan ang iyong Spiritual Gifts Assessment. Anong gifts ang ibinigay ni Lord sa'yo — at paano mo nagagamit ang mga ito sa ministry ngayon?</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Isulat sa Participant Guide. Kung hindi ka pa naka-assessment — isulat ang hula mo at lagyan ng star.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25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⌛57:00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GAWIN · H · PASSION 1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600" b="1" i="0">
                <a:solidFill>
                  <a:srgbClr val="FEFCF8"/>
                </a:solidFill>
                <a:latin typeface="Calibri"/>
              </a:rPr>
              <a:t>Ano ang nagpapa-alab sa puso mo? Ano yung isang bagay na willing mong gawin nang walang bayad at panghabang-buhay?</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Isulat sa Participant Guide.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26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⌛59:00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GAWIN · H · PASSION 2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3000" b="1" i="0">
                <a:solidFill>
                  <a:srgbClr val="FEFCF8"/>
                </a:solidFill>
                <a:latin typeface="Calibri"/>
              </a:rPr>
              <a:t>Kanino ka sobrang concerned? Anong people group ang talagang malapit sa puso mo?</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Kids, teens, young pro, adults? Anong social class? Sino ang nasa sphere of influence mo? — Isulat sa Participant Guide.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27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⌛61:00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GAWIN · H · PASSION 3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3000" b="1" i="0">
                <a:solidFill>
                  <a:srgbClr val="FEFCF8"/>
                </a:solidFill>
                <a:latin typeface="Calibri"/>
              </a:rPr>
              <a:t>Anong God-centered dreams ang nais mong matupad? Ano ang pangarap mo para sa Church?</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Tulad ng batang naghandog ng limang tinapay at dalawang isda (John 6:9) — isulat sa Participant Guide.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28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⌛63:00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GAWIN · A · ABILITIES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200" b="1" i="0">
                <a:solidFill>
                  <a:srgbClr val="FEFCF8"/>
                </a:solidFill>
                <a:latin typeface="Calibri"/>
              </a:rPr>
              <a:t>Saan ka mahusay? Ano ang sobrang na-eenjoy mong gawin? Saan ka madalas ma-commend? Anong skill ang natural lang sa'yo pero mahirap para sa iba?</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Apat na prompt, isang inventory — isulat lahat sa Participant Guide.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29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⌛65:00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GAWIN · P · PERSONALITY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200" b="1" i="0">
                <a:solidFill>
                  <a:srgbClr val="FEFCF8"/>
                </a:solidFill>
                <a:latin typeface="Calibri"/>
              </a:rPr>
              <a:t>Piliin sa bawat pares: Mag-isa o maraming kasama? Expressive o reserved? Maingay o tahimik? Cooperative o competitive? Risk-taker o safe-player? Leader o follower?</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I-tap ang anim na pares sa Participant Guide. Walang mas superior sa mga categories na ito.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30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⌛67:00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GAWIN · E · EXPERIENCES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200" b="1" i="0">
                <a:solidFill>
                  <a:srgbClr val="FEFCF8"/>
                </a:solidFill>
                <a:latin typeface="Calibri"/>
              </a:rPr>
              <a:t>Anong masayang karanasan ang nagamit na ng Dios para ma-inspire ang iba? Anong masakit na karanasan ang maaari Niyang gamitin para makatulong sa iba?</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2 Corinthians 1:4 · Tahimik na sagot — sa'yo at sa Dios lang ito. Walang pipilitin mag-share.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31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⌛69:00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GAWIN · SELF-PORTRAIT</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Ang Aking S.H.A.P.E.</a:t>
            </a:r>
          </a:p>
          <a:p>
            <a:pPr algn="ctr"/>
            <a:r>
              <a:rPr sz="2800" b="1">
                <a:solidFill>
                  <a:srgbClr val="141628"/>
                </a:solidFill>
                <a:latin typeface="Calibri"/>
              </a:rPr>
              <a:t>Self-Portrait</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600" b="0" i="0">
                <a:solidFill>
                  <a:srgbClr val="141628"/>
                </a:solidFill>
                <a:latin typeface="Calibri"/>
              </a:rPr>
              <a:t>Limang maikling linya — S · H · A · P · E — pagsasamahin ng Participant Guide bilang isang talata: ang unang larawan ng disenyo ng Dios sa'yo.</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FIRST DRAFT LANG · HINDI PERPEKTO · PWEDENG TAPUSIN SA BAHAY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32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1 min · ⌛70:00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GAWIN · CHARIOTS OF FIRE</a:t>
            </a:r>
          </a:p>
        </p:txBody>
      </p:sp>
      <p:sp>
        <p:nvSpPr>
          <p:cNvPr id="7" name="TextBox 6"/>
          <p:cNvSpPr txBox="1"/>
          <p:nvPr/>
        </p:nvSpPr>
        <p:spPr>
          <a:xfrm>
            <a:off x="457200" y="1005840"/>
            <a:ext cx="8229600" cy="502920"/>
          </a:xfrm>
          <a:prstGeom prst="rect">
            <a:avLst/>
          </a:prstGeom>
          <a:noFill/>
        </p:spPr>
        <p:txBody>
          <a:bodyPr wrap="square" anchor="t" lIns="0" rIns="0" tIns="0" bIns="0">
            <a:spAutoFit/>
          </a:bodyPr>
          <a:lstStyle/>
          <a:p>
            <a:pPr algn="ctr"/>
            <a:r>
              <a:rPr sz="2400" b="1" i="0">
                <a:solidFill>
                  <a:srgbClr val="FEFCF8"/>
                </a:solidFill>
                <a:latin typeface="Calibri"/>
              </a:rPr>
              <a:t>Eric Liddell · 1924</a:t>
            </a:r>
          </a:p>
        </p:txBody>
      </p:sp>
      <p:sp>
        <p:nvSpPr>
          <p:cNvPr id="8" name="TextBox 7"/>
          <p:cNvSpPr txBox="1"/>
          <p:nvPr/>
        </p:nvSpPr>
        <p:spPr>
          <a:xfrm>
            <a:off x="731520" y="1737360"/>
            <a:ext cx="7680960" cy="2377440"/>
          </a:xfrm>
          <a:prstGeom prst="rect">
            <a:avLst/>
          </a:prstGeom>
          <a:noFill/>
        </p:spPr>
        <p:txBody>
          <a:bodyPr wrap="square" anchor="ctr" lIns="0" rIns="0" tIns="0" bIns="0">
            <a:spAutoFit/>
          </a:bodyPr>
          <a:lstStyle/>
          <a:p>
            <a:pPr algn="ctr"/>
            <a:r>
              <a:rPr sz="2200" b="1" i="0">
                <a:solidFill>
                  <a:srgbClr val="FEFCF8"/>
                </a:solidFill>
                <a:latin typeface="Calibri"/>
              </a:rPr>
              <a:t>"Nilikha ako ng Dios na matulin, at sa tuwing tumatakbo ako, nararamdaman ko ang Kaniyang kasiyahan."</a:t>
            </a:r>
          </a:p>
        </p:txBody>
      </p:sp>
      <p:sp>
        <p:nvSpPr>
          <p:cNvPr id="9" name="TextBox 8"/>
          <p:cNvSpPr txBox="1"/>
          <p:nvPr/>
        </p:nvSpPr>
        <p:spPr>
          <a:xfrm>
            <a:off x="457200" y="4343400"/>
            <a:ext cx="8229600" cy="411480"/>
          </a:xfrm>
          <a:prstGeom prst="rect">
            <a:avLst/>
          </a:prstGeom>
          <a:noFill/>
        </p:spPr>
        <p:txBody>
          <a:bodyPr wrap="square" anchor="t" lIns="0" rIns="0" tIns="0" bIns="0">
            <a:spAutoFit/>
          </a:bodyPr>
          <a:lstStyle/>
          <a:p>
            <a:pPr algn="ctr"/>
            <a:r>
              <a:rPr sz="1200" b="1" i="0">
                <a:solidFill>
                  <a:srgbClr val="D4A84A"/>
                </a:solidFill>
                <a:latin typeface="Calibri"/>
              </a:rPr>
              <a:t>CHARIOTS OF FIRE (1981) · 400M GOLD · WORLD RECORD · MISSIONARY TO CHINA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33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⌛72:00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GAWIN · ANG DEKLARASYON · TANONG</a:t>
            </a:r>
          </a:p>
        </p:txBody>
      </p:sp>
      <p:sp>
        <p:nvSpPr>
          <p:cNvPr id="7" name="Rounded Rectangle 6"/>
          <p:cNvSpPr/>
          <p:nvPr/>
        </p:nvSpPr>
        <p:spPr>
          <a:xfrm>
            <a:off x="2788920" y="1024128"/>
            <a:ext cx="3566160" cy="329184"/>
          </a:xfrm>
          <a:prstGeom prst="roundRect">
            <a:avLst>
              <a:gd name="adj" fmla="val 50000"/>
            </a:avLst>
          </a:prstGeom>
          <a:solidFill>
            <a:srgbClr val="D4A8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Participant Guide Question</a:t>
            </a:r>
          </a:p>
        </p:txBody>
      </p:sp>
      <p:sp>
        <p:nvSpPr>
          <p:cNvPr id="8" name="TextBox 7"/>
          <p:cNvSpPr txBox="1"/>
          <p:nvPr/>
        </p:nvSpPr>
        <p:spPr>
          <a:xfrm>
            <a:off x="731520" y="1645920"/>
            <a:ext cx="7680960" cy="2331720"/>
          </a:xfrm>
          <a:prstGeom prst="rect">
            <a:avLst/>
          </a:prstGeom>
          <a:noFill/>
        </p:spPr>
        <p:txBody>
          <a:bodyPr wrap="square" anchor="ctr" lIns="0" rIns="0" tIns="0" bIns="0">
            <a:spAutoFit/>
          </a:bodyPr>
          <a:lstStyle/>
          <a:p>
            <a:pPr algn="ctr"/>
            <a:r>
              <a:rPr sz="2600" b="1" i="0">
                <a:solidFill>
                  <a:srgbClr val="FEFCF8"/>
                </a:solidFill>
                <a:latin typeface="Calibri"/>
              </a:rPr>
              <a:t>"Nilikha ako ng Dios na _______, at sa tuwing _______ ako, nararamdaman ko ang Kaniyang kasiyahan."</a:t>
            </a:r>
          </a:p>
        </p:txBody>
      </p:sp>
      <p:sp>
        <p:nvSpPr>
          <p:cNvPr id="9" name="TextBox 8"/>
          <p:cNvSpPr txBox="1"/>
          <p:nvPr/>
        </p:nvSpPr>
        <p:spPr>
          <a:xfrm>
            <a:off x="731520" y="4160520"/>
            <a:ext cx="7680960" cy="548640"/>
          </a:xfrm>
          <a:prstGeom prst="rect">
            <a:avLst/>
          </a:prstGeom>
          <a:noFill/>
        </p:spPr>
        <p:txBody>
          <a:bodyPr wrap="square" anchor="t" lIns="0" rIns="0" tIns="0" bIns="0">
            <a:spAutoFit/>
          </a:bodyPr>
          <a:lstStyle/>
          <a:p>
            <a:pPr algn="ctr"/>
            <a:r>
              <a:rPr sz="1450" b="0" i="1">
                <a:solidFill>
                  <a:srgbClr val="D4A84A"/>
                </a:solidFill>
                <a:latin typeface="Calibri"/>
              </a:rPr>
              <a:t>Punan sa Participant Guide — pagkatapos, sabihin nang MALAKAS sa katabi mo.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34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⌛75:00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DALHIN · TAKDANG-ARALIN</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Dalawang Takdang-Aralin</a:t>
            </a:r>
          </a:p>
          <a:p>
            <a:pPr algn="ctr"/>
            <a:r>
              <a:rPr sz="2800" b="1">
                <a:solidFill>
                  <a:srgbClr val="141628"/>
                </a:solidFill>
                <a:latin typeface="Calibri"/>
              </a:rPr>
              <a:t>Bago ang Lesson 13</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400" b="0" i="0">
                <a:solidFill>
                  <a:srgbClr val="141628"/>
                </a:solidFill>
                <a:latin typeface="Calibri"/>
              </a:rPr>
              <a:t>1 · Kumpletuhin ang MULTIPLY assessments: Spiritual Gifts · Strengths · DISC · Enneagram · Love Language. 2 · 10-araw na emotions journal — bawat gabi, pangalanan ang naramdaman at ang naging tugon.</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050" b="1" i="0">
                <a:solidFill>
                  <a:srgbClr val="808080"/>
                </a:solidFill>
                <a:latin typeface="Calibri"/>
              </a:rPr>
              <a:t>MEMBER TOOL → MY PROFILE → MY ASSESSMENTS · JOURNAL TRACKER SA PARTICIPANT GUIDE · EI TRIANGLE TOOL: multiplygroup.org/leadingyourself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E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35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3 min · ⌛78:00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8A6D1E"/>
                </a:solidFill>
                <a:latin typeface="Calibri"/>
              </a:rPr>
              <a:t>🏠 DALHIN · EOLO + PANGAKO</a:t>
            </a:r>
          </a:p>
        </p:txBody>
      </p:sp>
      <p:sp>
        <p:nvSpPr>
          <p:cNvPr id="7" name="TextBox 6"/>
          <p:cNvSpPr txBox="1"/>
          <p:nvPr/>
        </p:nvSpPr>
        <p:spPr>
          <a:xfrm>
            <a:off x="457200" y="1097280"/>
            <a:ext cx="8229600" cy="1188720"/>
          </a:xfrm>
          <a:prstGeom prst="rect">
            <a:avLst/>
          </a:prstGeom>
          <a:noFill/>
        </p:spPr>
        <p:txBody>
          <a:bodyPr wrap="square" lIns="0" rIns="0" tIns="0" bIns="0">
            <a:spAutoFit/>
          </a:bodyPr>
          <a:lstStyle/>
          <a:p>
            <a:pPr algn="ctr"/>
            <a:r>
              <a:rPr sz="2800" b="1">
                <a:solidFill>
                  <a:srgbClr val="141628"/>
                </a:solidFill>
                <a:latin typeface="Calibri"/>
              </a:rPr>
              <a:t>Disenyo Para sa Kapwa</a:t>
            </a:r>
          </a:p>
        </p:txBody>
      </p:sp>
      <p:sp>
        <p:nvSpPr>
          <p:cNvPr id="8" name="TextBox 7"/>
          <p:cNvSpPr txBox="1"/>
          <p:nvPr/>
        </p:nvSpPr>
        <p:spPr>
          <a:xfrm>
            <a:off x="822960" y="2423160"/>
            <a:ext cx="7498079" cy="1554480"/>
          </a:xfrm>
          <a:prstGeom prst="rect">
            <a:avLst/>
          </a:prstGeom>
          <a:noFill/>
        </p:spPr>
        <p:txBody>
          <a:bodyPr wrap="square" anchor="ctr" lIns="0" rIns="0" tIns="0" bIns="0">
            <a:spAutoFit/>
          </a:bodyPr>
          <a:lstStyle/>
          <a:p>
            <a:pPr algn="ctr"/>
            <a:r>
              <a:rPr sz="1400" b="0" i="0">
                <a:solidFill>
                  <a:srgbClr val="141628"/>
                </a:solidFill>
                <a:latin typeface="Calibri"/>
              </a:rPr>
              <a:t>EOLO: Paano mo magagamit ang iyong S.H.A.P.E. para mahalin ang iyong EOLO person ngayong linggo? · Pangako: "Isasabuhay ko ang disenyo ng Dios sa akin sa pamamagitan ng ___."</a:t>
            </a:r>
          </a:p>
        </p:txBody>
      </p:sp>
      <p:sp>
        <p:nvSpPr>
          <p:cNvPr id="9" name="TextBox 8"/>
          <p:cNvSpPr txBox="1"/>
          <p:nvPr/>
        </p:nvSpPr>
        <p:spPr>
          <a:xfrm>
            <a:off x="457200" y="4206240"/>
            <a:ext cx="8229600" cy="502920"/>
          </a:xfrm>
          <a:prstGeom prst="rect">
            <a:avLst/>
          </a:prstGeom>
          <a:noFill/>
        </p:spPr>
        <p:txBody>
          <a:bodyPr wrap="square" anchor="t" lIns="0" rIns="0" tIns="0" bIns="0">
            <a:spAutoFit/>
          </a:bodyPr>
          <a:lstStyle/>
          <a:p>
            <a:pPr algn="ctr"/>
            <a:r>
              <a:rPr sz="1150" b="1" i="0">
                <a:solidFill>
                  <a:srgbClr val="808080"/>
                </a:solidFill>
                <a:latin typeface="Calibri"/>
              </a:rPr>
              <a:t>EACH ONE LOVE ONE · ISANG BAGAY · SPECIFIC · MAGAGAWA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1C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5486400" cy="228600"/>
          </a:xfrm>
          <a:prstGeom prst="rect">
            <a:avLst/>
          </a:prstGeom>
          <a:noFill/>
        </p:spPr>
        <p:txBody>
          <a:bodyPr wrap="square" anchor="t" lIns="0" rIns="0" tIns="0" bIns="0">
            <a:spAutoFit/>
          </a:bodyPr>
          <a:lstStyle/>
          <a:p>
            <a:pPr algn="l"/>
            <a:r>
              <a:rPr sz="900" b="1" i="0">
                <a:solidFill>
                  <a:srgbClr val="808080"/>
                </a:solidFill>
                <a:latin typeface="Calibri"/>
              </a:rPr>
              <a:t>MULTIPLY · DISCIPLE-MAKING PIPELINE</a:t>
            </a:r>
          </a:p>
        </p:txBody>
      </p:sp>
      <p:sp>
        <p:nvSpPr>
          <p:cNvPr id="4" name="TextBox 3"/>
          <p:cNvSpPr txBox="1"/>
          <p:nvPr/>
        </p:nvSpPr>
        <p:spPr>
          <a:xfrm>
            <a:off x="7772400" y="4846320"/>
            <a:ext cx="1188720" cy="228600"/>
          </a:xfrm>
          <a:prstGeom prst="rect">
            <a:avLst/>
          </a:prstGeom>
          <a:noFill/>
        </p:spPr>
        <p:txBody>
          <a:bodyPr wrap="square" anchor="t" lIns="0" rIns="0" tIns="0" bIns="0">
            <a:spAutoFit/>
          </a:bodyPr>
          <a:lstStyle/>
          <a:p>
            <a:pPr algn="r"/>
            <a:r>
              <a:rPr sz="900" b="0" i="0">
                <a:solidFill>
                  <a:srgbClr val="808080"/>
                </a:solidFill>
                <a:latin typeface="Calibri"/>
              </a:rPr>
              <a:t>36 / 36</a:t>
            </a:r>
          </a:p>
        </p:txBody>
      </p:sp>
      <p:sp>
        <p:nvSpPr>
          <p:cNvPr id="5" name="Rounded Rectangle 4"/>
          <p:cNvSpPr/>
          <p:nvPr/>
        </p:nvSpPr>
        <p:spPr>
          <a:xfrm>
            <a:off x="7205472" y="118872"/>
            <a:ext cx="1828800" cy="365760"/>
          </a:xfrm>
          <a:prstGeom prst="roundRect">
            <a:avLst>
              <a:gd name="adj" fmla="val 50000"/>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41628"/>
                </a:solidFill>
                <a:latin typeface="Calibri"/>
              </a:rPr>
              <a:t>⏱ 2 min · ⌛80:00</a:t>
            </a:r>
          </a:p>
        </p:txBody>
      </p:sp>
      <p:sp>
        <p:nvSpPr>
          <p:cNvPr id="6" name="TextBox 5"/>
          <p:cNvSpPr txBox="1"/>
          <p:nvPr/>
        </p:nvSpPr>
        <p:spPr>
          <a:xfrm>
            <a:off x="457200" y="457200"/>
            <a:ext cx="8229600" cy="365760"/>
          </a:xfrm>
          <a:prstGeom prst="rect">
            <a:avLst/>
          </a:prstGeom>
          <a:noFill/>
        </p:spPr>
        <p:txBody>
          <a:bodyPr wrap="square" anchor="t" lIns="0" rIns="0" tIns="0" bIns="0">
            <a:spAutoFit/>
          </a:bodyPr>
          <a:lstStyle/>
          <a:p>
            <a:pPr algn="ctr"/>
            <a:r>
              <a:rPr sz="1500" b="1" i="0">
                <a:solidFill>
                  <a:srgbClr val="D4A84A"/>
                </a:solidFill>
                <a:latin typeface="Calibri"/>
              </a:rPr>
              <a:t>🏠 DALHIN · SUSUNOD NA HAKBANG</a:t>
            </a:r>
          </a:p>
        </p:txBody>
      </p:sp>
      <p:sp>
        <p:nvSpPr>
          <p:cNvPr id="7" name="TextBox 6"/>
          <p:cNvSpPr txBox="1"/>
          <p:nvPr/>
        </p:nvSpPr>
        <p:spPr>
          <a:xfrm>
            <a:off x="457200" y="1005840"/>
            <a:ext cx="8229600" cy="502920"/>
          </a:xfrm>
          <a:prstGeom prst="rect">
            <a:avLst/>
          </a:prstGeom>
          <a:noFill/>
        </p:spPr>
        <p:txBody>
          <a:bodyPr wrap="square" anchor="t" lIns="0" rIns="0" tIns="0" bIns="0">
            <a:spAutoFit/>
          </a:bodyPr>
          <a:lstStyle/>
          <a:p>
            <a:pPr algn="ctr"/>
            <a:r>
              <a:rPr sz="2400" b="1" i="0">
                <a:solidFill>
                  <a:srgbClr val="FEFCF8"/>
                </a:solidFill>
                <a:latin typeface="Calibri"/>
              </a:rPr>
              <a:t>L13 · Servant Leadership</a:t>
            </a:r>
          </a:p>
        </p:txBody>
      </p:sp>
      <p:sp>
        <p:nvSpPr>
          <p:cNvPr id="8" name="TextBox 7"/>
          <p:cNvSpPr txBox="1"/>
          <p:nvPr/>
        </p:nvSpPr>
        <p:spPr>
          <a:xfrm>
            <a:off x="731520" y="1737360"/>
            <a:ext cx="7680960" cy="2377440"/>
          </a:xfrm>
          <a:prstGeom prst="rect">
            <a:avLst/>
          </a:prstGeom>
          <a:noFill/>
        </p:spPr>
        <p:txBody>
          <a:bodyPr wrap="square" anchor="ctr" lIns="0" rIns="0" tIns="0" bIns="0">
            <a:spAutoFit/>
          </a:bodyPr>
          <a:lstStyle/>
          <a:p>
            <a:pPr algn="ctr"/>
            <a:r>
              <a:rPr sz="1800" b="1" i="0">
                <a:solidFill>
                  <a:srgbClr val="FEFCF8"/>
                </a:solidFill>
                <a:latin typeface="Calibri"/>
              </a:rPr>
              <a:t>"...ang sinumang magibig na dumakila sa inyo ay magiging lingkod ninyo." — Mark 10:43-44 · "Sapagkat tayo'y kanyang pinakamahusay na gawa..." — Ephesians 2:10</a:t>
            </a:r>
          </a:p>
        </p:txBody>
      </p:sp>
      <p:sp>
        <p:nvSpPr>
          <p:cNvPr id="9" name="TextBox 8"/>
          <p:cNvSpPr txBox="1"/>
          <p:nvPr/>
        </p:nvSpPr>
        <p:spPr>
          <a:xfrm>
            <a:off x="457200" y="4343400"/>
            <a:ext cx="8229600" cy="411480"/>
          </a:xfrm>
          <a:prstGeom prst="rect">
            <a:avLst/>
          </a:prstGeom>
          <a:noFill/>
        </p:spPr>
        <p:txBody>
          <a:bodyPr wrap="square" anchor="t" lIns="0" rIns="0" tIns="0" bIns="0">
            <a:spAutoFit/>
          </a:bodyPr>
          <a:lstStyle/>
          <a:p>
            <a:pPr algn="ctr"/>
            <a:r>
              <a:rPr sz="1200" b="1" i="0">
                <a:solidFill>
                  <a:srgbClr val="D4A84A"/>
                </a:solidFill>
                <a:latin typeface="Calibri"/>
              </a:rPr>
              <a:t>SALAMAT, KAPATID · DISCIPLES WHO MAKE DISCIPLES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
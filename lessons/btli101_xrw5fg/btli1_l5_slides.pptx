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session. Set the tone: We are not here to fix anyone's hardship today. We are here to learn to FACE it well. Estimated 60 min total: PUKAW 8 · TUKLAS 15 · TALAKAY 12 · TUGON 15 · DALHIN 10. Memory verse: John 16:33. Character anchor: PATIENCE (Pagtitiis). Open in prayer asking for honest hearts and safe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John 16:33 aloud — slowly. Note Jesus said 'magkakaroon' (will have) not 'baka magkaroon' (might have). Hardship is promised. But the second clause is also promised: 'dinaig ko na.' Past tense. Already won. This frames everything we'll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(~3 of 8 min). Open with last week's L4 SRPIU follow-up first — 'Kumusta ang Pananalita / Pag-iisip / Sekswalidad watch ninyo?' — celebrate honest answers. Then transition: 'Now, totoo na holiness is hard. But may isa pang klase ng hirap — yung hindi mo pinili. Yan ang topic natin ngayon.' Let 2-3 share briefly. Don't force consensus.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TANAW story from USAD p.36. If possible, play YouTube pgtmlVqCKxc (Monarch butterfly time-lapse) for ~60 seconds. Then tell the bata-gunting story: a child saw a butterfly struggling in its cocoon and cut it open to help. The butterfly emerged — but never flew. The struggle WAS the strengthening. The pressure pushes the fluid into the wings. Spiritual application: hindi lahat ng kaginhawaan ay biyaya. Hindi lahat ng hirap ay sumpa.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opening. Read the Big Idea slowly. Pause. Then deliver the punch line: 'pag-USAD ay nakadepende sa response, HINDI sa danas.' This is the thesis of the entire lesson. Every storm is real. But every response is a CHOICE. The disciple cannot control the weather; can only choose the posture under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load-bearing framework of TUKLAS. Walk through all three. EMPHASIS: the wrong diagnosis leads to the wrong response. If you treat a TEMPTATION like a TRIAL ('endure it patiently'), you fall. If you treat a TRIAL like a TEMPTATION ('this is from the devil so rebuke it'), you miss the formation. James 1:13 is critical: God does not tempt anyone. The devil tempts; God tests; the world wounds. Three different sources, three different responses.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Eric Greitens — Navy SEAL turned author of 'Resilience.' Quote frames the next move. Pain itself is neutral; meaning is made by response. This is consistent with biblical theology: Romans 5:3-4 ('suffering produces perseverance') and James 1:2-4 ('the testing of your faith produces patience'). Patience is not innate — it's PRODUCED by trial that's faced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of the 4. (1) JOB - read Job 1:20-21 aloud; note the 5 verbs: lumuhod, sumamba, hinubad, hinubdan, sinabi. He didn't deny pain — he worshipped through it. (2) PAUL - the thorn was NOT removed; the grace was sufficient. The hardship didn't end; Paul got new strength inside it. (3) PETER - 'magalak kayo' is shocking. Not 'magtiis kayo.' REJOICE. Why? Because sharing Christ's sufferings. (4) JESUS - the ultimate model. He asked for the cup to pass. Then surrendered. Patience includes asking honestly + then surrendering wholly.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explicitly name what all 4 share: HYPOMONE — Greek for 'to remain under.' Not passive resignation. Active staying. Patience is what you DO while the hardship continues. This is the character anchor of L5. Connect back to L1-L4: prayer + bible + surrender + holiness — all these disciplines build the muscle that gets used HERE, under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(~12 min). CRITICAL: facilitator must enforce safe-space rules BEFORE anyone shares: (1) no rushing to fix, (2) no 'I have a worse story' comparisons, (3) no advice unless asked, (4) what's shared here stays here. Use the safe-space framing card from facilitator guide. Limit to 2 sharers max — quality over quantity. Discernment drill is the load-bearing exercise: each person silently classifies one current hardship as T/T/T. Don't force them to share which one — just the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opens with Lewis. Pause after 'shouts in our pain.' The point: God doesn't CAUSE the pain (per James 1:13) but He USES it — to get the attention of a deaf world (us included). The hardship is a megaphone, not the message. The message is: 'I AM HERE. STILL HERE.' Don't moralize the quote. Let it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Spafford — tell slowly. Three losses: business (1871), son (1873), four daughters (Nov 1873). His wife Anna survived; the cable she sent him from Wales read just two words: 'Saved alone.' He sailed to meet her. The captain pointed out the spot where the Ville du Havre went down. Spafford wrote 'It Is Well' there — or shortly after. The hymn is not denial of grief. It is faith in the midst of grief. Both real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Anthem Lights cover (YouTube jcp6w4zaW7U) — ~4 min. Display lyrics on screen if possible. Facilitator's call: sing along OR silent listen. While playing, participants write in the in-group GAWIN box: (a) what God is teaching you through current hardship, OR (b) prayer for someone you know in hardship + commitment to encourage that person this week. End with 60 sec silence after the hymn closes — no rushed 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(~10 min). Three concrete carry-homes. Walk through each: (1) 3-Trial Watch — 7-day journal. Honor the rhythm: nightly is fine; morning + night is better. (2) EOLO bridge — 48 hours. Make it specific. 'I will message _____ by Saturday night.' Patience isn't only enduring my own pain — it's STAYING PRESENT with someone else's. (3) John 16:33 memorize — by next LCG. Note: end-of-lesson 1-10 snapshot in participant guide; revisit start vs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Pangako Ko — Filipino disciple-making convention. Spoken commitment in front of witnesses binds the disciple socially in addition to spiritually. Each participant says the 3-line pangako aloud. Witness affirms with 'Amen' or 'I will pray for you, kapatid.' Don't make it long or theatrical — short and serious.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Preview L6 — Christian Fellowship. The bridge: 'Hindi mo dapat haharapin ang hirap nang mag-isa. Yan ang topic next week — community as God's main way of carrying us through.' Close with John 16:33 recited together aloud. End with prayer of blessing — thank God for honest sharing, ask for strength for those carrying current hardship, dismiss in peace.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BTLI 1 · LESSON 5 · USAD-L5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Pagharap sa Hirap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0C6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Facing Hardship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FFFF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Rosehill Christian Church  ·  MULTIPLY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D4A838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PAGTITIIS · PATIENCE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4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PUKAW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0" y="228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FFFFF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🌿 Patience · Pagtitiis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VERSE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"Sa sanlibutan ay magkakaroon kayo ng kapighatian; ngunit laksan ninyo ang inyong loob, dinaig ko na ang sanlibutan."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0" kern="0" dirty="0">
                <a:solidFill>
                  <a:srgbClr val="D4A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JUAN 16:33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PUKAW · OPENING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Base sa karanasan mo…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 dulot bang pakinabang ang pagsubok at paghihirap sa isang tao?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2A5C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Kung meron, ano?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6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Pansamantalang pag-isipan; isa-isang sasagot.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PUKAW · TANAW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🦋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Cocoon at ang Gunting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393192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bata na hinati ang cocoon ng gunting para tulungan ang paru-paro… ay pinabilis nga ang pagkawala, pero pinatay ang lipad.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53035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C6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pakikibaka sa pagkahubog ay hindi kaaway — ito ang nagbibigay ng lakas para lumipad.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9A7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TUKLAS · PANGUNAHING ARAL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0" kern="0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BIG IDEA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i="1" dirty="0">
                <a:solidFill>
                  <a:srgbClr val="FDF6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"Hindi tao kung 'di pa nasaktan;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i="1" dirty="0">
                <a:solidFill>
                  <a:srgbClr val="FDF6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hindi buhay kung wala ng dinaranas na hirap."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Pero ang PAG-USAD ay nakadepende sa response, hindi sa danas.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TUKLAS · 3-TYPE DISCERNMENT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Tatlong Klase ng Hirap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Iba ang tamang response sa bawat isa — kaya nakakatulong na malaman kung alin.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24435F"/>
          </a:solidFill>
          <a:ln w="6350">
            <a:solidFill>
              <a:srgbClr val="E89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9C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⚡ TRIAL · PAGSUBOK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Galing sa: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dumaraing na sanlibutan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"Ang buong sangnilikha ay naghihinagpis…"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Rom 8:22 · 1 Pet 4:12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237744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24435F"/>
          </a:solidFill>
          <a:ln w="6350">
            <a:solidFill>
              <a:srgbClr val="7FD4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4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🎯 TEST · PAGTITIKIM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Galing sa: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40233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"Sinubok ng Dios si Abraham…"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Gen 22:1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237744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24435F"/>
          </a:solidFill>
          <a:ln w="6350">
            <a:solidFill>
              <a:srgbClr val="F0C6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C6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🐍 TEMPTATION · TUKSO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31089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Galing sa: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diablo / laman </a:t>
            </a:r>
            <a:pPr indent="0" marL="0">
              <a:buNone/>
            </a:pPr>
            <a:r>
              <a:rPr lang="en-US" sz="1300" i="1" dirty="0">
                <a:solidFill>
                  <a:srgbClr val="FFFFFF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HINDI sa Dios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41148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"Huwag sabihin ng sinuman, 'tinutukso ako ng Dios'…"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Sant 1:13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TUKLAS · 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2A5C40">
                    <a:alpha val="5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Pain can break us or make us wiser. Suffering can destroy us or make us stronger.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Fear can cripple us, or it can make us more courageous.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1A1612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ERIC GREITENS · RESILIENCE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TUKLAS · APAT NA TUGON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Apat na Biblikal na Tugon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Apat na tao. Apat na karanasan. Iisang fruit: Pagtitiis (hypomonē).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A3A28"/>
          </a:solidFill>
          <a:ln w="6350">
            <a:solidFill>
              <a:srgbClr val="D4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73152" cy="2286000"/>
          </a:xfrm>
          <a:prstGeom prst="rect">
            <a:avLst/>
          </a:prstGeom>
          <a:solidFill>
            <a:srgbClr val="D4A83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Job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MANATILI AT SUMAMBA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"Hubad akong lumabas sa sinapupunan… Purihin ang pangalan ng Panginoon." — Job 1:20-21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A3A28"/>
          </a:solidFill>
          <a:ln w="6350">
            <a:solidFill>
              <a:srgbClr val="D4A8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011680"/>
            <a:ext cx="73152" cy="2286000"/>
          </a:xfrm>
          <a:prstGeom prst="rect">
            <a:avLst/>
          </a:prstGeom>
          <a:solidFill>
            <a:srgbClr val="D4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Pablo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37960" y="2697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UMASA SA BIYAYA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310896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"Sapat na sa iyo ang aking biyaya, sapagkat ang aking kapangyarihan ay nagiging sakdal sa kahinaan." — 2 Cor 12:9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A3A28"/>
          </a:solidFill>
          <a:ln w="6350">
            <a:solidFill>
              <a:srgbClr val="D4A8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434840"/>
            <a:ext cx="73152" cy="2286000"/>
          </a:xfrm>
          <a:prstGeom prst="rect">
            <a:avLst/>
          </a:prstGeom>
          <a:solidFill>
            <a:srgbClr val="D4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72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Pedro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1520" y="5120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SUMUNOD AT MAGALAK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53212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"Magalak kayo, sapagkat nakikibahagi kayo sa mga hirap ni Cristo." — 1 Pet 4:13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44348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A3A28"/>
          </a:solidFill>
          <a:ln w="6350">
            <a:solidFill>
              <a:srgbClr val="D4A8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4434840"/>
            <a:ext cx="73152" cy="2286000"/>
          </a:xfrm>
          <a:prstGeom prst="rect">
            <a:avLst/>
          </a:prstGeom>
          <a:solidFill>
            <a:srgbClr val="D4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572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Jesus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537960" y="5120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MAGTIWALA AT SUMUKO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553212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"Ama ko, kung maaari, lumayo sa akin ang sarong ito; gayon man, hindi ang kalooban ko…" — Lucas 22:42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9A7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TUKLAS · CHARACTER ANCHOR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GALATIANS 5:22 · BUNGA NG ESPIRITU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0C6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Pagtitiis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DF6E8">
                    <a:alpha val="8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hypomonē — "to remain under"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F6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Hindi lang ito kakayahang tiisin. Ito ang aktibong posture sa ilalim ng presyur — ang ginagawa mo habang nagpapatuloy ang hirap.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DF6E8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 · Pablo · Pedro · Jesus — apat na bersyon ng iisang Pagtitiis.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TALAKAY · GROUP SHARING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Talakayan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423160"/>
            <a:ext cx="164592" cy="164592"/>
          </a:xfrm>
          <a:prstGeom prst="ellipse">
            <a:avLst/>
          </a:prstGeom>
          <a:solidFill>
            <a:srgbClr val="2A5C4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94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I-share</a:t>
            </a:r>
            <a:pPr indent="0" marL="0">
              <a:buNone/>
            </a:pPr>
            <a:r>
              <a:rPr lang="en-US" sz="1900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ang isang pagsubok na dinanas mo o ng malapit sa'yo. (Max 2 sharers.)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3337560"/>
            <a:ext cx="164592" cy="164592"/>
          </a:xfrm>
          <a:prstGeom prst="ellipse">
            <a:avLst/>
          </a:prstGeom>
          <a:solidFill>
            <a:srgbClr val="2A5C4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108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Dumating ka na ba</a:t>
            </a:r>
            <a:pPr indent="0" marL="0">
              <a:buNone/>
            </a:pPr>
            <a:r>
              <a:rPr lang="en-US" sz="1900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sa puntos kung saan napatanong ka sa Dios kung BAKIT?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4251960"/>
            <a:ext cx="164592" cy="164592"/>
          </a:xfrm>
          <a:prstGeom prst="ellipse">
            <a:avLst/>
          </a:prstGeom>
          <a:solidFill>
            <a:srgbClr val="2A5C4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023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Discernment drill: </a:t>
            </a:r>
            <a:pPr indent="0" marL="0">
              <a:buNone/>
            </a:pPr>
            <a:r>
              <a:rPr lang="en-US" sz="1900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Isipin ang isang kasalukuyang hirap mo. Trial? Test? Temptation?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6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 space. Walang nakikinig na puwedeng mag-judge. Hindi ito problem-solving session — pakikinig ito.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TUGON · THE MEGAPHONE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D4A838">
                    <a:alpha val="4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God whispers to us in our pleasures,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speaks in our conscience,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but 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i="1" dirty="0">
                <a:solidFill>
                  <a:srgbClr val="F0C6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shouts in our pain</a:t>
            </a:r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: it is His megaphone to rouse a deaf world.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FFFF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C.S. LEWIS · THE PROBLEM OF PAIN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9A7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TUGON · KUWENTO NG BUHAY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6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Horatio Spafford  ·  1828–1888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1871</a:t>
            </a:r>
            <a:pPr indent="0" marL="0">
              <a:buNone/>
            </a:pPr>
            <a:r>
              <a:rPr lang="en-US" sz="1700" dirty="0">
                <a:solidFill>
                  <a:srgbClr val="FDF6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Sinunog ng Great Chicago Fire ang mga properties niya.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1873</a:t>
            </a:r>
            <a:pPr indent="0" marL="0">
              <a:buNone/>
            </a:pPr>
            <a:r>
              <a:rPr lang="en-US" sz="1700" dirty="0">
                <a:solidFill>
                  <a:srgbClr val="FDF6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Namatay ang 4-anyos na anak sa scarlet fever.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 1873</a:t>
            </a:r>
            <a:pPr indent="0" marL="0">
              <a:buNone/>
            </a:pPr>
            <a:r>
              <a:rPr lang="en-US" sz="1700" dirty="0">
                <a:solidFill>
                  <a:srgbClr val="FDF6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Naglakbay sa Europe ang asawa't apat na anak na babae. Nabangga ang barko; nalunod silang lahat.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DF6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Pangalawang barko ang sinakyan niya. Sa exactong lugar ng pagkalunod… isinulat ang himno: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0C6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"When peace, like a river, attendeth my way…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i="1" dirty="0">
                <a:solidFill>
                  <a:srgbClr val="F0C6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It is well, it is well with my soul."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TUGON · AWIT NG PUSO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HYMN · ANTHEM LIGHTS COVER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"It Is Well with My Soul"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88720" y="3108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9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Habang umaawit, maaaring isulat ang itinuturo sa iyo ng Dios sa kasalukuyang hirap — o ang panalangin mo para sa isang taong dumaranas ng hirap.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▶  YouTube: jcp6w4zaW7U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>
                    <a:alpha val="7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Manghahawakan sa Dios — hindi sa pagkaunawa.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DALHIN · CARRY HOME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61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Tatlong Bagay sa Linggong Ito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304288"/>
            <a:ext cx="164592" cy="164592"/>
          </a:xfrm>
          <a:prstGeom prst="ellipse">
            <a:avLst/>
          </a:prstGeom>
          <a:solidFill>
            <a:srgbClr val="2A5C4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03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3-Trial Watch Journal · </a:t>
            </a:r>
            <a:pPr indent="0" marL="0">
              <a:buNone/>
            </a:pPr>
            <a:r>
              <a:rPr lang="en-US" sz="1700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Lunes-Linggo. Bawat araw: pangalanan ang hirap, tagain (T/T/T), pangalanan ang response, isulat ang verse.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218688"/>
            <a:ext cx="164592" cy="164592"/>
          </a:xfrm>
          <a:prstGeom prst="ellipse">
            <a:avLst/>
          </a:prstGeom>
          <a:solidFill>
            <a:srgbClr val="2A5C4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017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EOLO bridge · </a:t>
            </a:r>
            <a:pPr indent="0" marL="0">
              <a:buNone/>
            </a:pPr>
            <a:r>
              <a:rPr lang="en-US" sz="1700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I-reach out ang taong isinulat mo sa Tugon — chat/text/tawag, sa loob ng 48 oras.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133088"/>
            <a:ext cx="164592" cy="164592"/>
          </a:xfrm>
          <a:prstGeom prst="ellipse">
            <a:avLst/>
          </a:prstGeom>
          <a:solidFill>
            <a:srgbClr val="2A5C4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931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Kabisaduhin · </a:t>
            </a:r>
            <a:pPr indent="0" marL="0">
              <a:buNone/>
            </a:pPr>
            <a:r>
              <a:rPr lang="en-US" sz="1700" dirty="0">
                <a:solidFill>
                  <a:srgbClr val="1A16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Juan 16:33 bago ang susunod na lesson.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9A78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Pagtitiis ay nasa pag-stay — sa hirap mo, at sa hirap ng iba.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DALHIN · PANGAKO KO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D4A8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960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1A2E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PANGAKO KO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Isang Pangako, Malakas Sabihin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 loob ng linggong ito, kapag dumating ang hirap…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11247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F0C6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"Mananatili ako.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i="1" dirty="0">
                <a:solidFill>
                  <a:srgbClr val="F0C6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Hindi ako tatakas.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i="1" dirty="0">
                <a:solidFill>
                  <a:srgbClr val="F0C6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Sasamba ako sa Dios kahit sa dilim."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Sasabihin sa LCG; isasaksi ng kapatid.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SUSUNOD NA HAKBANG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F0C6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L6 PREVIEW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Christian Fellowship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"Hindi mo kailangang harapin nang mag-isa ang hirap — may community ka."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"Sa sanlibutan ay magkakaroon kayo ng kapighatian;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ngunit laksan ninyo ang inyong loob, 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i="1" dirty="0">
                <a:solidFill>
                  <a:srgbClr val="F0C6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dinaig ko na ang sanlibutan</a:t>
            </a:r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."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D4A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JUAN 16:33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Salamat, kapatid.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Rosehill Christian Church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BTLI 1 · L5 · Pagharap sa Hirap</dc:title>
  <dc:subject>PptxGenJS Presentation</dc:subject>
  <dc:creator>Rosehill Christian Church · MULTIPLY</dc:creator>
  <cp:lastModifiedBy>Rosehill Christian Church · MULTIPLY</cp:lastModifiedBy>
  <cp:revision>1</cp:revision>
  <dcterms:created xsi:type="dcterms:W3CDTF">2026-05-20T21:17:08Z</dcterms:created>
  <dcterms:modified xsi:type="dcterms:W3CDTF">2026-05-20T21:17:08Z</dcterms:modified>
</cp:coreProperties>
</file>
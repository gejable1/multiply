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72" r:id="rId4"/>
    <p:sldId id="259" r:id="rId5"/>
    <p:sldId id="258" r:id="rId6"/>
    <p:sldId id="260" r:id="rId7"/>
    <p:sldId id="261" r:id="rId8"/>
    <p:sldId id="273" r:id="rId9"/>
    <p:sldId id="262" r:id="rId10"/>
    <p:sldId id="263" r:id="rId11"/>
    <p:sldId id="264" r:id="rId12"/>
    <p:sldId id="277" r:id="rId13"/>
    <p:sldId id="265" r:id="rId14"/>
    <p:sldId id="275" r:id="rId15"/>
    <p:sldId id="276" r:id="rId16"/>
    <p:sldId id="266" r:id="rId17"/>
    <p:sldId id="267" r:id="rId18"/>
    <p:sldId id="268" r:id="rId19"/>
    <p:sldId id="274" r:id="rId20"/>
    <p:sldId id="269" r:id="rId21"/>
    <p:sldId id="270" r:id="rId22"/>
    <p:sldId id="271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4684" autoAdjust="0"/>
  </p:normalViewPr>
  <p:slideViewPr>
    <p:cSldViewPr snapToGrid="0" snapToObjects="1">
      <p:cViewPr varScale="1">
        <p:scale>
          <a:sx n="54" d="100"/>
          <a:sy n="54" d="100"/>
        </p:scale>
        <p:origin x="17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1492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session. Set the tone: We are not here to fix anyone's hardship today. We are here to learn to FACE it well. Estimated 60 min total: PUKAW 8 · TUKLAS 15 · TALAKAY 12 · TUGON 15 · DALHIN 10. Memory verse: John 16:33. Character anchor: PATIENCE (Pagtitiis). Open in prayer asking for honest hearts and safe space.</a:t>
            </a:r>
          </a:p>
          <a:p>
            <a:endParaRPr/>
          </a:p>
          <a:p>
            <a:r>
              <a:t>FLOW CHECKPOINTS (cumulative): PUKAW ends 8:00 | TUKLAS 23:00 | TALAKAY 35:00 | TUGON 50:00 | DALHIN 60:00. The gold pill on every slide is the pace-keeper: '⏱ slide minutes · ⌛cumulative target'. If the room is behind at a checkpoint, reclaim time from Spafford (5-&gt;4) or sharing (5-&gt;4), never from safe-space or silent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John 16:33 aloud — slowly. Note Jesus said 'magkakaroon' (will have) not 'baka magkaroon' (might have). Hardship is promised. But the second clause is also promised: 'dinaig ko na.' Past tense. Already won. This frames everything we'll discuss.</a:t>
            </a:r>
          </a:p>
          <a:p>
            <a:endParaRPr/>
          </a:p>
          <a:p>
            <a:r>
              <a:t>Pace note: 1 min only -- read slowly ONCE, no exposition yet; the exposition returns at DALHIN verse 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L4 CALLBACK ~2 min (target 3:00). </a:t>
            </a:r>
            <a:r>
              <a:rPr dirty="0" err="1"/>
              <a:t>Maikling</a:t>
            </a:r>
            <a:r>
              <a:rPr dirty="0"/>
              <a:t> </a:t>
            </a:r>
            <a:r>
              <a:rPr dirty="0" err="1"/>
              <a:t>kumustahan</a:t>
            </a:r>
            <a:r>
              <a:rPr dirty="0"/>
              <a:t> lang -- </a:t>
            </a:r>
            <a:r>
              <a:rPr dirty="0" err="1"/>
              <a:t>hindi</a:t>
            </a:r>
            <a:r>
              <a:rPr dirty="0"/>
              <a:t> </a:t>
            </a:r>
            <a:r>
              <a:rPr dirty="0" err="1"/>
              <a:t>ito</a:t>
            </a:r>
            <a:r>
              <a:rPr dirty="0"/>
              <a:t> ang focus. </a:t>
            </a:r>
            <a:r>
              <a:rPr dirty="0" err="1"/>
              <a:t>Pumili</a:t>
            </a:r>
            <a:r>
              <a:rPr dirty="0"/>
              <a:t> ng 2 volunteers, HUWAG </a:t>
            </a:r>
            <a:r>
              <a:rPr dirty="0" err="1"/>
              <a:t>i</a:t>
            </a:r>
            <a:r>
              <a:rPr dirty="0"/>
              <a:t>-pressure. Celebration culture: </a:t>
            </a:r>
            <a:r>
              <a:rPr dirty="0" err="1"/>
              <a:t>kahit</a:t>
            </a:r>
            <a:r>
              <a:rPr dirty="0"/>
              <a:t> </a:t>
            </a:r>
            <a:r>
              <a:rPr dirty="0" err="1"/>
              <a:t>isang</a:t>
            </a:r>
            <a:r>
              <a:rPr dirty="0"/>
              <a:t> </a:t>
            </a:r>
            <a:r>
              <a:rPr dirty="0" err="1"/>
              <a:t>panalo</a:t>
            </a:r>
            <a:r>
              <a:rPr dirty="0"/>
              <a:t>, </a:t>
            </a:r>
            <a:r>
              <a:rPr dirty="0" err="1"/>
              <a:t>papalakpakan</a:t>
            </a:r>
            <a:r>
              <a:rPr dirty="0"/>
              <a:t>. Pitfall: don't let this stretch past 2 min; the monarch video needs its full window.</a:t>
            </a:r>
            <a:endParaRPr lang="en-US" dirty="0"/>
          </a:p>
          <a:p>
            <a:r>
              <a:rPr lang="en-US" dirty="0"/>
              <a:t>SRPIU (</a:t>
            </a:r>
            <a:r>
              <a:rPr lang="en-US" dirty="0" err="1"/>
              <a:t>Sekswalidad</a:t>
            </a:r>
            <a:r>
              <a:rPr lang="en-US" dirty="0"/>
              <a:t> / </a:t>
            </a:r>
            <a:r>
              <a:rPr lang="en-US" dirty="0" err="1"/>
              <a:t>Relasyon</a:t>
            </a:r>
            <a:r>
              <a:rPr lang="en-US" dirty="0"/>
              <a:t> / </a:t>
            </a:r>
            <a:r>
              <a:rPr lang="en-US" dirty="0" err="1"/>
              <a:t>Pananalita</a:t>
            </a:r>
            <a:r>
              <a:rPr lang="en-US" dirty="0"/>
              <a:t> / Pag-</a:t>
            </a:r>
            <a:r>
              <a:rPr lang="en-US" dirty="0" err="1"/>
              <a:t>iisip</a:t>
            </a:r>
            <a:r>
              <a:rPr lang="en-US" dirty="0"/>
              <a:t> / Ugali).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TANAW story from USAD p.36. If possible, play YouTube pgtmlVqCKxc (Monarch butterfly time-lapse) for ~60 seconds. Then tell the bata-gunting story: a child saw a butterfly struggling in its cocoon and cut it open to help. The butterfly emerged — but never flew. The struggle WAS the strengthening. The pressure pushes the fluid into the wings. Spiritual application: hindi lahat ng kaginhawaan ay biyaya. Hindi lahat ng hirap ay sumpa.</a:t>
            </a:r>
          </a:p>
          <a:p>
            <a:endParaRPr/>
          </a:p>
          <a:p>
            <a:r>
              <a:t>Combined window 4 min: Monarch video ~2.5 (walang commentary habang tumutugtog; highlight AFTER: 'Ang fluids na nagpupuno sa pakpak ay nailalabas lang sa PAGPILIT. Walang shortcut.') + bata-gunting story ~1.5 (IKUWENTO, huwag basahin). Punchline: 'Ang well-intentioned na tulong, pwedeng masamang dulot -- kung sira ang process.'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PUKAW (~3 of 8 min). Open with last week's L4 SRPIU follow-up first — '</a:t>
            </a:r>
            <a:r>
              <a:rPr dirty="0" err="1"/>
              <a:t>Kumusta</a:t>
            </a:r>
            <a:r>
              <a:rPr dirty="0"/>
              <a:t> ang </a:t>
            </a:r>
            <a:r>
              <a:rPr dirty="0" err="1"/>
              <a:t>Pananalita</a:t>
            </a:r>
            <a:r>
              <a:rPr dirty="0"/>
              <a:t> / Pag-</a:t>
            </a:r>
            <a:r>
              <a:rPr dirty="0" err="1"/>
              <a:t>iisip</a:t>
            </a:r>
            <a:r>
              <a:rPr dirty="0"/>
              <a:t> / </a:t>
            </a:r>
            <a:r>
              <a:rPr dirty="0" err="1"/>
              <a:t>Sekswalidad</a:t>
            </a:r>
            <a:r>
              <a:rPr dirty="0"/>
              <a:t> watch </a:t>
            </a:r>
            <a:r>
              <a:rPr dirty="0" err="1"/>
              <a:t>ninyo</a:t>
            </a:r>
            <a:r>
              <a:rPr dirty="0"/>
              <a:t>?' — celebrate honest answers. Then transition: 'Now, </a:t>
            </a:r>
            <a:r>
              <a:rPr dirty="0" err="1"/>
              <a:t>totoo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holiness is hard. But may isa pang </a:t>
            </a:r>
            <a:r>
              <a:rPr dirty="0" err="1"/>
              <a:t>klase</a:t>
            </a:r>
            <a:r>
              <a:rPr dirty="0"/>
              <a:t> ng </a:t>
            </a:r>
            <a:r>
              <a:rPr dirty="0" err="1"/>
              <a:t>hirap</a:t>
            </a:r>
            <a:r>
              <a:rPr dirty="0"/>
              <a:t> — </a:t>
            </a:r>
            <a:r>
              <a:rPr dirty="0" err="1"/>
              <a:t>yung</a:t>
            </a:r>
            <a:r>
              <a:rPr dirty="0"/>
              <a:t> </a:t>
            </a:r>
            <a:r>
              <a:rPr dirty="0" err="1"/>
              <a:t>hindi</a:t>
            </a:r>
            <a:r>
              <a:rPr dirty="0"/>
              <a:t> </a:t>
            </a:r>
            <a:r>
              <a:rPr dirty="0" err="1"/>
              <a:t>mo</a:t>
            </a:r>
            <a:r>
              <a:rPr dirty="0"/>
              <a:t> </a:t>
            </a:r>
            <a:r>
              <a:rPr dirty="0" err="1"/>
              <a:t>pinili</a:t>
            </a:r>
            <a:r>
              <a:rPr dirty="0"/>
              <a:t>. Yan ang topic natin </a:t>
            </a:r>
            <a:r>
              <a:rPr dirty="0" err="1"/>
              <a:t>ngayon</a:t>
            </a:r>
            <a:r>
              <a:rPr dirty="0"/>
              <a:t>.' Let 2-3 share briefly. Don't force consensus.</a:t>
            </a:r>
            <a:endParaRPr lang="en-US" dirty="0"/>
          </a:p>
          <a:p>
            <a:r>
              <a:rPr lang="en-US" dirty="0"/>
              <a:t>From 1-10 sang punto ka </a:t>
            </a:r>
            <a:r>
              <a:rPr lang="en-US" dirty="0" err="1"/>
              <a:t>ngayon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pagharap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hirap</a:t>
            </a:r>
            <a:r>
              <a:rPr lang="en-US" dirty="0"/>
              <a:t>?</a:t>
            </a:r>
            <a:endParaRPr dirty="0"/>
          </a:p>
          <a:p>
            <a:endParaRPr dirty="0"/>
          </a:p>
          <a:p>
            <a:r>
              <a:rPr dirty="0"/>
              <a:t>Round-robin (1 sentence each) o volunteer-based </a:t>
            </a:r>
            <a:r>
              <a:rPr dirty="0" err="1"/>
              <a:t>depende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laki</a:t>
            </a:r>
            <a:r>
              <a:rPr dirty="0"/>
              <a:t> ng </a:t>
            </a:r>
            <a:r>
              <a:rPr dirty="0" err="1"/>
              <a:t>grupo</a:t>
            </a:r>
            <a:r>
              <a:rPr dirty="0"/>
              <a:t>. Walang fix mode -- </a:t>
            </a:r>
            <a:r>
              <a:rPr dirty="0" err="1"/>
              <a:t>tumitingin</a:t>
            </a:r>
            <a:r>
              <a:rPr dirty="0"/>
              <a:t> at </a:t>
            </a:r>
            <a:r>
              <a:rPr dirty="0" err="1"/>
              <a:t>tumatango</a:t>
            </a:r>
            <a:r>
              <a:rPr dirty="0"/>
              <a:t> lang. PUKAW ends here: check the pill -- 8:00.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TUKLAS opening. Read the Big Idea slowly. Pause. Then deliver the punch line: 'pag-USAD ay nakadepende sa response, HINDI sa danas.' This is the thesis of the entire lesson. Every storm is real. But every response is a CHOICE. The disciple cannot control the weather; can only choose the posture under it.</a:t>
            </a:r>
          </a:p>
          <a:p>
            <a:endParaRPr/>
          </a:p>
          <a:p>
            <a:r>
              <a:t>Frame with the USAD saying: 'SANGKAP ng pag-USAD ang DUSA.' Hindi mo kayang takasan ang hirap; kayang i-respond lang nang tama.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the load-bearing framework of TUKLAS. Walk through all three. EMPHASIS: the wrong diagnosis leads to the wrong response. If you treat a TEMPTATION like a TRIAL ('endure it patiently'), you fall. If you treat a TRIAL like a TEMPTATION ('this is from the devil so rebuke it'), you miss the formation. James 1:13 is critical: God does not tempt anyone. The devil tempts; God tests; the world wounds. Three different sources, three different responses.</a:t>
            </a:r>
          </a:p>
          <a:p>
            <a:endParaRPr dirty="0"/>
          </a:p>
          <a:p>
            <a:r>
              <a:rPr dirty="0"/>
              <a:t>USAD emphasis: HINDI lahat ng </a:t>
            </a:r>
            <a:r>
              <a:rPr dirty="0" err="1"/>
              <a:t>hirap</a:t>
            </a:r>
            <a:r>
              <a:rPr dirty="0"/>
              <a:t> ay test. Minsan trial lang -- </a:t>
            </a:r>
            <a:r>
              <a:rPr dirty="0" err="1"/>
              <a:t>bahagi</a:t>
            </a:r>
            <a:r>
              <a:rPr dirty="0"/>
              <a:t> ng </a:t>
            </a:r>
            <a:r>
              <a:rPr dirty="0" err="1"/>
              <a:t>pagiging</a:t>
            </a:r>
            <a:r>
              <a:rPr dirty="0"/>
              <a:t> </a:t>
            </a:r>
            <a:r>
              <a:rPr dirty="0" err="1"/>
              <a:t>tao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nawasak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mundo</a:t>
            </a:r>
            <a:r>
              <a:rPr dirty="0"/>
              <a:t>. Minsan temptation -- </a:t>
            </a:r>
            <a:r>
              <a:rPr dirty="0" err="1"/>
              <a:t>galing</a:t>
            </a:r>
            <a:r>
              <a:rPr dirty="0"/>
              <a:t> kay Satanas, never </a:t>
            </a:r>
            <a:r>
              <a:rPr dirty="0" err="1"/>
              <a:t>sa</a:t>
            </a:r>
            <a:r>
              <a:rPr dirty="0"/>
              <a:t> Dios (Jas 1:13). Ibang </a:t>
            </a:r>
            <a:r>
              <a:rPr dirty="0" err="1"/>
              <a:t>klase</a:t>
            </a:r>
            <a:r>
              <a:rPr dirty="0"/>
              <a:t>, </a:t>
            </a:r>
            <a:r>
              <a:rPr dirty="0" err="1"/>
              <a:t>ibang</a:t>
            </a:r>
            <a:r>
              <a:rPr dirty="0"/>
              <a:t> </a:t>
            </a:r>
            <a:r>
              <a:rPr dirty="0" err="1"/>
              <a:t>tamang</a:t>
            </a:r>
            <a:r>
              <a:rPr dirty="0"/>
              <a:t> </a:t>
            </a:r>
            <a:r>
              <a:rPr dirty="0" err="1"/>
              <a:t>tugon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PERSONAL REFLECTION ~3 min (target 17:00). 1 minuto ganap na katahimikan muna -- bantayan sa timer, huwag putulin nang maaga. Pagkatapos, 2-3 volunteers. Mas dadami ang nag-she-share kapag nakita nilang walang nahuhusgahan. Testimony prompt: challenge AT blessing sa iisang kuwento.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Eric Greitens — Navy SEAL turned author of 'Resilience.’ </a:t>
            </a:r>
          </a:p>
          <a:p>
            <a:r>
              <a:rPr lang="en-US" dirty="0"/>
              <a:t>"Injury does not necessarily lead to insight. Hardship will not automatically make us better. Pain can break us or make us wiser. Suffering can destroy us or make us stronger."</a:t>
            </a:r>
          </a:p>
          <a:p>
            <a:r>
              <a:rPr lang="en-US" dirty="0"/>
              <a:t>Hindi </a:t>
            </a:r>
            <a:r>
              <a:rPr lang="en-US" dirty="0" err="1"/>
              <a:t>porket</a:t>
            </a:r>
            <a:r>
              <a:rPr lang="en-US" dirty="0"/>
              <a:t> </a:t>
            </a:r>
            <a:r>
              <a:rPr lang="en-US" dirty="0" err="1"/>
              <a:t>dumaan</a:t>
            </a:r>
            <a:r>
              <a:rPr lang="en-US" dirty="0"/>
              <a:t> ka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pagsubok</a:t>
            </a:r>
            <a:r>
              <a:rPr lang="en-US" dirty="0"/>
              <a:t> ay </a:t>
            </a:r>
            <a:r>
              <a:rPr lang="en-US" dirty="0" err="1"/>
              <a:t>matatag</a:t>
            </a:r>
            <a:r>
              <a:rPr lang="en-US" dirty="0"/>
              <a:t> ka </a:t>
            </a:r>
            <a:r>
              <a:rPr lang="en-US" dirty="0" err="1"/>
              <a:t>na.</a:t>
            </a:r>
            <a:r>
              <a:rPr lang="en-US" dirty="0"/>
              <a:t> </a:t>
            </a:r>
            <a:r>
              <a:rPr lang="en-US" dirty="0" err="1"/>
              <a:t>Nakadepende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response. </a:t>
            </a:r>
            <a:r>
              <a:rPr lang="en-US" dirty="0" err="1"/>
              <a:t>Tingnan</a:t>
            </a:r>
            <a:r>
              <a:rPr lang="en-US" dirty="0"/>
              <a:t> natin ang </a:t>
            </a:r>
            <a:r>
              <a:rPr lang="en-US" dirty="0" err="1"/>
              <a:t>apat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biblical responses </a:t>
            </a:r>
            <a:r>
              <a:rPr lang="en-US" dirty="0" err="1"/>
              <a:t>mula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apat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characters:</a:t>
            </a:r>
          </a:p>
          <a:p>
            <a:r>
              <a:rPr lang="en-US" dirty="0"/>
              <a:t>Quote frames the next move. Pain itself is neutral; meaning is made by response. This is consistent with biblical theology: Romans 5:3-4 ('suffering produces perseverance') and James 1:2-4 ('the testing of your faith produces patience'). Patience is not innate — it's PRODUCED by trial that's faced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each of the 4. (1) JOB - read Job 1:20-21 aloud; note the 5 verbs: lumuhod, sumamba, hinubad, hinubdan, sinabi. He didn't deny pain — he worshipped through it. (2) PAUL - the thorn was NOT removed; the grace was sufficient. The hardship didn't end; Paul got new strength inside it. (3) PETER - 'magalak kayo' is shocking. Not 'magtiis kayo.' REJOICE. Why? Because sharing Christ's sufferings. (4) JESUS - the ultimate model. He asked for the cup to pass. Then surrendered. Patience includes asking honestly + then surrendering wholly.</a:t>
            </a:r>
          </a:p>
          <a:p>
            <a:endParaRPr/>
          </a:p>
          <a:p>
            <a:r>
              <a:t>Guide amplifications: JOB -- hindi sumuko, SUMUKOB; naglaksa pero nagpuri; sumamba imbis na sumumpa. PABLO -- hindi pinapayagang gumaan ang problema; pinapayagang DUMAMI ang biyaya. PEDRO -- karangalan ang ma-identify sa Kaniya; hindi pa permanenteng tahanan ang lupa. JESUS -- pagtitiwala + pagsuko, kahit sa pinakamatinding hirap.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we explicitly name what all 4 share: HYPOMONE — Greek for 'to remain under.' Not passive resignation. Active staying. Patience is what you DO while the hardship continues. This is the character anchor of L5. Connect back to L1-L4: prayer + bible + surrender + holiness — all these disciplines build the muscle that gets used HERE,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SAFE-SPACE FRAMING ~1 min (target 24:00). SABIHIN BEFORE anyone shares -- </a:t>
            </a:r>
            <a:r>
              <a:rPr dirty="0" err="1"/>
              <a:t>basahin</a:t>
            </a:r>
            <a:r>
              <a:rPr dirty="0"/>
              <a:t> ang 4 rules </a:t>
            </a:r>
            <a:r>
              <a:rPr dirty="0" err="1"/>
              <a:t>mula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slide, </a:t>
            </a:r>
            <a:r>
              <a:rPr dirty="0" err="1"/>
              <a:t>dahan-dahan</a:t>
            </a:r>
            <a:r>
              <a:rPr dirty="0"/>
              <a:t>. Ito ang protective act ng facilitator; </a:t>
            </a:r>
            <a:r>
              <a:rPr dirty="0" err="1"/>
              <a:t>dito</a:t>
            </a:r>
            <a:r>
              <a:rPr dirty="0"/>
              <a:t> </a:t>
            </a:r>
            <a:r>
              <a:rPr dirty="0" err="1"/>
              <a:t>nakasalalay</a:t>
            </a:r>
            <a:r>
              <a:rPr dirty="0"/>
              <a:t> ang </a:t>
            </a:r>
            <a:r>
              <a:rPr dirty="0" err="1"/>
              <a:t>lalim</a:t>
            </a:r>
            <a:r>
              <a:rPr dirty="0"/>
              <a:t> ng </a:t>
            </a:r>
            <a:r>
              <a:rPr dirty="0" err="1"/>
              <a:t>susunod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11 </a:t>
            </a:r>
            <a:r>
              <a:rPr dirty="0" err="1"/>
              <a:t>minuto</a:t>
            </a:r>
            <a:r>
              <a:rPr dirty="0"/>
              <a:t>. Tissue ready (pre-session checklist).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TALAKAY (~12 min). CRITICAL: facilitator must enforce safe-space rules BEFORE anyone shares: (1) no rushing to fix, (2) no 'I have a worse story' comparisons, (3) no advice unless asked, (4) what's shared here stays here. Use the safe-space framing card from facilitator guide. Limit to 2 sharers max — quality over quantity. Discernment drill is the load-bearing exercise: each person silently classifies one current hardship as T/T/T. Don't force them to share which one — just the classification.</a:t>
            </a:r>
          </a:p>
          <a:p>
            <a:endParaRPr/>
          </a:p>
          <a:p>
            <a:r>
              <a:t>PITFALL (from guide): huwag mag-'ako rin kasi noon...' -- imbis na affirm, nagiging usapan-tungkol-sa'yo. Pati 'kaya mo yan!' minsan tumatama bilang dismissal. Facilitator says ONLY: 'Salamat sa pagshare. Naririnig ka namin.' Walang payo. Walang follow-up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"BAKIT AKO?" ~3 min (target 32:00). Round-robin, isang pangungusap. Ang tanong ay NORMAL at BIBLICAL -- Job, David, Asaph, at si Jesus mismo ("Ama, bakit Mo Ako pinabayaan?"). Hindi kasalanan ang magtanong. CRITICAL: bilang facilitator, HUWAG sasagutin ang tanong. I-validate lang na valid 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DISCERNMENT DRILL ~3 min (target 35:00 -- TALAKAY ends here). Everyone classifies silently; 2 sharers state only the CLASSIFICATION, not the details. Facilitator note: madami ang magsasabing 'trial' -- at minsan trial nga lang talaga (sakit, accident). Hindi lahat may hidden meaning. Kapag hindi malinaw: 'Manatili at Sumamba. Hindi ko maintindihan, pero pinupuri pa rin Kita.'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TUGON opens with Lewis. Pause after 'shouts in our pain.' The point: God doesn't CAUSE the pain (per James 1:13) but He USES it — to get the attention of a deaf world (us included). The hardship is a megaphone, not the message. The message is: 'I AM HERE. STILL HERE.' Don't moralize the quote. Let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Spafford — tell slowly. Three losses: business (1871), son (1873), four daughters (Nov 1873). His wife Anna survived; the cable she sent him from Wales read just two words: 'Saved alone.' He sailed to meet her. The captain pointed out the spot where the Ville du Havre went down. Spafford wrote 'It Is Well' there — or shortly after. The hymn is not denial of grief. It is faith in the midst of grief. Both real at once.</a:t>
            </a:r>
          </a:p>
          <a:p>
            <a:endParaRPr/>
          </a:p>
          <a:p>
            <a:r>
              <a:t>Spafford detail from guide: si Ann lang ang nakaligtas; ang cable niya mula Wales, dalawang salita lang -- 'Saved alone.' Ikuwento, huwag basahin. Tatlong pagkawala: negosyo (1871), anak na lalaki (1873), apat na anak na babae (Nov 1873).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Play Anthem Lights cover (YouTube jcp6w4zaW7U) — ~4 min. Display lyrics on screen if possible. Facilitator's call: sing along OR silent listen. While playing, participants write in the in-group GAWIN box: (a) what God is teaching you through current hardship, OR (b) prayer for someone you know in hardship + commitment to encourage that person this week. End with 60 sec silence after the hymn closes — no rushed transition.</a:t>
            </a:r>
          </a:p>
          <a:p>
            <a:endParaRPr/>
          </a:p>
          <a:p>
            <a:r>
              <a:t>Facilitator's call: silent listen O sing along softly. Karaniwan, SILENT LISTEN ang pinakamabigat at pinaka-naghahanap-loob. Display lyrics. 60 sec silence after the hymn -- no rushed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PERSONAL WRITING BOX ~4 min (target 50:00 -- TUGON ends here). SILENT writing -- walang music, walang background talk, 3-4 minutes. Then ONE volunteer shares one line. The name written here is the EOLO-bridge person for DALHIN -- point that out gently.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DALHIN (~10 min). Three concrete carry-homes. Walk through each: (1) 3-Trial Watch — 7-day journal. Honor the rhythm: nightly is fine; morning + night is better. (2) EOLO bridge — 48 hours. Make it specific. 'I will message _____ by Saturday night.' Patience isn't only enduring my own pain — it's STAYING PRESENT with someone else's. (3) John 16:33 memorize — by next LCG. Note: end-of-lesson 1-10 snapshot in participant guide; revisit start vs end.</a:t>
            </a:r>
          </a:p>
          <a:p>
            <a:endParaRPr/>
          </a:p>
          <a:p>
            <a:r>
              <a:t>Covers DALHIN steps 5.1-5.3 (6 min): verse lock (recite together once) + 7-day 3-Trial Watch grid (isang hirap bawat araw: pangalanan, uriin T/T/T, response, verse) + EOLO 48-hour bridge ('tawagan/textan/chat-an ang taong isinulat mo sa writing box -- sa loob ng 48 oras. Hindi magpapayo. Maglilingap. Presence muna.')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Pangako Ko — Filipino disciple-making convention. Spoken commitment in front of witnesses binds the disciple socially in addition to spiritually. Each participant says the 3-line pangako aloud. Witness affirms with 'Amen' or 'I will pray for you, kapatid.' Don't make it long or theatrical — short and serious.</a:t>
            </a:r>
          </a:p>
          <a:p>
            <a:endParaRPr/>
          </a:p>
          <a:p>
            <a:r>
              <a:t>Round-robin format from guide: 'Sa darating na linggo, susubukan kong ...' Sa kulturang Filipino, mas binding ang sinasabi nang malakas kaysa nasusulat lang. Short and serious -- hindi theatrical.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Closing. Preview L6 — Christian Fellowship. The bridge: 'Hindi mo dapat haharapin ang hirap nang mag-isa. Yan ang topic next week — community as God's main way of carrying us through.' Close with John 16:33 recited together aloud. End with prayer of blessing — thank God for honest sharing, ask for strength for those carrying current hardship, dismiss in peace.</a:t>
            </a:r>
          </a:p>
          <a:p>
            <a:endParaRPr/>
          </a:p>
          <a:p>
            <a:r>
              <a:t>Closing beats (1 min): snapshot 'Saang puntos ka na ngayon, 1-10?' quick check vs start-of-lesson; closing prayer (volunteer o ikaw); L6 preview line: 'Hindi ka dapat mag-isa sa hirap -- may community ka.'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8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BTLI 1 · LESSON 5 · USAD-L5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Pagharap sa Hirap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Facing Hardship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Rosehill Christian Church  ·  MULTIPLY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D4A838">
                    <a:alpha val="7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PAGTITIIS · PATIENCE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60-min lesson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4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0" y="2286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🌿 Patience · Pagtitiis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8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MEMORY VERSE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"Sa sanlibutan ay magkakaroon kayo ng kapighatian; ngunit laksan ninyo ang inyong loob, dinaig ko na ang sanlibutan."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1000" dirty="0">
                <a:solidFill>
                  <a:srgbClr val="D4A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JUAN 16:33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⌛1:00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L4 CALLBACK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Kumusta ang SRPIU journal natin?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Sino ang naka-journal kahit isang araw ngayong linggo — Pananalita, Pag-iisip, o Sekswalidad watch?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 volunteers lang.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2 min · ⌛3:00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TANAW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0" dirty="0">
                <a:solidFill>
                  <a:srgbClr val="000000"/>
                </a:solidFill>
              </a:rPr>
              <a:t>🦋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Cocoon at ang Gunting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371600" y="393192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bata na hinati ang cocoon ng gunting para tulungan ang paru-paro… ay pinabilis nga ang pagkawala, pero pinatay ang lipad.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530352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pakikibaka sa pagkahubog ay hindi kaaway — ito ang nagbibigay ng lakas para lumipad.</a:t>
            </a:r>
            <a:endParaRPr lang="en-US" sz="18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⌛7:00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PUKAW · OPENING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Base sa karanasan mo…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May dulot bang pakinabang ang pagsubok at paghihirap sa isang tao?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Kung meron, ano?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Pansamantalang pag-isipan; isa-isang sasagot.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⌛8:00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9A7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PANGUNAHING ARAL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10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BIG IDEA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i="1" dirty="0">
                <a:solidFill>
                  <a:srgbClr val="FDF6E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"Hindi tao kung 'di pa nasaktan;</a:t>
            </a:r>
            <a:endParaRPr lang="en-US" sz="4200" dirty="0"/>
          </a:p>
          <a:p>
            <a:pPr marL="0" indent="0" algn="ctr">
              <a:buNone/>
            </a:pPr>
            <a:r>
              <a:rPr lang="en-US" sz="4200" b="1" i="1" dirty="0">
                <a:solidFill>
                  <a:srgbClr val="FDF6E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hindi buhay kung wala ng dinaranas na hirap."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Pero ang PAG-USAD ay nakadepende sa response, hindi sa danas.</a:t>
            </a:r>
            <a:endParaRPr lang="en-US" sz="2600" dirty="0"/>
          </a:p>
        </p:txBody>
      </p:sp>
      <p:sp>
        <p:nvSpPr>
          <p:cNvPr id="6" name="Rounded Rectangle 5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1.5 min · ⌛9:30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3-TYPE DISCERNMENT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Tatlong Klase ng Hirap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Iba ang tamang response sa bawat isa — kaya nakakatulong na malaman kung alin.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E89C9C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89C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⚡ TRIAL · PAGSUBOK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dumaraing na sanlibutan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0233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"Ang buong sangnilikha ay naghihinagpis…"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Rom 8:22 · 1 Pet 4:12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5196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7FD49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/>
          <p:nvPr/>
        </p:nvSpPr>
        <p:spPr>
          <a:xfrm>
            <a:off x="434340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7FD49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🎯 TEST · PAGSASALANG/ PAGSUSULIT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310896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343400" y="402336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"Sinubok ng Dios si Abraham…"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Gen 22:1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2377440"/>
            <a:ext cx="3657600" cy="3474720"/>
          </a:xfrm>
          <a:prstGeom prst="roundRect">
            <a:avLst>
              <a:gd name="adj" fmla="val 2632"/>
            </a:avLst>
          </a:prstGeom>
          <a:solidFill>
            <a:srgbClr val="24435F"/>
          </a:solidFill>
          <a:ln w="6350">
            <a:solidFill>
              <a:srgbClr val="F0C6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/>
          <p:nvPr/>
        </p:nvSpPr>
        <p:spPr>
          <a:xfrm>
            <a:off x="8138160" y="25603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0C66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🐍 TEMPTATION · TUKSO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Galing sa: </a:t>
            </a:r>
            <a:r>
              <a:rPr lang="en-US" sz="14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diablo / laman </a:t>
            </a:r>
            <a:r>
              <a:rPr lang="en-US" sz="1300" i="1" dirty="0">
                <a:solidFill>
                  <a:srgbClr val="FFFFFF">
                    <a:alpha val="7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HINDI sa Dios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38160" y="4114800"/>
            <a:ext cx="3474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"Huwag sabihin ng sinuman, 'tinutukso ako ng Dios'…"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Sant 1:13</a:t>
            </a:r>
            <a:endParaRPr lang="en-US" sz="1300" dirty="0"/>
          </a:p>
        </p:txBody>
      </p:sp>
      <p:sp>
        <p:nvSpPr>
          <p:cNvPr id="17" name="Rounded Rectangle 1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4.5 min · ⌛14:00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PERSONAL REFLECTION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Isang minutong katahimikan…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Mag-isip ng isang specific na hirap na naranasan mo kamakailan — pwedeng maliit, pwedeng malaki.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Pagkatapos: 2–3 volunteers — magbahagi ng testimony na naging challenge AT blessing.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2–3 volunteers pagkatapos ng 1 minuto.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⌛17:00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REFLECTION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2A5C40">
                    <a:alpha val="50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914400" y="22860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i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Pain can break us or make us wiser. Suffering can destroy us or make us stronger.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0233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Fear can cripple us, or it can make us more courageous.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500" dirty="0">
                <a:solidFill>
                  <a:srgbClr val="1A1612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ERIC GREITENS · RESILIENCE</a:t>
            </a:r>
            <a:endParaRPr lang="en-US" sz="13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⌛18:00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APAT NA TUGON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Apat na Biblikal na Tugon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>
                    <a:alpha val="8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Apat na tao. Apat na karanasan. Iisang fruit: Pagtitiis (hypomonē).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Job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MANATILI AT SUMAMBA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"Hubad akong lumabas sa sinapupunan… Purihin ang pangalan ng Panginoon." — Job 1:20-21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01168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/>
          <p:nvPr/>
        </p:nvSpPr>
        <p:spPr>
          <a:xfrm>
            <a:off x="653796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Pablo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3796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UMASA SA BIYAYA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310896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"Sapat na sa iyo ang aking biyaya, sapagkat ang aking kapangyarihan ay nagiging sakdal sa kahinaan." — 2 Cor 12:9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43484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457200" y="443484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/>
          <p:nvPr/>
        </p:nvSpPr>
        <p:spPr>
          <a:xfrm>
            <a:off x="73152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Pedro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SUMUNOD AT MAGALAK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5321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"Magalak kayo, sapagkat nakikibahagi kayo sa mga hirap ni Cristo." — 1 Pet 4:13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4434840"/>
            <a:ext cx="5486400" cy="2286000"/>
          </a:xfrm>
          <a:prstGeom prst="roundRect">
            <a:avLst>
              <a:gd name="adj" fmla="val 3200"/>
            </a:avLst>
          </a:prstGeom>
          <a:solidFill>
            <a:srgbClr val="1A3A28"/>
          </a:solidFill>
          <a:ln w="6350">
            <a:solidFill>
              <a:srgbClr val="D4A83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73152" cy="2286000"/>
          </a:xfrm>
          <a:prstGeom prst="rect">
            <a:avLst/>
          </a:prstGeom>
          <a:solidFill>
            <a:srgbClr val="D4A838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/>
          <p:nvPr/>
        </p:nvSpPr>
        <p:spPr>
          <a:xfrm>
            <a:off x="6537960" y="45720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Jesus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37960" y="51206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MAGTIWALA AT SUMUKO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5532120"/>
            <a:ext cx="51206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"Ama ko, kung maaari, lumayo sa akin ang sarong ito; gayon man, hindi ang kalooban ko…" — Lucas 22:42</a:t>
            </a:r>
            <a:endParaRPr 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3.5 min · ⌛21:30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9A7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TUKLAS · CHARACTER ANCHOR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6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GALATIANS 5:22 · BUNGA NG ESPIRITU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Pagtitiis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DF6E8">
                    <a:alpha val="8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hypomonē — "to remain under"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457200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Hindi lang ito kakayahang tiisin. Ito ang aktibong posture sa ilalim ng presyur — ang ginagawa mo habang nagpapatuloy ang hirap.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FDF6E8">
                    <a:alpha val="7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Job · Pablo · Pedro · Jesus — apat na bersyon ng iisang Pagtitiis.</a:t>
            </a:r>
            <a:endParaRPr lang="en-US" sz="1500" dirty="0"/>
          </a:p>
        </p:txBody>
      </p:sp>
      <p:sp>
        <p:nvSpPr>
          <p:cNvPr id="8" name="Rounded Rectangle 7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1.5 min · ⌛23:00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SAFE 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Bago tayo mag-share…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9728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Volunteer-basis. Walang uutusan.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Walang sasabat, walang magpapayo agad — tumitingin at nakikinig lang tayo.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731520" y="42519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97280" y="40233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Confidential — hindi lalabas sa apat na pader. Kung sobrang lalim, pwedeng one-on-one after.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Ang kalidad ng susunod na 11 minuto ay nakasalalay sa mga patakarang ito.</a:t>
            </a:r>
            <a:endParaRPr 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⌛24:00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GROUP SHARING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Talakayan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731520" y="24231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97280" y="21945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I-share (kung handa ka) ang pinakamatinding pagsubok na dinanas mo — o ng isang taong malapit sa’yo.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3337560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 2 sharers. Pagkatapos ng bawat isa, facilitator lang: “Salamat sa pagshare. Naririnig ka namin.”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548640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A665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Safe space. Walang nakikinig na puwedeng mag-judge. Hindi ito problem-solving session — pakikinig ito.</a:t>
            </a:r>
            <a:endParaRPr 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5 min · ⌛29:00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ANG TANONG NG PUSO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“Bakit ako, Panginoon?”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Dumating ka na ba sa puntos kung saan napatanong ka sa Dios kung BAKIT mo dinaranas ito?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Round-robin — isang pangungusap bawat isa.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⌛32:00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TALAKAY · DISCERNMENT DRILL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Trial? Test? Temptation?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Isipin ang isang hirap mo NGAYON. Alin sa tatlo?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 apat na biblical responses — Job, Pablo, Pedro, Jesus — alin ang pinakaangkop sa sitwasyon mo?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 sharers — ang klasipikasyon lang.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⌛35:00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THE MEGAPHONE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D4A838">
                    <a:alpha val="4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God whispers to us in our pleasures,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speaks in our conscience,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but </a:t>
            </a:r>
            <a:endParaRPr lang="en-US" sz="3200" dirty="0"/>
          </a:p>
          <a:p>
            <a:pPr marL="0" indent="0" algn="ctr">
              <a:buNone/>
            </a:pPr>
            <a:r>
              <a:rPr lang="en-US" sz="32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shouts in our pain</a:t>
            </a:r>
            <a:r>
              <a:rPr lang="en-US" sz="32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it is His megaphone to rouse a deaf world.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500" dirty="0">
                <a:solidFill>
                  <a:srgbClr val="FFFFFF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C.S. LEWIS · THE PROBLEM OF PAIN</a:t>
            </a:r>
            <a:endParaRPr lang="en-US" sz="1300" dirty="0"/>
          </a:p>
        </p:txBody>
      </p:sp>
      <p:sp>
        <p:nvSpPr>
          <p:cNvPr id="6" name="Rounded Rectangle 5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2 min · ⌛37:00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9A7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KUWENTO NG BUHAY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Horatio Spafford  ·  1828–1888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1871</a:t>
            </a: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Sinunog ng Great Chicago Fire ang mga properties niya.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1873</a:t>
            </a: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Namatay ang 4-anyos na anak sa scarlet fever.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 1873</a:t>
            </a:r>
            <a:r>
              <a:rPr lang="en-US" sz="1700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— Naglakbay sa Europe ang asawa't apat na anak na babae. Nabangga ang barko; nalunod silang lahat.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DF6E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Pangalawang barko ang sinakyan niya. Sa exactong lugar ng pagkalunod… isinulat ang himno: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"When peace, like a river, attendeth my way…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It is well, it is well with my soul."</a:t>
            </a:r>
            <a:endParaRPr lang="en-US" sz="28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5 min · ⌛42:00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4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AWIT NG PUSO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6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HYMN · ANTHEM LIGHTS COVER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"It Is Well with My Soul"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188720" y="3108960"/>
            <a:ext cx="9784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>
                    <a:alpha val="92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Habang umaawit, maaaring isulat ang itinuturo sa iyo ng Dios sa kasalukuyang hirap — o ang panalangin mo para sa isang taong dumaranas ng hirap.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▶  YouTube: jcp6w4zaW7U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>
                    <a:alpha val="75000"/>
                  </a:srgbClr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Manghahawakan sa Dios — hindi sa pagkaunawa.</a:t>
            </a:r>
            <a:endParaRPr lang="en-US" sz="1600" dirty="0"/>
          </a:p>
        </p:txBody>
      </p:sp>
      <p:sp>
        <p:nvSpPr>
          <p:cNvPr id="8" name="Rounded Rectangle 7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⌛46:00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TUGON · PERSONAL 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867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Sagutan </a:t>
            </a:r>
            <a:r>
              <a:rPr lang="en-US" sz="5200" b="1" dirty="0" err="1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</a:t>
            </a:r>
            <a:r>
              <a:rPr lang="en-US" sz="52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App…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Kung dumadaan ka sa pagsubok ngayon: ano ang itinuturo sa’yo ng Panginoon?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Kung hindi: sumulat ng panalangin para sa kaibigan o kapamilyang naghihirap.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LAHAT: sino ang i-e-encourage mo this week? Isulat ang pangalan.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266251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2A5C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Silent writing · 3–4 minuto.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5303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4 min · ⌛50:00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6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2A5C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DALHIN · CARRY HOME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61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Tatlong Bagay sa Linggong Ito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3042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3-Trial Watch Journal · </a:t>
            </a: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Lunes-Linggo. Bawat araw: pangalanan ang hirap, tagain (T/T/T), pangalanan ang response, isulat ang verse.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32186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/>
          <p:nvPr/>
        </p:nvSpPr>
        <p:spPr>
          <a:xfrm>
            <a:off x="1097280" y="3017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EOLO bridge · </a:t>
            </a: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I-reach out ang taong isinulat mo sa Tugon — chat/text/tawag, sa loob ng 48 oras.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4133088"/>
            <a:ext cx="164592" cy="164592"/>
          </a:xfrm>
          <a:prstGeom prst="ellipse">
            <a:avLst/>
          </a:prstGeom>
          <a:solidFill>
            <a:srgbClr val="2A5C4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/>
          <p:nvPr/>
        </p:nvSpPr>
        <p:spPr>
          <a:xfrm>
            <a:off x="1097280" y="3931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Kabisaduhin · </a:t>
            </a:r>
            <a:r>
              <a:rPr lang="en-US" sz="1700" dirty="0">
                <a:solidFill>
                  <a:srgbClr val="1A161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Juan 16:33 bago ang susunod na lesson.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78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Ang Pagtitiis ay nasa pag-stay — sa hirap mo, at sa hirap ng iba.</a:t>
            </a:r>
            <a:endParaRPr lang="en-US" sz="1800" dirty="0"/>
          </a:p>
        </p:txBody>
      </p:sp>
      <p:sp>
        <p:nvSpPr>
          <p:cNvPr id="11" name="Rounded Rectangle 10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6 min · ⌛56:00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E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DALHIN · PANGAKO KO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0" y="914400"/>
            <a:ext cx="3017520" cy="457200"/>
          </a:xfrm>
          <a:prstGeom prst="roundRect">
            <a:avLst>
              <a:gd name="adj" fmla="val 50000"/>
            </a:avLst>
          </a:prstGeom>
          <a:solidFill>
            <a:srgbClr val="D4A838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Text 2"/>
          <p:cNvSpPr/>
          <p:nvPr/>
        </p:nvSpPr>
        <p:spPr>
          <a:xfrm>
            <a:off x="4572000" y="9601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800" dirty="0">
                <a:solidFill>
                  <a:srgbClr val="1A2E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PANGAKO KO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Isang Pangako, Malakas Sabihin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>
                    <a:alpha val="8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 loob ng linggong ito, kapag dumating ang hirap…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112471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"Mananatili ako.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Hindi ako tatakas.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Sasamba ako sa Dios kahit sa dilim."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>
                    <a:alpha val="65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Sasabihin sa LCG; isasaksi ng kapatid.</a:t>
            </a:r>
            <a:endParaRPr lang="en-US" sz="14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3 min · ⌛59:00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FFFFFF">
                    <a:alpha val="5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SUSUNOD NA HAKBANG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800" dirty="0">
                <a:solidFill>
                  <a:srgbClr val="F0C6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L6 PREVIEW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Christian Fellowship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4688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>
                    <a:alpha val="9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"Hindi mo kailangang harapin nang mag-isa ang hirap — may community ka."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"Sa sanlibutan ay magkakaroon kayo ng kapighatian;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ngunit laksan ninyo ang inyong loob, 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i="1" dirty="0">
                <a:solidFill>
                  <a:srgbClr val="F0C64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dinaig ko na ang sanlibutan</a:t>
            </a:r>
            <a:r>
              <a:rPr lang="en-US" sz="28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."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800" dirty="0">
                <a:solidFill>
                  <a:srgbClr val="D4A83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JUAN 16:33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kern="0" spc="400" dirty="0">
                <a:solidFill>
                  <a:srgbClr val="FFFFFF">
                    <a:alpha val="60000"/>
                  </a:srgbClr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Salamat, kapatid.</a:t>
            </a:r>
            <a:endParaRPr lang="en-US" sz="1100" dirty="0"/>
          </a:p>
        </p:txBody>
      </p:sp>
      <p:sp>
        <p:nvSpPr>
          <p:cNvPr id="9" name="Rounded Rectangle 8"/>
          <p:cNvSpPr/>
          <p:nvPr/>
        </p:nvSpPr>
        <p:spPr>
          <a:xfrm>
            <a:off x="8763000" y="137160"/>
            <a:ext cx="3200400" cy="54864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00" b="1">
                <a:solidFill>
                  <a:srgbClr val="141628"/>
                </a:solidFill>
                <a:latin typeface="Calibri"/>
              </a:rPr>
              <a:t>⏱ 1 min · ⌛60:00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3629</Words>
  <Application>Microsoft Office PowerPoint</Application>
  <PresentationFormat>Widescreen</PresentationFormat>
  <Paragraphs>236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DM Sans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Rosehill Christian Church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BTLI 1 · L5 · Pagharap sa Hirap</dc:title>
  <dc:subject>PptxGenJS Presentation</dc:subject>
  <dc:creator>Rosehill Christian Church · MULTIPLY</dc:creator>
  <cp:lastModifiedBy>af30421@365mso.com</cp:lastModifiedBy>
  <cp:revision>8</cp:revision>
  <dcterms:created xsi:type="dcterms:W3CDTF">2026-05-20T21:17:08Z</dcterms:created>
  <dcterms:modified xsi:type="dcterms:W3CDTF">2026-08-15T10:39:37Z</dcterms:modified>
</cp:coreProperties>
</file>
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cover</a:t>
            </a:r>
          </a:p>
          <a:p>
            <a:r>
              <a:rPr lang="en-US" dirty="0"/>
              <a:t>Ang aralin natin ngayon ay parang isang barya — may dalawang mukha.</a:t>
            </a:r>
          </a:p>
          <a:p>
            <a:r>
              <a:rPr lang="en-US" dirty="0"/>
              <a:t>Titingnan natin kung bakit hindi mo puwedeng paghiwalayin ang dalawa.</a:t>
            </a:r>
          </a:p>
          <a:p>
            <a:r>
              <a:rPr lang="en-US" dirty="0"/>
              <a:t>Huwag pang sabihin kung ano ang dalawang mukha — hayaan munang may intriga.</a:t>
            </a:r>
          </a:p>
          <a:p>
            <a:r>
              <a:rPr lang="en-US" dirty="0"/>
              <a:t>Character anchor: Faithfulness o Katapatan — ang katapatang hindi iiwan ang isinilang mo sa pananampalataya.</a:t>
            </a:r>
          </a:p>
          <a:p>
            <a:r>
              <a:rPr lang="en-US" dirty="0"/>
              <a:t>Competence anchor: One Verse Evangelism — isang simpleng paraan ng pagbabahagi ng Gospel gamit ang Romans 6:23.</a:t>
            </a:r>
          </a:p>
          <a:p>
            <a:r>
              <a:rPr lang="en-US" dirty="0"/>
              <a:t>Ang tanong ng lesson: Ano ang bahagi ko sa ispiritwal na pag-usbong at pag-usad ng ibang tao?</a:t>
            </a:r>
          </a:p>
          <a:p>
            <a:r>
              <a:rPr lang="en-US" dirty="0"/>
              <a:t>Opening prayer bago mag-verse.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00:02)</a:t>
            </a:r>
          </a:p>
          <a:p>
            <a:r>
              <a:rPr lang="en-US" dirty="0"/>
              <a:t>Basahin nang malakas nang dalawang beses — unang basa ikaw, pangalawa sabay-sabay.</a:t>
            </a:r>
          </a:p>
          <a:p>
            <a:r>
              <a:rPr lang="en-US" dirty="0"/>
              <a:t>Ito ang Great Commission — ang huling bilin ni Jesus bago Siya bumalik sa kalangitan.</a:t>
            </a:r>
          </a:p>
          <a:p>
            <a:r>
              <a:rPr lang="en-US" dirty="0"/>
              <a:t>Pansinin ang mga utos sa loob ng verse: humayo, gawing alagad, bautismuhan, turuan.</a:t>
            </a:r>
          </a:p>
          <a:p>
            <a:r>
              <a:rPr lang="en-US" dirty="0"/>
              <a:t>Sa participant guide, bibilugan nila ang mga utos na ito mamaya sa TUKLAS.</a:t>
            </a:r>
          </a:p>
          <a:p>
            <a:r>
              <a:rPr lang="en-US" dirty="0"/>
              <a:t>Huwag munang i-explain nang mahaba; babalikan natin 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00:03)</a:t>
            </a:r>
          </a:p>
          <a:p>
            <a:r>
              <a:rPr lang="en-US" dirty="0"/>
              <a:t>Ito ang mga iniwan ng L8 na unang babalikan ngayong gabi.</a:t>
            </a:r>
          </a:p>
          <a:p>
            <a:r>
              <a:rPr lang="en-US" dirty="0"/>
              <a:t>Una, ang 7-Araw na Generosity Watch: isang maliit na gawa ng bukas-palad na pagbibigay kada araw — hindi laging pera; puwedeng oras, tulong, salita ng pampalakas-loob, o pagkain.</a:t>
            </a:r>
          </a:p>
          <a:p>
            <a:r>
              <a:rPr lang="en-US" dirty="0"/>
              <a:t>Pangalawa, ang EOLO Bridge: isang tahimik na gawa ng kabutihan para sa iyong EOLO person — sino siya, at ano ang ginawa mo?</a:t>
            </a:r>
          </a:p>
          <a:p>
            <a:r>
              <a:rPr lang="en-US" dirty="0"/>
              <a:t>Pangatlo, ang Top 3 sa Stewardship Word Art, na may specific na action step bawat isa.</a:t>
            </a:r>
          </a:p>
          <a:p>
            <a:r>
              <a:rPr lang="en-US" dirty="0"/>
              <a:t>Basahin nang malakas ang Pangako Ko ng L8: Hindi ako owner — manager ako.</a:t>
            </a:r>
          </a:p>
          <a:p>
            <a:r>
              <a:rPr lang="en-US" dirty="0"/>
              <a:t>Hindi ko waldasin ang biyayang ipinagkatiwala sa akin.</a:t>
            </a:r>
          </a:p>
          <a:p>
            <a:r>
              <a:rPr lang="en-US" dirty="0"/>
              <a:t>Magiging channel ako ng biyaya, hindi vessel na nag-iipon lang.</a:t>
            </a:r>
          </a:p>
          <a:p>
            <a:r>
              <a:rPr lang="en-US" dirty="0"/>
              <a:t>Tapat na katiwala — sa oras, sa talento, sa pera.</a:t>
            </a:r>
          </a:p>
          <a:p>
            <a:r>
              <a:rPr lang="en-US" dirty="0"/>
              <a:t>Ang tono: pag-ani, hindi paghuhusga — i-celebrate ang bawat natapos, ngitian ang bawat kulang.</a:t>
            </a:r>
          </a:p>
          <a:p>
            <a:r>
              <a:rPr lang="en-US" dirty="0"/>
              <a:t>Tulay: noong L8, ipinagkatiwala sa atin ang oras, talento, at pera; ngayong gabi, ang pinakamahalagang ipinagkatiwala sa atin — ang Mabuting Balita.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00:05)</a:t>
            </a:r>
          </a:p>
          <a:p>
            <a:r>
              <a:rPr lang="en-US" dirty="0"/>
              <a:t>PARTICIPANT GUIDE QUESTION.</a:t>
            </a:r>
          </a:p>
          <a:p>
            <a:r>
              <a:rPr lang="en-US" dirty="0"/>
              <a:t>Itaas ang kamay: sino ang nakatapos ng kahit tatlong araw ng Generosity Watch?</a:t>
            </a:r>
          </a:p>
          <a:p>
            <a:r>
              <a:rPr lang="en-US" dirty="0"/>
              <a:t>Sino ang kumpleto ang pitong araw?</a:t>
            </a:r>
          </a:p>
          <a:p>
            <a:r>
              <a:rPr lang="en-US" dirty="0"/>
              <a:t>Humingi ng ISANG kuwento ng tahimik na kabutihang ginawa para sa EOLO person — at ano ang naging tugon niya.</a:t>
            </a:r>
          </a:p>
          <a:p>
            <a:r>
              <a:rPr lang="en-US" dirty="0"/>
              <a:t>Kapag may nagsabing nahirapan siyang magbigay, i-celebrate ang katapatan ng pag-amin.</a:t>
            </a:r>
          </a:p>
          <a:p>
            <a:r>
              <a:rPr lang="en-US" dirty="0"/>
              <a:t>Bantayan ang oras — dalawang minuto lang; ang mahahabang kuwento ay pang-LCG.</a:t>
            </a:r>
          </a:p>
          <a:p>
            <a:r>
              <a:rPr lang="en-US" dirty="0"/>
              <a:t>Itala ng interns kung sino ang walang dala — para sa gentle catch-up, hindi pagsabihan.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00:07)</a:t>
            </a:r>
          </a:p>
          <a:p>
            <a:r>
              <a:rPr lang="en-US" dirty="0"/>
              <a:t>KUWENTO — Ang Sanggol sa Kahon (basahin nang buo, Chicken Soup style).</a:t>
            </a:r>
          </a:p>
          <a:p>
            <a:r>
              <a:rPr lang="en-US" dirty="0"/>
              <a:t>Maraming kahindik-hindik na krimeng nangyayari sa mundo, pero wala nang mas hihigit pa sa gigil at kulo ng dugo na hatid ng mga krimeng ginawa laban sa mga sanggol.</a:t>
            </a:r>
          </a:p>
          <a:p>
            <a:r>
              <a:rPr lang="en-US" dirty="0"/>
              <a:t>Kalagitnaan ng Mayo, taong 2015, sa Guangxi, China.</a:t>
            </a:r>
          </a:p>
          <a:p>
            <a:r>
              <a:rPr lang="en-US" dirty="0"/>
              <a:t>Isang babae ang namimitas ng halaman sa gubat nang may marinig siyang pag-iyak.</a:t>
            </a:r>
          </a:p>
          <a:p>
            <a:r>
              <a:rPr lang="en-US" dirty="0"/>
              <a:t>Hindi pag-iyak ng hayop — pag-iyak ng isang bata.</a:t>
            </a:r>
          </a:p>
          <a:p>
            <a:r>
              <a:rPr lang="en-US" dirty="0"/>
              <a:t>Nag-report siya sa mga pulis, at agad-agad silang tumungo sa lugar.</a:t>
            </a:r>
          </a:p>
          <a:p>
            <a:r>
              <a:rPr lang="en-US" dirty="0"/>
              <a:t>Ang tumambad sa kanila: isang sanggol na nakalagay sa isang maliit na kahon, at nakabaon sa lupa.</a:t>
            </a:r>
          </a:p>
          <a:p>
            <a:r>
              <a:rPr lang="en-US" dirty="0"/>
              <a:t>Kritikal ang lagay ng bata.</a:t>
            </a:r>
          </a:p>
          <a:p>
            <a:r>
              <a:rPr lang="en-US" dirty="0"/>
              <a:t>Tadtad ng mga pasa ang buong katawan.</a:t>
            </a:r>
          </a:p>
          <a:p>
            <a:r>
              <a:rPr lang="en-US" dirty="0"/>
              <a:t>Sumusuka ng putik.</a:t>
            </a:r>
          </a:p>
          <a:p>
            <a:r>
              <a:rPr lang="en-US" dirty="0"/>
              <a:t>Nag-aagaw-buhay.</a:t>
            </a:r>
          </a:p>
          <a:p>
            <a:r>
              <a:rPr lang="en-US" dirty="0"/>
              <a:t>Napag-alamang halos sampung araw nang nakalantad sa gubat ang labing-apat na araw na sanggol.</a:t>
            </a:r>
          </a:p>
          <a:p>
            <a:r>
              <a:rPr lang="en-US" dirty="0"/>
              <a:t>Bakit?</a:t>
            </a:r>
          </a:p>
          <a:p>
            <a:r>
              <a:rPr lang="en-US" dirty="0"/>
              <a:t>Diumano, inabandona siya ng sarili niyang mga magulang dahil sa kaniyang cleft palate — bingot — at mahinang pangangatawan.</a:t>
            </a:r>
          </a:p>
          <a:p>
            <a:r>
              <a:rPr lang="en-US" dirty="0"/>
              <a:t>Nagbayad pa ng dalawandaan at siyamnapung dolyar ang mga lola ng sanggol para lang mai-dispatsa ang kawawang nilalang.</a:t>
            </a:r>
          </a:p>
          <a:p>
            <a:r>
              <a:rPr lang="en-US" dirty="0"/>
              <a:t>Nahuli ang mga salarin — ang mag-asawa, ang mga lola, at ang lalaking binayaran.</a:t>
            </a:r>
          </a:p>
          <a:p>
            <a:r>
              <a:rPr lang="en-US" dirty="0"/>
              <a:t>Pero nakalaya rin agad sila matapos magpiyansa.</a:t>
            </a:r>
          </a:p>
          <a:p>
            <a:r>
              <a:rPr lang="en-US" dirty="0"/>
              <a:t>At ang mas matindi: nakuha pang sumulat ng letter of appeal ng mag-asawa, dahil gusto raw nilang mabawi ang anak na tinangka nilang patayin.</a:t>
            </a:r>
          </a:p>
          <a:p>
            <a:r>
              <a:rPr lang="en-US" dirty="0"/>
              <a:t>Hanep.</a:t>
            </a:r>
          </a:p>
          <a:p>
            <a:r>
              <a:rPr lang="en-US" dirty="0"/>
              <a:t>Basahin nang may bigat at dahan-dahan; huminto sandali pagkatapos ng Bakit?</a:t>
            </a:r>
          </a:p>
          <a:p>
            <a:r>
              <a:rPr lang="en-US" dirty="0"/>
              <a:t>KRITIKAL: huwag pang ibunyag na patungkol ito sa spiritual abandonment — ang reveal ay sa slide 26.</a:t>
            </a:r>
          </a:p>
          <a:p>
            <a:r>
              <a:rPr lang="en-US" dirty="0"/>
              <a:t>Sabihin lang: Hawakan ninyo muna ang galit na 'yan.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00:08)</a:t>
            </a:r>
          </a:p>
          <a:p>
            <a:r>
              <a:rPr lang="en-US" dirty="0"/>
              <a:t>PARTICIPANT GUIDE QUESTION.</a:t>
            </a:r>
          </a:p>
          <a:p>
            <a:r>
              <a:rPr lang="en-US" dirty="0"/>
              <a:t>Mula mismo sa USAD workbook ang tanong na ito.</a:t>
            </a:r>
          </a:p>
          <a:p>
            <a:r>
              <a:rPr lang="en-US" dirty="0"/>
              <a:t>Silent writing muna, tapos 1-2 sasagot lang.</a:t>
            </a:r>
          </a:p>
          <a:p>
            <a:r>
              <a:rPr lang="en-US" dirty="0"/>
              <a:t>Hayaan silang mag-react nang totoo — galit, lungkot, hindi makapaniwala.</a:t>
            </a:r>
          </a:p>
          <a:p>
            <a:r>
              <a:rPr lang="en-US" dirty="0"/>
              <a:t>Huwag pang ipaliwanag ang koneksyon.</a:t>
            </a:r>
          </a:p>
          <a:p>
            <a:r>
              <a:rPr lang="en-US" dirty="0"/>
              <a:t>Sabihin lang: Hawakan ninyo muna ang galit na 'yan — babalikan natin ito sa dulo ng aralin.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00:10)</a:t>
            </a:r>
          </a:p>
          <a:p>
            <a:r>
              <a:rPr lang="en-US" dirty="0"/>
              <a:t>Basahin ang Big Idea nang dahan-dahan, tapos ipabasa sa lahat.</a:t>
            </a:r>
          </a:p>
          <a:p>
            <a:r>
              <a:rPr lang="en-US" dirty="0"/>
              <a:t>Binigyan ka ng panibagong buhay ng Dios para makasumpong din ng panibagong buhay ang ibang tao sa pamamagitan mo.</a:t>
            </a:r>
          </a:p>
          <a:p>
            <a:r>
              <a:rPr lang="en-US" dirty="0"/>
              <a:t>Dati, patay ka sa iyong mga kasalanan (Ephesians 2:1).</a:t>
            </a:r>
          </a:p>
          <a:p>
            <a:r>
              <a:rPr lang="en-US" dirty="0"/>
              <a:t>Pero dahil sa dakilang biyaya ng Dios, ikaw ay na-born-again (John 3:3), at ngayon, narito ka, kabilang na sa pamilya Niya (John 1:12).</a:t>
            </a:r>
          </a:p>
          <a:p>
            <a:r>
              <a:rPr lang="en-US" dirty="0"/>
              <a:t>Pero dapat mong maunawaan na hindi natatapos sa kaligtasan ang istorya ng buhay mo — huwag mong kaligtaan ang ibang taong wala pa kay Cristo.</a:t>
            </a:r>
          </a:p>
          <a:p>
            <a:r>
              <a:rPr lang="en-US" dirty="0"/>
              <a:t>Responsibilidad ng isang mananampalataya na ipakilala si Cristo sa iba; ang tawag diyan ay evangelism, ang paghahayag ng Mabuting Balita, euangelion.</a:t>
            </a:r>
          </a:p>
          <a:p>
            <a:r>
              <a:rPr lang="en-US" dirty="0"/>
              <a:t>Ito ang paraan na ginagamit ni Lord para ang isang makasalanan ay maipanganak na muli — maging spiritual infant.</a:t>
            </a:r>
          </a:p>
          <a:p>
            <a:r>
              <a:rPr lang="en-US" dirty="0"/>
              <a:t>Isa itong maluwalhating gawain, at nagdadala ito ng matinding kagalakan sa kalangitan (Luke 15:7).</a:t>
            </a:r>
          </a:p>
          <a:p>
            <a:r>
              <a:rPr lang="en-US" dirty="0"/>
              <a:t>Sabihin sa participants: may mga patlang sa guide ninyo — punan habang nakikinig.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00:12)</a:t>
            </a:r>
          </a:p>
          <a:p>
            <a:r>
              <a:rPr lang="en-US" dirty="0"/>
              <a:t>Bago bumalik sa kalangitan si Jesus, ipinagkatiwala Niya ang Great Commission sa lahat ng disciples.</a:t>
            </a:r>
          </a:p>
          <a:p>
            <a:r>
              <a:rPr lang="en-US" dirty="0"/>
              <a:t>Ipabilog sa participant guide ang mga utos na ibinilin ni Jesus sa Matthew 28:19-20: humayo, gawing alagad, bautismuhan, turuan.</a:t>
            </a:r>
          </a:p>
          <a:p>
            <a:r>
              <a:rPr lang="en-US" dirty="0"/>
              <a:t>Ito ay isang dakilang mandato at partnership sa pagitan ng Panginoon at ng Kaniyang mga tagasunod.</a:t>
            </a:r>
          </a:p>
          <a:p>
            <a:r>
              <a:rPr lang="en-US" dirty="0"/>
              <a:t>Ang puso ng misyong ito ay ang pag-ibig ng Dios sa sangkatauhan (John 3:16).</a:t>
            </a:r>
          </a:p>
          <a:p>
            <a:r>
              <a:rPr lang="en-US" dirty="0"/>
              <a:t>Pero ang mga paa, kamay at bibig na gagamitin Niya ay ang mga miyembro ng Kaniyang katawan (Romans 12:5; 1 Corinthians 12:12) — tayong mga mananampalataya!</a:t>
            </a:r>
          </a:p>
          <a:p>
            <a:r>
              <a:rPr lang="en-US" dirty="0"/>
              <a:t>Mababakas natin na may dalawang major areas ang commission na ito: ang PAGHAYO, o evangelism, at ang PAGHUBOG, o discipleship.</a:t>
            </a:r>
          </a:p>
          <a:p>
            <a:r>
              <a:rPr lang="en-US" dirty="0"/>
              <a:t>Tingnan natin isa-isa — PAGHAYO muna.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00:14)</a:t>
            </a:r>
          </a:p>
          <a:p>
            <a:r>
              <a:rPr lang="en-US" dirty="0"/>
              <a:t>Sabi ni Rodney Howard-Browne, two-thirds ng pangalan ni God ay GO!</a:t>
            </a:r>
          </a:p>
          <a:p>
            <a:r>
              <a:rPr lang="en-US" dirty="0"/>
              <a:t>Hindi kalooban ng Dios ang S.S.S. Christianity — Saved, Seated, Satisfied.</a:t>
            </a:r>
          </a:p>
          <a:p>
            <a:r>
              <a:rPr lang="en-US" dirty="0"/>
              <a:t>Dahil, ayon sa 2 Peter 3:9, hindi Niya nais na may mapahamak, kundi ang lahat ay makapagsisi at tumalikod sa kasalanan.</a:t>
            </a:r>
          </a:p>
          <a:p>
            <a:r>
              <a:rPr lang="en-US" dirty="0"/>
              <a:t>Direktang sinabi ni Jesus na naparito Siya sa mundo upang hanapin at iligtas ang nawala (Luke 19:10).</a:t>
            </a:r>
          </a:p>
          <a:p>
            <a:r>
              <a:rPr lang="en-US" dirty="0"/>
              <a:t>Kung ikaw ay tunay na tagasunod ni Cristo, dapat ito rin ang tibok ng iyong puso — reach the lost at any cost.</a:t>
            </a:r>
          </a:p>
          <a:p>
            <a:r>
              <a:rPr lang="en-US" dirty="0"/>
              <a:t>Itanong nang mabilis: sino rito ang nasa Saved-Seated-Satisfied mode ngayon? Huwag nang sumagot — isipin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00:16)</a:t>
            </a:r>
          </a:p>
          <a:p>
            <a:r>
              <a:rPr lang="en-US" dirty="0"/>
              <a:t>Napakalinaw ng ministry description na ibinigay ni Apostle Paul sa atin.</a:t>
            </a:r>
          </a:p>
          <a:p>
            <a:r>
              <a:rPr lang="en-US" dirty="0"/>
              <a:t>Basahin ang 2 Corinthians 5:20: Kami'y mga sugo ni Cristo; ang Diyos mismo ang nakikiusap sa inyo sa pamamagitan namin.</a:t>
            </a:r>
          </a:p>
          <a:p>
            <a:r>
              <a:rPr lang="en-US" dirty="0"/>
              <a:t>Kami'y nakikiusap sa inyo alang-alang kay Cristo: makipagkasundo kayo sa Diyos.</a:t>
            </a:r>
          </a:p>
          <a:p>
            <a:r>
              <a:rPr lang="en-US" dirty="0"/>
              <a:t>Whoa! Tayo ay mga sugo — in English, ambassadors o representatives.</a:t>
            </a:r>
          </a:p>
          <a:p>
            <a:r>
              <a:rPr lang="en-US" dirty="0"/>
              <a:t>Ang ambassador ay isang taong kumakatawan sa kaniyang pinanggalingang bansa sa mataas na pinunong nagsugo sa kaniya — kadalasan isang president, hari, o reyna.</a:t>
            </a:r>
          </a:p>
          <a:p>
            <a:r>
              <a:rPr lang="en-US" dirty="0"/>
              <a:t>Trabaho niyang i-represent ang kaniyang home country habang nasa host country — sa isang Christian, heaven ang home at earth naman ang host.</a:t>
            </a:r>
          </a:p>
          <a:p>
            <a:r>
              <a:rPr lang="en-US" dirty="0"/>
              <a:t>Wala rin siyang ibang ganap sa buhay kundi maiparating nang malinaw ang mensaheng ipinagkatiwala sa kaniya — sa context ng Christianity, Makipagkasundo kayo sa Diyos sa pamamagitan ni Cristo!</a:t>
            </a:r>
          </a:p>
          <a:p>
            <a:r>
              <a:rPr lang="en-US" dirty="0"/>
              <a:t>Inaasahang mabubuhay ang isang sugo sa kaparaanang hindi masisira ang kaniyang imahe, para hindi maapektuhan ang kaniyang mensahe.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00:17)</a:t>
            </a:r>
          </a:p>
          <a:p>
            <a:r>
              <a:rPr lang="en-US" dirty="0"/>
              <a:t>PARTICIPANT GUIDE QUESTION.</a:t>
            </a:r>
          </a:p>
          <a:p>
            <a:r>
              <a:rPr lang="en-US" dirty="0"/>
              <a:t>Ito ang margin question ng USAD sa PAGHAYO.</a:t>
            </a:r>
          </a:p>
          <a:p>
            <a:r>
              <a:rPr lang="en-US" dirty="0"/>
              <a:t>Hanapin ang sagot na: ang buhay natin ang unang Bibliyang nababasa ng iba — kapag sira ang imahe ng sugo, nadadamay ang mensahe.</a:t>
            </a:r>
          </a:p>
          <a:p>
            <a:r>
              <a:rPr lang="en-US" dirty="0"/>
              <a:t>Hanapin din: hindi ibig sabihin na kailangang perpekto muna bago mag-share — tapat, hindi perpekto.</a:t>
            </a:r>
          </a:p>
          <a:p>
            <a:r>
              <a:rPr lang="en-US" dirty="0"/>
              <a:t>Isang minuto lang — ang malalim na pag-uusap ay sa TALAKAY.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00:19)</a:t>
            </a:r>
          </a:p>
          <a:p>
            <a:r>
              <a:rPr lang="en-US" dirty="0"/>
              <a:t>Hindi lang tayo mga sugo — tayo rin ay mga saksi!</a:t>
            </a:r>
          </a:p>
          <a:p>
            <a:r>
              <a:rPr lang="en-US" dirty="0"/>
              <a:t>Pangako ni Jesus sa early disciples: tatanggap kayo ng kapangyarihan pagbaba sa inyo ng Espiritu Santo, at kayo'y magiging mga saksi ko sa Jerusalem, sa buong Judea at sa Samaria, at hanggang sa dulo ng daigdig (Acts 1:8).</a:t>
            </a:r>
          </a:p>
          <a:p>
            <a:r>
              <a:rPr lang="en-US" dirty="0"/>
              <a:t>Bibigyan tayo ng dynamic na abilidad at impact ng Holy Spirit para maging effective witnesses ng Mabuting Balita sa mga taong makakasalamuha natin.</a:t>
            </a:r>
          </a:p>
          <a:p>
            <a:r>
              <a:rPr lang="en-US" dirty="0"/>
              <a:t>Sa Ephesians 6:15, inuutusan tayong isuot ang sapatos ng pagiging handa sa pangangaral ng Magandang Balita ng kapayapaan, bilang parte ng ating spiritual armor.</a:t>
            </a:r>
          </a:p>
          <a:p>
            <a:r>
              <a:rPr lang="en-US" dirty="0"/>
              <a:t>Napakahalaga ng footgear sa pang-araw-araw, at lalo na kung sasabak tayo sa giyera — hindi ka makakausad kung hindi mo ito suot!</a:t>
            </a:r>
          </a:p>
          <a:p>
            <a:r>
              <a:rPr lang="en-US" dirty="0"/>
              <a:t>In the spiritual sense, habang tayo ay nagpapahayag ng Gospel at humahayo, lalo tayong umuusad at lumalago.</a:t>
            </a:r>
          </a:p>
          <a:p>
            <a:r>
              <a:rPr lang="en-US" dirty="0"/>
              <a:t>Bigyang atensyon natin ito dahil ang isa sa mga pinakaunang nanlalamig na parte ng katawan ng tao ay ang paa — at sad to say, ganun din spiritually.</a:t>
            </a:r>
          </a:p>
          <a:p>
            <a:r>
              <a:rPr lang="en-US" dirty="0"/>
              <a:t>Isa sa pinakamadalas na nakakaligtaan ng isang Christian ang evangelism — huwag sanang ganun.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00:20)</a:t>
            </a:r>
          </a:p>
          <a:p>
            <a:r>
              <a:rPr lang="en-US" dirty="0"/>
              <a:t>PARTICIPANT GUIDE QUESTION.</a:t>
            </a:r>
          </a:p>
          <a:p>
            <a:r>
              <a:rPr lang="en-US" dirty="0"/>
              <a:t>Ito ang pangalawang margin question ng USAD sa PAGHAYO.</a:t>
            </a:r>
          </a:p>
          <a:p>
            <a:r>
              <a:rPr lang="en-US" dirty="0"/>
              <a:t>Asahan ang mga sagot na: hindi ako marunong; nahihiya ako; baka ma-reject ako; hindi pa ako handa; trabaho iyan ng pastor.</a:t>
            </a:r>
          </a:p>
          <a:p>
            <a:r>
              <a:rPr lang="en-US" dirty="0"/>
              <a:t>Huwag sagutin isa-isa — ilista lang at pangalanan: ito ang malamig na paa.</a:t>
            </a:r>
          </a:p>
          <a:p>
            <a:r>
              <a:rPr lang="en-US" dirty="0"/>
              <a:t>Ipangako: bago matapos ang aralin, may isang simpleng kasangkapan na tayo — isang verse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00:22)</a:t>
            </a:r>
          </a:p>
          <a:p>
            <a:r>
              <a:rPr lang="en-US" dirty="0"/>
              <a:t>Ngayon, ang pangalawang area: PAGHUBOG, o discipleship — gawin ninyong disciples ko ang mga tao sa lahat ng mga bansa; i-baptize ninyo sila; turuan ninyo silang sumunod.</a:t>
            </a:r>
          </a:p>
          <a:p>
            <a:r>
              <a:rPr lang="en-US" dirty="0"/>
              <a:t>Ang discipleship ay isang panghabang-buhay na proseso; galing ito sa salitang disciple na ang ibig sabihin ay learner o follower.</a:t>
            </a:r>
          </a:p>
          <a:p>
            <a:r>
              <a:rPr lang="en-US" dirty="0"/>
              <a:t>Nagsisimula ito sa oras na tayo ay ma-born-again, at nagpapatuloy sa pamamagitan ng araw-araw nating pagkatuto kung paano mamuhay kagaya ni Cristo — unti-unti tayong nahuhubog ayon sa image Niya.</a:t>
            </a:r>
          </a:p>
          <a:p>
            <a:r>
              <a:rPr lang="en-US" dirty="0"/>
              <a:t>Ang tumutulong sa isang spiritual infant na ma-fulfill ito ay isang spiritually matured na mananampalataya na maaari nating tawaging spiritual parent — in short, ang discipleship ay spiritual parenthood.</a:t>
            </a:r>
          </a:p>
          <a:p>
            <a:r>
              <a:rPr lang="en-US" dirty="0"/>
              <a:t>Tingnan natin ang halimbawa ni Apostle Paul sa 1 Thessalonians 2:7-12.</a:t>
            </a:r>
          </a:p>
          <a:p>
            <a:r>
              <a:rPr lang="en-US" dirty="0"/>
              <a:t>Una, ang pagkalinga ng isang ina (verses 7-8): naging magiliw kami sa inyo, tulad ng inang mapagkalinga sa kanyang mga anak — dahil sa laki ng aming pagmamahal, ibinahagi namin sa inyo ang aming buhay.</a:t>
            </a:r>
          </a:p>
          <a:p>
            <a:r>
              <a:rPr lang="en-US" dirty="0"/>
              <a:t>Relationship ang pundasyon ng discipleship: hindi lang ito isang technical na program o class lectures na dapat tapusin ng disciple at discipler.</a:t>
            </a:r>
          </a:p>
          <a:p>
            <a:r>
              <a:rPr lang="en-US" dirty="0"/>
              <a:t>Kalakip nito ang ibayong kalinga, sakripisyo, pagmamahal, concern, at 'di makasariling pagbabahagi ng buhay sa isa't isa.</a:t>
            </a:r>
          </a:p>
          <a:p>
            <a:r>
              <a:rPr lang="en-US" dirty="0"/>
              <a:t>Kagaya ng isang mapagkalingang ina, inaasahang magpapakita ang discipler ng dalisay, matuwid, at walang kapintasang pakikitungo (verse 10) — hindi sinless perfection, kundi maingat na pamumuhay para hindi matisod ang taong ipinagkatiwala sa kaniya (Romans 14:13).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00:23)</a:t>
            </a:r>
          </a:p>
          <a:p>
            <a:r>
              <a:rPr lang="en-US" dirty="0"/>
              <a:t>PARTICIPANT GUIDE QUESTION.</a:t>
            </a:r>
          </a:p>
          <a:p>
            <a:r>
              <a:rPr lang="en-US" dirty="0"/>
              <a:t>Ito ang margin question ng USAD sa pagkalinga ng isang ina.</a:t>
            </a:r>
          </a:p>
          <a:p>
            <a:r>
              <a:rPr lang="en-US" dirty="0"/>
              <a:t>Hanapin ang sagot na: bago makinig ang disciple sa itinuturo mo, kailangan muna niyang maramdaman na mahalaga siya sa iyo.</a:t>
            </a:r>
          </a:p>
          <a:p>
            <a:r>
              <a:rPr lang="en-US" dirty="0"/>
              <a:t>Hanapin din ang balanse: hindi puro kalinga — kailangan din ng pagtuturo, gaya ng makikita natin sa ama.</a:t>
            </a:r>
          </a:p>
          <a:p>
            <a:r>
              <a:rPr lang="en-US" dirty="0"/>
              <a:t>Isang minuto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00:25)</a:t>
            </a:r>
          </a:p>
          <a:p>
            <a:r>
              <a:rPr lang="en-US" dirty="0"/>
              <a:t>Pangalawa, ang pangunguna ng isang ama (verses 11-12): kami'y naging parang ama sa bawat isa sa inyo — pinayuhan namin kayo, pinalakas namin ang inyong loob, at inatasan na mamuhay nang kalugud-lugod sa paningin ng Diyos.</a:t>
            </a:r>
          </a:p>
          <a:p>
            <a:r>
              <a:rPr lang="en-US" dirty="0"/>
              <a:t>Leadership ang haligi ng discipleship.</a:t>
            </a:r>
          </a:p>
          <a:p>
            <a:r>
              <a:rPr lang="en-US" dirty="0"/>
              <a:t>Tulad ng isang ama na nangunguna sa kaniyang pamilya, nakaatang sa isang discipler ang paggabay at pagpapakita sa isang bagong disciple kung paano lumakad nang naaayon sa gawi ng Panginoon.</a:t>
            </a:r>
          </a:p>
          <a:p>
            <a:r>
              <a:rPr lang="en-US" dirty="0"/>
              <a:t>Sabi nga ni Apostle Paul, Tularan ninyo ako, gaya ng pagtulad ko kay Cristo (1 Corinthians 11:1).</a:t>
            </a:r>
          </a:p>
          <a:p>
            <a:r>
              <a:rPr lang="en-US" dirty="0"/>
              <a:t>Magagawa natin ang mandato na ito sa pamamagitan ng tatlong verbs na ginamit sa verse: pagpapayo, pagpapalakas, at paghamon.</a:t>
            </a:r>
          </a:p>
          <a:p>
            <a:r>
              <a:rPr lang="en-US" dirty="0"/>
              <a:t>PAGPAPAYO: tulad ng mga batang anak, kailangan ng isang bagong disciple ang fatherly instructions mula sa kaniyang spiritual parent — naka-angkla sa mga aral ng Bible.</a:t>
            </a:r>
          </a:p>
          <a:p>
            <a:r>
              <a:rPr lang="en-US" dirty="0"/>
              <a:t>May mga nagsasabing hindi na kailangan ng systematic Bible lessons dahil puro relationship lang ang discipleship — maling kaisipan ito; hand-in-hand dapat ang relationship at pagtuturo upang tayo'y lumago sa biyaya at pagkakilala sa Panginoong Jesus (2 Peter 3:18).</a:t>
            </a:r>
          </a:p>
          <a:p>
            <a:r>
              <a:rPr lang="en-US" dirty="0"/>
              <a:t>PAGPAPALAKAS: darating ang mga panahon kung saan daranas ng mga nakapanlulumong pagkakataon ang ating mga dinidisciple, kaya naroroon dapat tayo para palakasin ang loob nila — ito ang ministry of encouragement.</a:t>
            </a:r>
          </a:p>
          <a:p>
            <a:r>
              <a:rPr lang="en-US" dirty="0"/>
              <a:t>PAGHAMON: hindi masyadong binebeybi ng isang matinong magulang ang kaniyang anak, lalo na kung may katandaan na ito; nararapat lang na ipakita nang malinaw ang katotohanan at hamunin ang disciple na tumugon nang positibo.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00:26)</a:t>
            </a:r>
          </a:p>
          <a:p>
            <a:r>
              <a:rPr lang="en-US" dirty="0"/>
              <a:t>Ito ang sentro ng aralin.</a:t>
            </a:r>
          </a:p>
          <a:p>
            <a:r>
              <a:rPr lang="en-US" dirty="0"/>
              <a:t>Hindi rin naman maitatangging kulang kapag puro evangelism lang.</a:t>
            </a:r>
          </a:p>
          <a:p>
            <a:r>
              <a:rPr lang="en-US" dirty="0"/>
              <a:t>Hindi mo puwedeng paghiwalayin ang dalawang ito — two sides of the same coin, ika nga.</a:t>
            </a:r>
          </a:p>
          <a:p>
            <a:r>
              <a:rPr lang="en-US" dirty="0"/>
              <a:t>Hindi ka magsisilang ng bata para lang makita itong manghina at mawala.</a:t>
            </a:r>
          </a:p>
          <a:p>
            <a:r>
              <a:rPr lang="en-US" dirty="0"/>
              <a:t>Pangalanan ang character anchor: KATAPATAN — ang katapatang hindi iiwan ang isinilang mo.</a:t>
            </a:r>
          </a:p>
          <a:p>
            <a:r>
              <a:rPr lang="en-US" dirty="0"/>
              <a:t>Basahin ang 2 Timothy 2:2: At ang mga bagay na narinig mo sa akin sa gitna ng maraming saksi, ay siya mo ring ipagkatiwala sa mga taong tapat, na makapagtuturo naman sa iba.</a:t>
            </a:r>
          </a:p>
          <a:p>
            <a:r>
              <a:rPr lang="en-US" dirty="0"/>
              <a:t>Ang goal ng bawat Christian ay evangelism at discipleship; sa totoo lang, kayamanang maituturing sa isang spiritual parent na makitang lumalalim at lumalago sa Panginoon ang kaniyang mga disipulo.</a:t>
            </a:r>
          </a:p>
          <a:p>
            <a:r>
              <a:rPr lang="en-US" dirty="0"/>
              <a:t>Pero ibang klaseng ligaya ang hatid ng makitang ang dinidisipulo niya ay nagdidisipulo na rin ng iba.</a:t>
            </a:r>
          </a:p>
          <a:p>
            <a:r>
              <a:rPr lang="en-US" dirty="0"/>
              <a:t>Pause — hayaang lumapat bago lumipat sa TALAKAY.</a:t>
            </a:r>
          </a:p>
          <a:p>
            <a:r>
              <a:rPr lang="en-US" dirty="0"/>
              <a:t>KRITIKAL: huwag putulin sa isa lang — evangelism lang o discipleship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1 min (target 00:27)</a:t>
            </a:r>
          </a:p>
          <a:p>
            <a:r>
              <a:rPr lang="en-US" dirty="0"/>
              <a:t>Parehong apat na rules ng TALAKAY: no fixing, no comparison, no preaching, confidential.</a:t>
            </a:r>
          </a:p>
          <a:p>
            <a:r>
              <a:rPr lang="en-US" dirty="0"/>
              <a:t>Tables ng tatlo hanggang apat.</a:t>
            </a:r>
          </a:p>
          <a:p>
            <a:r>
              <a:rPr lang="en-US" dirty="0"/>
              <a:t>Magsimula ka — ikuwento nang maikli kung sino ang nag-share ng Gospel sa iyo at kung sino ang nag-disciple sa iyo.</a:t>
            </a:r>
          </a:p>
          <a:p>
            <a:r>
              <a:rPr lang="en-US" dirty="0"/>
              <a:t>Ang vulnerability ng lead ang nagbubukas ng pinto para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5 min (target 00:32)</a:t>
            </a:r>
          </a:p>
          <a:p>
            <a:r>
              <a:rPr lang="en-US" dirty="0"/>
              <a:t>PARTICIPANT GUIDE QUESTION.</a:t>
            </a:r>
          </a:p>
          <a:p>
            <a:r>
              <a:rPr lang="en-US" dirty="0"/>
              <a:t>Ito ang interact question ng USAD mismo.</a:t>
            </a:r>
          </a:p>
          <a:p>
            <a:r>
              <a:rPr lang="en-US" dirty="0"/>
              <a:t>Safe entry ito: lahat may kuwento ng pagdating kay Cristo.</a:t>
            </a:r>
          </a:p>
          <a:p>
            <a:r>
              <a:rPr lang="en-US" dirty="0"/>
              <a:t>Marami ang walang maalalang nag-disciple sa kanila — ito mismo ang punto ng aralin; huwag itong ikahiya, gamitin ito.</a:t>
            </a:r>
          </a:p>
          <a:p>
            <a:r>
              <a:rPr lang="en-US" dirty="0"/>
              <a:t>Ipaliwanag kapag lumabas: kaya natin kailangan ang intentional disciple-making — para ang susunod na henerasyon ay may maalalang pangalan.</a:t>
            </a:r>
          </a:p>
          <a:p>
            <a:r>
              <a:rPr lang="en-US" dirty="0"/>
              <a:t>Interns: itala kung sino sa table ang walang naalalang discipler — pastoral follow-up iyon.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6 min (target 00:38)</a:t>
            </a:r>
          </a:p>
          <a:p>
            <a:r>
              <a:rPr lang="en-US" dirty="0"/>
              <a:t>PARTICIPANT GUIDE QUESTION.</a:t>
            </a:r>
          </a:p>
          <a:p>
            <a:r>
              <a:rPr lang="en-US" dirty="0"/>
              <a:t>Ito ang pangalawang interact question ng USAD.</a:t>
            </a:r>
          </a:p>
          <a:p>
            <a:r>
              <a:rPr lang="en-US" dirty="0"/>
              <a:t>Asahan ang dalawang klase ng sagot: may magsasabing puwede — kasi may naligtas sa crusade na hindi na nakita; may magsasabing hindi — kasi namamatay ang hindi inaalagaan.</a:t>
            </a:r>
          </a:p>
          <a:p>
            <a:r>
              <a:rPr lang="en-US" dirty="0"/>
              <a:t>Landing: ang evangelism na walang discipleship ay pagsisilang na walang pag-aalaga; ang discipleship na walang evangelism ay pamilyang wala nang isinisilang.</a:t>
            </a:r>
          </a:p>
          <a:p>
            <a:r>
              <a:rPr lang="en-US" dirty="0"/>
              <a:t>Ibalik sa barya: two sides of the same coin.</a:t>
            </a:r>
          </a:p>
          <a:p>
            <a:r>
              <a:rPr lang="en-US" dirty="0"/>
              <a:t>Isara ang TALAKAY sa isang pangungusap na panalangin ng isang miyembro ng bawat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1 min (target 00:39)</a:t>
            </a:r>
          </a:p>
          <a:p>
            <a:r>
              <a:rPr lang="en-US" dirty="0"/>
              <a:t>Hindi biro-birong mandato ang Great Commission, pero hindi rin biro-biro ang pangakong ibinigay ni Jesus para maisakatuparan ito.</a:t>
            </a:r>
          </a:p>
          <a:p>
            <a:r>
              <a:rPr lang="en-US" dirty="0"/>
              <a:t>Hindi tayo humahayo nang mag-isa: Tandaan ninyo, ako'y laging kasama ninyo hanggang sa katapusan ng panahon.</a:t>
            </a:r>
          </a:p>
          <a:p>
            <a:r>
              <a:rPr lang="en-US" dirty="0"/>
              <a:t>Ang malamig na paa ay umiinit kapag alam mong kasama mo Siya sa bawat hakbang.</a:t>
            </a:r>
          </a:p>
          <a:p>
            <a:r>
              <a:rPr lang="en-US" dirty="0"/>
              <a:t>Ihanda ang participants sa dalawang kahon ng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4 min (target 00:43)</a:t>
            </a:r>
          </a:p>
          <a:p>
            <a:r>
              <a:rPr lang="en-US" dirty="0"/>
              <a:t>PARTICIPANT GUIDE QUESTION.</a:t>
            </a:r>
          </a:p>
          <a:p>
            <a:r>
              <a:rPr lang="en-US" dirty="0"/>
              <a:t>Ito ang TUGON ng USAD mismo — dalawang kahon.</a:t>
            </a:r>
          </a:p>
          <a:p>
            <a:r>
              <a:rPr lang="en-US" dirty="0"/>
              <a:t>Kaliwa: ang pangako ng Matthew 28:20 — ako'y laging kasama ninyo.</a:t>
            </a:r>
          </a:p>
          <a:p>
            <a:r>
              <a:rPr lang="en-US" dirty="0"/>
              <a:t>Kanan: tatlo hanggang limang totoong pangalan — hindi general na kategorya.</a:t>
            </a:r>
          </a:p>
          <a:p>
            <a:r>
              <a:rPr lang="en-US" dirty="0"/>
              <a:t>Pagkatapos magsulat, tahimik na ipanalangin ang bawat pangalan, isa-isa.</a:t>
            </a:r>
          </a:p>
          <a:p>
            <a:r>
              <a:rPr lang="en-US" dirty="0"/>
              <a:t>GUARD THE SILENCE — huwag sumilip sa sinusulat.</a:t>
            </a:r>
          </a:p>
          <a:p>
            <a:r>
              <a:rPr lang="en-US" dirty="0"/>
              <a:t>Interns: bantayan kung sino ang walang naisulat na pangalan — tahimik na kumustahin pagkatapos.</a:t>
            </a:r>
          </a:p>
          <a:p>
            <a:r>
              <a:rPr lang="en-US" dirty="0"/>
              <a:t>Tip: ang mga pangalang ito ay puwedeng maging EOLO names din sa 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5 min (target 00:48)</a:t>
            </a:r>
          </a:p>
          <a:p>
            <a:r>
              <a:rPr lang="en-US" dirty="0"/>
              <a:t>Kung nais mo ng simple pero klaro at kumpletong approach para matulungan kang makapag-share ng Gospel sa iba, aralin mo ang One Verse Evangelism ng Navigators — USAD Appendix A.</a:t>
            </a:r>
          </a:p>
          <a:p>
            <a:r>
              <a:rPr lang="en-US" dirty="0"/>
              <a:t>I-demo sa whiteboard habang nagsasalita; ang participants ay sasabay sa guide nila.</a:t>
            </a:r>
          </a:p>
          <a:p>
            <a:r>
              <a:rPr lang="en-US" dirty="0"/>
              <a:t>Hakbang 1: isulat ang Romans 6:23 sa itaas ng papel, at magtanong: Ano ang tingin mo sa salitang kabayaran?</a:t>
            </a:r>
          </a:p>
          <a:p>
            <a:r>
              <a:rPr lang="en-US" dirty="0"/>
              <a:t>Hakbang 2: sa kaliwa, isulat ang KABAYARAN — ang sahod ay isang bagay na pinagtrabahuhan at nararapat sa iyo.</a:t>
            </a:r>
          </a:p>
          <a:p>
            <a:r>
              <a:rPr lang="en-US" dirty="0"/>
              <a:t>Hakbang 3: isulat ang KASALANAN — lahat tayo ay nagkasala (Romans 3:23); hindi natin naabot ang pamantayan ng Dios.</a:t>
            </a:r>
          </a:p>
          <a:p>
            <a:r>
              <a:rPr lang="en-US" dirty="0"/>
              <a:t>Hakbang 4: isulat ang KAMATAYAN — ang resulta ng kasalanan ay paghihiwalay sa Dios; gumuhit ng bangin sa pagitan ng kaliwa at kanan.</a:t>
            </a:r>
          </a:p>
          <a:p>
            <a:r>
              <a:rPr lang="en-US" dirty="0"/>
              <a:t>Hakbang 5: sa kanan, isulat ang KALOOB — ang regalo ay hindi pinagtrabahuhan o binibili; tinatanggap lang (Ephesians 2:8-9).</a:t>
            </a:r>
          </a:p>
          <a:p>
            <a:r>
              <a:rPr lang="en-US" dirty="0"/>
              <a:t>Hakbang 6: isulat ang DIYOS at BUHAY NA WALANG HANGGAN — Siya ang nagbibigay, dahil sa pag-ibig (John 3:16).</a:t>
            </a:r>
          </a:p>
          <a:p>
            <a:r>
              <a:rPr lang="en-US" dirty="0"/>
              <a:t>Hakbang 7: gumuhit ng krus sa gitna, na tumatawid sa bangin — kay Cristo Jesus na ating Panginoon; Siya ang nagbayad para matanggap natin ang regalo.</a:t>
            </a:r>
          </a:p>
          <a:p>
            <a:r>
              <a:rPr lang="en-US" dirty="0"/>
              <a:t>Hakbang 8: magtanong: Saan ka ngayon sa larawang ito? Gusto mo bang tanggapin ang regalong ito?</a:t>
            </a:r>
          </a:p>
          <a:p>
            <a:r>
              <a:rPr lang="en-US" dirty="0"/>
              <a:t>KRITIKAL: kung may magtanong ng Three Circles, sabihin: Sa Lesson 20 natin tatalakayin nang buo — isang verse muna.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2 min (target 00:50)</a:t>
            </a:r>
          </a:p>
          <a:p>
            <a:r>
              <a:rPr lang="en-US" dirty="0"/>
              <a:t>Magkapares: ang isa ang magdo-drawing at magpapaliwanag, ang isa ang makikinig na parang hindi pa naririnig ang Gospel.</a:t>
            </a:r>
          </a:p>
          <a:p>
            <a:r>
              <a:rPr lang="en-US" dirty="0"/>
              <a:t>Isang minuto bawat isa, tapos magpalit.</a:t>
            </a:r>
          </a:p>
          <a:p>
            <a:r>
              <a:rPr lang="en-US" dirty="0"/>
              <a:t>Hindi kailangang perpekto; ang layunin ay maramdaman ng paa na kaya pala.</a:t>
            </a:r>
          </a:p>
          <a:p>
            <a:r>
              <a:rPr lang="en-US" dirty="0"/>
              <a:t>Ito ang unang hakbang palayo sa malamig na paa.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3 min (target 00:53)</a:t>
            </a:r>
          </a:p>
          <a:p>
            <a:r>
              <a:rPr lang="en-US" dirty="0"/>
              <a:t>Apat na dadalhin ngayong linggo.</a:t>
            </a:r>
          </a:p>
          <a:p>
            <a:r>
              <a:rPr lang="en-US" dirty="0"/>
              <a:t>Una, ang EOLO Bridge: tingnan ang tatlo hanggang limang pangalan sa iyong EOLO list; pumili ng isa na hindi mo lang i-share-an ng Gospel, kundi commit kang hindi iiwan — kung tumugon siya, ikaw ang magiging spiritual parent niya.</a:t>
            </a:r>
          </a:p>
          <a:p>
            <a:r>
              <a:rPr lang="en-US" dirty="0"/>
              <a:t>Pangalawa, ang 7-Araw na Bantay-Puso: bawat araw, isang maliit na hakbang ng paghayo o pagkalinga — may tracker sa guide; i-check kapag tapos.</a:t>
            </a:r>
          </a:p>
          <a:p>
            <a:r>
              <a:rPr lang="en-US" dirty="0"/>
              <a:t>Pangatlo, iguhit ang Romans 6:23 para sa isang tao ngayong linggo — kahit sa kapamilya muna bilang praktis.</a:t>
            </a:r>
          </a:p>
          <a:p>
            <a:r>
              <a:rPr lang="en-US" dirty="0"/>
              <a:t>Pang-apat, i-memorize ang Matthew 28:19-20.</a:t>
            </a:r>
          </a:p>
          <a:p>
            <a:r>
              <a:rPr lang="en-US" dirty="0"/>
              <a:t>Sabihin nang malinaw: ang mga ito ang unang babalikan ng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3 min (target 00:56)</a:t>
            </a:r>
          </a:p>
          <a:p>
            <a:r>
              <a:rPr lang="en-US" dirty="0"/>
              <a:t>PARTICIPANT GUIDE QUESTION.</a:t>
            </a:r>
          </a:p>
          <a:p>
            <a:r>
              <a:rPr lang="en-US" dirty="0"/>
              <a:t>ANG REVEAL — ito ang emotional peak ng aralin.</a:t>
            </a:r>
          </a:p>
          <a:p>
            <a:r>
              <a:rPr lang="en-US" dirty="0"/>
              <a:t>Natatandaan ninyo ang sanggol sa kahon sa simula ng aralin?</a:t>
            </a:r>
          </a:p>
          <a:p>
            <a:r>
              <a:rPr lang="en-US" dirty="0"/>
              <a:t>Natatandaan ninyo ang galit na naramdaman ninyo — at ang parusang isinulat ninyo para sa limang salarin?</a:t>
            </a:r>
          </a:p>
          <a:p>
            <a:r>
              <a:rPr lang="en-US" dirty="0"/>
              <a:t>Ngayon, ilapat natin ang kuwentong iyon sa ating sarili.</a:t>
            </a:r>
          </a:p>
          <a:p>
            <a:r>
              <a:rPr lang="en-US" dirty="0"/>
              <a:t>Kapag may isang taong tumanggap kay Cristo dahil sa pagbabahagi natin, ipinanganak siyang muli — isa siyang spiritual infant.</a:t>
            </a:r>
          </a:p>
          <a:p>
            <a:r>
              <a:rPr lang="en-US" dirty="0"/>
              <a:t>Iresponsable na iwang mag-isa ang isang spiritual infant.</a:t>
            </a:r>
          </a:p>
          <a:p>
            <a:r>
              <a:rPr lang="en-US" dirty="0"/>
              <a:t>Nangangailangan pa siya ng ibayong spiritual nourishment, kalinga, at gabay upang maging spiritually matured.</a:t>
            </a:r>
          </a:p>
          <a:p>
            <a:r>
              <a:rPr lang="en-US" dirty="0"/>
              <a:t>Kaya may isang tahimik na tanong para sa bawat isa sa atin ngayong gabi.</a:t>
            </a:r>
          </a:p>
          <a:p>
            <a:r>
              <a:rPr lang="en-US" dirty="0"/>
              <a:t>Galit tayo sa nag-abandona ng sanggol.</a:t>
            </a:r>
          </a:p>
          <a:p>
            <a:r>
              <a:rPr lang="en-US" dirty="0"/>
              <a:t>Pero may spiritual infant ba na ikaw ang nag-iwan?</a:t>
            </a:r>
          </a:p>
          <a:p>
            <a:r>
              <a:rPr lang="en-US" dirty="0"/>
              <a:t>Hindi para sa hiya ang tanong na ito — para sa pag-asa.</a:t>
            </a:r>
          </a:p>
          <a:p>
            <a:r>
              <a:rPr lang="en-US" dirty="0"/>
              <a:t>Hindi pa huli: puwede mo pa siyang balikan ngayong linggo.</a:t>
            </a:r>
          </a:p>
          <a:p>
            <a:r>
              <a:rPr lang="en-US" dirty="0"/>
              <a:t>Hayaan ang katahimikan; huwag punuin ng salita.</a:t>
            </a:r>
          </a:p>
          <a:p>
            <a:r>
              <a:rPr lang="en-US" dirty="0"/>
              <a:t>PASTORAL CARE: huwag gawing guilt-trip — conviction tungo sa pag-asa, hindi kahihiyan.</a:t>
            </a:r>
          </a:p>
          <a:p>
            <a:r>
              <a:rPr lang="en-US" dirty="0"/>
              <a:t>Kung may umiyak o tumahimik nang matagal, lapitan nang pribado pagkatapos 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00:58)</a:t>
            </a:r>
          </a:p>
          <a:p>
            <a:r>
              <a:rPr lang="en-US" dirty="0"/>
              <a:t>Tumayo ang lahat at bigkasin nang sabay-sabay, nang malakas.</a:t>
            </a:r>
          </a:p>
          <a:p>
            <a:r>
              <a:rPr lang="en-US" dirty="0"/>
              <a:t>Ang Pangako Ko ang nagbibigay ng pag-asa pagkatapos ng tahimik na tanong — wakasan sa pag-asa, hindi sa hiya.</a:t>
            </a:r>
          </a:p>
          <a:p>
            <a:r>
              <a:rPr lang="en-US" dirty="0"/>
              <a:t>Pagkatapos, sa katabi: Sino ang hindi mo iiwan?</a:t>
            </a:r>
          </a:p>
          <a:p>
            <a:r>
              <a:rPr lang="en-US" dirty="0"/>
              <a:t>Ito ang pangakong babalikan ng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01:00)</a:t>
            </a:r>
          </a:p>
          <a:p>
            <a:r>
              <a:rPr lang="en-US" dirty="0"/>
              <a:t>Preview ng L10: Ministry — dadalhin natin ang paghayo at paghubog tungo sa isang ministry na bagay sa iyong disenyo at spiritual gifts.</a:t>
            </a:r>
          </a:p>
          <a:p>
            <a:r>
              <a:rPr lang="en-US" dirty="0"/>
              <a:t>Paalala: dalhin sa L10 ang Bantay-Puso tracker, ang pangalan ng iyong EOLO na hindi mo iiwan, at ang kuwento ng Romans 6:23 drawing mo.</a:t>
            </a:r>
          </a:p>
          <a:p>
            <a:r>
              <a:rPr lang="en-US" dirty="0"/>
              <a:t>Closing ritual: Disciples who make disciples.</a:t>
            </a:r>
          </a:p>
          <a:p>
            <a:r>
              <a:rPr lang="en-US" dirty="0"/>
              <a:t>Isang maikling closing prayer para sa mga pangalang isinulat sa kanang kahon.</a:t>
            </a:r>
          </a:p>
          <a:p>
            <a:r>
              <a:rPr lang="en-US" dirty="0"/>
              <a:t>Tapos ang 60 minuto — landing sa 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Text 1"/>
          <p:cNvSpPr txBox="1"/>
          <p:nvPr/>
        </p:nvSpPr>
        <p:spPr>
          <a:xfrm>
            <a:off x="731520" y="822960"/>
            <a:ext cx="10725912" cy="365760"/>
          </a:xfrm>
          <a:prstGeom prst="rect">
            <a:avLst/>
          </a:prstGeom>
          <a:noFill/>
          <a:ln/>
        </p:spPr>
        <p:txBody>
          <a:bodyPr wrap="square" lIns="0" tIns="0" rIns="0" bIns="0" rtlCol="0" anchor="ctr"/>
          <a:lstStyle/>
          <a:p>
            <a:pPr algn="ctr" indent="0" marL="0">
              <a:buNone/>
            </a:pPr>
            <a:r>
              <a:rPr lang="en-US" sz="1600" b="1" spc="200" kern="0" dirty="0">
                <a:solidFill>
                  <a:srgbClr val="D4A854"/>
                </a:solidFill>
                <a:latin typeface="DM Sans" pitchFamily="34" charset="0"/>
                <a:ea typeface="DM Sans" pitchFamily="34" charset="-122"/>
                <a:cs typeface="DM Sans" pitchFamily="34" charset="-120"/>
              </a:rPr>
              <a:t>MULTIPLY · DISCIPLE-MAKING PIPELINE · BTLI 1 · LESSON 9</a:t>
            </a:r>
            <a:endParaRPr lang="en-US" sz="1600" dirty="0"/>
          </a:p>
        </p:txBody>
      </p:sp>
      <p:sp>
        <p:nvSpPr>
          <p:cNvPr id="4" name="Text 2"/>
          <p:cNvSpPr txBox="1"/>
          <p:nvPr/>
        </p:nvSpPr>
        <p:spPr>
          <a:xfrm>
            <a:off x="731520" y="1417320"/>
            <a:ext cx="10725912" cy="2103120"/>
          </a:xfrm>
          <a:prstGeom prst="rect">
            <a:avLst/>
          </a:prstGeom>
          <a:noFill/>
          <a:ln/>
        </p:spPr>
        <p:txBody>
          <a:bodyPr wrap="square" lIns="0" tIns="0" rIns="0" bIns="0" rtlCol="0" anchor="ctr">
            <a:normAutofit/>
          </a:bodyPr>
          <a:lstStyle/>
          <a:p>
            <a:pPr algn="ctr" indent="0" marL="0">
              <a:buNone/>
            </a:pPr>
            <a:r>
              <a:rPr lang="en-US" sz="6600" b="1" dirty="0">
                <a:solidFill>
                  <a:srgbClr val="FDFBF6"/>
                </a:solidFill>
                <a:latin typeface="Playfair Display" pitchFamily="34" charset="0"/>
                <a:ea typeface="Playfair Display" pitchFamily="34" charset="-122"/>
                <a:cs typeface="Playfair Display" pitchFamily="34" charset="-120"/>
              </a:rPr>
              <a:t>Evangelism at Discipleship</a:t>
            </a:r>
            <a:endParaRPr lang="en-US" sz="6600" dirty="0"/>
          </a:p>
        </p:txBody>
      </p:sp>
      <p:sp>
        <p:nvSpPr>
          <p:cNvPr id="5" name="Text 3"/>
          <p:cNvSpPr txBox="1"/>
          <p:nvPr/>
        </p:nvSpPr>
        <p:spPr>
          <a:xfrm>
            <a:off x="731520" y="3657600"/>
            <a:ext cx="10725912" cy="548640"/>
          </a:xfrm>
          <a:prstGeom prst="rect">
            <a:avLst/>
          </a:prstGeom>
          <a:noFill/>
          <a:ln/>
        </p:spPr>
        <p:txBody>
          <a:bodyPr wrap="square" lIns="0" tIns="0" rIns="0" bIns="0" rtlCol="0" anchor="ctr"/>
          <a:lstStyle/>
          <a:p>
            <a:pPr algn="ctr" indent="0" marL="0">
              <a:buNone/>
            </a:pPr>
            <a:r>
              <a:rPr lang="en-US" sz="2600" dirty="0">
                <a:solidFill>
                  <a:srgbClr val="FDFBF6"/>
                </a:solidFill>
                <a:latin typeface="DM Sans" pitchFamily="34" charset="0"/>
                <a:ea typeface="DM Sans" pitchFamily="34" charset="-122"/>
                <a:cs typeface="DM Sans" pitchFamily="34" charset="-120"/>
              </a:rPr>
              <a:t>Ano ang Bahagi Ko sa Ispiritwal na Pag-usbong at Pag-usad ng Ibang Tao?</a:t>
            </a:r>
            <a:endParaRPr lang="en-US" sz="2600" dirty="0"/>
          </a:p>
        </p:txBody>
      </p:sp>
      <p:sp>
        <p:nvSpPr>
          <p:cNvPr id="6" name="Text 4"/>
          <p:cNvSpPr txBox="1"/>
          <p:nvPr/>
        </p:nvSpPr>
        <p:spPr>
          <a:xfrm>
            <a:off x="1371600" y="4343400"/>
            <a:ext cx="9445752" cy="731520"/>
          </a:xfrm>
          <a:prstGeom prst="rect">
            <a:avLst/>
          </a:prstGeom>
          <a:noFill/>
          <a:ln/>
        </p:spPr>
        <p:txBody>
          <a:bodyPr wrap="square" lIns="0" tIns="0" rIns="0" bIns="0" rtlCol="0" anchor="ctr"/>
          <a:lstStyle/>
          <a:p>
            <a:pPr algn="ctr" indent="0" marL="0">
              <a:buNone/>
            </a:pPr>
            <a:r>
              <a:rPr lang="en-US" sz="1800" i="1" dirty="0">
                <a:solidFill>
                  <a:srgbClr val="D4A854"/>
                </a:solidFill>
                <a:latin typeface="DM Sans" pitchFamily="34" charset="0"/>
                <a:ea typeface="DM Sans" pitchFamily="34" charset="-122"/>
                <a:cs typeface="DM Sans" pitchFamily="34" charset="-120"/>
              </a:rPr>
              <a:t>“Kaya't humayo kayo, gawin ninyong alagad ko ang mga tao sa lahat ng mga bansa...” — Matthew 28:19-20</a:t>
            </a:r>
            <a:endParaRPr lang="en-US" sz="1800" dirty="0"/>
          </a:p>
        </p:txBody>
      </p:sp>
      <p:sp>
        <p:nvSpPr>
          <p:cNvPr id="7" name="Text 5"/>
          <p:cNvSpPr txBox="1"/>
          <p:nvPr/>
        </p:nvSpPr>
        <p:spPr>
          <a:xfrm>
            <a:off x="731520" y="5257800"/>
            <a:ext cx="10725912" cy="457200"/>
          </a:xfrm>
          <a:prstGeom prst="rect">
            <a:avLst/>
          </a:prstGeom>
          <a:noFill/>
          <a:ln/>
        </p:spPr>
        <p:txBody>
          <a:bodyPr wrap="square" lIns="0" tIns="0" rIns="0" bIns="0" rtlCol="0" anchor="ctr"/>
          <a:lstStyle/>
          <a:p>
            <a:pPr algn="ctr" indent="0" marL="0">
              <a:buNone/>
            </a:pPr>
            <a:r>
              <a:rPr lang="en-US" sz="1800" b="1" dirty="0">
                <a:solidFill>
                  <a:srgbClr val="FDFBF6"/>
                </a:solidFill>
                <a:latin typeface="DM Sans" pitchFamily="34" charset="0"/>
                <a:ea typeface="DM Sans" pitchFamily="34" charset="-122"/>
                <a:cs typeface="DM Sans" pitchFamily="34" charset="-120"/>
              </a:rPr>
              <a:t>🌿 Faithfulness · Katapatan · ⚡ One Verse Evangelism · Cultivate → Extend</a:t>
            </a:r>
            <a:endParaRPr lang="en-US" sz="1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60-min lesson</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 / 28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991356" y="548640"/>
            <a:ext cx="4206240" cy="411480"/>
          </a:xfrm>
          <a:prstGeom prst="roundRect">
            <a:avLst>
              <a:gd name="adj" fmla="val 44444"/>
            </a:avLst>
          </a:prstGeom>
          <a:ln w="15875">
            <a:solidFill>
              <a:srgbClr val="D4A854"/>
            </a:solidFill>
            <a:prstDash val="solid"/>
          </a:ln>
        </p:spPr>
      </p:sp>
      <p:sp>
        <p:nvSpPr>
          <p:cNvPr id="4" name="Text 2"/>
          <p:cNvSpPr txBox="1"/>
          <p:nvPr/>
        </p:nvSpPr>
        <p:spPr>
          <a:xfrm>
            <a:off x="3991356" y="548640"/>
            <a:ext cx="42062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TALATA NG MEMORYA</a:t>
            </a:r>
            <a:endParaRPr lang="en-US" sz="2000" dirty="0"/>
          </a:p>
        </p:txBody>
      </p:sp>
      <p:sp>
        <p:nvSpPr>
          <p:cNvPr id="5" name="Text 3"/>
          <p:cNvSpPr txBox="1"/>
          <p:nvPr/>
        </p:nvSpPr>
        <p:spPr>
          <a:xfrm>
            <a:off x="731520" y="1143000"/>
            <a:ext cx="10725912" cy="230276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FDFBF6"/>
                </a:solidFill>
                <a:latin typeface="Playfair Display" pitchFamily="34" charset="0"/>
                <a:ea typeface="Playfair Display" pitchFamily="34" charset="-122"/>
                <a:cs typeface="Playfair Display" pitchFamily="34" charset="-120"/>
              </a:rPr>
              <a:t>“Kaya't humayo kayo, gawin ninyong alagad ko ang mga tao sa lahat ng mga bansa. Bautismuhan ninyo sila sa pangalan ng Ama, at ng Anak, at ng Espiritu Santo. Turuan ninyo silang sumunod sa lahat ng iniutos ko sa inyo.”</a:t>
            </a:r>
            <a:endParaRPr lang="en-US" sz="3000" dirty="0"/>
          </a:p>
        </p:txBody>
      </p:sp>
      <p:sp>
        <p:nvSpPr>
          <p:cNvPr id="6" name="Text 4"/>
          <p:cNvSpPr txBox="1"/>
          <p:nvPr/>
        </p:nvSpPr>
        <p:spPr>
          <a:xfrm>
            <a:off x="731520" y="3628644"/>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 Matthew 28:19-20</a:t>
            </a:r>
            <a:endParaRPr lang="en-US" sz="2600" dirty="0"/>
          </a:p>
        </p:txBody>
      </p:sp>
      <p:sp>
        <p:nvSpPr>
          <p:cNvPr id="7" name="Text 5"/>
          <p:cNvSpPr txBox="1"/>
          <p:nvPr/>
        </p:nvSpPr>
        <p:spPr>
          <a:xfrm>
            <a:off x="731520" y="4256024"/>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b="1" dirty="0">
                <a:solidFill>
                  <a:srgbClr val="D4A854"/>
                </a:solidFill>
                <a:latin typeface="DM Sans" pitchFamily="34" charset="0"/>
                <a:ea typeface="DM Sans" pitchFamily="34" charset="-122"/>
                <a:cs typeface="DM Sans" pitchFamily="34" charset="-120"/>
              </a:rPr>
              <a:t>Humayo · gawing alagad · bautismuhan · turuan.</a:t>
            </a:r>
            <a:endParaRPr lang="en-US" sz="24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⌛00:02</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 / 28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448556" y="548640"/>
            <a:ext cx="3291840" cy="411480"/>
          </a:xfrm>
          <a:prstGeom prst="roundRect">
            <a:avLst>
              <a:gd name="adj" fmla="val 44444"/>
            </a:avLst>
          </a:prstGeom>
          <a:ln w="15875">
            <a:solidFill>
              <a:srgbClr val="2A5C40"/>
            </a:solidFill>
            <a:prstDash val="solid"/>
          </a:ln>
        </p:spPr>
      </p:sp>
      <p:sp>
        <p:nvSpPr>
          <p:cNvPr id="4" name="Text 2"/>
          <p:cNvSpPr txBox="1"/>
          <p:nvPr/>
        </p:nvSpPr>
        <p:spPr>
          <a:xfrm>
            <a:off x="4448556" y="548640"/>
            <a:ext cx="32918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BALIKAN · L8</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Ang Iniwan ng Lesson 8</a:t>
            </a:r>
            <a:endParaRPr lang="en-US" sz="4400" dirty="0"/>
          </a:p>
        </p:txBody>
      </p:sp>
      <p:sp>
        <p:nvSpPr>
          <p:cNvPr id="6" name="Text 4"/>
          <p:cNvSpPr txBox="1"/>
          <p:nvPr/>
        </p:nvSpPr>
        <p:spPr>
          <a:xfrm>
            <a:off x="731520" y="1966976"/>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7-Araw na Generosity Watch — isang bukas-palad na gawa kada araw</a:t>
            </a:r>
            <a:endParaRPr lang="en-US" sz="2400" dirty="0"/>
          </a:p>
        </p:txBody>
      </p:sp>
      <p:sp>
        <p:nvSpPr>
          <p:cNvPr id="7" name="Text 5"/>
          <p:cNvSpPr txBox="1"/>
          <p:nvPr/>
        </p:nvSpPr>
        <p:spPr>
          <a:xfrm>
            <a:off x="731520" y="2924048"/>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EOLO Bridge — isang tahimik na kabutihan para sa EOLO person mo</a:t>
            </a:r>
            <a:endParaRPr lang="en-US" sz="2400" dirty="0"/>
          </a:p>
        </p:txBody>
      </p:sp>
      <p:sp>
        <p:nvSpPr>
          <p:cNvPr id="8" name="Text 6"/>
          <p:cNvSpPr txBox="1"/>
          <p:nvPr/>
        </p:nvSpPr>
        <p:spPr>
          <a:xfrm>
            <a:off x="731520" y="3881120"/>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Top 3 sa Stewardship Word Art — isang specific na action step bawat isa</a:t>
            </a:r>
            <a:endParaRPr lang="en-US" sz="2400" dirty="0"/>
          </a:p>
        </p:txBody>
      </p:sp>
      <p:sp>
        <p:nvSpPr>
          <p:cNvPr id="9" name="Text 7"/>
          <p:cNvSpPr txBox="1"/>
          <p:nvPr/>
        </p:nvSpPr>
        <p:spPr>
          <a:xfrm>
            <a:off x="731520" y="4838192"/>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i="1" dirty="0">
                <a:solidFill>
                  <a:srgbClr val="1F4530"/>
                </a:solidFill>
                <a:latin typeface="DM Sans" pitchFamily="34" charset="0"/>
                <a:ea typeface="DM Sans" pitchFamily="34" charset="-122"/>
                <a:cs typeface="DM Sans" pitchFamily="34" charset="-120"/>
              </a:rPr>
              <a:t>✍️ “Hindi ako owner — manager ako... Tapat na katiwala — sa oras, sa talento, sa pera.”</a:t>
            </a:r>
            <a:endParaRPr lang="en-US" sz="2200" dirty="0"/>
          </a:p>
        </p:txBody>
      </p:sp>
      <p:sp>
        <p:nvSpPr>
          <p:cNvPr id="10" name="Text 8"/>
          <p:cNvSpPr txBox="1"/>
          <p:nvPr/>
        </p:nvSpPr>
        <p:spPr>
          <a:xfrm>
            <a:off x="731520" y="5735320"/>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1F4530"/>
                </a:solidFill>
                <a:latin typeface="DM Sans" pitchFamily="34" charset="0"/>
                <a:ea typeface="DM Sans" pitchFamily="34" charset="-122"/>
                <a:cs typeface="DM Sans" pitchFamily="34" charset="-120"/>
              </a:rPr>
              <a:t>Collection ito, hindi correction.</a:t>
            </a:r>
            <a:endParaRPr lang="en-US" sz="2200" dirty="0"/>
          </a:p>
        </p:txBody>
      </p:sp>
      <p:sp>
        <p:nvSpPr>
          <p:cNvPr id="11" name="Shape 9"/>
          <p:cNvSpPr/>
          <p:nvPr/>
        </p:nvSpPr>
        <p:spPr>
          <a:xfrm>
            <a:off x="9948672" y="137160"/>
            <a:ext cx="2011680" cy="384048"/>
          </a:xfrm>
          <a:prstGeom prst="roundRect">
            <a:avLst>
              <a:gd name="adj" fmla="val 28571"/>
            </a:avLst>
          </a:prstGeom>
          <a:solidFill>
            <a:srgbClr val="D4AF37"/>
          </a:solidFill>
          <a:ln/>
        </p:spPr>
      </p:sp>
      <p:sp>
        <p:nvSpPr>
          <p:cNvPr id="12" name="Text 10"/>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⌛00:03</a:t>
            </a:r>
            <a:endParaRPr lang="en-US" sz="1100" dirty="0"/>
          </a:p>
        </p:txBody>
      </p:sp>
      <p:sp>
        <p:nvSpPr>
          <p:cNvPr id="13" name="Text 11"/>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3 / 28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Ilang araw ang natapos mo sa Generosity Watch? At ano ang ginawa mo para sa iyong EOLO person?</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1-2 sasagot bawat isa — isang araw, isang gawa, isang kuwento.</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4 / 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TANAW</a:t>
            </a:r>
            <a:endParaRPr lang="en-US" sz="2000" dirty="0"/>
          </a:p>
        </p:txBody>
      </p:sp>
      <p:sp>
        <p:nvSpPr>
          <p:cNvPr id="5" name="Text 3"/>
          <p:cNvSpPr txBox="1"/>
          <p:nvPr/>
        </p:nvSpPr>
        <p:spPr>
          <a:xfrm>
            <a:off x="731520" y="1143000"/>
            <a:ext cx="10725912" cy="774192"/>
          </a:xfrm>
          <a:prstGeom prst="rect">
            <a:avLst/>
          </a:prstGeom>
          <a:noFill/>
          <a:ln/>
        </p:spPr>
        <p:txBody>
          <a:bodyPr wrap="square" lIns="0" tIns="0" rIns="0" bIns="0" rtlCol="0" anchor="t">
            <a:normAutofit/>
          </a:bodyPr>
          <a:lstStyle/>
          <a:p>
            <a:pPr algn="l" indent="0" marL="0">
              <a:lnSpc>
                <a:spcPct val="108000"/>
              </a:lnSpc>
              <a:buNone/>
            </a:pPr>
            <a:r>
              <a:rPr lang="en-US" sz="4800" b="1" dirty="0">
                <a:solidFill>
                  <a:srgbClr val="1A2E22"/>
                </a:solidFill>
                <a:latin typeface="Playfair Display" pitchFamily="34" charset="0"/>
                <a:ea typeface="Playfair Display" pitchFamily="34" charset="-122"/>
                <a:cs typeface="Playfair Display" pitchFamily="34" charset="-120"/>
              </a:rPr>
              <a:t>Ang Sanggol sa Kahon</a:t>
            </a:r>
            <a:endParaRPr lang="en-US" sz="4800" dirty="0"/>
          </a:p>
        </p:txBody>
      </p:sp>
      <p:sp>
        <p:nvSpPr>
          <p:cNvPr id="6" name="Text 4"/>
          <p:cNvSpPr txBox="1"/>
          <p:nvPr/>
        </p:nvSpPr>
        <p:spPr>
          <a:xfrm>
            <a:off x="731520" y="2100072"/>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Guangxi, China · Mayo 2015</a:t>
            </a:r>
            <a:endParaRPr lang="en-US" sz="2600" dirty="0"/>
          </a:p>
        </p:txBody>
      </p:sp>
      <p:sp>
        <p:nvSpPr>
          <p:cNvPr id="7" name="Text 5"/>
          <p:cNvSpPr txBox="1"/>
          <p:nvPr/>
        </p:nvSpPr>
        <p:spPr>
          <a:xfrm>
            <a:off x="731520" y="272745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Isang pag-iyak sa gubat. Isang maliit na kahon. Nakabaon sa lupa.</a:t>
            </a:r>
            <a:endParaRPr lang="en-US" sz="2600" dirty="0"/>
          </a:p>
        </p:txBody>
      </p:sp>
      <p:sp>
        <p:nvSpPr>
          <p:cNvPr id="8" name="Text 6"/>
          <p:cNvSpPr txBox="1"/>
          <p:nvPr/>
        </p:nvSpPr>
        <p:spPr>
          <a:xfrm>
            <a:off x="731520" y="374446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Labing-apat na araw na sanggol — halos sampung araw nang nakalantad.</a:t>
            </a:r>
            <a:endParaRPr lang="en-US" sz="2600" dirty="0"/>
          </a:p>
        </p:txBody>
      </p:sp>
      <p:sp>
        <p:nvSpPr>
          <p:cNvPr id="9" name="Text 7"/>
          <p:cNvSpPr txBox="1"/>
          <p:nvPr/>
        </p:nvSpPr>
        <p:spPr>
          <a:xfrm>
            <a:off x="731520" y="4761484"/>
            <a:ext cx="10725912" cy="50444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1F4530"/>
                </a:solidFill>
                <a:latin typeface="DM Sans" pitchFamily="34" charset="0"/>
                <a:ea typeface="DM Sans" pitchFamily="34" charset="-122"/>
                <a:cs typeface="DM Sans" pitchFamily="34" charset="-120"/>
              </a:rPr>
              <a:t>Bakit?</a:t>
            </a:r>
            <a:endParaRPr lang="en-US" sz="30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⌛00:07</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5 / 28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Kung ikaw ang kinauukulan, ano'ng parusa ang ibibigay mo sa limang salarin na ito na nagsabwatan para kitilin ang buhay ng isang walang kalaban-laban na sanggol?</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hawakan muna ang galit na 'yan.</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6 / 28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814316" y="548640"/>
            <a:ext cx="2560320" cy="411480"/>
          </a:xfrm>
          <a:prstGeom prst="roundRect">
            <a:avLst>
              <a:gd name="adj" fmla="val 44444"/>
            </a:avLst>
          </a:prstGeom>
          <a:ln w="15875">
            <a:solidFill>
              <a:srgbClr val="D4A854"/>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BIG IDEA</a:t>
            </a:r>
            <a:endParaRPr lang="en-US" sz="2000" dirty="0"/>
          </a:p>
        </p:txBody>
      </p:sp>
      <p:sp>
        <p:nvSpPr>
          <p:cNvPr id="5" name="Text 3"/>
          <p:cNvSpPr txBox="1"/>
          <p:nvPr/>
        </p:nvSpPr>
        <p:spPr>
          <a:xfrm>
            <a:off x="731520" y="1143000"/>
            <a:ext cx="10725912" cy="2332736"/>
          </a:xfrm>
          <a:prstGeom prst="rect">
            <a:avLst/>
          </a:prstGeom>
          <a:noFill/>
          <a:ln/>
        </p:spPr>
        <p:txBody>
          <a:bodyPr wrap="square" lIns="0" tIns="0" rIns="0" bIns="0" rtlCol="0" anchor="t">
            <a:normAutofit/>
          </a:bodyPr>
          <a:lstStyle/>
          <a:p>
            <a:pPr algn="l" indent="0" marL="0">
              <a:lnSpc>
                <a:spcPct val="108000"/>
              </a:lnSpc>
              <a:buNone/>
            </a:pPr>
            <a:r>
              <a:rPr lang="en-US" sz="3800" b="1" dirty="0">
                <a:solidFill>
                  <a:srgbClr val="FDFBF6"/>
                </a:solidFill>
                <a:latin typeface="Playfair Display" pitchFamily="34" charset="0"/>
                <a:ea typeface="Playfair Display" pitchFamily="34" charset="-122"/>
                <a:cs typeface="Playfair Display" pitchFamily="34" charset="-120"/>
              </a:rPr>
              <a:t>“Hindi ka iniligtas para lang pumunta sa kalangitan; iniligtas ka para maging instrumento ng Kaniyang kaligtasan.”</a:t>
            </a:r>
            <a:endParaRPr lang="en-US" sz="3800" dirty="0"/>
          </a:p>
        </p:txBody>
      </p:sp>
      <p:sp>
        <p:nvSpPr>
          <p:cNvPr id="6" name="Text 4"/>
          <p:cNvSpPr txBox="1"/>
          <p:nvPr/>
        </p:nvSpPr>
        <p:spPr>
          <a:xfrm>
            <a:off x="731520" y="3658616"/>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FDFBF6"/>
                </a:solidFill>
                <a:latin typeface="DM Sans" pitchFamily="34" charset="0"/>
                <a:ea typeface="DM Sans" pitchFamily="34" charset="-122"/>
                <a:cs typeface="DM Sans" pitchFamily="34" charset="-120"/>
              </a:rPr>
              <a:t>Dati, patay ka sa iyong mga kasalanan — ngayon, “na-born-again” ka at kabilang na sa pamilya Niya.</a:t>
            </a:r>
            <a:endParaRPr lang="en-US" sz="2400" dirty="0"/>
          </a:p>
        </p:txBody>
      </p:sp>
      <p:sp>
        <p:nvSpPr>
          <p:cNvPr id="7" name="Text 5"/>
          <p:cNvSpPr txBox="1"/>
          <p:nvPr/>
        </p:nvSpPr>
        <p:spPr>
          <a:xfrm>
            <a:off x="731520" y="4615688"/>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Hindi natatapos sa kaligtasan ang istorya ng buhay mo.</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7 / 28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808476" y="548640"/>
            <a:ext cx="4572000" cy="411480"/>
          </a:xfrm>
          <a:prstGeom prst="roundRect">
            <a:avLst>
              <a:gd name="adj" fmla="val 44444"/>
            </a:avLst>
          </a:prstGeom>
          <a:ln w="15875">
            <a:solidFill>
              <a:srgbClr val="2A5C40"/>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ANG GREAT COMMISSION</a:t>
            </a:r>
            <a:endParaRPr lang="en-US" sz="2000" dirty="0"/>
          </a:p>
        </p:txBody>
      </p:sp>
      <p:sp>
        <p:nvSpPr>
          <p:cNvPr id="5" name="Text 3"/>
          <p:cNvSpPr txBox="1"/>
          <p:nvPr/>
        </p:nvSpPr>
        <p:spPr>
          <a:xfrm>
            <a:off x="731520" y="1143000"/>
            <a:ext cx="10725912" cy="1373632"/>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Isang Mandato, Isang Partnership</a:t>
            </a:r>
            <a:endParaRPr lang="en-US" sz="4400" dirty="0"/>
          </a:p>
        </p:txBody>
      </p:sp>
      <p:sp>
        <p:nvSpPr>
          <p:cNvPr id="6" name="Text 4"/>
          <p:cNvSpPr txBox="1"/>
          <p:nvPr/>
        </p:nvSpPr>
        <p:spPr>
          <a:xfrm>
            <a:off x="731520" y="269951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Ang puso ng misyon: ang pag-ibig ng Dios sa sangkatauhan (John 3:16).</a:t>
            </a:r>
            <a:endParaRPr lang="en-US" sz="2600" dirty="0"/>
          </a:p>
        </p:txBody>
      </p:sp>
      <p:sp>
        <p:nvSpPr>
          <p:cNvPr id="7" name="Text 5"/>
          <p:cNvSpPr txBox="1"/>
          <p:nvPr/>
        </p:nvSpPr>
        <p:spPr>
          <a:xfrm>
            <a:off x="731520" y="371652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Ang mga paa, kamay at bibig: tayong mga miyembro ng Kaniyang katawan (Romans 12:5; 1 Corinthians 12:12).</a:t>
            </a:r>
            <a:endParaRPr lang="en-US" sz="2600" dirty="0"/>
          </a:p>
        </p:txBody>
      </p:sp>
      <p:sp>
        <p:nvSpPr>
          <p:cNvPr id="8" name="Text 6"/>
          <p:cNvSpPr txBox="1"/>
          <p:nvPr/>
        </p:nvSpPr>
        <p:spPr>
          <a:xfrm>
            <a:off x="731520" y="4733544"/>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Dalawang major areas: PAGHAYO at PAGHUBOG.</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8 / 28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808476" y="548640"/>
            <a:ext cx="4572000" cy="411480"/>
          </a:xfrm>
          <a:prstGeom prst="roundRect">
            <a:avLst>
              <a:gd name="adj" fmla="val 44444"/>
            </a:avLst>
          </a:prstGeom>
          <a:ln w="15875">
            <a:solidFill>
              <a:srgbClr val="D4A854"/>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PAGHAYO · EVANGELISM</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FDFBF6"/>
                </a:solidFill>
                <a:latin typeface="Playfair Display" pitchFamily="34" charset="0"/>
                <a:ea typeface="Playfair Display" pitchFamily="34" charset="-122"/>
                <a:cs typeface="Playfair Display" pitchFamily="34" charset="-120"/>
              </a:rPr>
              <a:t>“...humayo kayo...”</a:t>
            </a:r>
            <a:endParaRPr lang="en-US" sz="4400" dirty="0"/>
          </a:p>
        </p:txBody>
      </p:sp>
      <p:sp>
        <p:nvSpPr>
          <p:cNvPr id="6" name="Text 4"/>
          <p:cNvSpPr txBox="1"/>
          <p:nvPr/>
        </p:nvSpPr>
        <p:spPr>
          <a:xfrm>
            <a:off x="731520" y="204012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Two-thirds ng pangalan ni God ay GO!</a:t>
            </a:r>
            <a:endParaRPr lang="en-US" sz="2800" dirty="0"/>
          </a:p>
        </p:txBody>
      </p:sp>
      <p:sp>
        <p:nvSpPr>
          <p:cNvPr id="7" name="Text 5"/>
          <p:cNvSpPr txBox="1"/>
          <p:nvPr/>
        </p:nvSpPr>
        <p:spPr>
          <a:xfrm>
            <a:off x="731520" y="269748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Hindi kalooban ng Dios ang S.S.S. Christianity — Saved. Seated. Satisfied.</a:t>
            </a:r>
            <a:endParaRPr lang="en-US" sz="2600" dirty="0"/>
          </a:p>
        </p:txBody>
      </p:sp>
      <p:sp>
        <p:nvSpPr>
          <p:cNvPr id="8" name="Text 6"/>
          <p:cNvSpPr txBox="1"/>
          <p:nvPr/>
        </p:nvSpPr>
        <p:spPr>
          <a:xfrm>
            <a:off x="731520" y="3714496"/>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i="1" dirty="0">
                <a:solidFill>
                  <a:srgbClr val="FDFBF6"/>
                </a:solidFill>
                <a:latin typeface="DM Sans" pitchFamily="34" charset="0"/>
                <a:ea typeface="DM Sans" pitchFamily="34" charset="-122"/>
                <a:cs typeface="DM Sans" pitchFamily="34" charset="-120"/>
              </a:rPr>
              <a:t>“...hindi niya nais na may mapahamak, kundi ang lahat ay makapagsisi at tumalikod sa kasalanan.” — 2 Peter 3:9</a:t>
            </a:r>
            <a:endParaRPr lang="en-US" sz="2400" dirty="0"/>
          </a:p>
        </p:txBody>
      </p:sp>
      <p:sp>
        <p:nvSpPr>
          <p:cNvPr id="9" name="Text 7"/>
          <p:cNvSpPr txBox="1"/>
          <p:nvPr/>
        </p:nvSpPr>
        <p:spPr>
          <a:xfrm>
            <a:off x="731520" y="467156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Reach the lost at any cost.</a:t>
            </a:r>
            <a:endParaRPr lang="en-US" sz="28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⌛00:14</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9 / 28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311396" y="548640"/>
            <a:ext cx="3566160" cy="411480"/>
          </a:xfrm>
          <a:prstGeom prst="roundRect">
            <a:avLst>
              <a:gd name="adj" fmla="val 44444"/>
            </a:avLst>
          </a:prstGeom>
          <a:ln w="15875">
            <a:solidFill>
              <a:srgbClr val="2A5C40"/>
            </a:solidFill>
            <a:prstDash val="solid"/>
          </a:ln>
        </p:spPr>
      </p:sp>
      <p:sp>
        <p:nvSpPr>
          <p:cNvPr id="4" name="Text 2"/>
          <p:cNvSpPr txBox="1"/>
          <p:nvPr/>
        </p:nvSpPr>
        <p:spPr>
          <a:xfrm>
            <a:off x="4311396" y="548640"/>
            <a:ext cx="356616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PAGHAYO · SUGO</a:t>
            </a:r>
            <a:endParaRPr lang="en-US" sz="2000" dirty="0"/>
          </a:p>
        </p:txBody>
      </p:sp>
      <p:sp>
        <p:nvSpPr>
          <p:cNvPr id="5" name="Text 3"/>
          <p:cNvSpPr txBox="1"/>
          <p:nvPr/>
        </p:nvSpPr>
        <p:spPr>
          <a:xfrm>
            <a:off x="731520" y="1143000"/>
            <a:ext cx="10725912" cy="1013968"/>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1A2E22"/>
                </a:solidFill>
                <a:latin typeface="Playfair Display" pitchFamily="34" charset="0"/>
                <a:ea typeface="Playfair Display" pitchFamily="34" charset="-122"/>
                <a:cs typeface="Playfair Display" pitchFamily="34" charset="-120"/>
              </a:rPr>
              <a:t>“Kami'y mga sugo ni Cristo... Makipagkasundo kayo sa Diyos.” — 2 Corinthians 5:20</a:t>
            </a:r>
            <a:endParaRPr lang="en-US" sz="3200" dirty="0"/>
          </a:p>
        </p:txBody>
      </p:sp>
      <p:sp>
        <p:nvSpPr>
          <p:cNvPr id="6" name="Text 4"/>
          <p:cNvSpPr txBox="1"/>
          <p:nvPr/>
        </p:nvSpPr>
        <p:spPr>
          <a:xfrm>
            <a:off x="731520" y="233984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Ambassador: kinakatawan mo ang langit, ang iyong home country, dito sa lupa, ang host country.</a:t>
            </a:r>
            <a:endParaRPr lang="en-US" sz="2600" dirty="0"/>
          </a:p>
        </p:txBody>
      </p:sp>
      <p:sp>
        <p:nvSpPr>
          <p:cNvPr id="7" name="Text 5"/>
          <p:cNvSpPr txBox="1"/>
          <p:nvPr/>
        </p:nvSpPr>
        <p:spPr>
          <a:xfrm>
            <a:off x="731520" y="3356864"/>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Ang buhay ng sugo ay hindi dapat sumira sa imaheng nagdadala ng mensahe.</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⌛00:16</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10 / 28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Bakit mahalaga rin ang lifestyle o patotoo ng isang Christian pagdating sa kaniyang paghayo at pagbabahagi ng Mabuting Balita?</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2-3 sasagot.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⌛00:17</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11 / 28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311396" y="548640"/>
            <a:ext cx="3566160" cy="411480"/>
          </a:xfrm>
          <a:prstGeom prst="roundRect">
            <a:avLst>
              <a:gd name="adj" fmla="val 44444"/>
            </a:avLst>
          </a:prstGeom>
          <a:ln w="15875">
            <a:solidFill>
              <a:srgbClr val="D4A854"/>
            </a:solidFill>
            <a:prstDash val="solid"/>
          </a:ln>
        </p:spPr>
      </p:sp>
      <p:sp>
        <p:nvSpPr>
          <p:cNvPr id="4" name="Text 2"/>
          <p:cNvSpPr txBox="1"/>
          <p:nvPr/>
        </p:nvSpPr>
        <p:spPr>
          <a:xfrm>
            <a:off x="4311396" y="548640"/>
            <a:ext cx="35661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PAGHAYO · SAKSI</a:t>
            </a:r>
            <a:endParaRPr lang="en-US" sz="2000" dirty="0"/>
          </a:p>
        </p:txBody>
      </p:sp>
      <p:sp>
        <p:nvSpPr>
          <p:cNvPr id="5" name="Text 3"/>
          <p:cNvSpPr txBox="1"/>
          <p:nvPr/>
        </p:nvSpPr>
        <p:spPr>
          <a:xfrm>
            <a:off x="731520" y="1143000"/>
            <a:ext cx="10725912" cy="140360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FDFBF6"/>
                </a:solidFill>
                <a:latin typeface="Playfair Display" pitchFamily="34" charset="0"/>
                <a:ea typeface="Playfair Display" pitchFamily="34" charset="-122"/>
                <a:cs typeface="Playfair Display" pitchFamily="34" charset="-120"/>
              </a:rPr>
              <a:t>“...tatanggap kayo ng kapangyarihan pagbaba sa inyo ng Espiritu Santo, at kayo'y magiging mga saksi ko...” — Acts 1:8</a:t>
            </a:r>
            <a:endParaRPr lang="en-US" sz="3000" dirty="0"/>
          </a:p>
        </p:txBody>
      </p:sp>
      <p:sp>
        <p:nvSpPr>
          <p:cNvPr id="6" name="Text 4"/>
          <p:cNvSpPr txBox="1"/>
          <p:nvPr/>
        </p:nvSpPr>
        <p:spPr>
          <a:xfrm>
            <a:off x="731520" y="2729484"/>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Isuot ang sapatos ng pagiging handa sa pangangaral ng Magandang Balita (Ephesians 6:15).</a:t>
            </a:r>
            <a:endParaRPr lang="en-US" sz="2600" dirty="0"/>
          </a:p>
        </p:txBody>
      </p:sp>
      <p:sp>
        <p:nvSpPr>
          <p:cNvPr id="7" name="Text 5"/>
          <p:cNvSpPr txBox="1"/>
          <p:nvPr/>
        </p:nvSpPr>
        <p:spPr>
          <a:xfrm>
            <a:off x="731520" y="374650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Ang paa ang isa sa pinakaunang nanlalamig — physically, at spiritually.</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⌛00:19</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12 / 28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Ano ang common excuses na madalas mong marinig kung bakit hindi engaged sa evangelism ang isang Christian?</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2-3 sasagot.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⌛00:20</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13 / 28</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625596" y="548640"/>
            <a:ext cx="4937760" cy="411480"/>
          </a:xfrm>
          <a:prstGeom prst="roundRect">
            <a:avLst>
              <a:gd name="adj" fmla="val 44444"/>
            </a:avLst>
          </a:prstGeom>
          <a:ln w="15875">
            <a:solidFill>
              <a:srgbClr val="2A5C40"/>
            </a:solidFill>
            <a:prstDash val="solid"/>
          </a:ln>
        </p:spPr>
      </p:sp>
      <p:sp>
        <p:nvSpPr>
          <p:cNvPr id="4" name="Text 2"/>
          <p:cNvSpPr txBox="1"/>
          <p:nvPr/>
        </p:nvSpPr>
        <p:spPr>
          <a:xfrm>
            <a:off x="3625596" y="548640"/>
            <a:ext cx="493776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PAGHUBOG · DISCIPLESHIP</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Spiritual Parenthood</a:t>
            </a:r>
            <a:endParaRPr lang="en-US" sz="4400" dirty="0"/>
          </a:p>
        </p:txBody>
      </p:sp>
      <p:sp>
        <p:nvSpPr>
          <p:cNvPr id="6" name="Text 4"/>
          <p:cNvSpPr txBox="1"/>
          <p:nvPr/>
        </p:nvSpPr>
        <p:spPr>
          <a:xfrm>
            <a:off x="731520" y="204012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Disciple = “learner o follower” — isang panghabang-buhay na proseso.</a:t>
            </a:r>
            <a:endParaRPr lang="en-US" sz="2600" dirty="0"/>
          </a:p>
        </p:txBody>
      </p:sp>
      <p:sp>
        <p:nvSpPr>
          <p:cNvPr id="7" name="Text 5"/>
          <p:cNvSpPr txBox="1"/>
          <p:nvPr/>
        </p:nvSpPr>
        <p:spPr>
          <a:xfrm>
            <a:off x="731520" y="3057144"/>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1A2E22"/>
                </a:solidFill>
                <a:latin typeface="DM Sans" pitchFamily="34" charset="0"/>
                <a:ea typeface="DM Sans" pitchFamily="34" charset="-122"/>
                <a:cs typeface="DM Sans" pitchFamily="34" charset="-120"/>
              </a:rPr>
              <a:t>Pagkalinga ng Isang Ina: “...naging magiliw kami sa inyo, tulad ng inang mapagkalinga sa kanyang mga anak.” — 1 Thessalonians 2:7-8</a:t>
            </a:r>
            <a:endParaRPr lang="en-US" sz="2600" dirty="0"/>
          </a:p>
        </p:txBody>
      </p:sp>
      <p:sp>
        <p:nvSpPr>
          <p:cNvPr id="8" name="Text 6"/>
          <p:cNvSpPr txBox="1"/>
          <p:nvPr/>
        </p:nvSpPr>
        <p:spPr>
          <a:xfrm>
            <a:off x="731520" y="4463796"/>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Relationship ang pundasyon ng discipleship.</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⌛00:22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14 / 28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Sang-ayon ka ba sa statement na “People don't care how much you know until they know how much you care”? Applicable ba ito sa context ng discipleship?</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1-2 sasagot.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⌛00:23</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15 / 28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311396" y="548640"/>
            <a:ext cx="3566160" cy="411480"/>
          </a:xfrm>
          <a:prstGeom prst="roundRect">
            <a:avLst>
              <a:gd name="adj" fmla="val 44444"/>
            </a:avLst>
          </a:prstGeom>
          <a:ln w="15875">
            <a:solidFill>
              <a:srgbClr val="D4A854"/>
            </a:solidFill>
            <a:prstDash val="solid"/>
          </a:ln>
        </p:spPr>
      </p:sp>
      <p:sp>
        <p:nvSpPr>
          <p:cNvPr id="4" name="Text 2"/>
          <p:cNvSpPr txBox="1"/>
          <p:nvPr/>
        </p:nvSpPr>
        <p:spPr>
          <a:xfrm>
            <a:off x="4311396" y="548640"/>
            <a:ext cx="35661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PAGHUBOG · AMA</a:t>
            </a:r>
            <a:endParaRPr lang="en-US" sz="2000" dirty="0"/>
          </a:p>
        </p:txBody>
      </p:sp>
      <p:sp>
        <p:nvSpPr>
          <p:cNvPr id="5" name="Text 3"/>
          <p:cNvSpPr txBox="1"/>
          <p:nvPr/>
        </p:nvSpPr>
        <p:spPr>
          <a:xfrm>
            <a:off x="731520" y="1143000"/>
            <a:ext cx="10725912" cy="1613408"/>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FDFBF6"/>
                </a:solidFill>
                <a:latin typeface="Playfair Display" pitchFamily="34" charset="0"/>
                <a:ea typeface="Playfair Display" pitchFamily="34" charset="-122"/>
                <a:cs typeface="Playfair Display" pitchFamily="34" charset="-120"/>
              </a:rPr>
              <a:t>“...kami'y naging parang ama sa bawat isa sa inyo. Pinayuhan namin kayo, pinalakas namin ang inyong loob, at inatasan na mamuhay nang kalugud-lugod sa paningin ng Diyos.” — 1 Thessalonians 2:11-12</a:t>
            </a:r>
            <a:endParaRPr lang="en-US" sz="2600" dirty="0"/>
          </a:p>
        </p:txBody>
      </p:sp>
      <p:sp>
        <p:nvSpPr>
          <p:cNvPr id="6" name="Text 4"/>
          <p:cNvSpPr txBox="1"/>
          <p:nvPr/>
        </p:nvSpPr>
        <p:spPr>
          <a:xfrm>
            <a:off x="731520" y="293928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Leadership ang haligi ng discipleship.</a:t>
            </a:r>
            <a:endParaRPr lang="en-US" sz="2800" dirty="0"/>
          </a:p>
        </p:txBody>
      </p:sp>
      <p:sp>
        <p:nvSpPr>
          <p:cNvPr id="7" name="Text 5"/>
          <p:cNvSpPr txBox="1"/>
          <p:nvPr/>
        </p:nvSpPr>
        <p:spPr>
          <a:xfrm>
            <a:off x="731520" y="3596640"/>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FDFBF6"/>
                </a:solidFill>
                <a:latin typeface="DM Sans" pitchFamily="34" charset="0"/>
                <a:ea typeface="DM Sans" pitchFamily="34" charset="-122"/>
                <a:cs typeface="DM Sans" pitchFamily="34" charset="-120"/>
              </a:rPr>
              <a:t>📖 Pagpapayo · 💪 Pagpapalakas · 🎯 Paghamon</a:t>
            </a:r>
            <a:endParaRPr lang="en-US" sz="2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⌛00:25</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16 / 28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722876" y="548640"/>
            <a:ext cx="2743200" cy="411480"/>
          </a:xfrm>
          <a:prstGeom prst="roundRect">
            <a:avLst>
              <a:gd name="adj" fmla="val 44444"/>
            </a:avLst>
          </a:prstGeom>
          <a:ln w="15875">
            <a:solidFill>
              <a:srgbClr val="2A5C40"/>
            </a:solidFill>
            <a:prstDash val="solid"/>
          </a:ln>
        </p:spPr>
      </p:sp>
      <p:sp>
        <p:nvSpPr>
          <p:cNvPr id="4" name="Text 2"/>
          <p:cNvSpPr txBox="1"/>
          <p:nvPr/>
        </p:nvSpPr>
        <p:spPr>
          <a:xfrm>
            <a:off x="4722876" y="548640"/>
            <a:ext cx="27432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ANG BARYA</a:t>
            </a:r>
            <a:endParaRPr lang="en-US" sz="2000" dirty="0"/>
          </a:p>
        </p:txBody>
      </p:sp>
      <p:sp>
        <p:nvSpPr>
          <p:cNvPr id="5" name="Text 3"/>
          <p:cNvSpPr txBox="1"/>
          <p:nvPr/>
        </p:nvSpPr>
        <p:spPr>
          <a:xfrm>
            <a:off x="731520" y="1143000"/>
            <a:ext cx="10725912" cy="744220"/>
          </a:xfrm>
          <a:prstGeom prst="rect">
            <a:avLst/>
          </a:prstGeom>
          <a:noFill/>
          <a:ln/>
        </p:spPr>
        <p:txBody>
          <a:bodyPr wrap="square" lIns="0" tIns="0" rIns="0" bIns="0" rtlCol="0" anchor="t">
            <a:normAutofit/>
          </a:bodyPr>
          <a:lstStyle/>
          <a:p>
            <a:pPr algn="l" indent="0" marL="0">
              <a:lnSpc>
                <a:spcPct val="108000"/>
              </a:lnSpc>
              <a:buNone/>
            </a:pPr>
            <a:r>
              <a:rPr lang="en-US" sz="4600" b="1" dirty="0">
                <a:solidFill>
                  <a:srgbClr val="1A2E22"/>
                </a:solidFill>
                <a:latin typeface="Playfair Display" pitchFamily="34" charset="0"/>
                <a:ea typeface="Playfair Display" pitchFamily="34" charset="-122"/>
                <a:cs typeface="Playfair Display" pitchFamily="34" charset="-120"/>
              </a:rPr>
              <a:t>Two Sides of the Same Coin 🪙</a:t>
            </a:r>
            <a:endParaRPr lang="en-US" sz="4600" dirty="0"/>
          </a:p>
        </p:txBody>
      </p:sp>
      <p:sp>
        <p:nvSpPr>
          <p:cNvPr id="6" name="Text 4"/>
          <p:cNvSpPr txBox="1"/>
          <p:nvPr/>
        </p:nvSpPr>
        <p:spPr>
          <a:xfrm>
            <a:off x="731520" y="2070100"/>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i="1" dirty="0">
                <a:solidFill>
                  <a:srgbClr val="1A2E22"/>
                </a:solidFill>
                <a:latin typeface="DM Sans" pitchFamily="34" charset="0"/>
                <a:ea typeface="DM Sans" pitchFamily="34" charset="-122"/>
                <a:cs typeface="DM Sans" pitchFamily="34" charset="-120"/>
              </a:rPr>
              <a:t>“Hindi ka magsisilang ng bata para lang makita itong manghina at mawala.”</a:t>
            </a:r>
            <a:endParaRPr lang="en-US" sz="2800" dirty="0"/>
          </a:p>
        </p:txBody>
      </p:sp>
      <p:sp>
        <p:nvSpPr>
          <p:cNvPr id="7" name="Text 5"/>
          <p:cNvSpPr txBox="1"/>
          <p:nvPr/>
        </p:nvSpPr>
        <p:spPr>
          <a:xfrm>
            <a:off x="731520" y="314706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Ito ang KATAPATAN — hindi mo iiwan ang isinilang mo sa pananampalataya.</a:t>
            </a:r>
            <a:endParaRPr lang="en-US" sz="2600" dirty="0"/>
          </a:p>
        </p:txBody>
      </p:sp>
      <p:sp>
        <p:nvSpPr>
          <p:cNvPr id="8" name="Text 6"/>
          <p:cNvSpPr txBox="1"/>
          <p:nvPr/>
        </p:nvSpPr>
        <p:spPr>
          <a:xfrm>
            <a:off x="731520" y="4164076"/>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F4530"/>
                </a:solidFill>
                <a:latin typeface="DM Sans" pitchFamily="34" charset="0"/>
                <a:ea typeface="DM Sans" pitchFamily="34" charset="-122"/>
                <a:cs typeface="DM Sans" pitchFamily="34" charset="-120"/>
              </a:rPr>
              <a:t>2 Timothy 2:2</a:t>
            </a:r>
            <a:endParaRPr lang="en-US" sz="24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⌛00:26</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17 / 28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814316" y="548640"/>
            <a:ext cx="2560320" cy="411480"/>
          </a:xfrm>
          <a:prstGeom prst="roundRect">
            <a:avLst>
              <a:gd name="adj" fmla="val 44444"/>
            </a:avLst>
          </a:prstGeom>
          <a:ln w="15875">
            <a:solidFill>
              <a:srgbClr val="D4A854"/>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TALAKAY</a:t>
            </a:r>
            <a:endParaRPr lang="en-US" sz="2000" dirty="0"/>
          </a:p>
        </p:txBody>
      </p:sp>
      <p:sp>
        <p:nvSpPr>
          <p:cNvPr id="5" name="Text 3"/>
          <p:cNvSpPr txBox="1"/>
          <p:nvPr/>
        </p:nvSpPr>
        <p:spPr>
          <a:xfrm>
            <a:off x="731520" y="1143000"/>
            <a:ext cx="10725912" cy="774192"/>
          </a:xfrm>
          <a:prstGeom prst="rect">
            <a:avLst/>
          </a:prstGeom>
          <a:noFill/>
          <a:ln/>
        </p:spPr>
        <p:txBody>
          <a:bodyPr wrap="square" lIns="0" tIns="0" rIns="0" bIns="0" rtlCol="0" anchor="t">
            <a:normAutofit/>
          </a:bodyPr>
          <a:lstStyle/>
          <a:p>
            <a:pPr algn="l" indent="0" marL="0">
              <a:lnSpc>
                <a:spcPct val="108000"/>
              </a:lnSpc>
              <a:buNone/>
            </a:pPr>
            <a:r>
              <a:rPr lang="en-US" sz="4800" b="1" dirty="0">
                <a:solidFill>
                  <a:srgbClr val="FDFBF6"/>
                </a:solidFill>
                <a:latin typeface="Playfair Display" pitchFamily="34" charset="0"/>
                <a:ea typeface="Playfair Display" pitchFamily="34" charset="-122"/>
                <a:cs typeface="Playfair Display" pitchFamily="34" charset="-120"/>
              </a:rPr>
              <a:t>Safe-Space Sharing</a:t>
            </a:r>
            <a:endParaRPr lang="en-US" sz="4800" dirty="0"/>
          </a:p>
        </p:txBody>
      </p:sp>
      <p:sp>
        <p:nvSpPr>
          <p:cNvPr id="6" name="Text 4"/>
          <p:cNvSpPr txBox="1"/>
          <p:nvPr/>
        </p:nvSpPr>
        <p:spPr>
          <a:xfrm>
            <a:off x="731520" y="2100072"/>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D4A854"/>
                </a:solidFill>
                <a:latin typeface="DM Sans" pitchFamily="34" charset="0"/>
                <a:ea typeface="DM Sans" pitchFamily="34" charset="-122"/>
                <a:cs typeface="DM Sans" pitchFamily="34" charset="-120"/>
              </a:rPr>
              <a:t>No fixing · No comparison · No preaching · Confidential</a:t>
            </a:r>
            <a:endParaRPr lang="en-US" sz="3000" dirty="0"/>
          </a:p>
        </p:txBody>
      </p:sp>
      <p:sp>
        <p:nvSpPr>
          <p:cNvPr id="7" name="Text 5"/>
          <p:cNvSpPr txBox="1"/>
          <p:nvPr/>
        </p:nvSpPr>
        <p:spPr>
          <a:xfrm>
            <a:off x="731520" y="3236976"/>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Tables ng 3-4. Dalawang tanong. Ang kuwento mo ang pinakamagandang patotoo.</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⌛00:27</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18 / 28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1</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Sino ang nag-share sa'yo ng Gospel? Sino ang nag-disciple sa'yo? I-describe mo kung paano nila ito ginawa.</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Sa tables — tig-isang kuwento. Pangalan + paano.</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5 min · ⌛00:32</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19 / 28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2</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Puwede bang paghiwalayin ang evangelism at discipleship? Bakit oo, o bakit hindi?</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Sa tables — isang sagot bawat isa, isang halimbawa mula sa buhay.</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6 min · ⌛00:38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20 / 28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TUGON</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Ang Pangako at ang mga Pangalan</a:t>
            </a:r>
            <a:endParaRPr lang="en-US" sz="4400" dirty="0"/>
          </a:p>
        </p:txBody>
      </p:sp>
      <p:sp>
        <p:nvSpPr>
          <p:cNvPr id="6" name="Text 4"/>
          <p:cNvSpPr txBox="1"/>
          <p:nvPr/>
        </p:nvSpPr>
        <p:spPr>
          <a:xfrm>
            <a:off x="731520" y="204012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1A2E22"/>
                </a:solidFill>
                <a:latin typeface="DM Sans" pitchFamily="34" charset="0"/>
                <a:ea typeface="DM Sans" pitchFamily="34" charset="-122"/>
                <a:cs typeface="DM Sans" pitchFamily="34" charset="-120"/>
              </a:rPr>
              <a:t>Hindi biro-birong mandato ang Great Commission —</a:t>
            </a:r>
            <a:endParaRPr lang="en-US" sz="2800" dirty="0"/>
          </a:p>
        </p:txBody>
      </p:sp>
      <p:sp>
        <p:nvSpPr>
          <p:cNvPr id="7" name="Text 5"/>
          <p:cNvSpPr txBox="1"/>
          <p:nvPr/>
        </p:nvSpPr>
        <p:spPr>
          <a:xfrm>
            <a:off x="731520" y="2697480"/>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pero hindi rin biro-biro ang pangakong ibinigay ni Jesus para maisakatuparan ito.</a:t>
            </a:r>
            <a:endParaRPr lang="en-US" sz="2800" dirty="0"/>
          </a:p>
        </p:txBody>
      </p:sp>
      <p:sp>
        <p:nvSpPr>
          <p:cNvPr id="8" name="Text 6"/>
          <p:cNvSpPr txBox="1"/>
          <p:nvPr/>
        </p:nvSpPr>
        <p:spPr>
          <a:xfrm>
            <a:off x="731520" y="3774440"/>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i="1" dirty="0">
                <a:solidFill>
                  <a:srgbClr val="1A2E22"/>
                </a:solidFill>
                <a:latin typeface="DM Sans" pitchFamily="34" charset="0"/>
                <a:ea typeface="DM Sans" pitchFamily="34" charset="-122"/>
                <a:cs typeface="DM Sans" pitchFamily="34" charset="-120"/>
              </a:rPr>
              <a:t>“Tandaan ninyo, ako'y laging kasama ninyo hanggang sa katapusan ng panahon.” — Matthew 28:20</a:t>
            </a:r>
            <a:endParaRPr lang="en-US" sz="24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⌛00:39</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21 / 28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TUGON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3600" b="1" dirty="0">
                <a:solidFill>
                  <a:srgbClr val="FEFCF8"/>
                </a:solidFill>
                <a:latin typeface="Calibri" pitchFamily="34" charset="0"/>
                <a:ea typeface="Calibri" pitchFamily="34" charset="-122"/>
                <a:cs typeface="Calibri" pitchFamily="34" charset="-120"/>
              </a:rPr>
              <a:t>Isulat sa kaliwang kahon ang pangakong iniwan ng Panginoong Jesus sa Matthew 28:20. Isulat naman sa kanan ang pangalan ng mga taong inilalagay ng Panginoon sa puso mo para mabahagian ng Gospel at ma-disciple. Ipanalangin mo na sila ngayon.</a:t>
            </a:r>
            <a:endParaRPr lang="en-US" sz="36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3-5 totoong pangalan. Ipanalangin agad.</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⌛00:43</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22 / 28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808476" y="548640"/>
            <a:ext cx="4572000" cy="411480"/>
          </a:xfrm>
          <a:prstGeom prst="roundRect">
            <a:avLst>
              <a:gd name="adj" fmla="val 44444"/>
            </a:avLst>
          </a:prstGeom>
          <a:ln w="15875">
            <a:solidFill>
              <a:srgbClr val="D4A854"/>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ONE VERSE EVANGELISM</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FDFBF6"/>
                </a:solidFill>
                <a:latin typeface="Playfair Display" pitchFamily="34" charset="0"/>
                <a:ea typeface="Playfair Display" pitchFamily="34" charset="-122"/>
                <a:cs typeface="Playfair Display" pitchFamily="34" charset="-120"/>
              </a:rPr>
              <a:t>Romans 6:23 — Isang Verse Lang</a:t>
            </a:r>
            <a:endParaRPr lang="en-US" sz="4400" dirty="0"/>
          </a:p>
        </p:txBody>
      </p:sp>
      <p:sp>
        <p:nvSpPr>
          <p:cNvPr id="6" name="Text 4"/>
          <p:cNvSpPr txBox="1"/>
          <p:nvPr/>
        </p:nvSpPr>
        <p:spPr>
          <a:xfrm>
            <a:off x="731520" y="2040128"/>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FDFBF6"/>
                </a:solidFill>
                <a:latin typeface="DM Sans" pitchFamily="34" charset="0"/>
                <a:ea typeface="DM Sans" pitchFamily="34" charset="-122"/>
                <a:cs typeface="DM Sans" pitchFamily="34" charset="-120"/>
              </a:rPr>
              <a:t>“Sapagkat ang kabayaran ng kasalanan ay kamatayan; ngunit ang kaloob ng Diyos ay buhay na walang hanggan kay Cristo Jesus na ating Panginoon.”</a:t>
            </a:r>
            <a:endParaRPr lang="en-US" sz="2600" dirty="0"/>
          </a:p>
        </p:txBody>
      </p:sp>
      <p:sp>
        <p:nvSpPr>
          <p:cNvPr id="7" name="Text 5"/>
          <p:cNvSpPr txBox="1"/>
          <p:nvPr/>
        </p:nvSpPr>
        <p:spPr>
          <a:xfrm>
            <a:off x="731520" y="344678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Kabayaran · Kasalanan · Kamatayan   ✝   Kaloob · Diyos · Buhay na walang hanggan</a:t>
            </a:r>
            <a:endParaRPr lang="en-US" sz="2600" dirty="0"/>
          </a:p>
        </p:txBody>
      </p:sp>
      <p:sp>
        <p:nvSpPr>
          <p:cNvPr id="8" name="Text 6"/>
          <p:cNvSpPr txBox="1"/>
          <p:nvPr/>
        </p:nvSpPr>
        <p:spPr>
          <a:xfrm>
            <a:off x="731520" y="4463796"/>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Iguhit habang nag-uusap — ang krus ang tulay.</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5 min · ⌛00:48</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23 / 28</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814316" y="548640"/>
            <a:ext cx="2560320" cy="411480"/>
          </a:xfrm>
          <a:prstGeom prst="roundRect">
            <a:avLst>
              <a:gd name="adj" fmla="val 44444"/>
            </a:avLst>
          </a:prstGeom>
          <a:ln w="15875">
            <a:solidFill>
              <a:srgbClr val="2A5C40"/>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PRAKTIS</a:t>
            </a:r>
            <a:endParaRPr lang="en-US" sz="2000" dirty="0"/>
          </a:p>
        </p:txBody>
      </p:sp>
      <p:sp>
        <p:nvSpPr>
          <p:cNvPr id="5" name="Text 3"/>
          <p:cNvSpPr txBox="1"/>
          <p:nvPr/>
        </p:nvSpPr>
        <p:spPr>
          <a:xfrm>
            <a:off x="731520" y="1143000"/>
            <a:ext cx="10725912" cy="774192"/>
          </a:xfrm>
          <a:prstGeom prst="rect">
            <a:avLst/>
          </a:prstGeom>
          <a:noFill/>
          <a:ln/>
        </p:spPr>
        <p:txBody>
          <a:bodyPr wrap="square" lIns="0" tIns="0" rIns="0" bIns="0" rtlCol="0" anchor="t">
            <a:normAutofit/>
          </a:bodyPr>
          <a:lstStyle/>
          <a:p>
            <a:pPr algn="l" indent="0" marL="0">
              <a:lnSpc>
                <a:spcPct val="108000"/>
              </a:lnSpc>
              <a:buNone/>
            </a:pPr>
            <a:r>
              <a:rPr lang="en-US" sz="4800" b="1" dirty="0">
                <a:solidFill>
                  <a:srgbClr val="1A2E22"/>
                </a:solidFill>
                <a:latin typeface="Playfair Display" pitchFamily="34" charset="0"/>
                <a:ea typeface="Playfair Display" pitchFamily="34" charset="-122"/>
                <a:cs typeface="Playfair Display" pitchFamily="34" charset="-120"/>
              </a:rPr>
              <a:t>Ikaw Naman</a:t>
            </a:r>
            <a:endParaRPr lang="en-US" sz="4800" dirty="0"/>
          </a:p>
        </p:txBody>
      </p:sp>
      <p:sp>
        <p:nvSpPr>
          <p:cNvPr id="6" name="Text 4"/>
          <p:cNvSpPr txBox="1"/>
          <p:nvPr/>
        </p:nvSpPr>
        <p:spPr>
          <a:xfrm>
            <a:off x="731520" y="2100072"/>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1A2E22"/>
                </a:solidFill>
                <a:latin typeface="DM Sans" pitchFamily="34" charset="0"/>
                <a:ea typeface="DM Sans" pitchFamily="34" charset="-122"/>
                <a:cs typeface="DM Sans" pitchFamily="34" charset="-120"/>
              </a:rPr>
              <a:t>Magkapares: iguhit ang Romans 6:23 para sa katabi mo — dalawang minuto.</a:t>
            </a:r>
            <a:endParaRPr lang="en-US" sz="2800" dirty="0"/>
          </a:p>
        </p:txBody>
      </p:sp>
      <p:sp>
        <p:nvSpPr>
          <p:cNvPr id="7" name="Text 5"/>
          <p:cNvSpPr txBox="1"/>
          <p:nvPr/>
        </p:nvSpPr>
        <p:spPr>
          <a:xfrm>
            <a:off x="731520" y="3177032"/>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Hindi kailangang perpekto — kailangang handa ang paa.</a:t>
            </a:r>
            <a:endParaRPr lang="en-US" sz="2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24 / 28</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265676" y="548640"/>
            <a:ext cx="3657600" cy="411480"/>
          </a:xfrm>
          <a:prstGeom prst="roundRect">
            <a:avLst>
              <a:gd name="adj" fmla="val 44444"/>
            </a:avLst>
          </a:prstGeom>
          <a:ln w="15875">
            <a:solidFill>
              <a:srgbClr val="D4A854"/>
            </a:solidFill>
            <a:prstDash val="solid"/>
          </a:ln>
        </p:spPr>
      </p:sp>
      <p:sp>
        <p:nvSpPr>
          <p:cNvPr id="4" name="Text 2"/>
          <p:cNvSpPr txBox="1"/>
          <p:nvPr/>
        </p:nvSpPr>
        <p:spPr>
          <a:xfrm>
            <a:off x="4265676" y="548640"/>
            <a:ext cx="36576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TAKDANG-ARALIN</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FDFBF6"/>
                </a:solidFill>
                <a:latin typeface="Playfair Display" pitchFamily="34" charset="0"/>
                <a:ea typeface="Playfair Display" pitchFamily="34" charset="-122"/>
                <a:cs typeface="Playfair Display" pitchFamily="34" charset="-120"/>
              </a:rPr>
              <a:t>Dalhin sa Linggong Ito</a:t>
            </a:r>
            <a:endParaRPr lang="en-US" sz="4400" dirty="0"/>
          </a:p>
        </p:txBody>
      </p:sp>
      <p:sp>
        <p:nvSpPr>
          <p:cNvPr id="6" name="Text 4"/>
          <p:cNvSpPr txBox="1"/>
          <p:nvPr/>
        </p:nvSpPr>
        <p:spPr>
          <a:xfrm>
            <a:off x="731520" y="2040128"/>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FDFBF6"/>
                </a:solidFill>
                <a:latin typeface="DM Sans" pitchFamily="34" charset="0"/>
                <a:ea typeface="DM Sans" pitchFamily="34" charset="-122"/>
                <a:cs typeface="DM Sans" pitchFamily="34" charset="-120"/>
              </a:rPr>
              <a:t>🤝 EOLO Bridge — pumili ng isa sa mga pangalan: hindi mo lang siya i-share-an, kundi commit kang hindi iiwan.</a:t>
            </a:r>
            <a:endParaRPr lang="en-US" sz="2400" dirty="0"/>
          </a:p>
        </p:txBody>
      </p:sp>
      <p:sp>
        <p:nvSpPr>
          <p:cNvPr id="7" name="Text 5"/>
          <p:cNvSpPr txBox="1"/>
          <p:nvPr/>
        </p:nvSpPr>
        <p:spPr>
          <a:xfrm>
            <a:off x="731520" y="2997200"/>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FDFBF6"/>
                </a:solidFill>
                <a:latin typeface="DM Sans" pitchFamily="34" charset="0"/>
                <a:ea typeface="DM Sans" pitchFamily="34" charset="-122"/>
                <a:cs typeface="DM Sans" pitchFamily="34" charset="-120"/>
              </a:rPr>
              <a:t>👣 7-Araw na Bantay-Puso — isang maliit na hakbang ng paghayo o pagkalinga bawat araw.</a:t>
            </a:r>
            <a:endParaRPr lang="en-US" sz="2400" dirty="0"/>
          </a:p>
        </p:txBody>
      </p:sp>
      <p:sp>
        <p:nvSpPr>
          <p:cNvPr id="8" name="Text 6"/>
          <p:cNvSpPr txBox="1"/>
          <p:nvPr/>
        </p:nvSpPr>
        <p:spPr>
          <a:xfrm>
            <a:off x="731520" y="3954272"/>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FDFBF6"/>
                </a:solidFill>
                <a:latin typeface="DM Sans" pitchFamily="34" charset="0"/>
                <a:ea typeface="DM Sans" pitchFamily="34" charset="-122"/>
                <a:cs typeface="DM Sans" pitchFamily="34" charset="-120"/>
              </a:rPr>
              <a:t>✏️ Iguhit ang Romans 6:23 para sa isang tao ngayong linggo.</a:t>
            </a:r>
            <a:endParaRPr lang="en-US" sz="2400" dirty="0"/>
          </a:p>
        </p:txBody>
      </p:sp>
      <p:sp>
        <p:nvSpPr>
          <p:cNvPr id="9" name="Text 7"/>
          <p:cNvSpPr txBox="1"/>
          <p:nvPr/>
        </p:nvSpPr>
        <p:spPr>
          <a:xfrm>
            <a:off x="731520" y="4551680"/>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b="1" dirty="0">
                <a:solidFill>
                  <a:srgbClr val="D4A854"/>
                </a:solidFill>
                <a:latin typeface="DM Sans" pitchFamily="34" charset="0"/>
                <a:ea typeface="DM Sans" pitchFamily="34" charset="-122"/>
                <a:cs typeface="DM Sans" pitchFamily="34" charset="-120"/>
              </a:rPr>
              <a:t>📖 Memorize: Matthew 28:19-20</a:t>
            </a:r>
            <a:endParaRPr lang="en-US" sz="24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⌛00:53</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25 / 28</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DALHIN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Galit ka sa nag-abandona ng sanggol. Pero may spiritual infant ba na ikaw ang nag-iwan? Sino?</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Para sa iyo lang. Hindi pa huli.</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⌛00:56</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26 / 28</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631436" y="548640"/>
            <a:ext cx="2926080" cy="411480"/>
          </a:xfrm>
          <a:prstGeom prst="roundRect">
            <a:avLst>
              <a:gd name="adj" fmla="val 44444"/>
            </a:avLst>
          </a:prstGeom>
          <a:ln w="15875">
            <a:solidFill>
              <a:srgbClr val="2A5C40"/>
            </a:solidFill>
            <a:prstDash val="solid"/>
          </a:ln>
        </p:spPr>
      </p:sp>
      <p:sp>
        <p:nvSpPr>
          <p:cNvPr id="4" name="Text 2"/>
          <p:cNvSpPr txBox="1"/>
          <p:nvPr/>
        </p:nvSpPr>
        <p:spPr>
          <a:xfrm>
            <a:off x="4631436" y="548640"/>
            <a:ext cx="292608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PANGAKO KO</a:t>
            </a:r>
            <a:endParaRPr lang="en-US" sz="2000" dirty="0"/>
          </a:p>
        </p:txBody>
      </p:sp>
      <p:sp>
        <p:nvSpPr>
          <p:cNvPr id="5" name="Text 3"/>
          <p:cNvSpPr txBox="1"/>
          <p:nvPr/>
        </p:nvSpPr>
        <p:spPr>
          <a:xfrm>
            <a:off x="731520" y="1143000"/>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1A2E22"/>
                </a:solidFill>
                <a:latin typeface="Playfair Display" pitchFamily="34" charset="0"/>
                <a:ea typeface="Playfair Display" pitchFamily="34" charset="-122"/>
                <a:cs typeface="Playfair Display" pitchFamily="34" charset="-120"/>
              </a:rPr>
              <a:t>“Hindi ako magiging S.S.S. Christian.</a:t>
            </a:r>
            <a:endParaRPr lang="en-US" sz="3400" dirty="0"/>
          </a:p>
        </p:txBody>
      </p:sp>
      <p:sp>
        <p:nvSpPr>
          <p:cNvPr id="6" name="Text 4"/>
          <p:cNvSpPr txBox="1"/>
          <p:nvPr/>
        </p:nvSpPr>
        <p:spPr>
          <a:xfrm>
            <a:off x="731520" y="1890268"/>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1A2E22"/>
                </a:solidFill>
                <a:latin typeface="Playfair Display" pitchFamily="34" charset="0"/>
                <a:ea typeface="Playfair Display" pitchFamily="34" charset="-122"/>
                <a:cs typeface="Playfair Display" pitchFamily="34" charset="-120"/>
              </a:rPr>
              <a:t>Hahayo ako — saksi at sugo.</a:t>
            </a:r>
            <a:endParaRPr lang="en-US" sz="3400" dirty="0"/>
          </a:p>
        </p:txBody>
      </p:sp>
      <p:sp>
        <p:nvSpPr>
          <p:cNvPr id="7" name="Text 5"/>
          <p:cNvSpPr txBox="1"/>
          <p:nvPr/>
        </p:nvSpPr>
        <p:spPr>
          <a:xfrm>
            <a:off x="731520" y="2637536"/>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1A2E22"/>
                </a:solidFill>
                <a:latin typeface="Playfair Display" pitchFamily="34" charset="0"/>
                <a:ea typeface="Playfair Display" pitchFamily="34" charset="-122"/>
                <a:cs typeface="Playfair Display" pitchFamily="34" charset="-120"/>
              </a:rPr>
              <a:t>At ang isisilang ko sa pananampalataya,</a:t>
            </a:r>
            <a:endParaRPr lang="en-US" sz="3400" dirty="0"/>
          </a:p>
        </p:txBody>
      </p:sp>
      <p:sp>
        <p:nvSpPr>
          <p:cNvPr id="8" name="Text 6"/>
          <p:cNvSpPr txBox="1"/>
          <p:nvPr/>
        </p:nvSpPr>
        <p:spPr>
          <a:xfrm>
            <a:off x="731520" y="3384804"/>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1F4530"/>
                </a:solidFill>
                <a:latin typeface="Playfair Display" pitchFamily="34" charset="0"/>
                <a:ea typeface="Playfair Display" pitchFamily="34" charset="-122"/>
                <a:cs typeface="Playfair Display" pitchFamily="34" charset="-120"/>
              </a:rPr>
              <a:t>hindi ko iiwan hanggang siya'y lumago.”</a:t>
            </a:r>
            <a:endParaRPr lang="en-US" sz="34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⌛00:58</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27 / 28</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448556" y="548640"/>
            <a:ext cx="3291840" cy="411480"/>
          </a:xfrm>
          <a:prstGeom prst="roundRect">
            <a:avLst>
              <a:gd name="adj" fmla="val 44444"/>
            </a:avLst>
          </a:prstGeom>
          <a:ln w="15875">
            <a:solidFill>
              <a:srgbClr val="D4A854"/>
            </a:solidFill>
            <a:prstDash val="solid"/>
          </a:ln>
        </p:spPr>
      </p:sp>
      <p:sp>
        <p:nvSpPr>
          <p:cNvPr id="4" name="Text 2"/>
          <p:cNvSpPr txBox="1"/>
          <p:nvPr/>
        </p:nvSpPr>
        <p:spPr>
          <a:xfrm>
            <a:off x="4448556" y="548640"/>
            <a:ext cx="32918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L10 PREVIEW</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FDFBF6"/>
                </a:solidFill>
                <a:latin typeface="Playfair Display" pitchFamily="34" charset="0"/>
                <a:ea typeface="Playfair Display" pitchFamily="34" charset="-122"/>
                <a:cs typeface="Playfair Display" pitchFamily="34" charset="-120"/>
              </a:rPr>
              <a:t>Lesson 10 — Ministry</a:t>
            </a:r>
            <a:endParaRPr lang="en-US" sz="4400" dirty="0"/>
          </a:p>
        </p:txBody>
      </p:sp>
      <p:sp>
        <p:nvSpPr>
          <p:cNvPr id="6" name="Text 4"/>
          <p:cNvSpPr txBox="1"/>
          <p:nvPr/>
        </p:nvSpPr>
        <p:spPr>
          <a:xfrm>
            <a:off x="731520" y="2040128"/>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FDFBF6"/>
                </a:solidFill>
                <a:latin typeface="DM Sans" pitchFamily="34" charset="0"/>
                <a:ea typeface="DM Sans" pitchFamily="34" charset="-122"/>
                <a:cs typeface="DM Sans" pitchFamily="34" charset="-120"/>
              </a:rPr>
              <a:t>Paglilingkod sa Diyos at Kapwa: saan ka ilalagay ng iyong spiritual gifts?</a:t>
            </a:r>
            <a:endParaRPr lang="en-US" sz="2800" dirty="0"/>
          </a:p>
        </p:txBody>
      </p:sp>
      <p:sp>
        <p:nvSpPr>
          <p:cNvPr id="7" name="Text 5"/>
          <p:cNvSpPr txBox="1"/>
          <p:nvPr/>
        </p:nvSpPr>
        <p:spPr>
          <a:xfrm>
            <a:off x="731520" y="3117088"/>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Memorize: Matthew 28:19-20</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⌛01:00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28 / 28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2026-10-17T01:50:46Z</dcterms:created>
  <dcterms:modified xsi:type="dcterms:W3CDTF">2026-10-17T01:50:46Z</dcterms:modified>
</cp:coreProperties>
</file>
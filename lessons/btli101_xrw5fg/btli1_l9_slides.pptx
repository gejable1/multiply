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Bungad ng L9. Ipakilala: 'Ang aralin natin ngayon ay parang isang barya — may dalawang mukha. Tignan natin kung bakit hindi mo pwedeng paghiwalayin ang dalawa.' Huwag pa ibunyag na evangelism + discipleship — ihinto sa intriga.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Basahin ang Mateo 28:19–20 nang sabay-sabay. Bigyang-diin ang dalawang utos: 'humayo' (paghayo) at 'turuan silang sumunod' (paghubog). Ito ang me-memorize nila sa loob ng linggo. Huwag pa i-breakdown — bumalik tayo dito sa Slide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PUKAW (8 min): Ikuwento ang inabandonang sanggol nang may bigat — 14-araw, 10 araw nakalantad, nag-apela pa ang magulang. Pagkatapos pasagutin ang 1-10 reaction (hindi shi-share ang numero ngayon). KRITIKAL: huwag pang ibunyag na patungkol ito sa spiritual abandonment — ang reveal ay sa Slide 14. Sabihin lang: 'Hawakan ninyo muna ang galit na 'yan.'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1 (Big Idea, 2 min): sabay-sabay basahin. Efeso 2:1 (dating patay) → Juan 3:3 (isinilang muli) → Juan 1:12 (pamilya na). Pero hindi natatapos doon — Lucas 15:7 may galak sa langit. Transition: 'Ano ang bahagi mo sa galak na 'yan?'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2 (2 min): ang Great Commission ay mandato AT partnership. Ang puso = pag-ibig ng Diyos (Juan 3:16); ang paa/kamay/bibig = tayong mga miyembro (Roma 12:5). Linya: 'Dalawang bahagi — pero isang barya.'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step 3 (2 min): i-reveal ang dalawang bahagi. PAGHAYO sa kaliwa, PAGHUBOG sa kanan. Hindi sila magkahiwalay — pareho silang utos sa iisang verse. I-set up: 'Tingnan natin isa-isa.' Pumunta muna sa PAGHAYO.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PAGHAYO (3 min): hindi S.S.S. (Saved-Seated-Satisfied). Lucas 19:10 + 2 Pedro 3:9. Sugo (2 Cor 5:20 — lifestyle protects message) at Saksi (Gawa 1:8). Efeso 6:15 footgear — ang paa ang unang nanlalamig. Linya: 'Reach the lost at any cost.'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PAGHUBOG (3 min): spiritual parenthood (1 Tes 2:7-12). Ina = relationship ang pundasyon ('people don't care how much you know until they know how much you care'). Ama = leadership ang haligi (1 Cor 11:1). Diin: hindi technical program lang ang discipleship.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3 verbs (2 min): Pagpapayo (turo naka-angkla sa Bibliya), Pagpapalakas (ministry of encouragement), Paghamon (hindi binebeybi ang may katandaan na). Mula 1 Tes 2:11. Quick-fire — wag pahabain.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TUKLAS hinge (2 min): ITO ANG SENTRO ng aralin. 'Two sides of one coin. Hindi ka magsisilang ng bata para lang makita itong manghina at mawala.' Pangalanan ang character anchor: KATAPATAN (2 Tim 2:2). Pause pagkatapos — hayaang lumapat. KRITIKAL: huwag putulin sa isa (evangelism lang o discipleship lang).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TALAKAY (12 min): safe-space muna (walang husga, confidential, makinig). Q1 (sino nag-share/disciple sa'yo) — safe entry, marami ang walang maalala, ito mismo ang punto. Q2 (pwede bang paghiwalayin) — theological. Q3 ('people don't care…') — personal. Magsimula ka — pastor-led vulnerability.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TUGON step 1 (4 min): two-box. Kaliwa = pangako ng Mt 28:20. Kanan = 3-5 totoong pangalan. Ipanalangin agad. Bantayan kung sino ang walang naisulat na pangalan — tahimik na tanungin pagkatapos.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TUGON step 2 (6 min): i-demo ang One Verse Evangelism (Roma 6:23) sa whiteboard. Iguhit: kaliwa = kabayaran/kasalanan/kamatayan; kanan = kaloob/Diyos/buhay; krus sa gitna. Isang verse lang. KRITIKAL: kung may magtatanong ng Three Circles — sabihin: 'Sa Lesson 20 natin tatalakayin nang buo. Isang verse muna.' Huwag turuan ang dalawang method sa isang upuan.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DALHIN step 1-2 (5 min): EOLO bridge — pumili ng isa na 'hindi iiwan.' Tapos ANG REVEAL: balikan ang galit sa inabandonang sanggol — 'pero may spiritual infant ba na ikaw ang nag-iwan?' ITO ANG EMOTIONAL PEAK. Hayaan ang katahimikan. PASTORAL CARE: huwag gawing guilt-trip; conviction tungo sa pag-asa. Kung may umiyak, lapitan nang pribado pagkatapos.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DALHIN step 3 (Pangako Ko, 3 min): tumayo ang lahat, sabay-sabay bigkasin nang malakas. Ang Pangako Ko ang nagbibigay ng pag-asa pagkatapos ng conviction sa Slide 14 — wakasan sa pag-asa, hindi sa hiya. Pwedeng magpa-share sa katabi: 'Sino ang hindi mo iiwan?'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DALHIN step 4 (2 min): balikan ang 1-10 snapshot mula sa PUKAW — anong pinakikilos ng Espiritu? Memorize Mateo 28:19-20. L10 preview: 'Susunod — Ministry. Dadalhin natin ang paghayo at paghubog tungo sa isang ministry na bagay sa iyong disenyo (spiritual gifts).'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BTLI 1 · LESSON 9</a:t>
            </a:r>
          </a:p>
        </p:txBody>
      </p:sp>
      <p:sp>
        <p:nvSpPr>
          <p:cNvPr id="4" name="TextBox 3"/>
          <p:cNvSpPr txBox="1"/>
          <p:nvPr/>
        </p:nvSpPr>
        <p:spPr>
          <a:xfrm>
            <a:off x="914400" y="2194560"/>
            <a:ext cx="10360152" cy="1828800"/>
          </a:xfrm>
          <a:prstGeom prst="rect">
            <a:avLst/>
          </a:prstGeom>
          <a:noFill/>
        </p:spPr>
        <p:txBody>
          <a:bodyPr wrap="square" anchor="ctr">
            <a:spAutoFit/>
          </a:bodyPr>
          <a:lstStyle/>
          <a:p>
            <a:pPr algn="ctr">
              <a:spcAft>
                <a:spcPts val="600"/>
              </a:spcAft>
            </a:pPr>
            <a:r>
              <a:rPr sz="5200" b="1" i="0">
                <a:solidFill>
                  <a:srgbClr val="FDFBF6"/>
                </a:solidFill>
                <a:latin typeface="Playfair Display"/>
              </a:rPr>
              <a:t>Evangelism at Discipleship</a:t>
            </a:r>
          </a:p>
        </p:txBody>
      </p:sp>
      <p:sp>
        <p:nvSpPr>
          <p:cNvPr id="5" name="TextBox 4"/>
          <p:cNvSpPr txBox="1"/>
          <p:nvPr/>
        </p:nvSpPr>
        <p:spPr>
          <a:xfrm>
            <a:off x="1371600" y="4114800"/>
            <a:ext cx="9445752" cy="1188720"/>
          </a:xfrm>
          <a:prstGeom prst="rect">
            <a:avLst/>
          </a:prstGeom>
          <a:noFill/>
        </p:spPr>
        <p:txBody>
          <a:bodyPr wrap="square" anchor="t">
            <a:spAutoFit/>
          </a:bodyPr>
          <a:lstStyle/>
          <a:p>
            <a:pPr algn="ctr">
              <a:spcAft>
                <a:spcPts val="600"/>
              </a:spcAft>
            </a:pPr>
            <a:r>
              <a:rPr sz="2000" b="0" i="1">
                <a:solidFill>
                  <a:srgbClr val="FDFBF6"/>
                </a:solidFill>
                <a:latin typeface="Playfair Display"/>
              </a:rPr>
              <a:t>Ano ang Bahagi Ko sa Ispiritwal na Pag-usbong at Pag-usad ng Ibang Tao?</a:t>
            </a:r>
          </a:p>
        </p:txBody>
      </p:sp>
      <p:sp>
        <p:nvSpPr>
          <p:cNvPr id="6" name="TextBox 5"/>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822960"/>
            <a:ext cx="10360152" cy="548640"/>
          </a:xfrm>
          <a:prstGeom prst="rect">
            <a:avLst/>
          </a:prstGeom>
          <a:noFill/>
        </p:spPr>
        <p:txBody>
          <a:bodyPr wrap="square" anchor="t">
            <a:spAutoFit/>
          </a:bodyPr>
          <a:lstStyle/>
          <a:p>
            <a:pPr algn="ctr">
              <a:spcAft>
                <a:spcPts val="600"/>
              </a:spcAft>
            </a:pPr>
            <a:r>
              <a:rPr sz="1400" b="1" i="0">
                <a:solidFill>
                  <a:srgbClr val="B8882A"/>
                </a:solidFill>
                <a:latin typeface="Playfair Display"/>
              </a:rPr>
              <a:t>MEMORY VERSE</a:t>
            </a:r>
          </a:p>
        </p:txBody>
      </p:sp>
      <p:sp>
        <p:nvSpPr>
          <p:cNvPr id="4" name="TextBox 3"/>
          <p:cNvSpPr txBox="1"/>
          <p:nvPr/>
        </p:nvSpPr>
        <p:spPr>
          <a:xfrm>
            <a:off x="914400" y="1371600"/>
            <a:ext cx="10360152" cy="822960"/>
          </a:xfrm>
          <a:prstGeom prst="rect">
            <a:avLst/>
          </a:prstGeom>
          <a:noFill/>
        </p:spPr>
        <p:txBody>
          <a:bodyPr wrap="square" anchor="t">
            <a:spAutoFit/>
          </a:bodyPr>
          <a:lstStyle/>
          <a:p>
            <a:pPr algn="ctr">
              <a:spcAft>
                <a:spcPts val="600"/>
              </a:spcAft>
            </a:pPr>
            <a:r>
              <a:rPr sz="3400" b="1" i="0">
                <a:solidFill>
                  <a:srgbClr val="1F4530"/>
                </a:solidFill>
                <a:latin typeface="Playfair Display"/>
              </a:rPr>
              <a:t>Mateo 28:19–20</a:t>
            </a:r>
          </a:p>
        </p:txBody>
      </p:sp>
      <p:sp>
        <p:nvSpPr>
          <p:cNvPr id="5" name="Rounded Rectangle 4"/>
          <p:cNvSpPr/>
          <p:nvPr/>
        </p:nvSpPr>
        <p:spPr>
          <a:xfrm>
            <a:off x="1828800" y="2560320"/>
            <a:ext cx="8531352" cy="2377440"/>
          </a:xfrm>
          <a:prstGeom prst="roundRect">
            <a:avLst>
              <a:gd name="adj" fmla="val 6000"/>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2743200"/>
            <a:ext cx="7772400" cy="2011680"/>
          </a:xfrm>
          <a:prstGeom prst="rect">
            <a:avLst/>
          </a:prstGeom>
          <a:noFill/>
        </p:spPr>
        <p:txBody>
          <a:bodyPr wrap="square" anchor="ctr">
            <a:spAutoFit/>
          </a:bodyPr>
          <a:lstStyle/>
          <a:p>
            <a:pPr algn="l">
              <a:spcAft>
                <a:spcPts val="600"/>
              </a:spcAft>
            </a:pPr>
            <a:r>
              <a:rPr sz="2000" b="0" i="1">
                <a:solidFill>
                  <a:srgbClr val="1A2E22"/>
                </a:solidFill>
                <a:latin typeface="Playfair Display"/>
              </a:rPr>
              <a:t>"Kaya't humayo kayo, gawin ninyong alagad ko ang mga tao sa lahat ng mga bansa. Bautismuhan ninyo sila sa pangalan ng Ama, at ng Anak, at ng Espiritu Santo. Turuan ninyo silang sumunod sa lahat ng iniutos ko sa inyo."</a:t>
            </a:r>
          </a:p>
        </p:txBody>
      </p:sp>
      <p:sp>
        <p:nvSpPr>
          <p:cNvPr id="7" name="TextBox 6"/>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PUKAW · 8 MIN</a:t>
            </a:r>
          </a:p>
        </p:txBody>
      </p:sp>
      <p:sp>
        <p:nvSpPr>
          <p:cNvPr id="4" name="TextBox 3"/>
          <p:cNvSpPr txBox="1"/>
          <p:nvPr/>
        </p:nvSpPr>
        <p:spPr>
          <a:xfrm>
            <a:off x="914400" y="1371600"/>
            <a:ext cx="10360152" cy="822960"/>
          </a:xfrm>
          <a:prstGeom prst="rect">
            <a:avLst/>
          </a:prstGeom>
          <a:noFill/>
        </p:spPr>
        <p:txBody>
          <a:bodyPr wrap="square" anchor="t">
            <a:spAutoFit/>
          </a:bodyPr>
          <a:lstStyle/>
          <a:p>
            <a:pPr algn="ctr">
              <a:spcAft>
                <a:spcPts val="600"/>
              </a:spcAft>
            </a:pPr>
            <a:r>
              <a:rPr sz="3600" b="1" i="0">
                <a:solidFill>
                  <a:srgbClr val="FDFBF6"/>
                </a:solidFill>
                <a:latin typeface="Playfair Display"/>
              </a:rPr>
              <a:t>Isang Tunay na Kuwento</a:t>
            </a:r>
          </a:p>
        </p:txBody>
      </p:sp>
      <p:sp>
        <p:nvSpPr>
          <p:cNvPr id="5" name="TextBox 4"/>
          <p:cNvSpPr txBox="1"/>
          <p:nvPr/>
        </p:nvSpPr>
        <p:spPr>
          <a:xfrm>
            <a:off x="1828800" y="2377440"/>
            <a:ext cx="8531352" cy="1188720"/>
          </a:xfrm>
          <a:prstGeom prst="rect">
            <a:avLst/>
          </a:prstGeom>
          <a:noFill/>
        </p:spPr>
        <p:txBody>
          <a:bodyPr wrap="square" anchor="t">
            <a:spAutoFit/>
          </a:bodyPr>
          <a:lstStyle/>
          <a:p>
            <a:pPr algn="ctr">
              <a:spcAft>
                <a:spcPts val="600"/>
              </a:spcAft>
            </a:pPr>
            <a:r>
              <a:rPr sz="1900" b="0" i="0">
                <a:solidFill>
                  <a:srgbClr val="FDFBF6"/>
                </a:solidFill>
                <a:latin typeface="DM Sans"/>
              </a:rPr>
              <a:t>Guangxi, China · Mayo 2015 · isang 14-araw na sanggol, inabandona at nakabaon sa gubat — 10 araw na nakalantad.</a:t>
            </a:r>
          </a:p>
        </p:txBody>
      </p:sp>
      <p:sp>
        <p:nvSpPr>
          <p:cNvPr id="6" name="TextBox 5"/>
          <p:cNvSpPr txBox="1"/>
          <p:nvPr/>
        </p:nvSpPr>
        <p:spPr>
          <a:xfrm>
            <a:off x="1371600" y="3657600"/>
            <a:ext cx="9445752" cy="1097280"/>
          </a:xfrm>
          <a:prstGeom prst="rect">
            <a:avLst/>
          </a:prstGeom>
          <a:noFill/>
        </p:spPr>
        <p:txBody>
          <a:bodyPr wrap="square" anchor="ctr">
            <a:spAutoFit/>
          </a:bodyPr>
          <a:lstStyle/>
          <a:p>
            <a:pPr algn="ctr">
              <a:spcAft>
                <a:spcPts val="600"/>
              </a:spcAft>
            </a:pPr>
            <a:r>
              <a:rPr sz="2800" b="1" i="1">
                <a:solidFill>
                  <a:srgbClr val="D4A854"/>
                </a:solidFill>
                <a:latin typeface="Playfair Display"/>
              </a:rPr>
              <a:t>Kung ikaw ang hukom — gaano kabigat ang parusa?</a:t>
            </a:r>
          </a:p>
        </p:txBody>
      </p:sp>
      <p:sp>
        <p:nvSpPr>
          <p:cNvPr id="7" name="TextBox 6"/>
          <p:cNvSpPr txBox="1"/>
          <p:nvPr/>
        </p:nvSpPr>
        <p:spPr>
          <a:xfrm>
            <a:off x="1371600" y="4937760"/>
            <a:ext cx="9445752" cy="548640"/>
          </a:xfrm>
          <a:prstGeom prst="rect">
            <a:avLst/>
          </a:prstGeom>
          <a:noFill/>
        </p:spPr>
        <p:txBody>
          <a:bodyPr wrap="square" anchor="t">
            <a:spAutoFit/>
          </a:bodyPr>
          <a:lstStyle/>
          <a:p>
            <a:pPr algn="ctr">
              <a:spcAft>
                <a:spcPts val="600"/>
              </a:spcAft>
            </a:pPr>
            <a:r>
              <a:rPr sz="1400" b="0" i="0">
                <a:solidFill>
                  <a:srgbClr val="D4A854"/>
                </a:solidFill>
                <a:latin typeface="DM Sans"/>
              </a:rPr>
              <a:t>(Markahan: 1 hanggang 10 · hawakan muna ang galit na 'yan)</a:t>
            </a:r>
          </a:p>
        </p:txBody>
      </p:sp>
      <p:sp>
        <p:nvSpPr>
          <p:cNvPr id="8" name="TextBox 7"/>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TUKLAS · BIG IDEA</a:t>
            </a:r>
          </a:p>
        </p:txBody>
      </p:sp>
      <p:sp>
        <p:nvSpPr>
          <p:cNvPr id="4" name="TextBox 3"/>
          <p:cNvSpPr txBox="1"/>
          <p:nvPr/>
        </p:nvSpPr>
        <p:spPr>
          <a:xfrm>
            <a:off x="914400" y="1554480"/>
            <a:ext cx="10360152" cy="822960"/>
          </a:xfrm>
          <a:prstGeom prst="rect">
            <a:avLst/>
          </a:prstGeom>
          <a:noFill/>
        </p:spPr>
        <p:txBody>
          <a:bodyPr wrap="square" anchor="t">
            <a:spAutoFit/>
          </a:bodyPr>
          <a:lstStyle/>
          <a:p>
            <a:pPr algn="ctr">
              <a:spcAft>
                <a:spcPts val="600"/>
              </a:spcAft>
            </a:pPr>
            <a:r>
              <a:rPr sz="3600" b="1" i="0">
                <a:solidFill>
                  <a:srgbClr val="FDFBF6"/>
                </a:solidFill>
                <a:latin typeface="Playfair Display"/>
              </a:rPr>
              <a:t>Ang Big Idea</a:t>
            </a:r>
          </a:p>
        </p:txBody>
      </p:sp>
      <p:sp>
        <p:nvSpPr>
          <p:cNvPr id="5" name="TextBox 4"/>
          <p:cNvSpPr txBox="1"/>
          <p:nvPr/>
        </p:nvSpPr>
        <p:spPr>
          <a:xfrm>
            <a:off x="1645920" y="2743200"/>
            <a:ext cx="8897112" cy="2194560"/>
          </a:xfrm>
          <a:prstGeom prst="rect">
            <a:avLst/>
          </a:prstGeom>
          <a:noFill/>
        </p:spPr>
        <p:txBody>
          <a:bodyPr wrap="square" anchor="ctr">
            <a:spAutoFit/>
          </a:bodyPr>
          <a:lstStyle/>
          <a:p>
            <a:pPr algn="ctr">
              <a:spcAft>
                <a:spcPts val="600"/>
              </a:spcAft>
            </a:pPr>
            <a:r>
              <a:rPr sz="2600" b="0" i="1">
                <a:solidFill>
                  <a:srgbClr val="FDFBF6"/>
                </a:solidFill>
                <a:latin typeface="Playfair Display"/>
              </a:rPr>
              <a:t>Hindi ka iniligtas para lang pumunta sa kalangitan — iniligtas ka para maging instrumento ng Kanyang kaligtasan.</a:t>
            </a:r>
          </a:p>
        </p:txBody>
      </p:sp>
      <p:sp>
        <p:nvSpPr>
          <p:cNvPr id="6" name="TextBox 5"/>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B8882A"/>
                </a:solidFill>
                <a:latin typeface="DM Sans"/>
              </a:rPr>
              <a:t>TUKLAS · MATEO 28:19–20</a:t>
            </a:r>
          </a:p>
        </p:txBody>
      </p:sp>
      <p:sp>
        <p:nvSpPr>
          <p:cNvPr id="4" name="TextBox 3"/>
          <p:cNvSpPr txBox="1"/>
          <p:nvPr/>
        </p:nvSpPr>
        <p:spPr>
          <a:xfrm>
            <a:off x="914400" y="1554480"/>
            <a:ext cx="10360152" cy="822960"/>
          </a:xfrm>
          <a:prstGeom prst="rect">
            <a:avLst/>
          </a:prstGeom>
          <a:noFill/>
        </p:spPr>
        <p:txBody>
          <a:bodyPr wrap="square" anchor="t">
            <a:spAutoFit/>
          </a:bodyPr>
          <a:lstStyle/>
          <a:p>
            <a:pPr algn="ctr">
              <a:spcAft>
                <a:spcPts val="600"/>
              </a:spcAft>
            </a:pPr>
            <a:r>
              <a:rPr sz="3600" b="1" i="0">
                <a:solidFill>
                  <a:srgbClr val="1F4530"/>
                </a:solidFill>
                <a:latin typeface="Playfair Display"/>
              </a:rPr>
              <a:t>Ang Great Commission</a:t>
            </a:r>
          </a:p>
        </p:txBody>
      </p:sp>
      <p:sp>
        <p:nvSpPr>
          <p:cNvPr id="5" name="TextBox 4"/>
          <p:cNvSpPr txBox="1"/>
          <p:nvPr/>
        </p:nvSpPr>
        <p:spPr>
          <a:xfrm>
            <a:off x="1371600" y="2560320"/>
            <a:ext cx="9445752" cy="640080"/>
          </a:xfrm>
          <a:prstGeom prst="rect">
            <a:avLst/>
          </a:prstGeom>
          <a:noFill/>
        </p:spPr>
        <p:txBody>
          <a:bodyPr wrap="square" anchor="t">
            <a:spAutoFit/>
          </a:bodyPr>
          <a:lstStyle/>
          <a:p>
            <a:pPr algn="ctr">
              <a:spcAft>
                <a:spcPts val="600"/>
              </a:spcAft>
            </a:pPr>
            <a:r>
              <a:rPr sz="1900" b="0" i="0">
                <a:solidFill>
                  <a:srgbClr val="1A2E22"/>
                </a:solidFill>
                <a:latin typeface="DM Sans"/>
              </a:rPr>
              <a:t>Isang dakilang mandato — at isang partnership.</a:t>
            </a:r>
          </a:p>
        </p:txBody>
      </p:sp>
      <p:sp>
        <p:nvSpPr>
          <p:cNvPr id="6" name="TextBox 5"/>
          <p:cNvSpPr txBox="1"/>
          <p:nvPr/>
        </p:nvSpPr>
        <p:spPr>
          <a:xfrm>
            <a:off x="1371600" y="3383280"/>
            <a:ext cx="9445752" cy="1280160"/>
          </a:xfrm>
          <a:prstGeom prst="rect">
            <a:avLst/>
          </a:prstGeom>
          <a:noFill/>
        </p:spPr>
        <p:txBody>
          <a:bodyPr wrap="square" anchor="ctr">
            <a:spAutoFit/>
          </a:bodyPr>
          <a:lstStyle/>
          <a:p>
            <a:pPr algn="ctr">
              <a:spcAft>
                <a:spcPts val="600"/>
              </a:spcAft>
            </a:pPr>
            <a:r>
              <a:rPr sz="3000" b="1" i="1">
                <a:solidFill>
                  <a:srgbClr val="B8882A"/>
                </a:solidFill>
                <a:latin typeface="Playfair Display"/>
              </a:rPr>
              <a:t>Dalawang bahagi na hindi pwedeng paghiwalayin.</a:t>
            </a:r>
          </a:p>
        </p:txBody>
      </p:sp>
      <p:sp>
        <p:nvSpPr>
          <p:cNvPr id="7" name="TextBox 6"/>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B8882A"/>
                </a:solidFill>
                <a:latin typeface="DM Sans"/>
              </a:rPr>
              <a:t>TUKLAS · DALAWANG BAHAGI</a:t>
            </a:r>
          </a:p>
        </p:txBody>
      </p:sp>
      <p:sp>
        <p:nvSpPr>
          <p:cNvPr id="4" name="TextBox 3"/>
          <p:cNvSpPr txBox="1"/>
          <p:nvPr/>
        </p:nvSpPr>
        <p:spPr>
          <a:xfrm>
            <a:off x="914400" y="1463040"/>
            <a:ext cx="10360152" cy="822960"/>
          </a:xfrm>
          <a:prstGeom prst="rect">
            <a:avLst/>
          </a:prstGeom>
          <a:noFill/>
        </p:spPr>
        <p:txBody>
          <a:bodyPr wrap="square" anchor="t">
            <a:spAutoFit/>
          </a:bodyPr>
          <a:lstStyle/>
          <a:p>
            <a:pPr algn="ctr">
              <a:spcAft>
                <a:spcPts val="600"/>
              </a:spcAft>
            </a:pPr>
            <a:r>
              <a:rPr sz="3600" b="1" i="0">
                <a:solidFill>
                  <a:srgbClr val="1F4530"/>
                </a:solidFill>
                <a:latin typeface="Playfair Display"/>
              </a:rPr>
              <a:t>Paghayo at Paghubog</a:t>
            </a:r>
          </a:p>
        </p:txBody>
      </p:sp>
      <p:sp>
        <p:nvSpPr>
          <p:cNvPr id="5" name="Rounded Rectangle 4"/>
          <p:cNvSpPr/>
          <p:nvPr/>
        </p:nvSpPr>
        <p:spPr>
          <a:xfrm>
            <a:off x="914400" y="2926080"/>
            <a:ext cx="4937760" cy="31089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154680"/>
            <a:ext cx="4389120" cy="2651760"/>
          </a:xfrm>
          <a:prstGeom prst="rect">
            <a:avLst/>
          </a:prstGeom>
          <a:noFill/>
        </p:spPr>
        <p:txBody>
          <a:bodyPr wrap="square" anchor="t">
            <a:spAutoFit/>
          </a:bodyPr>
          <a:lstStyle/>
          <a:p>
            <a:pPr algn="l">
              <a:spcAft>
                <a:spcPts val="800"/>
              </a:spcAft>
            </a:pPr>
            <a:r>
              <a:rPr sz="2200" b="1" i="0">
                <a:solidFill>
                  <a:srgbClr val="1F4530"/>
                </a:solidFill>
                <a:latin typeface="Playfair Display"/>
              </a:rPr>
              <a:t>PAGHAYO</a:t>
            </a:r>
          </a:p>
          <a:p>
            <a:pPr algn="l">
              <a:spcAft>
                <a:spcPts val="600"/>
              </a:spcAft>
            </a:pPr>
            <a:r>
              <a:rPr sz="1500" b="0" i="0">
                <a:solidFill>
                  <a:srgbClr val="1A2E22"/>
                </a:solidFill>
                <a:latin typeface="DM Sans"/>
              </a:rPr>
              <a:t>"…humayo kayo…"</a:t>
            </a:r>
          </a:p>
          <a:p>
            <a:pPr algn="l">
              <a:spcAft>
                <a:spcPts val="600"/>
              </a:spcAft>
            </a:pPr>
            <a:r>
              <a:rPr sz="1500" b="0" i="0">
                <a:solidFill>
                  <a:srgbClr val="1A2E22"/>
                </a:solidFill>
                <a:latin typeface="DM Sans"/>
              </a:rPr>
              <a:t>Evangelism — reach the lost at any cost</a:t>
            </a:r>
          </a:p>
          <a:p>
            <a:pPr algn="l">
              <a:spcAft>
                <a:spcPts val="600"/>
              </a:spcAft>
            </a:pPr>
            <a:r>
              <a:rPr sz="1500" b="0" i="0">
                <a:solidFill>
                  <a:srgbClr val="1A2E22"/>
                </a:solidFill>
                <a:latin typeface="DM Sans"/>
              </a:rPr>
              <a:t>Hindi S.S.S. (Saved · Seated · Satisfied)</a:t>
            </a:r>
          </a:p>
          <a:p>
            <a:pPr algn="l">
              <a:spcAft>
                <a:spcPts val="600"/>
              </a:spcAft>
            </a:pPr>
            <a:r>
              <a:rPr sz="1500" b="0" i="0">
                <a:solidFill>
                  <a:srgbClr val="1A2E22"/>
                </a:solidFill>
                <a:latin typeface="DM Sans"/>
              </a:rPr>
              <a:t>Sugo (2 Cor 5:20) at Saksi (Gawa 1:8)</a:t>
            </a:r>
          </a:p>
        </p:txBody>
      </p:sp>
      <p:sp>
        <p:nvSpPr>
          <p:cNvPr id="7" name="Rounded Rectangle 6"/>
          <p:cNvSpPr/>
          <p:nvPr/>
        </p:nvSpPr>
        <p:spPr>
          <a:xfrm>
            <a:off x="6336792" y="2926080"/>
            <a:ext cx="4937760" cy="31089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11112" y="3154680"/>
            <a:ext cx="4389120" cy="2651760"/>
          </a:xfrm>
          <a:prstGeom prst="rect">
            <a:avLst/>
          </a:prstGeom>
          <a:noFill/>
        </p:spPr>
        <p:txBody>
          <a:bodyPr wrap="square" anchor="t">
            <a:spAutoFit/>
          </a:bodyPr>
          <a:lstStyle/>
          <a:p>
            <a:pPr algn="l">
              <a:spcAft>
                <a:spcPts val="800"/>
              </a:spcAft>
            </a:pPr>
            <a:r>
              <a:rPr sz="2200" b="1" i="0">
                <a:solidFill>
                  <a:srgbClr val="1F4530"/>
                </a:solidFill>
                <a:latin typeface="Playfair Display"/>
              </a:rPr>
              <a:t>PAGHUBOG</a:t>
            </a:r>
          </a:p>
          <a:p>
            <a:pPr algn="l">
              <a:spcAft>
                <a:spcPts val="600"/>
              </a:spcAft>
            </a:pPr>
            <a:r>
              <a:rPr sz="1500" b="0" i="0">
                <a:solidFill>
                  <a:srgbClr val="1A2E22"/>
                </a:solidFill>
                <a:latin typeface="DM Sans"/>
              </a:rPr>
              <a:t>"…turuan ninyo silang sumunod…"</a:t>
            </a:r>
          </a:p>
          <a:p>
            <a:pPr algn="l">
              <a:spcAft>
                <a:spcPts val="600"/>
              </a:spcAft>
            </a:pPr>
            <a:r>
              <a:rPr sz="1500" b="0" i="0">
                <a:solidFill>
                  <a:srgbClr val="1A2E22"/>
                </a:solidFill>
                <a:latin typeface="DM Sans"/>
              </a:rPr>
              <a:t>Discipleship — spiritual parenthood</a:t>
            </a:r>
          </a:p>
          <a:p>
            <a:pPr algn="l">
              <a:spcAft>
                <a:spcPts val="600"/>
              </a:spcAft>
            </a:pPr>
            <a:r>
              <a:rPr sz="1500" b="0" i="0">
                <a:solidFill>
                  <a:srgbClr val="1A2E22"/>
                </a:solidFill>
                <a:latin typeface="DM Sans"/>
              </a:rPr>
              <a:t>Ina: relationship (1 Tes 2:7–8)</a:t>
            </a:r>
          </a:p>
          <a:p>
            <a:pPr algn="l">
              <a:spcAft>
                <a:spcPts val="600"/>
              </a:spcAft>
            </a:pPr>
            <a:r>
              <a:rPr sz="1500" b="0" i="0">
                <a:solidFill>
                  <a:srgbClr val="1A2E22"/>
                </a:solidFill>
                <a:latin typeface="DM Sans"/>
              </a:rPr>
              <a:t>Ama: leadership (1 Tes 2:11–12)</a:t>
            </a:r>
          </a:p>
        </p:txBody>
      </p:sp>
      <p:sp>
        <p:nvSpPr>
          <p:cNvPr id="9" name="TextBox 8"/>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TUKLAS · PAGHAYO</a:t>
            </a:r>
          </a:p>
        </p:txBody>
      </p:sp>
      <p:sp>
        <p:nvSpPr>
          <p:cNvPr id="4" name="TextBox 3"/>
          <p:cNvSpPr txBox="1"/>
          <p:nvPr/>
        </p:nvSpPr>
        <p:spPr>
          <a:xfrm>
            <a:off x="914400" y="1371600"/>
            <a:ext cx="10360152" cy="822960"/>
          </a:xfrm>
          <a:prstGeom prst="rect">
            <a:avLst/>
          </a:prstGeom>
          <a:noFill/>
        </p:spPr>
        <p:txBody>
          <a:bodyPr wrap="square" anchor="t">
            <a:spAutoFit/>
          </a:bodyPr>
          <a:lstStyle/>
          <a:p>
            <a:pPr algn="ctr">
              <a:spcAft>
                <a:spcPts val="600"/>
              </a:spcAft>
            </a:pPr>
            <a:r>
              <a:rPr sz="3600" b="1" i="0">
                <a:solidFill>
                  <a:srgbClr val="FDFBF6"/>
                </a:solidFill>
                <a:latin typeface="Playfair Display"/>
              </a:rPr>
              <a:t>Ikaw ay Sugo at Saksi</a:t>
            </a:r>
          </a:p>
        </p:txBody>
      </p:sp>
      <p:sp>
        <p:nvSpPr>
          <p:cNvPr id="5" name="TextBox 4"/>
          <p:cNvSpPr txBox="1"/>
          <p:nvPr/>
        </p:nvSpPr>
        <p:spPr>
          <a:xfrm>
            <a:off x="1645920" y="2468880"/>
            <a:ext cx="8897112" cy="1828800"/>
          </a:xfrm>
          <a:prstGeom prst="rect">
            <a:avLst/>
          </a:prstGeom>
          <a:noFill/>
        </p:spPr>
        <p:txBody>
          <a:bodyPr wrap="square" anchor="t">
            <a:spAutoFit/>
          </a:bodyPr>
          <a:lstStyle/>
          <a:p>
            <a:pPr algn="l">
              <a:spcAft>
                <a:spcPts val="1200"/>
              </a:spcAft>
            </a:pPr>
            <a:r>
              <a:rPr sz="1900" b="0" i="0">
                <a:solidFill>
                  <a:srgbClr val="FDFBF6"/>
                </a:solidFill>
                <a:latin typeface="DM Sans"/>
              </a:rPr>
              <a:t>Sugo (ambassador): kinakatawan mo ang langit — kaya ang lifestyle mo ang nagpoprotekta sa mensahe mo.</a:t>
            </a:r>
          </a:p>
          <a:p>
            <a:pPr algn="l">
              <a:spcAft>
                <a:spcPts val="600"/>
              </a:spcAft>
            </a:pPr>
            <a:r>
              <a:rPr sz="1900" b="0" i="0">
                <a:solidFill>
                  <a:srgbClr val="FDFBF6"/>
                </a:solidFill>
                <a:latin typeface="DM Sans"/>
              </a:rPr>
              <a:t>Saksi: Spirit-powered (Gawa 1:8) — at isuot ang sapatos ng paghahanda (Efeso 6:15).</a:t>
            </a:r>
          </a:p>
        </p:txBody>
      </p:sp>
      <p:sp>
        <p:nvSpPr>
          <p:cNvPr id="6" name="TextBox 5"/>
          <p:cNvSpPr txBox="1"/>
          <p:nvPr/>
        </p:nvSpPr>
        <p:spPr>
          <a:xfrm>
            <a:off x="1371600" y="4754880"/>
            <a:ext cx="9445752" cy="914400"/>
          </a:xfrm>
          <a:prstGeom prst="rect">
            <a:avLst/>
          </a:prstGeom>
          <a:noFill/>
        </p:spPr>
        <p:txBody>
          <a:bodyPr wrap="square" anchor="ctr">
            <a:spAutoFit/>
          </a:bodyPr>
          <a:lstStyle/>
          <a:p>
            <a:pPr algn="ctr">
              <a:spcAft>
                <a:spcPts val="600"/>
              </a:spcAft>
            </a:pPr>
            <a:r>
              <a:rPr sz="2400" b="1" i="1">
                <a:solidFill>
                  <a:srgbClr val="D4A854"/>
                </a:solidFill>
                <a:latin typeface="Playfair Display"/>
              </a:rPr>
              <a:t>Ang paa ang unang nanlalamig — spiritually rin.</a:t>
            </a:r>
          </a:p>
        </p:txBody>
      </p:sp>
      <p:sp>
        <p:nvSpPr>
          <p:cNvPr id="7" name="TextBox 6"/>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B8882A"/>
                </a:solidFill>
                <a:latin typeface="DM Sans"/>
              </a:rPr>
              <a:t>TUKLAS · PAGHUBOG</a:t>
            </a:r>
          </a:p>
        </p:txBody>
      </p:sp>
      <p:sp>
        <p:nvSpPr>
          <p:cNvPr id="4" name="TextBox 3"/>
          <p:cNvSpPr txBox="1"/>
          <p:nvPr/>
        </p:nvSpPr>
        <p:spPr>
          <a:xfrm>
            <a:off x="914400" y="1280160"/>
            <a:ext cx="10360152" cy="731520"/>
          </a:xfrm>
          <a:prstGeom prst="rect">
            <a:avLst/>
          </a:prstGeom>
          <a:noFill/>
        </p:spPr>
        <p:txBody>
          <a:bodyPr wrap="square" anchor="t">
            <a:spAutoFit/>
          </a:bodyPr>
          <a:lstStyle/>
          <a:p>
            <a:pPr algn="ctr">
              <a:spcAft>
                <a:spcPts val="600"/>
              </a:spcAft>
            </a:pPr>
            <a:r>
              <a:rPr sz="3400" b="1" i="0">
                <a:solidFill>
                  <a:srgbClr val="1F4530"/>
                </a:solidFill>
                <a:latin typeface="Playfair Display"/>
              </a:rPr>
              <a:t>Spiritual Parenthood</a:t>
            </a:r>
          </a:p>
        </p:txBody>
      </p:sp>
      <p:sp>
        <p:nvSpPr>
          <p:cNvPr id="5" name="TextBox 4"/>
          <p:cNvSpPr txBox="1"/>
          <p:nvPr/>
        </p:nvSpPr>
        <p:spPr>
          <a:xfrm>
            <a:off x="914400" y="2057400"/>
            <a:ext cx="10360152" cy="457200"/>
          </a:xfrm>
          <a:prstGeom prst="rect">
            <a:avLst/>
          </a:prstGeom>
          <a:noFill/>
        </p:spPr>
        <p:txBody>
          <a:bodyPr wrap="square" anchor="t">
            <a:spAutoFit/>
          </a:bodyPr>
          <a:lstStyle/>
          <a:p>
            <a:pPr algn="ctr">
              <a:spcAft>
                <a:spcPts val="600"/>
              </a:spcAft>
            </a:pPr>
            <a:r>
              <a:rPr sz="1600" b="1" i="0">
                <a:solidFill>
                  <a:srgbClr val="B8882A"/>
                </a:solidFill>
                <a:latin typeface="DM Sans"/>
              </a:rPr>
              <a:t>1 Tesalonica 2:7–12</a:t>
            </a:r>
          </a:p>
        </p:txBody>
      </p:sp>
      <p:sp>
        <p:nvSpPr>
          <p:cNvPr id="6" name="Rounded Rectangle 5"/>
          <p:cNvSpPr/>
          <p:nvPr/>
        </p:nvSpPr>
        <p:spPr>
          <a:xfrm>
            <a:off x="914400" y="2926080"/>
            <a:ext cx="4937760" cy="31089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154680"/>
            <a:ext cx="4389120" cy="2651760"/>
          </a:xfrm>
          <a:prstGeom prst="rect">
            <a:avLst/>
          </a:prstGeom>
          <a:noFill/>
        </p:spPr>
        <p:txBody>
          <a:bodyPr wrap="square" anchor="t">
            <a:spAutoFit/>
          </a:bodyPr>
          <a:lstStyle/>
          <a:p>
            <a:pPr algn="l">
              <a:spcAft>
                <a:spcPts val="800"/>
              </a:spcAft>
            </a:pPr>
            <a:r>
              <a:rPr sz="2200" b="1" i="0">
                <a:solidFill>
                  <a:srgbClr val="1F4530"/>
                </a:solidFill>
                <a:latin typeface="Playfair Display"/>
              </a:rPr>
              <a:t>Pagkalinga ng Ina</a:t>
            </a:r>
          </a:p>
          <a:p>
            <a:pPr algn="l">
              <a:spcAft>
                <a:spcPts val="600"/>
              </a:spcAft>
            </a:pPr>
            <a:r>
              <a:rPr sz="1500" b="0" i="0">
                <a:solidFill>
                  <a:srgbClr val="1A2E22"/>
                </a:solidFill>
                <a:latin typeface="DM Sans"/>
              </a:rPr>
              <a:t>Relationship ang pundasyon</a:t>
            </a:r>
          </a:p>
          <a:p>
            <a:pPr algn="l">
              <a:spcAft>
                <a:spcPts val="600"/>
              </a:spcAft>
            </a:pPr>
            <a:r>
              <a:rPr sz="1500" b="0" i="0">
                <a:solidFill>
                  <a:srgbClr val="1A2E22"/>
                </a:solidFill>
                <a:latin typeface="DM Sans"/>
              </a:rPr>
              <a:t>Kalinga, sakripisyo, 'di makasariling pagbabahagi</a:t>
            </a:r>
          </a:p>
          <a:p>
            <a:pPr algn="l">
              <a:spcAft>
                <a:spcPts val="600"/>
              </a:spcAft>
            </a:pPr>
            <a:r>
              <a:rPr sz="1500" b="0" i="0">
                <a:solidFill>
                  <a:srgbClr val="1A2E22"/>
                </a:solidFill>
                <a:latin typeface="DM Sans"/>
              </a:rPr>
              <a:t>"People don't care how much you know until they know how much you care."</a:t>
            </a:r>
          </a:p>
        </p:txBody>
      </p:sp>
      <p:sp>
        <p:nvSpPr>
          <p:cNvPr id="8" name="Rounded Rectangle 7"/>
          <p:cNvSpPr/>
          <p:nvPr/>
        </p:nvSpPr>
        <p:spPr>
          <a:xfrm>
            <a:off x="6336792" y="2926080"/>
            <a:ext cx="4937760" cy="31089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11112" y="3154680"/>
            <a:ext cx="4389120" cy="2651760"/>
          </a:xfrm>
          <a:prstGeom prst="rect">
            <a:avLst/>
          </a:prstGeom>
          <a:noFill/>
        </p:spPr>
        <p:txBody>
          <a:bodyPr wrap="square" anchor="t">
            <a:spAutoFit/>
          </a:bodyPr>
          <a:lstStyle/>
          <a:p>
            <a:pPr algn="l">
              <a:spcAft>
                <a:spcPts val="800"/>
              </a:spcAft>
            </a:pPr>
            <a:r>
              <a:rPr sz="2200" b="1" i="0">
                <a:solidFill>
                  <a:srgbClr val="1F4530"/>
                </a:solidFill>
                <a:latin typeface="Playfair Display"/>
              </a:rPr>
              <a:t>Pangunguna ng Ama</a:t>
            </a:r>
          </a:p>
          <a:p>
            <a:pPr algn="l">
              <a:spcAft>
                <a:spcPts val="600"/>
              </a:spcAft>
            </a:pPr>
            <a:r>
              <a:rPr sz="1500" b="0" i="0">
                <a:solidFill>
                  <a:srgbClr val="1A2E22"/>
                </a:solidFill>
                <a:latin typeface="DM Sans"/>
              </a:rPr>
              <a:t>Leadership ang haligi</a:t>
            </a:r>
          </a:p>
          <a:p>
            <a:pPr algn="l">
              <a:spcAft>
                <a:spcPts val="600"/>
              </a:spcAft>
            </a:pPr>
            <a:r>
              <a:rPr sz="1500" b="0" i="0">
                <a:solidFill>
                  <a:srgbClr val="1A2E22"/>
                </a:solidFill>
                <a:latin typeface="DM Sans"/>
              </a:rPr>
              <a:t>Gabay sa paglakad ayon sa Panginoon</a:t>
            </a:r>
          </a:p>
          <a:p>
            <a:pPr algn="l">
              <a:spcAft>
                <a:spcPts val="600"/>
              </a:spcAft>
            </a:pPr>
            <a:r>
              <a:rPr sz="1500" b="0" i="0">
                <a:solidFill>
                  <a:srgbClr val="1A2E22"/>
                </a:solidFill>
                <a:latin typeface="DM Sans"/>
              </a:rPr>
              <a:t>"Tularan ninyo ako, gaya ng pagtulad ko kay Cristo." (1 Cor 11:1)</a:t>
            </a:r>
          </a:p>
        </p:txBody>
      </p:sp>
      <p:sp>
        <p:nvSpPr>
          <p:cNvPr id="10" name="TextBox 9"/>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2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B8882A"/>
                </a:solidFill>
                <a:latin typeface="DM Sans"/>
              </a:rPr>
              <a:t>TUKLAS · 3 VERBS (1 TES 2:11)</a:t>
            </a:r>
          </a:p>
        </p:txBody>
      </p:sp>
      <p:sp>
        <p:nvSpPr>
          <p:cNvPr id="4" name="TextBox 3"/>
          <p:cNvSpPr txBox="1"/>
          <p:nvPr/>
        </p:nvSpPr>
        <p:spPr>
          <a:xfrm>
            <a:off x="914400" y="1371600"/>
            <a:ext cx="10360152" cy="822960"/>
          </a:xfrm>
          <a:prstGeom prst="rect">
            <a:avLst/>
          </a:prstGeom>
          <a:noFill/>
        </p:spPr>
        <p:txBody>
          <a:bodyPr wrap="square" anchor="t">
            <a:spAutoFit/>
          </a:bodyPr>
          <a:lstStyle/>
          <a:p>
            <a:pPr algn="ctr">
              <a:spcAft>
                <a:spcPts val="600"/>
              </a:spcAft>
            </a:pPr>
            <a:r>
              <a:rPr sz="3200" b="1" i="0">
                <a:solidFill>
                  <a:srgbClr val="1F4530"/>
                </a:solidFill>
                <a:latin typeface="Playfair Display"/>
              </a:rPr>
              <a:t>Ang 3 Verbs ng Spiritual Parent</a:t>
            </a:r>
          </a:p>
        </p:txBody>
      </p:sp>
      <p:sp>
        <p:nvSpPr>
          <p:cNvPr id="5" name="Rounded Rectangle 4"/>
          <p:cNvSpPr/>
          <p:nvPr/>
        </p:nvSpPr>
        <p:spPr>
          <a:xfrm>
            <a:off x="746607" y="2743200"/>
            <a:ext cx="3383280" cy="26517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9487" y="3017520"/>
            <a:ext cx="3017520" cy="2103120"/>
          </a:xfrm>
          <a:prstGeom prst="rect">
            <a:avLst/>
          </a:prstGeom>
          <a:noFill/>
        </p:spPr>
        <p:txBody>
          <a:bodyPr wrap="square" anchor="t">
            <a:spAutoFit/>
          </a:bodyPr>
          <a:lstStyle/>
          <a:p>
            <a:pPr algn="ctr">
              <a:spcAft>
                <a:spcPts val="400"/>
              </a:spcAft>
            </a:pPr>
            <a:r>
              <a:rPr sz="3000" b="0" i="0">
                <a:solidFill>
                  <a:srgbClr val="2A5C40"/>
                </a:solidFill>
                <a:latin typeface="DM Sans"/>
              </a:rPr>
              <a:t>📖</a:t>
            </a:r>
          </a:p>
          <a:p>
            <a:pPr algn="ctr">
              <a:spcAft>
                <a:spcPts val="600"/>
              </a:spcAft>
            </a:pPr>
            <a:r>
              <a:rPr sz="1900" b="1" i="0">
                <a:solidFill>
                  <a:srgbClr val="1F4530"/>
                </a:solidFill>
                <a:latin typeface="Playfair Display"/>
              </a:rPr>
              <a:t>Pagpapayo</a:t>
            </a:r>
          </a:p>
          <a:p>
            <a:pPr algn="ctr">
              <a:spcAft>
                <a:spcPts val="400"/>
              </a:spcAft>
            </a:pPr>
            <a:r>
              <a:rPr sz="1300" b="0" i="0">
                <a:solidFill>
                  <a:srgbClr val="1A2E22"/>
                </a:solidFill>
                <a:latin typeface="DM Sans"/>
              </a:rPr>
              <a:t>Turo na nakaangkla sa Bibliya — hand-in-hand ang relationship at pagtuturo.</a:t>
            </a:r>
          </a:p>
        </p:txBody>
      </p:sp>
      <p:sp>
        <p:nvSpPr>
          <p:cNvPr id="7" name="Rounded Rectangle 6"/>
          <p:cNvSpPr/>
          <p:nvPr/>
        </p:nvSpPr>
        <p:spPr>
          <a:xfrm>
            <a:off x="4404207" y="2743200"/>
            <a:ext cx="3383280" cy="26517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7087" y="3017520"/>
            <a:ext cx="3017520" cy="2103120"/>
          </a:xfrm>
          <a:prstGeom prst="rect">
            <a:avLst/>
          </a:prstGeom>
          <a:noFill/>
        </p:spPr>
        <p:txBody>
          <a:bodyPr wrap="square" anchor="t">
            <a:spAutoFit/>
          </a:bodyPr>
          <a:lstStyle/>
          <a:p>
            <a:pPr algn="ctr">
              <a:spcAft>
                <a:spcPts val="400"/>
              </a:spcAft>
            </a:pPr>
            <a:r>
              <a:rPr sz="3000" b="0" i="0">
                <a:solidFill>
                  <a:srgbClr val="2A5C40"/>
                </a:solidFill>
                <a:latin typeface="DM Sans"/>
              </a:rPr>
              <a:t>💪</a:t>
            </a:r>
          </a:p>
          <a:p>
            <a:pPr algn="ctr">
              <a:spcAft>
                <a:spcPts val="600"/>
              </a:spcAft>
            </a:pPr>
            <a:r>
              <a:rPr sz="1900" b="1" i="0">
                <a:solidFill>
                  <a:srgbClr val="1F4530"/>
                </a:solidFill>
                <a:latin typeface="Playfair Display"/>
              </a:rPr>
              <a:t>Pagpapalakas</a:t>
            </a:r>
          </a:p>
          <a:p>
            <a:pPr algn="ctr">
              <a:spcAft>
                <a:spcPts val="400"/>
              </a:spcAft>
            </a:pPr>
            <a:r>
              <a:rPr sz="1300" b="0" i="0">
                <a:solidFill>
                  <a:srgbClr val="1A2E22"/>
                </a:solidFill>
                <a:latin typeface="DM Sans"/>
              </a:rPr>
              <a:t>Ministry of encouragement sa panahon ng paghihirap.</a:t>
            </a:r>
          </a:p>
        </p:txBody>
      </p:sp>
      <p:sp>
        <p:nvSpPr>
          <p:cNvPr id="9" name="Rounded Rectangle 8"/>
          <p:cNvSpPr/>
          <p:nvPr/>
        </p:nvSpPr>
        <p:spPr>
          <a:xfrm>
            <a:off x="8061807" y="2743200"/>
            <a:ext cx="3383280" cy="265176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4687" y="3017520"/>
            <a:ext cx="3017520" cy="2103120"/>
          </a:xfrm>
          <a:prstGeom prst="rect">
            <a:avLst/>
          </a:prstGeom>
          <a:noFill/>
        </p:spPr>
        <p:txBody>
          <a:bodyPr wrap="square" anchor="t">
            <a:spAutoFit/>
          </a:bodyPr>
          <a:lstStyle/>
          <a:p>
            <a:pPr algn="ctr">
              <a:spcAft>
                <a:spcPts val="400"/>
              </a:spcAft>
            </a:pPr>
            <a:r>
              <a:rPr sz="3000" b="0" i="0">
                <a:solidFill>
                  <a:srgbClr val="2A5C40"/>
                </a:solidFill>
                <a:latin typeface="DM Sans"/>
              </a:rPr>
              <a:t>🎯</a:t>
            </a:r>
          </a:p>
          <a:p>
            <a:pPr algn="ctr">
              <a:spcAft>
                <a:spcPts val="600"/>
              </a:spcAft>
            </a:pPr>
            <a:r>
              <a:rPr sz="1900" b="1" i="0">
                <a:solidFill>
                  <a:srgbClr val="1F4530"/>
                </a:solidFill>
                <a:latin typeface="Playfair Display"/>
              </a:rPr>
              <a:t>Paghamon</a:t>
            </a:r>
          </a:p>
          <a:p>
            <a:pPr algn="ctr">
              <a:spcAft>
                <a:spcPts val="400"/>
              </a:spcAft>
            </a:pPr>
            <a:r>
              <a:rPr sz="1300" b="0" i="0">
                <a:solidFill>
                  <a:srgbClr val="1A2E22"/>
                </a:solidFill>
                <a:latin typeface="DM Sans"/>
              </a:rPr>
              <a:t>Hindi binebeybi — hinahamon mong tumugon sa katotohanan.</a:t>
            </a:r>
          </a:p>
        </p:txBody>
      </p:sp>
      <p:sp>
        <p:nvSpPr>
          <p:cNvPr id="11" name="TextBox 10"/>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888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1F4530"/>
                </a:solidFill>
                <a:latin typeface="DM Sans"/>
              </a:rPr>
              <a:t>TUKLAS · ANG BARYA</a:t>
            </a:r>
          </a:p>
        </p:txBody>
      </p:sp>
      <p:sp>
        <p:nvSpPr>
          <p:cNvPr id="4" name="TextBox 3"/>
          <p:cNvSpPr txBox="1"/>
          <p:nvPr/>
        </p:nvSpPr>
        <p:spPr>
          <a:xfrm>
            <a:off x="914400" y="1280160"/>
            <a:ext cx="10360152" cy="822960"/>
          </a:xfrm>
          <a:prstGeom prst="rect">
            <a:avLst/>
          </a:prstGeom>
          <a:noFill/>
        </p:spPr>
        <p:txBody>
          <a:bodyPr wrap="square" anchor="t">
            <a:spAutoFit/>
          </a:bodyPr>
          <a:lstStyle/>
          <a:p>
            <a:pPr algn="ctr">
              <a:spcAft>
                <a:spcPts val="600"/>
              </a:spcAft>
            </a:pPr>
            <a:r>
              <a:rPr sz="3400" b="1" i="0">
                <a:solidFill>
                  <a:srgbClr val="1F4530"/>
                </a:solidFill>
                <a:latin typeface="Playfair Display"/>
              </a:rPr>
              <a:t>Two Sides of One Coin 🪙</a:t>
            </a:r>
          </a:p>
        </p:txBody>
      </p:sp>
      <p:sp>
        <p:nvSpPr>
          <p:cNvPr id="5" name="TextBox 4"/>
          <p:cNvSpPr txBox="1"/>
          <p:nvPr/>
        </p:nvSpPr>
        <p:spPr>
          <a:xfrm>
            <a:off x="1371600" y="2286000"/>
            <a:ext cx="9445752" cy="1463040"/>
          </a:xfrm>
          <a:prstGeom prst="rect">
            <a:avLst/>
          </a:prstGeom>
          <a:noFill/>
        </p:spPr>
        <p:txBody>
          <a:bodyPr wrap="square" anchor="ctr">
            <a:spAutoFit/>
          </a:bodyPr>
          <a:lstStyle/>
          <a:p>
            <a:pPr algn="ctr">
              <a:spcAft>
                <a:spcPts val="600"/>
              </a:spcAft>
            </a:pPr>
            <a:r>
              <a:rPr sz="2400" b="0" i="1">
                <a:solidFill>
                  <a:srgbClr val="1F4530"/>
                </a:solidFill>
                <a:latin typeface="Playfair Display"/>
              </a:rPr>
              <a:t>"Hindi ka magsisilang ng bata para lang makita itong manghina at mawala."</a:t>
            </a:r>
          </a:p>
        </p:txBody>
      </p:sp>
      <p:sp>
        <p:nvSpPr>
          <p:cNvPr id="6" name="TextBox 5"/>
          <p:cNvSpPr txBox="1"/>
          <p:nvPr/>
        </p:nvSpPr>
        <p:spPr>
          <a:xfrm>
            <a:off x="1097280" y="3931920"/>
            <a:ext cx="9994392" cy="1188720"/>
          </a:xfrm>
          <a:prstGeom prst="rect">
            <a:avLst/>
          </a:prstGeom>
          <a:noFill/>
        </p:spPr>
        <p:txBody>
          <a:bodyPr wrap="square" anchor="ctr">
            <a:spAutoFit/>
          </a:bodyPr>
          <a:lstStyle/>
          <a:p>
            <a:pPr algn="ctr">
              <a:spcAft>
                <a:spcPts val="600"/>
              </a:spcAft>
            </a:pPr>
            <a:r>
              <a:rPr sz="2800" b="1" i="1">
                <a:solidFill>
                  <a:srgbClr val="143020"/>
                </a:solidFill>
                <a:latin typeface="Playfair Display"/>
              </a:rPr>
              <a:t>Ito ang KATAPATAN — hindi mo iiwan ang isinilang mo.</a:t>
            </a:r>
          </a:p>
        </p:txBody>
      </p:sp>
      <p:sp>
        <p:nvSpPr>
          <p:cNvPr id="7" name="TextBox 6"/>
          <p:cNvSpPr txBox="1"/>
          <p:nvPr/>
        </p:nvSpPr>
        <p:spPr>
          <a:xfrm>
            <a:off x="914400" y="5212080"/>
            <a:ext cx="10360152" cy="548640"/>
          </a:xfrm>
          <a:prstGeom prst="rect">
            <a:avLst/>
          </a:prstGeom>
          <a:noFill/>
        </p:spPr>
        <p:txBody>
          <a:bodyPr wrap="square" anchor="t">
            <a:spAutoFit/>
          </a:bodyPr>
          <a:lstStyle/>
          <a:p>
            <a:pPr algn="ctr">
              <a:spcAft>
                <a:spcPts val="600"/>
              </a:spcAft>
            </a:pPr>
            <a:r>
              <a:rPr sz="1600" b="1" i="0">
                <a:solidFill>
                  <a:srgbClr val="1F4530"/>
                </a:solidFill>
                <a:latin typeface="DM Sans"/>
              </a:rPr>
              <a:t>2 Timoteo 2:2</a:t>
            </a:r>
          </a:p>
        </p:txBody>
      </p:sp>
      <p:sp>
        <p:nvSpPr>
          <p:cNvPr id="8" name="TextBox 7"/>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1F4530"/>
                </a:solidFill>
                <a:latin typeface="DM Sans"/>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B8882A"/>
                </a:solidFill>
                <a:latin typeface="DM Sans"/>
              </a:rPr>
              <a:t>TALAKAY · 12 MIN</a:t>
            </a:r>
          </a:p>
        </p:txBody>
      </p:sp>
      <p:sp>
        <p:nvSpPr>
          <p:cNvPr id="4" name="TextBox 3"/>
          <p:cNvSpPr txBox="1"/>
          <p:nvPr/>
        </p:nvSpPr>
        <p:spPr>
          <a:xfrm>
            <a:off x="914400" y="1280160"/>
            <a:ext cx="10360152" cy="822960"/>
          </a:xfrm>
          <a:prstGeom prst="rect">
            <a:avLst/>
          </a:prstGeom>
          <a:noFill/>
        </p:spPr>
        <p:txBody>
          <a:bodyPr wrap="square" anchor="t">
            <a:spAutoFit/>
          </a:bodyPr>
          <a:lstStyle/>
          <a:p>
            <a:pPr algn="ctr">
              <a:spcAft>
                <a:spcPts val="600"/>
              </a:spcAft>
            </a:pPr>
            <a:r>
              <a:rPr sz="3600" b="1" i="0">
                <a:solidFill>
                  <a:srgbClr val="1F4530"/>
                </a:solidFill>
                <a:latin typeface="Playfair Display"/>
              </a:rPr>
              <a:t>Pag-usapan Natin</a:t>
            </a:r>
          </a:p>
        </p:txBody>
      </p:sp>
      <p:sp>
        <p:nvSpPr>
          <p:cNvPr id="5" name="Rounded Rectangle 4"/>
          <p:cNvSpPr/>
          <p:nvPr/>
        </p:nvSpPr>
        <p:spPr>
          <a:xfrm>
            <a:off x="1828800" y="2377440"/>
            <a:ext cx="8531352" cy="100584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2377440"/>
            <a:ext cx="7799832" cy="1005840"/>
          </a:xfrm>
          <a:prstGeom prst="rect">
            <a:avLst/>
          </a:prstGeom>
          <a:noFill/>
        </p:spPr>
        <p:txBody>
          <a:bodyPr wrap="square" anchor="ctr">
            <a:spAutoFit/>
          </a:bodyPr>
          <a:lstStyle/>
          <a:p>
            <a:pPr algn="l">
              <a:spcAft>
                <a:spcPts val="600"/>
              </a:spcAft>
            </a:pPr>
            <a:r>
              <a:rPr sz="1700" b="0" i="0">
                <a:solidFill>
                  <a:srgbClr val="1A2E22"/>
                </a:solidFill>
                <a:latin typeface="DM Sans"/>
              </a:rPr>
              <a:t>1.  Sino ang nag-share ng Gospel / nag-disciple sa'yo? Paano nila ginawa?</a:t>
            </a:r>
          </a:p>
        </p:txBody>
      </p:sp>
      <p:sp>
        <p:nvSpPr>
          <p:cNvPr id="7" name="Rounded Rectangle 6"/>
          <p:cNvSpPr/>
          <p:nvPr/>
        </p:nvSpPr>
        <p:spPr>
          <a:xfrm>
            <a:off x="1828800" y="3611880"/>
            <a:ext cx="8531352" cy="100584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94560" y="3611880"/>
            <a:ext cx="7799832" cy="1005840"/>
          </a:xfrm>
          <a:prstGeom prst="rect">
            <a:avLst/>
          </a:prstGeom>
          <a:noFill/>
        </p:spPr>
        <p:txBody>
          <a:bodyPr wrap="square" anchor="ctr">
            <a:spAutoFit/>
          </a:bodyPr>
          <a:lstStyle/>
          <a:p>
            <a:pPr algn="l">
              <a:spcAft>
                <a:spcPts val="600"/>
              </a:spcAft>
            </a:pPr>
            <a:r>
              <a:rPr sz="1700" b="0" i="0">
                <a:solidFill>
                  <a:srgbClr val="1A2E22"/>
                </a:solidFill>
                <a:latin typeface="DM Sans"/>
              </a:rPr>
              <a:t>2.  Puwede bang paghiwalayin ang evangelism at discipleship?</a:t>
            </a:r>
          </a:p>
        </p:txBody>
      </p:sp>
      <p:sp>
        <p:nvSpPr>
          <p:cNvPr id="9" name="Rounded Rectangle 8"/>
          <p:cNvSpPr/>
          <p:nvPr/>
        </p:nvSpPr>
        <p:spPr>
          <a:xfrm>
            <a:off x="1828800" y="4846320"/>
            <a:ext cx="8531352" cy="1005840"/>
          </a:xfrm>
          <a:prstGeom prst="roundRect">
            <a:avLst>
              <a:gd name="adj" fmla="val 6000"/>
            </a:avLst>
          </a:prstGeom>
          <a:solidFill>
            <a:srgbClr val="F6F2E7"/>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94560" y="4846320"/>
            <a:ext cx="7799832" cy="1005840"/>
          </a:xfrm>
          <a:prstGeom prst="rect">
            <a:avLst/>
          </a:prstGeom>
          <a:noFill/>
        </p:spPr>
        <p:txBody>
          <a:bodyPr wrap="square" anchor="ctr">
            <a:spAutoFit/>
          </a:bodyPr>
          <a:lstStyle/>
          <a:p>
            <a:pPr algn="l">
              <a:spcAft>
                <a:spcPts val="600"/>
              </a:spcAft>
            </a:pPr>
            <a:r>
              <a:rPr sz="1700" b="0" i="0">
                <a:solidFill>
                  <a:srgbClr val="1A2E22"/>
                </a:solidFill>
                <a:latin typeface="DM Sans"/>
              </a:rPr>
              <a:t>3.  "People don't care how much you know…" — applicable ba sa discipleship?</a:t>
            </a:r>
          </a:p>
        </p:txBody>
      </p:sp>
      <p:sp>
        <p:nvSpPr>
          <p:cNvPr id="11" name="TextBox 10"/>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TUGON · 12 MIN</a:t>
            </a:r>
          </a:p>
        </p:txBody>
      </p:sp>
      <p:sp>
        <p:nvSpPr>
          <p:cNvPr id="4" name="TextBox 3"/>
          <p:cNvSpPr txBox="1"/>
          <p:nvPr/>
        </p:nvSpPr>
        <p:spPr>
          <a:xfrm>
            <a:off x="914400" y="1371600"/>
            <a:ext cx="10360152" cy="822960"/>
          </a:xfrm>
          <a:prstGeom prst="rect">
            <a:avLst/>
          </a:prstGeom>
          <a:noFill/>
        </p:spPr>
        <p:txBody>
          <a:bodyPr wrap="square" anchor="t">
            <a:spAutoFit/>
          </a:bodyPr>
          <a:lstStyle/>
          <a:p>
            <a:pPr algn="ctr">
              <a:spcAft>
                <a:spcPts val="600"/>
              </a:spcAft>
            </a:pPr>
            <a:r>
              <a:rPr sz="3200" b="1" i="0">
                <a:solidFill>
                  <a:srgbClr val="FDFBF6"/>
                </a:solidFill>
                <a:latin typeface="Playfair Display"/>
              </a:rPr>
              <a:t>Ang Pangako at ang mga Pangalan</a:t>
            </a:r>
          </a:p>
        </p:txBody>
      </p:sp>
      <p:sp>
        <p:nvSpPr>
          <p:cNvPr id="5" name="Rounded Rectangle 4"/>
          <p:cNvSpPr/>
          <p:nvPr/>
        </p:nvSpPr>
        <p:spPr>
          <a:xfrm>
            <a:off x="914400" y="2926080"/>
            <a:ext cx="4937760" cy="3108960"/>
          </a:xfrm>
          <a:prstGeom prst="roundRect">
            <a:avLst>
              <a:gd name="adj" fmla="val 6000"/>
            </a:avLst>
          </a:prstGeom>
          <a:solidFill>
            <a:srgbClr val="244A36"/>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154680"/>
            <a:ext cx="4389120" cy="2651760"/>
          </a:xfrm>
          <a:prstGeom prst="rect">
            <a:avLst/>
          </a:prstGeom>
          <a:noFill/>
        </p:spPr>
        <p:txBody>
          <a:bodyPr wrap="square" anchor="t">
            <a:spAutoFit/>
          </a:bodyPr>
          <a:lstStyle/>
          <a:p>
            <a:pPr algn="l">
              <a:spcAft>
                <a:spcPts val="800"/>
              </a:spcAft>
            </a:pPr>
            <a:r>
              <a:rPr sz="2200" b="1" i="0">
                <a:solidFill>
                  <a:srgbClr val="FDFBF6"/>
                </a:solidFill>
                <a:latin typeface="Playfair Display"/>
              </a:rPr>
              <a:t>Ang Pangako</a:t>
            </a:r>
          </a:p>
          <a:p>
            <a:pPr algn="l">
              <a:spcAft>
                <a:spcPts val="600"/>
              </a:spcAft>
            </a:pPr>
            <a:r>
              <a:rPr sz="1500" b="0" i="0">
                <a:solidFill>
                  <a:srgbClr val="FDFBF6"/>
                </a:solidFill>
                <a:latin typeface="DM Sans"/>
              </a:rPr>
              <a:t>Isulat ang pangako sa Mateo 28:20 — "…ako'y sumasainyo…"</a:t>
            </a:r>
          </a:p>
        </p:txBody>
      </p:sp>
      <p:sp>
        <p:nvSpPr>
          <p:cNvPr id="7" name="Rounded Rectangle 6"/>
          <p:cNvSpPr/>
          <p:nvPr/>
        </p:nvSpPr>
        <p:spPr>
          <a:xfrm>
            <a:off x="6336792" y="2926080"/>
            <a:ext cx="4937760" cy="3108960"/>
          </a:xfrm>
          <a:prstGeom prst="roundRect">
            <a:avLst>
              <a:gd name="adj" fmla="val 6000"/>
            </a:avLst>
          </a:prstGeom>
          <a:solidFill>
            <a:srgbClr val="244A36"/>
          </a:solidFill>
          <a:ln w="25400">
            <a:solidFill>
              <a:srgbClr val="2A5C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11112" y="3154680"/>
            <a:ext cx="4389120" cy="2651760"/>
          </a:xfrm>
          <a:prstGeom prst="rect">
            <a:avLst/>
          </a:prstGeom>
          <a:noFill/>
        </p:spPr>
        <p:txBody>
          <a:bodyPr wrap="square" anchor="t">
            <a:spAutoFit/>
          </a:bodyPr>
          <a:lstStyle/>
          <a:p>
            <a:pPr algn="l">
              <a:spcAft>
                <a:spcPts val="800"/>
              </a:spcAft>
            </a:pPr>
            <a:r>
              <a:rPr sz="2200" b="1" i="0">
                <a:solidFill>
                  <a:srgbClr val="FDFBF6"/>
                </a:solidFill>
                <a:latin typeface="Playfair Display"/>
              </a:rPr>
              <a:t>Ang mga Pangalan</a:t>
            </a:r>
          </a:p>
          <a:p>
            <a:pPr algn="l">
              <a:spcAft>
                <a:spcPts val="600"/>
              </a:spcAft>
            </a:pPr>
            <a:r>
              <a:rPr sz="1500" b="0" i="0">
                <a:solidFill>
                  <a:srgbClr val="FDFBF6"/>
                </a:solidFill>
                <a:latin typeface="DM Sans"/>
              </a:rPr>
              <a:t>3–5 tao na inilagay ng Diyos sa puso mo.</a:t>
            </a:r>
          </a:p>
          <a:p>
            <a:pPr algn="l">
              <a:spcAft>
                <a:spcPts val="600"/>
              </a:spcAft>
            </a:pPr>
            <a:r>
              <a:rPr sz="1500" b="0" i="0">
                <a:solidFill>
                  <a:srgbClr val="FDFBF6"/>
                </a:solidFill>
                <a:latin typeface="DM Sans"/>
              </a:rPr>
              <a:t>Ipanalangin agad.</a:t>
            </a:r>
          </a:p>
        </p:txBody>
      </p:sp>
      <p:sp>
        <p:nvSpPr>
          <p:cNvPr id="9" name="TextBox 8"/>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B8882A"/>
                </a:solidFill>
                <a:latin typeface="DM Sans"/>
              </a:rPr>
              <a:t>TUGON · ONE VERSE EVANGELISM</a:t>
            </a:r>
          </a:p>
        </p:txBody>
      </p:sp>
      <p:sp>
        <p:nvSpPr>
          <p:cNvPr id="4" name="TextBox 3"/>
          <p:cNvSpPr txBox="1"/>
          <p:nvPr/>
        </p:nvSpPr>
        <p:spPr>
          <a:xfrm>
            <a:off x="914400" y="1188720"/>
            <a:ext cx="10360152" cy="822960"/>
          </a:xfrm>
          <a:prstGeom prst="rect">
            <a:avLst/>
          </a:prstGeom>
          <a:noFill/>
        </p:spPr>
        <p:txBody>
          <a:bodyPr wrap="square" anchor="t">
            <a:spAutoFit/>
          </a:bodyPr>
          <a:lstStyle/>
          <a:p>
            <a:pPr algn="ctr">
              <a:spcAft>
                <a:spcPts val="600"/>
              </a:spcAft>
            </a:pPr>
            <a:r>
              <a:rPr sz="3200" b="1" i="0">
                <a:solidFill>
                  <a:srgbClr val="1F4530"/>
                </a:solidFill>
                <a:latin typeface="Playfair Display"/>
              </a:rPr>
              <a:t>Roma 6:23 — Isang Verse Lang</a:t>
            </a:r>
          </a:p>
        </p:txBody>
      </p:sp>
      <p:sp>
        <p:nvSpPr>
          <p:cNvPr id="5" name="Rounded Rectangle 4"/>
          <p:cNvSpPr/>
          <p:nvPr/>
        </p:nvSpPr>
        <p:spPr>
          <a:xfrm>
            <a:off x="1097280" y="2468880"/>
            <a:ext cx="4023360" cy="2468880"/>
          </a:xfrm>
          <a:prstGeom prst="roundRect">
            <a:avLst>
              <a:gd name="adj" fmla="val 6000"/>
            </a:avLst>
          </a:prstGeom>
          <a:solidFill>
            <a:srgbClr val="F6F2E7"/>
          </a:solidFill>
          <a:ln w="31750">
            <a:solidFill>
              <a:srgbClr val="A046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51760"/>
            <a:ext cx="3657600" cy="2103120"/>
          </a:xfrm>
          <a:prstGeom prst="rect">
            <a:avLst/>
          </a:prstGeom>
          <a:noFill/>
        </p:spPr>
        <p:txBody>
          <a:bodyPr wrap="square" anchor="ctr">
            <a:spAutoFit/>
          </a:bodyPr>
          <a:lstStyle/>
          <a:p>
            <a:pPr algn="ctr">
              <a:spcAft>
                <a:spcPts val="1000"/>
              </a:spcAft>
            </a:pPr>
            <a:r>
              <a:rPr sz="2200" b="1" i="0">
                <a:solidFill>
                  <a:srgbClr val="1F4530"/>
                </a:solidFill>
                <a:latin typeface="Playfair Display"/>
              </a:rPr>
              <a:t>Kabayaran</a:t>
            </a:r>
          </a:p>
          <a:p>
            <a:pPr algn="ctr">
              <a:spcAft>
                <a:spcPts val="1000"/>
              </a:spcAft>
            </a:pPr>
            <a:r>
              <a:rPr sz="2200" b="1" i="0">
                <a:solidFill>
                  <a:srgbClr val="1F4530"/>
                </a:solidFill>
                <a:latin typeface="Playfair Display"/>
              </a:rPr>
              <a:t>Kasalanan</a:t>
            </a:r>
          </a:p>
          <a:p>
            <a:pPr algn="ctr">
              <a:spcAft>
                <a:spcPts val="1000"/>
              </a:spcAft>
            </a:pPr>
            <a:r>
              <a:rPr sz="2200" b="1" i="0">
                <a:solidFill>
                  <a:srgbClr val="1F4530"/>
                </a:solidFill>
                <a:latin typeface="Playfair Display"/>
              </a:rPr>
              <a:t>Kamatayan</a:t>
            </a:r>
          </a:p>
        </p:txBody>
      </p:sp>
      <p:sp>
        <p:nvSpPr>
          <p:cNvPr id="7" name="Rounded Rectangle 6"/>
          <p:cNvSpPr/>
          <p:nvPr/>
        </p:nvSpPr>
        <p:spPr>
          <a:xfrm>
            <a:off x="7068312" y="2468880"/>
            <a:ext cx="4023360" cy="2468880"/>
          </a:xfrm>
          <a:prstGeom prst="roundRect">
            <a:avLst>
              <a:gd name="adj" fmla="val 6000"/>
            </a:avLst>
          </a:prstGeom>
          <a:solidFill>
            <a:srgbClr val="F6F2E7"/>
          </a:solidFill>
          <a:ln w="31750">
            <a:solidFill>
              <a:srgbClr val="4A7D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51192" y="2651760"/>
            <a:ext cx="3657600" cy="2103120"/>
          </a:xfrm>
          <a:prstGeom prst="rect">
            <a:avLst/>
          </a:prstGeom>
          <a:noFill/>
        </p:spPr>
        <p:txBody>
          <a:bodyPr wrap="square" anchor="ctr">
            <a:spAutoFit/>
          </a:bodyPr>
          <a:lstStyle/>
          <a:p>
            <a:pPr algn="ctr">
              <a:spcAft>
                <a:spcPts val="1000"/>
              </a:spcAft>
            </a:pPr>
            <a:r>
              <a:rPr sz="2000" b="1" i="0">
                <a:solidFill>
                  <a:srgbClr val="1F4530"/>
                </a:solidFill>
                <a:latin typeface="Playfair Display"/>
              </a:rPr>
              <a:t>Kaloob</a:t>
            </a:r>
          </a:p>
          <a:p>
            <a:pPr algn="ctr">
              <a:spcAft>
                <a:spcPts val="1000"/>
              </a:spcAft>
            </a:pPr>
            <a:r>
              <a:rPr sz="2000" b="1" i="0">
                <a:solidFill>
                  <a:srgbClr val="1F4530"/>
                </a:solidFill>
                <a:latin typeface="Playfair Display"/>
              </a:rPr>
              <a:t>Diyos</a:t>
            </a:r>
          </a:p>
          <a:p>
            <a:pPr algn="ctr">
              <a:spcAft>
                <a:spcPts val="1000"/>
              </a:spcAft>
            </a:pPr>
            <a:r>
              <a:rPr sz="1700" b="1" i="0">
                <a:solidFill>
                  <a:srgbClr val="1F4530"/>
                </a:solidFill>
                <a:latin typeface="Playfair Display"/>
              </a:rPr>
              <a:t>Buhay na Walang Hanggan</a:t>
            </a:r>
          </a:p>
        </p:txBody>
      </p:sp>
      <p:sp>
        <p:nvSpPr>
          <p:cNvPr id="9" name="TextBox 8"/>
          <p:cNvSpPr txBox="1"/>
          <p:nvPr/>
        </p:nvSpPr>
        <p:spPr>
          <a:xfrm>
            <a:off x="5120640" y="2926080"/>
            <a:ext cx="1947672" cy="1554480"/>
          </a:xfrm>
          <a:prstGeom prst="rect">
            <a:avLst/>
          </a:prstGeom>
          <a:noFill/>
        </p:spPr>
        <p:txBody>
          <a:bodyPr wrap="square" anchor="ctr">
            <a:spAutoFit/>
          </a:bodyPr>
          <a:lstStyle/>
          <a:p>
            <a:pPr algn="ctr">
              <a:spcAft>
                <a:spcPts val="600"/>
              </a:spcAft>
            </a:pPr>
            <a:r>
              <a:rPr sz="6000" b="1" i="0">
                <a:solidFill>
                  <a:srgbClr val="B8882A"/>
                </a:solidFill>
                <a:latin typeface="Playfair Display"/>
              </a:rPr>
              <a:t>✝</a:t>
            </a:r>
          </a:p>
        </p:txBody>
      </p:sp>
      <p:sp>
        <p:nvSpPr>
          <p:cNvPr id="10" name="TextBox 9"/>
          <p:cNvSpPr txBox="1"/>
          <p:nvPr/>
        </p:nvSpPr>
        <p:spPr>
          <a:xfrm>
            <a:off x="914400" y="5120640"/>
            <a:ext cx="10360152" cy="640080"/>
          </a:xfrm>
          <a:prstGeom prst="rect">
            <a:avLst/>
          </a:prstGeom>
          <a:noFill/>
        </p:spPr>
        <p:txBody>
          <a:bodyPr wrap="square" anchor="t">
            <a:spAutoFit/>
          </a:bodyPr>
          <a:lstStyle/>
          <a:p>
            <a:pPr algn="ctr">
              <a:spcAft>
                <a:spcPts val="600"/>
              </a:spcAft>
            </a:pPr>
            <a:r>
              <a:rPr sz="1400" b="0" i="0">
                <a:solidFill>
                  <a:srgbClr val="1A2E22"/>
                </a:solidFill>
                <a:latin typeface="DM Sans"/>
              </a:rPr>
              <a:t>Iguhit habang nag-uusap · krus sa gitna ang tulay · (Three Circles → Lesson 20)</a:t>
            </a:r>
          </a:p>
        </p:txBody>
      </p:sp>
      <p:sp>
        <p:nvSpPr>
          <p:cNvPr id="11" name="TextBox 10"/>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B8882A"/>
                </a:solidFill>
                <a:latin typeface="DM Sans"/>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DALHIN · 10 MIN</a:t>
            </a:r>
          </a:p>
        </p:txBody>
      </p:sp>
      <p:sp>
        <p:nvSpPr>
          <p:cNvPr id="4" name="TextBox 3"/>
          <p:cNvSpPr txBox="1"/>
          <p:nvPr/>
        </p:nvSpPr>
        <p:spPr>
          <a:xfrm>
            <a:off x="914400" y="1280160"/>
            <a:ext cx="10360152" cy="822960"/>
          </a:xfrm>
          <a:prstGeom prst="rect">
            <a:avLst/>
          </a:prstGeom>
          <a:noFill/>
        </p:spPr>
        <p:txBody>
          <a:bodyPr wrap="square" anchor="t">
            <a:spAutoFit/>
          </a:bodyPr>
          <a:lstStyle/>
          <a:p>
            <a:pPr algn="ctr">
              <a:spcAft>
                <a:spcPts val="600"/>
              </a:spcAft>
            </a:pPr>
            <a:r>
              <a:rPr sz="3600" b="1" i="0">
                <a:solidFill>
                  <a:srgbClr val="FDFBF6"/>
                </a:solidFill>
                <a:latin typeface="Playfair Display"/>
              </a:rPr>
              <a:t>Ang Tahimik na Tanong</a:t>
            </a:r>
          </a:p>
        </p:txBody>
      </p:sp>
      <p:sp>
        <p:nvSpPr>
          <p:cNvPr id="5" name="TextBox 4"/>
          <p:cNvSpPr txBox="1"/>
          <p:nvPr/>
        </p:nvSpPr>
        <p:spPr>
          <a:xfrm>
            <a:off x="1645920" y="2286000"/>
            <a:ext cx="8897112" cy="1097280"/>
          </a:xfrm>
          <a:prstGeom prst="rect">
            <a:avLst/>
          </a:prstGeom>
          <a:noFill/>
        </p:spPr>
        <p:txBody>
          <a:bodyPr wrap="square" anchor="t">
            <a:spAutoFit/>
          </a:bodyPr>
          <a:lstStyle/>
          <a:p>
            <a:pPr algn="ctr">
              <a:spcAft>
                <a:spcPts val="600"/>
              </a:spcAft>
            </a:pPr>
            <a:r>
              <a:rPr sz="1900" b="0" i="0">
                <a:solidFill>
                  <a:srgbClr val="FDFBF6"/>
                </a:solidFill>
                <a:latin typeface="DM Sans"/>
              </a:rPr>
              <a:t>EOLO bridge: pumili ng isa na hindi mo lang i-share-an — kundi commit kang hindi iiwan.</a:t>
            </a:r>
          </a:p>
        </p:txBody>
      </p:sp>
      <p:sp>
        <p:nvSpPr>
          <p:cNvPr id="6" name="TextBox 5"/>
          <p:cNvSpPr txBox="1"/>
          <p:nvPr/>
        </p:nvSpPr>
        <p:spPr>
          <a:xfrm>
            <a:off x="1097280" y="3657600"/>
            <a:ext cx="9994392" cy="1828800"/>
          </a:xfrm>
          <a:prstGeom prst="rect">
            <a:avLst/>
          </a:prstGeom>
          <a:noFill/>
        </p:spPr>
        <p:txBody>
          <a:bodyPr wrap="square" anchor="ctr">
            <a:spAutoFit/>
          </a:bodyPr>
          <a:lstStyle/>
          <a:p>
            <a:pPr algn="ctr">
              <a:spcAft>
                <a:spcPts val="800"/>
              </a:spcAft>
            </a:pPr>
            <a:r>
              <a:rPr sz="2600" b="1" i="1">
                <a:solidFill>
                  <a:srgbClr val="D4A854"/>
                </a:solidFill>
                <a:latin typeface="Playfair Display"/>
              </a:rPr>
              <a:t>Galit tayo sa nag-abandona ng sanggol.</a:t>
            </a:r>
          </a:p>
          <a:p>
            <a:pPr algn="ctr">
              <a:spcAft>
                <a:spcPts val="600"/>
              </a:spcAft>
            </a:pPr>
            <a:r>
              <a:rPr sz="2600" b="1" i="1">
                <a:solidFill>
                  <a:srgbClr val="D4A854"/>
                </a:solidFill>
                <a:latin typeface="Playfair Display"/>
              </a:rPr>
              <a:t>Pero may spiritual infant ba na ikaw ang nag-iwan?</a:t>
            </a:r>
          </a:p>
        </p:txBody>
      </p:sp>
      <p:sp>
        <p:nvSpPr>
          <p:cNvPr id="7" name="TextBox 6"/>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D4A854"/>
                </a:solidFill>
                <a:latin typeface="DM Sans"/>
              </a:rPr>
              <a:t>DALHIN · PANGAKO KO</a:t>
            </a:r>
          </a:p>
        </p:txBody>
      </p:sp>
      <p:sp>
        <p:nvSpPr>
          <p:cNvPr id="4" name="TextBox 3"/>
          <p:cNvSpPr txBox="1"/>
          <p:nvPr/>
        </p:nvSpPr>
        <p:spPr>
          <a:xfrm>
            <a:off x="914400" y="1280160"/>
            <a:ext cx="10360152" cy="731520"/>
          </a:xfrm>
          <a:prstGeom prst="rect">
            <a:avLst/>
          </a:prstGeom>
          <a:noFill/>
        </p:spPr>
        <p:txBody>
          <a:bodyPr wrap="square" anchor="t">
            <a:spAutoFit/>
          </a:bodyPr>
          <a:lstStyle/>
          <a:p>
            <a:pPr algn="ctr">
              <a:spcAft>
                <a:spcPts val="600"/>
              </a:spcAft>
            </a:pPr>
            <a:r>
              <a:rPr sz="3600" b="1" i="0">
                <a:solidFill>
                  <a:srgbClr val="FDFBF6"/>
                </a:solidFill>
                <a:latin typeface="Playfair Display"/>
              </a:rPr>
              <a:t>Pangako Ko</a:t>
            </a:r>
          </a:p>
        </p:txBody>
      </p:sp>
      <p:sp>
        <p:nvSpPr>
          <p:cNvPr id="5" name="Rounded Rectangle 4"/>
          <p:cNvSpPr/>
          <p:nvPr/>
        </p:nvSpPr>
        <p:spPr>
          <a:xfrm>
            <a:off x="2286000" y="2377440"/>
            <a:ext cx="7616952" cy="2926080"/>
          </a:xfrm>
          <a:prstGeom prst="roundRect">
            <a:avLst>
              <a:gd name="adj" fmla="val 6000"/>
            </a:avLst>
          </a:prstGeom>
          <a:solidFill>
            <a:srgbClr val="244A36"/>
          </a:solidFill>
          <a:ln w="25400">
            <a:solidFill>
              <a:srgbClr val="D4A8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0" y="2651760"/>
            <a:ext cx="6702552" cy="2377440"/>
          </a:xfrm>
          <a:prstGeom prst="rect">
            <a:avLst/>
          </a:prstGeom>
          <a:noFill/>
        </p:spPr>
        <p:txBody>
          <a:bodyPr wrap="square" anchor="ctr">
            <a:spAutoFit/>
          </a:bodyPr>
          <a:lstStyle/>
          <a:p>
            <a:pPr algn="l">
              <a:spcAft>
                <a:spcPts val="800"/>
              </a:spcAft>
            </a:pPr>
            <a:r>
              <a:rPr sz="2200" b="0" i="1">
                <a:solidFill>
                  <a:srgbClr val="FDFBF6"/>
                </a:solidFill>
                <a:latin typeface="Playfair Display"/>
              </a:rPr>
              <a:t>"Hindi ako magiging S.S.S. Christian.</a:t>
            </a:r>
          </a:p>
          <a:p>
            <a:pPr algn="l">
              <a:spcAft>
                <a:spcPts val="800"/>
              </a:spcAft>
            </a:pPr>
            <a:r>
              <a:rPr sz="2200" b="0" i="1">
                <a:solidFill>
                  <a:srgbClr val="FDFBF6"/>
                </a:solidFill>
                <a:latin typeface="Playfair Display"/>
              </a:rPr>
              <a:t>Hahayo ako — saksi at sugo.</a:t>
            </a:r>
          </a:p>
          <a:p>
            <a:pPr algn="l">
              <a:spcAft>
                <a:spcPts val="800"/>
              </a:spcAft>
            </a:pPr>
            <a:r>
              <a:rPr sz="2200" b="0" i="1">
                <a:solidFill>
                  <a:srgbClr val="FDFBF6"/>
                </a:solidFill>
                <a:latin typeface="Playfair Display"/>
              </a:rPr>
              <a:t>At ang isisilang ko sa pananampalataya,</a:t>
            </a:r>
          </a:p>
          <a:p>
            <a:pPr algn="l">
              <a:spcAft>
                <a:spcPts val="800"/>
              </a:spcAft>
            </a:pPr>
            <a:r>
              <a:rPr sz="2200" b="0" i="1">
                <a:solidFill>
                  <a:srgbClr val="FDFBF6"/>
                </a:solidFill>
                <a:latin typeface="Playfair Display"/>
              </a:rPr>
              <a:t>hindi ko iiwan hanggang siya'y lumago."</a:t>
            </a:r>
          </a:p>
        </p:txBody>
      </p:sp>
      <p:sp>
        <p:nvSpPr>
          <p:cNvPr id="7" name="TextBox 6"/>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D4A854"/>
                </a:solidFill>
                <a:latin typeface="DM Sans"/>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B888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60152" cy="457200"/>
          </a:xfrm>
          <a:prstGeom prst="rect">
            <a:avLst/>
          </a:prstGeom>
          <a:noFill/>
        </p:spPr>
        <p:txBody>
          <a:bodyPr wrap="square" anchor="t">
            <a:spAutoFit/>
          </a:bodyPr>
          <a:lstStyle/>
          <a:p>
            <a:pPr algn="ctr">
              <a:spcAft>
                <a:spcPts val="600"/>
              </a:spcAft>
            </a:pPr>
            <a:r>
              <a:rPr sz="1300" b="1" i="0">
                <a:solidFill>
                  <a:srgbClr val="1F4530"/>
                </a:solidFill>
                <a:latin typeface="DM Sans"/>
              </a:rPr>
              <a:t>SUSUNOD</a:t>
            </a:r>
          </a:p>
        </p:txBody>
      </p:sp>
      <p:sp>
        <p:nvSpPr>
          <p:cNvPr id="4" name="TextBox 3"/>
          <p:cNvSpPr txBox="1"/>
          <p:nvPr/>
        </p:nvSpPr>
        <p:spPr>
          <a:xfrm>
            <a:off x="914400" y="1554480"/>
            <a:ext cx="10360152" cy="822960"/>
          </a:xfrm>
          <a:prstGeom prst="rect">
            <a:avLst/>
          </a:prstGeom>
          <a:noFill/>
        </p:spPr>
        <p:txBody>
          <a:bodyPr wrap="square" anchor="t">
            <a:spAutoFit/>
          </a:bodyPr>
          <a:lstStyle/>
          <a:p>
            <a:pPr algn="ctr">
              <a:spcAft>
                <a:spcPts val="600"/>
              </a:spcAft>
            </a:pPr>
            <a:r>
              <a:rPr sz="3600" b="1" i="0">
                <a:solidFill>
                  <a:srgbClr val="1F4530"/>
                </a:solidFill>
                <a:latin typeface="Playfair Display"/>
              </a:rPr>
              <a:t>Lesson 10 — Ministry</a:t>
            </a:r>
          </a:p>
        </p:txBody>
      </p:sp>
      <p:sp>
        <p:nvSpPr>
          <p:cNvPr id="5" name="TextBox 4"/>
          <p:cNvSpPr txBox="1"/>
          <p:nvPr/>
        </p:nvSpPr>
        <p:spPr>
          <a:xfrm>
            <a:off x="1645920" y="2651760"/>
            <a:ext cx="8897112" cy="1097280"/>
          </a:xfrm>
          <a:prstGeom prst="rect">
            <a:avLst/>
          </a:prstGeom>
          <a:noFill/>
        </p:spPr>
        <p:txBody>
          <a:bodyPr wrap="square" anchor="t">
            <a:spAutoFit/>
          </a:bodyPr>
          <a:lstStyle/>
          <a:p>
            <a:pPr algn="ctr">
              <a:spcAft>
                <a:spcPts val="600"/>
              </a:spcAft>
            </a:pPr>
            <a:r>
              <a:rPr sz="2000" b="0" i="0">
                <a:solidFill>
                  <a:srgbClr val="1F4530"/>
                </a:solidFill>
                <a:latin typeface="DM Sans"/>
              </a:rPr>
              <a:t>Paglilingkod sa Diyos at Kapwa. Saan ka ilalagay ng iyong spiritual gifts?</a:t>
            </a:r>
          </a:p>
        </p:txBody>
      </p:sp>
      <p:sp>
        <p:nvSpPr>
          <p:cNvPr id="6" name="TextBox 5"/>
          <p:cNvSpPr txBox="1"/>
          <p:nvPr/>
        </p:nvSpPr>
        <p:spPr>
          <a:xfrm>
            <a:off x="1097280" y="3931920"/>
            <a:ext cx="9994392" cy="1097280"/>
          </a:xfrm>
          <a:prstGeom prst="rect">
            <a:avLst/>
          </a:prstGeom>
          <a:noFill/>
        </p:spPr>
        <p:txBody>
          <a:bodyPr wrap="square" anchor="ctr">
            <a:spAutoFit/>
          </a:bodyPr>
          <a:lstStyle/>
          <a:p>
            <a:pPr algn="ctr">
              <a:spcAft>
                <a:spcPts val="600"/>
              </a:spcAft>
            </a:pPr>
            <a:r>
              <a:rPr sz="2800" b="1" i="1">
                <a:solidFill>
                  <a:srgbClr val="143020"/>
                </a:solidFill>
                <a:latin typeface="Playfair Display"/>
              </a:rPr>
              <a:t>Memorize: Mateo 28:19–20</a:t>
            </a:r>
          </a:p>
        </p:txBody>
      </p:sp>
      <p:sp>
        <p:nvSpPr>
          <p:cNvPr id="7" name="TextBox 6"/>
          <p:cNvSpPr txBox="1"/>
          <p:nvPr/>
        </p:nvSpPr>
        <p:spPr>
          <a:xfrm>
            <a:off x="10515600" y="6355080"/>
            <a:ext cx="1463040" cy="365760"/>
          </a:xfrm>
          <a:prstGeom prst="rect">
            <a:avLst/>
          </a:prstGeom>
          <a:noFill/>
        </p:spPr>
        <p:txBody>
          <a:bodyPr wrap="square" anchor="b">
            <a:spAutoFit/>
          </a:bodyPr>
          <a:lstStyle/>
          <a:p>
            <a:pPr algn="r">
              <a:spcAft>
                <a:spcPts val="600"/>
              </a:spcAft>
            </a:pPr>
            <a:r>
              <a:rPr sz="1000" b="1" i="0">
                <a:solidFill>
                  <a:srgbClr val="1F4530"/>
                </a:solidFill>
                <a:latin typeface="DM Sans"/>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
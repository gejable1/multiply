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74" r:id="rId6"/>
    <p:sldId id="260" r:id="rId7"/>
    <p:sldId id="261" r:id="rId8"/>
    <p:sldId id="262" r:id="rId9"/>
    <p:sldId id="263" r:id="rId10"/>
    <p:sldId id="264" r:id="rId11"/>
    <p:sldId id="275" r:id="rId12"/>
    <p:sldId id="265" r:id="rId13"/>
    <p:sldId id="266" r:id="rId14"/>
    <p:sldId id="276" r:id="rId15"/>
    <p:sldId id="277" r:id="rId16"/>
    <p:sldId id="267" r:id="rId17"/>
    <p:sldId id="278" r:id="rId18"/>
    <p:sldId id="268" r:id="rId19"/>
    <p:sldId id="269" r:id="rId20"/>
    <p:sldId id="270" r:id="rId21"/>
    <p:sldId id="271" r:id="rId22"/>
    <p:sldId id="272" r:id="rId23"/>
    <p:sldId id="273" r:id="rId2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51578" autoAdjust="0"/>
  </p:normalViewPr>
  <p:slideViewPr>
    <p:cSldViewPr snapToGrid="0" snapToObjects="1">
      <p:cViewPr varScale="1">
        <p:scale>
          <a:sx n="56" d="100"/>
          <a:sy n="56" d="100"/>
        </p:scale>
        <p:origin x="2146" y="43"/>
      </p:cViewPr>
      <p:guideLst/>
    </p:cSldViewPr>
  </p:slideViewPr>
  <p:notesTextViewPr>
    <p:cViewPr>
      <p:scale>
        <a:sx n="150" d="100"/>
        <a:sy n="15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806000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2200" dirty="0"/>
              <a:t>BIBLE MEDITATION - Lesson 2. ~55 min core. </a:t>
            </a:r>
            <a:endParaRPr lang="en-US" sz="2200" dirty="0"/>
          </a:p>
          <a:p>
            <a:r>
              <a:rPr sz="2200" dirty="0"/>
              <a:t>Character anchor: Faithfulness - same as L1, but L1 taught talking TO God (prayer), L2 teaches LISTENING (the Word). </a:t>
            </a:r>
            <a:endParaRPr lang="en-US" sz="2200" dirty="0"/>
          </a:p>
          <a:p>
            <a:r>
              <a:rPr sz="2200" dirty="0"/>
              <a:t>Competence: S.O.A.P.S Journal. </a:t>
            </a:r>
            <a:endParaRPr lang="en-US" sz="2200" dirty="0"/>
          </a:p>
          <a:p>
            <a:r>
              <a:rPr sz="2200" dirty="0"/>
              <a:t>Memory verse: Awit 1:2. Pre-session: TV tested, Love Letter + 'Word of God Speak' videos pre-cued, </a:t>
            </a:r>
            <a:endParaRPr lang="en-US" sz="2200" dirty="0"/>
          </a:p>
          <a:p>
            <a:r>
              <a:rPr sz="2200" dirty="0"/>
              <a:t>S.O.A.P.S printouts (1/pax), pens, memory-verse cards, </a:t>
            </a:r>
            <a:r>
              <a:rPr sz="2200" dirty="0" err="1"/>
              <a:t>Filipos</a:t>
            </a:r>
            <a:r>
              <a:rPr sz="2200" dirty="0"/>
              <a:t> 4:6-7 copies, timer visible. </a:t>
            </a:r>
            <a:endParaRPr lang="en-US" sz="2200" dirty="0"/>
          </a:p>
          <a:p>
            <a:r>
              <a:rPr sz="2200" dirty="0"/>
              <a:t>Brief interns: celebrate prayer-pact misses gently; model filling S.O.A.P.S at tables (don't lecture); the Sharing letter is the EOLO bridge to evangelism.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PUKAW ~2 min (target 2:00). </a:t>
            </a:r>
            <a:endParaRPr lang="en-US" dirty="0"/>
          </a:p>
          <a:p>
            <a:r>
              <a:rPr dirty="0"/>
              <a:t>STAND UP, no slides yet, look at faces. </a:t>
            </a:r>
            <a:endParaRPr lang="en-US" dirty="0"/>
          </a:p>
          <a:p>
            <a:r>
              <a:rPr dirty="0"/>
              <a:t>ASK: </a:t>
            </a:r>
            <a:endParaRPr lang="en-US" dirty="0"/>
          </a:p>
          <a:p>
            <a:pPr marL="171450" indent="-171450">
              <a:buFont typeface="Arial" panose="020B0604020202020204" pitchFamily="34" charset="0"/>
              <a:buChar char="•"/>
            </a:pPr>
            <a:r>
              <a:rPr dirty="0"/>
              <a:t>'</a:t>
            </a:r>
            <a:r>
              <a:rPr dirty="0" err="1"/>
              <a:t>Kumusta</a:t>
            </a:r>
            <a:r>
              <a:rPr dirty="0"/>
              <a:t> ang prayer pact natin from last week? </a:t>
            </a:r>
            <a:endParaRPr lang="en-US" dirty="0"/>
          </a:p>
          <a:p>
            <a:pPr marL="171450" indent="-171450">
              <a:buFont typeface="Arial" panose="020B0604020202020204" pitchFamily="34" charset="0"/>
              <a:buChar char="•"/>
            </a:pPr>
            <a:r>
              <a:rPr dirty="0"/>
              <a:t>Sino ang nag-ACTS prayer </a:t>
            </a:r>
            <a:r>
              <a:rPr dirty="0" err="1"/>
              <a:t>kahit</a:t>
            </a:r>
            <a:r>
              <a:rPr dirty="0"/>
              <a:t> </a:t>
            </a:r>
            <a:r>
              <a:rPr dirty="0" err="1"/>
              <a:t>isang</a:t>
            </a:r>
            <a:r>
              <a:rPr dirty="0"/>
              <a:t> </a:t>
            </a:r>
            <a:r>
              <a:rPr dirty="0" err="1"/>
              <a:t>beses</a:t>
            </a:r>
            <a:r>
              <a:rPr dirty="0"/>
              <a:t> </a:t>
            </a:r>
            <a:r>
              <a:rPr dirty="0" err="1"/>
              <a:t>ngayong</a:t>
            </a:r>
            <a:r>
              <a:rPr dirty="0"/>
              <a:t> </a:t>
            </a:r>
            <a:r>
              <a:rPr dirty="0" err="1"/>
              <a:t>linggo</a:t>
            </a:r>
            <a:r>
              <a:rPr dirty="0"/>
              <a:t>? </a:t>
            </a:r>
            <a:endParaRPr lang="en-US" dirty="0"/>
          </a:p>
          <a:p>
            <a:pPr marL="171450" indent="-171450">
              <a:buFont typeface="Arial" panose="020B0604020202020204" pitchFamily="34" charset="0"/>
              <a:buChar char="•"/>
            </a:pPr>
            <a:r>
              <a:rPr dirty="0" err="1"/>
              <a:t>Itaas</a:t>
            </a:r>
            <a:r>
              <a:rPr dirty="0"/>
              <a:t> ang </a:t>
            </a:r>
            <a:r>
              <a:rPr dirty="0" err="1"/>
              <a:t>kamay</a:t>
            </a:r>
            <a:r>
              <a:rPr dirty="0"/>
              <a:t>.' </a:t>
            </a:r>
            <a:endParaRPr lang="en-US" dirty="0"/>
          </a:p>
          <a:p>
            <a:r>
              <a:rPr dirty="0"/>
              <a:t>Take 2-3 VOLUNTARY shares - never shame the misses (celebration culture). </a:t>
            </a:r>
            <a:endParaRPr lang="en-US" dirty="0"/>
          </a:p>
          <a:p>
            <a:r>
              <a:rPr dirty="0"/>
              <a:t>PASTORAL: L1's anchor was Faithfulness (daily prayer); L2's is also Faithfulness (daily Word). </a:t>
            </a:r>
            <a:endParaRPr lang="en-US" dirty="0"/>
          </a:p>
          <a:p>
            <a:r>
              <a:rPr dirty="0"/>
              <a:t>The callback bridges: both halves of the conversation count - we celebrated talking, now we add listening.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PUKAW ~1 min (target 3:00). Play the 'Love Letter' video. </a:t>
            </a:r>
            <a:endParaRPr lang="en-US" dirty="0"/>
          </a:p>
          <a:p>
            <a:r>
              <a:rPr dirty="0"/>
              <a:t>If no internet, narrate the Forrest </a:t>
            </a:r>
            <a:r>
              <a:rPr dirty="0" err="1"/>
              <a:t>Lunsway</a:t>
            </a:r>
            <a:r>
              <a:rPr dirty="0"/>
              <a:t> story orally. Emotional on-ramp to '</a:t>
            </a:r>
            <a:r>
              <a:rPr dirty="0" err="1"/>
              <a:t>grabeng</a:t>
            </a:r>
            <a:r>
              <a:rPr dirty="0"/>
              <a:t> </a:t>
            </a:r>
            <a:r>
              <a:rPr dirty="0" err="1"/>
              <a:t>pagmamahal</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PUKAW ~2 min (target 5:00). </a:t>
            </a:r>
            <a:endParaRPr lang="en-US" dirty="0"/>
          </a:p>
          <a:p>
            <a:r>
              <a:rPr dirty="0"/>
              <a:t>Forrest &amp; Rose: </a:t>
            </a:r>
            <a:endParaRPr lang="en-US" dirty="0"/>
          </a:p>
          <a:p>
            <a:r>
              <a:rPr dirty="0"/>
              <a:t>1983 - 72-y/o Forrest meets 62-y/o Rose, </a:t>
            </a:r>
            <a:r>
              <a:rPr dirty="0" err="1"/>
              <a:t>na</a:t>
            </a:r>
            <a:r>
              <a:rPr dirty="0"/>
              <a:t>-basted. </a:t>
            </a:r>
            <a:endParaRPr lang="en-US" dirty="0"/>
          </a:p>
          <a:p>
            <a:r>
              <a:rPr dirty="0"/>
              <a:t>20 years of pursuit, 40-mile drives. </a:t>
            </a:r>
            <a:endParaRPr lang="en-US" dirty="0"/>
          </a:p>
          <a:p>
            <a:r>
              <a:rPr dirty="0"/>
              <a:t>2003 - Rose jokes she'll marry him at 100; he takes it seriously and marries her on her 100th birthday - 'The Oldest Newlyweds.' 30 years of </a:t>
            </a:r>
            <a:r>
              <a:rPr dirty="0" err="1"/>
              <a:t>pagsusuyuan</a:t>
            </a:r>
            <a:r>
              <a:rPr dirty="0"/>
              <a:t>. </a:t>
            </a:r>
            <a:endParaRPr lang="en-US" dirty="0"/>
          </a:p>
          <a:p>
            <a:r>
              <a:rPr dirty="0"/>
              <a:t>Tee up the pivot (2 slides ahead): if Forrest's 30-year love is </a:t>
            </a:r>
            <a:r>
              <a:rPr dirty="0" err="1"/>
              <a:t>grabe</a:t>
            </a:r>
            <a:r>
              <a:rPr dirty="0"/>
              <a:t>, God's is 1,500 years.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PUKAW ~2 min (target 7:00). </a:t>
            </a:r>
            <a:endParaRPr lang="en-US" dirty="0"/>
          </a:p>
          <a:p>
            <a:r>
              <a:rPr dirty="0"/>
              <a:t>PARTICIPANT GUIDE QUESTION - to tables (90 sec each, in pairs): 'Ano ang </a:t>
            </a:r>
            <a:r>
              <a:rPr dirty="0" err="1"/>
              <a:t>pinakanakakakilig</a:t>
            </a:r>
            <a:r>
              <a:rPr dirty="0"/>
              <a:t> </a:t>
            </a:r>
            <a:r>
              <a:rPr dirty="0" err="1"/>
              <a:t>na</a:t>
            </a:r>
            <a:r>
              <a:rPr dirty="0"/>
              <a:t> gesture of love </a:t>
            </a:r>
            <a:r>
              <a:rPr dirty="0" err="1"/>
              <a:t>na</a:t>
            </a:r>
            <a:r>
              <a:rPr dirty="0"/>
              <a:t> </a:t>
            </a:r>
            <a:r>
              <a:rPr dirty="0" err="1"/>
              <a:t>narinig</a:t>
            </a:r>
            <a:r>
              <a:rPr dirty="0"/>
              <a:t>, </a:t>
            </a:r>
            <a:r>
              <a:rPr dirty="0" err="1"/>
              <a:t>nabalitaan</a:t>
            </a:r>
            <a:r>
              <a:rPr dirty="0"/>
              <a:t>, o </a:t>
            </a:r>
            <a:r>
              <a:rPr dirty="0" err="1"/>
              <a:t>naranasan</a:t>
            </a:r>
            <a:r>
              <a:rPr dirty="0"/>
              <a:t> </a:t>
            </a:r>
            <a:r>
              <a:rPr dirty="0" err="1"/>
              <a:t>mo</a:t>
            </a:r>
            <a:r>
              <a:rPr dirty="0"/>
              <a:t>?' </a:t>
            </a:r>
            <a:endParaRPr lang="en-US" dirty="0"/>
          </a:p>
          <a:p>
            <a:r>
              <a:rPr dirty="0"/>
              <a:t>Ask, then sit with the silence. This surfaces their felt experience of love, which you redirect to God's greater love next.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PUKAW ~1 min (target 8:00). </a:t>
            </a:r>
            <a:endParaRPr lang="en-US" dirty="0"/>
          </a:p>
          <a:p>
            <a:r>
              <a:rPr dirty="0"/>
              <a:t>PAYOFF: 'Kung </a:t>
            </a:r>
            <a:r>
              <a:rPr dirty="0" err="1"/>
              <a:t>grabe</a:t>
            </a:r>
            <a:r>
              <a:rPr dirty="0"/>
              <a:t> ang 30-taon </a:t>
            </a:r>
            <a:r>
              <a:rPr dirty="0" err="1"/>
              <a:t>ni</a:t>
            </a:r>
            <a:r>
              <a:rPr dirty="0"/>
              <a:t> Forrest - ang Dios? </a:t>
            </a:r>
            <a:endParaRPr lang="en-US" dirty="0"/>
          </a:p>
          <a:p>
            <a:r>
              <a:rPr dirty="0"/>
              <a:t>1,500 </a:t>
            </a:r>
            <a:r>
              <a:rPr dirty="0" err="1"/>
              <a:t>taon</a:t>
            </a:r>
            <a:r>
              <a:rPr dirty="0"/>
              <a:t>. 40 writers. 66 books. Para </a:t>
            </a:r>
            <a:r>
              <a:rPr dirty="0" err="1"/>
              <a:t>ihatid</a:t>
            </a:r>
            <a:r>
              <a:rPr dirty="0"/>
              <a:t> </a:t>
            </a:r>
            <a:r>
              <a:rPr dirty="0" err="1"/>
              <a:t>sa'yo</a:t>
            </a:r>
            <a:r>
              <a:rPr dirty="0"/>
              <a:t> ang puso Niya.' </a:t>
            </a:r>
            <a:r>
              <a:rPr dirty="0" err="1"/>
              <a:t>Grabeng</a:t>
            </a:r>
            <a:r>
              <a:rPr dirty="0"/>
              <a:t> effort, </a:t>
            </a:r>
            <a:r>
              <a:rPr dirty="0" err="1"/>
              <a:t>pagtatapat</a:t>
            </a:r>
            <a:r>
              <a:rPr dirty="0"/>
              <a:t>, </a:t>
            </a:r>
            <a:r>
              <a:rPr dirty="0" err="1"/>
              <a:t>pagmamahal</a:t>
            </a:r>
            <a:r>
              <a:rPr dirty="0"/>
              <a:t>. Lands the Big Idea.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TUKLAS ~2 min (target 10:00). BIG IDEA - read slowly, let it sit: 'Imposibleng lumalim ang pagmamahal sa Dios kung hindi lumalim ang pagmamahal sa Kaniyang Salita.' Thesis of the whole lesson.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TUKLAS ~3 min (target 13:00). Read aloud Awit 1:2-3 (memory verse) + Joshua 1:8. The blessed person meditates day and night - like a tree by streams of water, fruitful in season, leaf never withering. Meditation is the root of fruitfulness.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TUKLAS ~3 min (target 16:00). DEFINE: Devotion (Latin) = 'pag-aalay ng sarili' - not a ritual, a self-offering born of love. Meditation (Hebrew) = 'mamutawi lagi sa labi.' IMAGE: rumination - the cow, 4 stomachs: kumain, ngumuya, lulunukin, isusuka, ngunguya ulit - hanggang ma-absorb. CONTRAST: Hindu empties the mind; Biblical FILLS it with God's thoughts.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TUKLAS ~4 min (target 20:00). Walk the 5 roles FAST - 1 verse, 1 line each; don't over-teach (it's in their Participant Guide). 1) Katotohanan (John 17:3). 2) Spiritual Food (Matt 4:4) - 'kahit si Pacquiao kaya mong talunin kung gugutumin.' 3) Sandata/Sword (Heb 4:12) - ginamit ni Hesus laban kay Satan. 4) Salamin (James 1:22-23). 5) Tanglaw (Awit 119:105).</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TUKLAS ~3 min (target 23:00). PARTICIPANT GUIDE QUESTION (90-sec SILENT, written in the Participant Guide): 'Sa 5 roles, ano ang pinakakailangan mo ngayon? Bakit?' No one answers aloud. PASTORAL: longtime believers often pick Salamin (need conviction) or Sandata (in a fight); newer believers pick Food (hungry) or Tanglaw (disoriented). Note the season - data for follow-up.</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TALAKAY ~1 min (target 24:00). Frame Mateo 13: same seed, different soil, different outcome. Iba-iba ang response ng puso. Set up the table discussion.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TALAKAY ~2 min (target 26:00). The 4 soils: Tabing-Kalsada (v.4,19) snatched by the devil. Mabato (v.5-6,20-21) shallow roots, falls in trials. Matinik (v.7,22) divided by worldliness. Mataba (v.8,23) received, responded, obeyed, flourished. Ask them to identify their heart's soil now.</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TALAKAY ~2 min (target 28:00). PARTICIPANT GUIDE QUESTION - table discussion: 'Anong klaseng lupa ang puso mo ngayon? Bakit mo napili iyon?' PASTORAL: watch which soil people pick - pastoral data for follow-up. Don't force sharing; some answer only in their Participant Guide.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TALAKAY ~2 min (target 30:00). PARTICIPANT GUIDE QUESTION - table discussion: 'Ano ang pangunahing dahilan kung minsan hindi ka nakakapag-devotion?' Surface the honest, common barriers (busyness, tiredness, phone, guilt). Normalize the struggle - the point isn't confession, it's honesty that opens the way to the remedy.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TALAKAY ~2 min (target 32:00). </a:t>
            </a:r>
            <a:endParaRPr lang="en-US" dirty="0"/>
          </a:p>
          <a:p>
            <a:r>
              <a:rPr lang="en-US" i="1" dirty="0"/>
              <a:t>AW Tozer, a pastor, author and devotional writer is known for his book “The Pursuit of God” written to encourage believers to know God deeply.</a:t>
            </a:r>
          </a:p>
          <a:p>
            <a:r>
              <a:rPr dirty="0"/>
              <a:t>The Tozer quote - the sharp edge: 'Whatever keeps me from my Bible is my enemy, however harmless it may appear to me.'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TALAKAY ~2 min (target 34:00). PARTICIPANT GUIDE QUESTION: 'Sang-ayon ka ba kay Tozer? Bakit o bakit hindi?' Let them wrestle. Then take 1-2 VOLUNTARY whole-room shares before moving on. Anything (even 'harmless') that keeps me from the Word is an enemy.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TALAKAY ~1 min (target 35:00). Devotion-opener prayer, 1 Samuel 3:10: '</a:t>
            </a:r>
            <a:r>
              <a:rPr dirty="0" err="1"/>
              <a:t>Mangusap</a:t>
            </a:r>
            <a:r>
              <a:rPr dirty="0"/>
              <a:t> po kayo, </a:t>
            </a:r>
            <a:r>
              <a:rPr dirty="0" err="1"/>
              <a:t>nakikinig</a:t>
            </a:r>
            <a:r>
              <a:rPr dirty="0"/>
              <a:t> ang </a:t>
            </a:r>
            <a:r>
              <a:rPr dirty="0" err="1"/>
              <a:t>inyong</a:t>
            </a:r>
            <a:r>
              <a:rPr dirty="0"/>
              <a:t> </a:t>
            </a:r>
            <a:r>
              <a:rPr dirty="0" err="1"/>
              <a:t>lingkod</a:t>
            </a:r>
            <a:r>
              <a:rPr dirty="0"/>
              <a:t>.' </a:t>
            </a:r>
            <a:r>
              <a:rPr dirty="0" err="1"/>
              <a:t>Iisang</a:t>
            </a:r>
            <a:r>
              <a:rPr dirty="0"/>
              <a:t> </a:t>
            </a:r>
            <a:r>
              <a:rPr dirty="0" err="1"/>
              <a:t>linya</a:t>
            </a:r>
            <a:r>
              <a:rPr dirty="0"/>
              <a:t>. Before opening the Bible tomorrow - before caffeine - pray this. It asks the Spirit to open your mind before you open the book (Samuel posture).</a:t>
            </a:r>
            <a:endParaRPr lang="en-US" dirty="0"/>
          </a:p>
          <a:p>
            <a:r>
              <a:rPr lang="en-US" dirty="0"/>
              <a:t>CAUTION story: </a:t>
            </a:r>
          </a:p>
          <a:p>
            <a:r>
              <a:rPr lang="en-US" dirty="0"/>
              <a:t>⚠️ The Prince of Grenada </a:t>
            </a:r>
          </a:p>
          <a:p>
            <a:r>
              <a:rPr lang="en-US" dirty="0"/>
              <a:t>Tell this near the end of TALAKAY: A prisoner in Grenada was kept in solitary for 33 years with nothing but a Bible. When he died, his cell walls were covered with Bible trivia — chapter counts, longest word, number of times a name appears. But no evidence he ever met God. Information without transformation. "</a:t>
            </a:r>
            <a:r>
              <a:rPr lang="en-US" dirty="0" err="1"/>
              <a:t>Huwag</a:t>
            </a:r>
            <a:r>
              <a:rPr lang="en-US" dirty="0"/>
              <a:t> lang </a:t>
            </a:r>
            <a:r>
              <a:rPr lang="en-US" dirty="0" err="1"/>
              <a:t>sanang</a:t>
            </a:r>
            <a:r>
              <a:rPr lang="en-US" dirty="0"/>
              <a:t> </a:t>
            </a:r>
            <a:r>
              <a:rPr lang="en-US" dirty="0" err="1"/>
              <a:t>lumalim</a:t>
            </a:r>
            <a:r>
              <a:rPr lang="en-US" dirty="0"/>
              <a:t> ang </a:t>
            </a:r>
            <a:r>
              <a:rPr lang="en-US" dirty="0" err="1"/>
              <a:t>pagkaalam</a:t>
            </a:r>
            <a:r>
              <a:rPr lang="en-US" dirty="0"/>
              <a:t> natin </a:t>
            </a:r>
            <a:r>
              <a:rPr lang="en-US" dirty="0" err="1"/>
              <a:t>sa</a:t>
            </a:r>
            <a:r>
              <a:rPr lang="en-US" dirty="0"/>
              <a:t> Salita ng Dios </a:t>
            </a:r>
            <a:r>
              <a:rPr lang="en-US" dirty="0" err="1"/>
              <a:t>kundi</a:t>
            </a:r>
            <a:r>
              <a:rPr lang="en-US" dirty="0"/>
              <a:t> </a:t>
            </a:r>
            <a:r>
              <a:rPr lang="en-US" dirty="0" err="1"/>
              <a:t>lumalim</a:t>
            </a:r>
            <a:r>
              <a:rPr lang="en-US" dirty="0"/>
              <a:t> ang </a:t>
            </a:r>
            <a:r>
              <a:rPr lang="en-US" dirty="0" err="1"/>
              <a:t>pagkakilala</a:t>
            </a:r>
            <a:r>
              <a:rPr lang="en-US" dirty="0"/>
              <a:t> natin </a:t>
            </a:r>
            <a:r>
              <a:rPr lang="en-US" dirty="0" err="1"/>
              <a:t>sa</a:t>
            </a:r>
            <a:r>
              <a:rPr lang="en-US" dirty="0"/>
              <a:t> Dios."</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GAWIN ~4 min (target 39:00). Teach S.O.A.P.S (don't lecture - practice next): S-</a:t>
            </a:r>
            <a:r>
              <a:rPr dirty="0" err="1"/>
              <a:t>cripture</a:t>
            </a:r>
            <a:r>
              <a:rPr dirty="0"/>
              <a:t>, O-</a:t>
            </a:r>
            <a:r>
              <a:rPr dirty="0" err="1"/>
              <a:t>bservation</a:t>
            </a:r>
            <a:r>
              <a:rPr dirty="0"/>
              <a:t> (</a:t>
            </a:r>
            <a:r>
              <a:rPr dirty="0" err="1"/>
              <a:t>sino</a:t>
            </a:r>
            <a:r>
              <a:rPr dirty="0"/>
              <a:t>? </a:t>
            </a:r>
            <a:r>
              <a:rPr dirty="0" err="1"/>
              <a:t>kanino</a:t>
            </a:r>
            <a:r>
              <a:rPr dirty="0"/>
              <a:t>? </a:t>
            </a:r>
            <a:r>
              <a:rPr dirty="0" err="1"/>
              <a:t>saan</a:t>
            </a:r>
            <a:r>
              <a:rPr dirty="0"/>
              <a:t>? </a:t>
            </a:r>
            <a:r>
              <a:rPr dirty="0" err="1"/>
              <a:t>bakit</a:t>
            </a:r>
            <a:r>
              <a:rPr dirty="0"/>
              <a:t>?), A-</a:t>
            </a:r>
            <a:r>
              <a:rPr dirty="0" err="1"/>
              <a:t>pplication</a:t>
            </a:r>
            <a:r>
              <a:rPr dirty="0"/>
              <a:t> (SPECIFIC, '</a:t>
            </a:r>
            <a:r>
              <a:rPr dirty="0" err="1"/>
              <a:t>ngayong</a:t>
            </a:r>
            <a:r>
              <a:rPr dirty="0"/>
              <a:t> </a:t>
            </a:r>
            <a:r>
              <a:rPr dirty="0" err="1"/>
              <a:t>linggo</a:t>
            </a:r>
            <a:r>
              <a:rPr dirty="0"/>
              <a:t>'), P-</a:t>
            </a:r>
            <a:r>
              <a:rPr dirty="0" err="1"/>
              <a:t>rayer</a:t>
            </a:r>
            <a:r>
              <a:rPr dirty="0"/>
              <a:t>, S-haring (isa </a:t>
            </a:r>
            <a:r>
              <a:rPr dirty="0" err="1"/>
              <a:t>sa</a:t>
            </a:r>
            <a:r>
              <a:rPr dirty="0"/>
              <a:t> EOLO names). NOTE: old printed template is 4-box; the narrative adds the 5th letter (Sharing). Honor the richer version - Sharing welds meditation to EOLO/evangelism.</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GAWIN ~8 min (target 47:00). HANDS-ON: Read </a:t>
            </a:r>
            <a:r>
              <a:rPr dirty="0" err="1"/>
              <a:t>Filipos</a:t>
            </a:r>
            <a:r>
              <a:rPr dirty="0"/>
              <a:t> 4:6-7 (pairs with L1/prayer - anxiety dissolved by prayer). Walk ONE box at a time, ~90 sec each; don't move on until interns confirm tables are tracking. </a:t>
            </a:r>
            <a:endParaRPr lang="en-US" dirty="0"/>
          </a:p>
          <a:p>
            <a:r>
              <a:rPr dirty="0"/>
              <a:t>If stuck: 'Anuman ang </a:t>
            </a:r>
            <a:r>
              <a:rPr dirty="0" err="1"/>
              <a:t>nakatakas</a:t>
            </a:r>
            <a:r>
              <a:rPr dirty="0"/>
              <a:t> </a:t>
            </a:r>
            <a:r>
              <a:rPr dirty="0" err="1"/>
              <a:t>sa</a:t>
            </a:r>
            <a:r>
              <a:rPr dirty="0"/>
              <a:t> </a:t>
            </a:r>
            <a:r>
              <a:rPr dirty="0" err="1"/>
              <a:t>atensyon</a:t>
            </a:r>
            <a:r>
              <a:rPr dirty="0"/>
              <a:t> </a:t>
            </a:r>
            <a:r>
              <a:rPr dirty="0" err="1"/>
              <a:t>mo</a:t>
            </a:r>
            <a:r>
              <a:rPr dirty="0"/>
              <a:t> </a:t>
            </a:r>
            <a:r>
              <a:rPr dirty="0" err="1"/>
              <a:t>sa</a:t>
            </a:r>
            <a:r>
              <a:rPr dirty="0"/>
              <a:t> </a:t>
            </a:r>
            <a:r>
              <a:rPr dirty="0" err="1"/>
              <a:t>unang</a:t>
            </a:r>
            <a:r>
              <a:rPr dirty="0"/>
              <a:t> </a:t>
            </a:r>
            <a:r>
              <a:rPr dirty="0" err="1"/>
              <a:t>basa</a:t>
            </a:r>
            <a:r>
              <a:rPr dirty="0"/>
              <a:t>.' Application: '</a:t>
            </a:r>
            <a:r>
              <a:rPr dirty="0" err="1"/>
              <a:t>ngayong</a:t>
            </a:r>
            <a:r>
              <a:rPr dirty="0"/>
              <a:t> </a:t>
            </a:r>
            <a:r>
              <a:rPr dirty="0" err="1"/>
              <a:t>linggo</a:t>
            </a:r>
            <a:r>
              <a:rPr dirty="0"/>
              <a:t>' not 'in the future'; '</a:t>
            </a:r>
            <a:r>
              <a:rPr dirty="0" err="1"/>
              <a:t>sa</a:t>
            </a:r>
            <a:r>
              <a:rPr dirty="0"/>
              <a:t> </a:t>
            </a:r>
            <a:r>
              <a:rPr dirty="0" err="1"/>
              <a:t>asawa</a:t>
            </a:r>
            <a:r>
              <a:rPr dirty="0"/>
              <a:t> ko' not '</a:t>
            </a:r>
            <a:r>
              <a:rPr dirty="0" err="1"/>
              <a:t>sa</a:t>
            </a:r>
            <a:r>
              <a:rPr dirty="0"/>
              <a:t> </a:t>
            </a:r>
            <a:r>
              <a:rPr dirty="0" err="1"/>
              <a:t>ibang</a:t>
            </a:r>
            <a:r>
              <a:rPr dirty="0"/>
              <a:t> </a:t>
            </a:r>
            <a:r>
              <a:rPr dirty="0" err="1"/>
              <a:t>tao</a:t>
            </a:r>
            <a:r>
              <a:rPr dirty="0"/>
              <a:t>.' Sharing: '</a:t>
            </a:r>
            <a:r>
              <a:rPr dirty="0" err="1"/>
              <a:t>Tingnan</a:t>
            </a:r>
            <a:r>
              <a:rPr dirty="0"/>
              <a:t> </a:t>
            </a:r>
            <a:r>
              <a:rPr dirty="0" err="1"/>
              <a:t>mo</a:t>
            </a:r>
            <a:r>
              <a:rPr dirty="0"/>
              <a:t> ang EOLO list mo.'</a:t>
            </a:r>
            <a:endParaRPr lang="en-US" dirty="0"/>
          </a:p>
          <a:p>
            <a:r>
              <a:rPr lang="en-PH" dirty="0"/>
              <a:t>S — Scripture · </a:t>
            </a:r>
            <a:r>
              <a:rPr lang="en-PH" dirty="0" err="1"/>
              <a:t>Isulat</a:t>
            </a:r>
            <a:r>
              <a:rPr lang="en-PH" dirty="0"/>
              <a:t> ang isa o </a:t>
            </a:r>
            <a:r>
              <a:rPr lang="en-PH" dirty="0" err="1"/>
              <a:t>dalawang</a:t>
            </a:r>
            <a:r>
              <a:rPr lang="en-PH" dirty="0"/>
              <a:t> verses </a:t>
            </a:r>
            <a:r>
              <a:rPr lang="en-PH" dirty="0" err="1"/>
              <a:t>na</a:t>
            </a:r>
            <a:r>
              <a:rPr lang="en-PH" dirty="0"/>
              <a:t> </a:t>
            </a:r>
            <a:r>
              <a:rPr lang="en-PH" dirty="0" err="1"/>
              <a:t>pumukaw</a:t>
            </a:r>
            <a:r>
              <a:rPr lang="en-PH" dirty="0"/>
              <a:t> </a:t>
            </a:r>
            <a:r>
              <a:rPr lang="en-PH" dirty="0" err="1"/>
              <a:t>sa</a:t>
            </a:r>
            <a:r>
              <a:rPr lang="en-PH" dirty="0"/>
              <a:t> puso.</a:t>
            </a:r>
          </a:p>
          <a:p>
            <a:r>
              <a:rPr lang="en-PH" dirty="0"/>
              <a:t>O — Observation · Sino </a:t>
            </a:r>
            <a:r>
              <a:rPr lang="en-PH" dirty="0" err="1"/>
              <a:t>nagsasalita</a:t>
            </a:r>
            <a:r>
              <a:rPr lang="en-PH" dirty="0"/>
              <a:t>? Saan? Bakit? Ano ang context?</a:t>
            </a:r>
          </a:p>
          <a:p>
            <a:r>
              <a:rPr lang="en-PH" dirty="0"/>
              <a:t>A — Application · Paano </a:t>
            </a:r>
            <a:r>
              <a:rPr lang="en-PH" dirty="0" err="1"/>
              <a:t>mo</a:t>
            </a:r>
            <a:r>
              <a:rPr lang="en-PH" dirty="0"/>
              <a:t> </a:t>
            </a:r>
            <a:r>
              <a:rPr lang="en-PH" dirty="0" err="1"/>
              <a:t>ito</a:t>
            </a:r>
            <a:r>
              <a:rPr lang="en-PH" dirty="0"/>
              <a:t> </a:t>
            </a:r>
            <a:r>
              <a:rPr lang="en-PH" dirty="0" err="1"/>
              <a:t>i-aapply</a:t>
            </a:r>
            <a:r>
              <a:rPr lang="en-PH" dirty="0"/>
              <a:t> </a:t>
            </a:r>
            <a:r>
              <a:rPr lang="en-PH" dirty="0" err="1"/>
              <a:t>ngayong</a:t>
            </a:r>
            <a:r>
              <a:rPr lang="en-PH" dirty="0"/>
              <a:t> </a:t>
            </a:r>
            <a:r>
              <a:rPr lang="en-PH" dirty="0" err="1"/>
              <a:t>linggo</a:t>
            </a:r>
            <a:r>
              <a:rPr lang="en-PH" dirty="0"/>
              <a:t>? Specific.</a:t>
            </a:r>
          </a:p>
          <a:p>
            <a:r>
              <a:rPr lang="en-PH" dirty="0"/>
              <a:t>P — Prayer · </a:t>
            </a:r>
            <a:r>
              <a:rPr lang="en-PH" dirty="0" err="1"/>
              <a:t>Maikling</a:t>
            </a:r>
            <a:r>
              <a:rPr lang="en-PH" dirty="0"/>
              <a:t> </a:t>
            </a:r>
            <a:r>
              <a:rPr lang="en-PH" dirty="0" err="1"/>
              <a:t>panalangin</a:t>
            </a:r>
            <a:r>
              <a:rPr lang="en-PH" dirty="0"/>
              <a:t> </a:t>
            </a:r>
            <a:r>
              <a:rPr lang="en-PH" dirty="0" err="1"/>
              <a:t>bilang</a:t>
            </a:r>
            <a:r>
              <a:rPr lang="en-PH" dirty="0"/>
              <a:t> </a:t>
            </a:r>
            <a:r>
              <a:rPr lang="en-PH" dirty="0" err="1"/>
              <a:t>tugon</a:t>
            </a:r>
            <a:r>
              <a:rPr lang="en-PH" dirty="0"/>
              <a:t>.</a:t>
            </a:r>
          </a:p>
          <a:p>
            <a:r>
              <a:rPr lang="en-PH" dirty="0"/>
              <a:t>S — Sharing · </a:t>
            </a:r>
            <a:r>
              <a:rPr lang="en-PH" dirty="0" err="1"/>
              <a:t>Kanino</a:t>
            </a:r>
            <a:r>
              <a:rPr lang="en-PH" dirty="0"/>
              <a:t> </a:t>
            </a:r>
            <a:r>
              <a:rPr lang="en-PH" dirty="0" err="1"/>
              <a:t>mo</a:t>
            </a:r>
            <a:r>
              <a:rPr lang="en-PH" dirty="0"/>
              <a:t> </a:t>
            </a:r>
            <a:r>
              <a:rPr lang="en-PH" dirty="0" err="1"/>
              <a:t>ito</a:t>
            </a:r>
            <a:r>
              <a:rPr lang="en-PH" dirty="0"/>
              <a:t> </a:t>
            </a:r>
            <a:r>
              <a:rPr lang="en-PH" dirty="0" err="1"/>
              <a:t>puwedeng</a:t>
            </a:r>
            <a:r>
              <a:rPr lang="en-PH" dirty="0"/>
              <a:t> </a:t>
            </a:r>
            <a:r>
              <a:rPr lang="en-PH" dirty="0" err="1"/>
              <a:t>i</a:t>
            </a:r>
            <a:r>
              <a:rPr lang="en-PH" dirty="0"/>
              <a:t>-share? Hint: isa </a:t>
            </a:r>
            <a:r>
              <a:rPr lang="en-PH" dirty="0" err="1"/>
              <a:t>sa</a:t>
            </a:r>
            <a:r>
              <a:rPr lang="en-PH" dirty="0"/>
              <a:t> EOLO names mo.</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DALHIN ~4 min (target 51:00). 30-Day S.O.A.P.S Challenge: one Bible book, one chapter a day, 30 days. Recommend John (21 chapters). Alternatives: </a:t>
            </a:r>
            <a:r>
              <a:rPr dirty="0" err="1"/>
              <a:t>Filipos</a:t>
            </a:r>
            <a:r>
              <a:rPr dirty="0"/>
              <a:t>, </a:t>
            </a:r>
            <a:r>
              <a:rPr dirty="0" err="1"/>
              <a:t>Galacia</a:t>
            </a:r>
            <a:r>
              <a:rPr dirty="0"/>
              <a:t>, 1 John. Read then S.O.A.P.S then repeat. Tracker: the 30-day grid in the Participant Guide (or a notebook - consistency over format). EOLO BRIDGE (read aloud, slowly): '</a:t>
            </a:r>
            <a:r>
              <a:rPr dirty="0" err="1"/>
              <a:t>Bawat</a:t>
            </a:r>
            <a:r>
              <a:rPr dirty="0"/>
              <a:t> </a:t>
            </a:r>
            <a:r>
              <a:rPr dirty="0" err="1"/>
              <a:t>araw</a:t>
            </a:r>
            <a:r>
              <a:rPr dirty="0"/>
              <a:t> ng S.O.A.P.S, ang Sharing line </a:t>
            </a:r>
            <a:r>
              <a:rPr dirty="0" err="1"/>
              <a:t>mo</a:t>
            </a:r>
            <a:r>
              <a:rPr dirty="0"/>
              <a:t> ay </a:t>
            </a:r>
            <a:r>
              <a:rPr dirty="0" err="1"/>
              <a:t>isang</a:t>
            </a:r>
            <a:r>
              <a:rPr dirty="0"/>
              <a:t> EOLO name. Para mag-share ka, </a:t>
            </a:r>
            <a:r>
              <a:rPr dirty="0" err="1"/>
              <a:t>kailangan</a:t>
            </a:r>
            <a:r>
              <a:rPr dirty="0"/>
              <a:t> may </a:t>
            </a:r>
            <a:r>
              <a:rPr dirty="0" err="1"/>
              <a:t>natutunan</a:t>
            </a:r>
            <a:r>
              <a:rPr dirty="0"/>
              <a:t> ka. Para may </a:t>
            </a:r>
            <a:r>
              <a:rPr dirty="0" err="1"/>
              <a:t>natutunan</a:t>
            </a:r>
            <a:r>
              <a:rPr dirty="0"/>
              <a:t> ka, </a:t>
            </a:r>
            <a:r>
              <a:rPr dirty="0" err="1"/>
              <a:t>kailangan</a:t>
            </a:r>
            <a:r>
              <a:rPr dirty="0"/>
              <a:t> </a:t>
            </a:r>
            <a:r>
              <a:rPr dirty="0" err="1"/>
              <a:t>magbasa</a:t>
            </a:r>
            <a:r>
              <a:rPr dirty="0"/>
              <a:t> ka. Hindi separate ang Bible reading at evangelism - </a:t>
            </a:r>
            <a:r>
              <a:rPr dirty="0" err="1"/>
              <a:t>magkadikit</a:t>
            </a:r>
            <a:r>
              <a:rPr dirty="0"/>
              <a:t> </a:t>
            </a:r>
            <a:r>
              <a:rPr dirty="0" err="1"/>
              <a:t>sila</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DALHIN ~2 min (target 53:00). Memory-verse challenge: memorize Awit 1:2 within 2 weeks. Hand out the memory-verse cards.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DALHIN ~2 min (target 55:00). Close with 'Word of God Speak' by MercyMe (YouTube BYu8ZyETnKo) - embodies the Samuel posture. </a:t>
            </a:r>
            <a:endParaRPr lang="en-US" dirty="0"/>
          </a:p>
          <a:p>
            <a:r>
              <a:rPr dirty="0"/>
              <a:t>LET THE SONG FINISH; end with the room standing. Closing prayer (short): '</a:t>
            </a:r>
            <a:r>
              <a:rPr dirty="0" err="1"/>
              <a:t>Panginoon</a:t>
            </a:r>
            <a:r>
              <a:rPr dirty="0"/>
              <a:t>, </a:t>
            </a:r>
            <a:r>
              <a:rPr dirty="0" err="1"/>
              <a:t>mangusap</a:t>
            </a:r>
            <a:r>
              <a:rPr dirty="0"/>
              <a:t> po kayo </a:t>
            </a:r>
            <a:r>
              <a:rPr dirty="0" err="1"/>
              <a:t>ngayong</a:t>
            </a:r>
            <a:r>
              <a:rPr dirty="0"/>
              <a:t> </a:t>
            </a:r>
            <a:r>
              <a:rPr dirty="0" err="1"/>
              <a:t>linggo</a:t>
            </a:r>
            <a:r>
              <a:rPr dirty="0"/>
              <a:t>. </a:t>
            </a:r>
            <a:r>
              <a:rPr dirty="0" err="1"/>
              <a:t>Nakikinig</a:t>
            </a:r>
            <a:r>
              <a:rPr dirty="0"/>
              <a:t> ang </a:t>
            </a:r>
            <a:r>
              <a:rPr dirty="0" err="1"/>
              <a:t>inyong</a:t>
            </a:r>
            <a:r>
              <a:rPr dirty="0"/>
              <a:t> </a:t>
            </a:r>
            <a:r>
              <a:rPr dirty="0" err="1"/>
              <a:t>mga</a:t>
            </a:r>
            <a:r>
              <a:rPr dirty="0"/>
              <a:t> </a:t>
            </a:r>
            <a:r>
              <a:rPr dirty="0" err="1"/>
              <a:t>lingkod</a:t>
            </a:r>
            <a:r>
              <a:rPr dirty="0"/>
              <a:t>. Amen.' </a:t>
            </a:r>
            <a:endParaRPr lang="en-US" dirty="0"/>
          </a:p>
          <a:p>
            <a:r>
              <a:rPr dirty="0"/>
              <a:t>LAST 30 SEC: 'Sa </a:t>
            </a:r>
            <a:r>
              <a:rPr dirty="0" err="1"/>
              <a:t>susunod</a:t>
            </a:r>
            <a:r>
              <a:rPr dirty="0"/>
              <a:t>, </a:t>
            </a:r>
            <a:r>
              <a:rPr dirty="0" err="1"/>
              <a:t>magdadala</a:t>
            </a:r>
            <a:r>
              <a:rPr dirty="0"/>
              <a:t> kayo ng filled-in S.O.A.P.S notebook. </a:t>
            </a:r>
            <a:endParaRPr lang="en-US" dirty="0"/>
          </a:p>
          <a:p>
            <a:r>
              <a:rPr dirty="0"/>
              <a:t>L3 ay </a:t>
            </a:r>
            <a:r>
              <a:rPr dirty="0" err="1"/>
              <a:t>tungkol</a:t>
            </a:r>
            <a:r>
              <a:rPr dirty="0"/>
              <a:t> </a:t>
            </a:r>
            <a:r>
              <a:rPr dirty="0" err="1"/>
              <a:t>sa</a:t>
            </a:r>
            <a:r>
              <a:rPr dirty="0"/>
              <a:t> </a:t>
            </a:r>
            <a:r>
              <a:rPr dirty="0" err="1"/>
              <a:t>Pagsuko</a:t>
            </a:r>
            <a:r>
              <a:rPr dirty="0"/>
              <a:t>: </a:t>
            </a:r>
            <a:r>
              <a:rPr dirty="0" err="1"/>
              <a:t>pagkatapos</a:t>
            </a:r>
            <a:r>
              <a:rPr dirty="0"/>
              <a:t> </a:t>
            </a:r>
            <a:r>
              <a:rPr dirty="0" err="1"/>
              <a:t>makipag-usap</a:t>
            </a:r>
            <a:r>
              <a:rPr dirty="0"/>
              <a:t> (L1) at </a:t>
            </a:r>
            <a:r>
              <a:rPr dirty="0" err="1"/>
              <a:t>pakinggan</a:t>
            </a:r>
            <a:r>
              <a:rPr dirty="0"/>
              <a:t> Siya (L2), </a:t>
            </a:r>
            <a:r>
              <a:rPr dirty="0" err="1"/>
              <a:t>ano</a:t>
            </a:r>
            <a:r>
              <a:rPr dirty="0"/>
              <a:t> ang </a:t>
            </a:r>
            <a:r>
              <a:rPr dirty="0" err="1"/>
              <a:t>gagawin</a:t>
            </a:r>
            <a:r>
              <a:rPr dirty="0"/>
              <a:t> </a:t>
            </a:r>
            <a:r>
              <a:rPr dirty="0" err="1"/>
              <a:t>mo</a:t>
            </a:r>
            <a:r>
              <a:rPr dirty="0"/>
              <a:t> </a:t>
            </a:r>
            <a:r>
              <a:rPr dirty="0" err="1"/>
              <a:t>sa</a:t>
            </a:r>
            <a:r>
              <a:rPr dirty="0"/>
              <a:t> </a:t>
            </a:r>
            <a:r>
              <a:rPr dirty="0" err="1"/>
              <a:t>naririnig</a:t>
            </a:r>
            <a:r>
              <a:rPr dirty="0"/>
              <a:t> </a:t>
            </a:r>
            <a:r>
              <a:rPr dirty="0" err="1"/>
              <a:t>mo</a:t>
            </a:r>
            <a:r>
              <a:rPr dirty="0"/>
              <a:t>?’</a:t>
            </a:r>
            <a:endParaRPr lang="en-US" dirty="0"/>
          </a:p>
          <a:p>
            <a:endParaRPr lang="en-US" dirty="0"/>
          </a:p>
          <a:p>
            <a:r>
              <a:rPr lang="en-US" dirty="0"/>
              <a:t>IF THERE IS STILL TIME:</a:t>
            </a:r>
          </a:p>
          <a:p>
            <a:r>
              <a:rPr lang="en-US" dirty="0"/>
              <a:t>Ask if there are those who struggle with quiz and let them stay for a bit so that they could </a:t>
            </a:r>
            <a:r>
              <a:rPr lang="en-US"/>
              <a:t>be assisted.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hyperlink" Target="https://www.youtube.com/watch?v=s9Q6ROTd0o4"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hyperlink" Target="https://www.youtube.com/watch?v=EqsnGE3_dsg&amp;list=RDEqsnGE3_dsg&amp;start_radio=1"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C34"/>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808080"/>
                </a:solidFill>
                <a:latin typeface="Calibri" pitchFamily="34" charset="0"/>
                <a:ea typeface="Calibri" pitchFamily="34" charset="-122"/>
                <a:cs typeface="Calibri" pitchFamily="34" charset="-120"/>
              </a:rPr>
              <a:t>1 / 23</a:t>
            </a:r>
            <a:endParaRPr lang="en-US" sz="800" dirty="0"/>
          </a:p>
        </p:txBody>
      </p:sp>
      <p:sp>
        <p:nvSpPr>
          <p:cNvPr id="4" name="Text 2"/>
          <p:cNvSpPr/>
          <p:nvPr/>
        </p:nvSpPr>
        <p:spPr>
          <a:xfrm>
            <a:off x="457200" y="1005840"/>
            <a:ext cx="8229600" cy="365760"/>
          </a:xfrm>
          <a:prstGeom prst="rect">
            <a:avLst/>
          </a:prstGeom>
          <a:noFill/>
          <a:ln/>
        </p:spPr>
        <p:txBody>
          <a:bodyPr wrap="square" rtlCol="0" anchor="ctr"/>
          <a:lstStyle/>
          <a:p>
            <a:pPr marL="0" indent="0" algn="ctr">
              <a:buNone/>
            </a:pPr>
            <a:r>
              <a:rPr lang="en-US" sz="1600" b="1" kern="0" spc="500" dirty="0">
                <a:solidFill>
                  <a:srgbClr val="D4A84A"/>
                </a:solidFill>
                <a:latin typeface="Calibri" pitchFamily="34" charset="0"/>
                <a:ea typeface="Calibri" pitchFamily="34" charset="-122"/>
                <a:cs typeface="Calibri" pitchFamily="34" charset="-120"/>
              </a:rPr>
              <a:t>BTLI 1 · LESSON 2</a:t>
            </a:r>
            <a:endParaRPr lang="en-US" sz="1600" dirty="0"/>
          </a:p>
        </p:txBody>
      </p:sp>
      <p:sp>
        <p:nvSpPr>
          <p:cNvPr id="5" name="Text 3"/>
          <p:cNvSpPr/>
          <p:nvPr/>
        </p:nvSpPr>
        <p:spPr>
          <a:xfrm>
            <a:off x="457200" y="1554480"/>
            <a:ext cx="8229600" cy="2103120"/>
          </a:xfrm>
          <a:prstGeom prst="rect">
            <a:avLst/>
          </a:prstGeom>
          <a:noFill/>
          <a:ln/>
        </p:spPr>
        <p:txBody>
          <a:bodyPr wrap="square" rtlCol="0" anchor="ctr"/>
          <a:lstStyle/>
          <a:p>
            <a:pPr marL="0" indent="0" algn="ctr">
              <a:lnSpc>
                <a:spcPct val="100000"/>
              </a:lnSpc>
              <a:buNone/>
            </a:pPr>
            <a:r>
              <a:rPr lang="en-US" sz="7200" b="1" dirty="0">
                <a:solidFill>
                  <a:srgbClr val="FFFFFF"/>
                </a:solidFill>
                <a:latin typeface="Georgia" pitchFamily="34" charset="0"/>
                <a:ea typeface="Georgia" pitchFamily="34" charset="-122"/>
                <a:cs typeface="Georgia" pitchFamily="34" charset="-120"/>
              </a:rPr>
              <a:t>Bible</a:t>
            </a:r>
            <a:endParaRPr lang="en-US" sz="7200" dirty="0"/>
          </a:p>
          <a:p>
            <a:pPr marL="0" indent="0" algn="ctr">
              <a:lnSpc>
                <a:spcPct val="100000"/>
              </a:lnSpc>
              <a:buNone/>
            </a:pPr>
            <a:r>
              <a:rPr lang="en-US" sz="7200" b="1" dirty="0">
                <a:solidFill>
                  <a:srgbClr val="FFFFFF"/>
                </a:solidFill>
                <a:latin typeface="Georgia" pitchFamily="34" charset="0"/>
                <a:ea typeface="Georgia" pitchFamily="34" charset="-122"/>
                <a:cs typeface="Georgia" pitchFamily="34" charset="-120"/>
              </a:rPr>
              <a:t>Meditation</a:t>
            </a:r>
            <a:endParaRPr lang="en-US" sz="7200" dirty="0"/>
          </a:p>
        </p:txBody>
      </p:sp>
      <p:sp>
        <p:nvSpPr>
          <p:cNvPr id="6" name="Text 4"/>
          <p:cNvSpPr/>
          <p:nvPr/>
        </p:nvSpPr>
        <p:spPr>
          <a:xfrm>
            <a:off x="457200" y="3749040"/>
            <a:ext cx="8229600" cy="457200"/>
          </a:xfrm>
          <a:prstGeom prst="rect">
            <a:avLst/>
          </a:prstGeom>
          <a:noFill/>
          <a:ln/>
        </p:spPr>
        <p:txBody>
          <a:bodyPr wrap="square" rtlCol="0" anchor="ctr"/>
          <a:lstStyle/>
          <a:p>
            <a:pPr marL="0" indent="0" algn="ctr">
              <a:buNone/>
            </a:pPr>
            <a:r>
              <a:rPr lang="en-US" sz="1800" i="1" dirty="0">
                <a:solidFill>
                  <a:srgbClr val="808080"/>
                </a:solidFill>
                <a:latin typeface="Georgia" pitchFamily="34" charset="0"/>
                <a:ea typeface="Georgia" pitchFamily="34" charset="-122"/>
                <a:cs typeface="Georgia" pitchFamily="34" charset="-120"/>
              </a:rPr>
              <a:t>Pakikinig sa Tinig ng Dios</a:t>
            </a:r>
            <a:endParaRPr lang="en-US" sz="1800" dirty="0"/>
          </a:p>
        </p:txBody>
      </p:sp>
      <p:sp>
        <p:nvSpPr>
          <p:cNvPr id="7" name="Shape 5"/>
          <p:cNvSpPr/>
          <p:nvPr/>
        </p:nvSpPr>
        <p:spPr>
          <a:xfrm>
            <a:off x="3017520" y="4389120"/>
            <a:ext cx="1463040" cy="365760"/>
          </a:xfrm>
          <a:prstGeom prst="roundRect">
            <a:avLst>
              <a:gd name="adj" fmla="val 50000"/>
            </a:avLst>
          </a:prstGeom>
          <a:solidFill>
            <a:srgbClr val="D4A84A">
              <a:alpha val="20000"/>
            </a:srgbClr>
          </a:solidFill>
          <a:ln w="9525">
            <a:solidFill>
              <a:srgbClr val="D4A84A"/>
            </a:solidFill>
            <a:prstDash val="solid"/>
          </a:ln>
        </p:spPr>
        <p:txBody>
          <a:bodyPr/>
          <a:lstStyle/>
          <a:p>
            <a:endParaRPr/>
          </a:p>
        </p:txBody>
      </p:sp>
      <p:sp>
        <p:nvSpPr>
          <p:cNvPr id="8" name="Text 6"/>
          <p:cNvSpPr/>
          <p:nvPr/>
        </p:nvSpPr>
        <p:spPr>
          <a:xfrm>
            <a:off x="3017520" y="4389120"/>
            <a:ext cx="1463040" cy="365760"/>
          </a:xfrm>
          <a:prstGeom prst="rect">
            <a:avLst/>
          </a:prstGeom>
          <a:noFill/>
          <a:ln/>
        </p:spPr>
        <p:txBody>
          <a:bodyPr wrap="square" lIns="0" tIns="0" rIns="0" bIns="0" rtlCol="0" anchor="ctr"/>
          <a:lstStyle/>
          <a:p>
            <a:pPr marL="0" indent="0" algn="ctr">
              <a:buNone/>
            </a:pPr>
            <a:r>
              <a:rPr lang="en-US" sz="1100" dirty="0">
                <a:solidFill>
                  <a:srgbClr val="D4A84A"/>
                </a:solidFill>
                <a:latin typeface="Calibri" pitchFamily="34" charset="0"/>
                <a:ea typeface="Calibri" pitchFamily="34" charset="-122"/>
                <a:cs typeface="Calibri" pitchFamily="34" charset="-120"/>
              </a:rPr>
              <a:t>🌿 Faithfulness</a:t>
            </a:r>
            <a:endParaRPr lang="en-US" sz="1100" dirty="0"/>
          </a:p>
        </p:txBody>
      </p:sp>
      <p:sp>
        <p:nvSpPr>
          <p:cNvPr id="9" name="Shape 7"/>
          <p:cNvSpPr/>
          <p:nvPr/>
        </p:nvSpPr>
        <p:spPr>
          <a:xfrm>
            <a:off x="4663440" y="4389120"/>
            <a:ext cx="1645920" cy="365760"/>
          </a:xfrm>
          <a:prstGeom prst="roundRect">
            <a:avLst>
              <a:gd name="adj" fmla="val 50000"/>
            </a:avLst>
          </a:prstGeom>
          <a:solidFill>
            <a:srgbClr val="D4A84A">
              <a:alpha val="20000"/>
            </a:srgbClr>
          </a:solidFill>
          <a:ln w="9525">
            <a:solidFill>
              <a:srgbClr val="D4A84A"/>
            </a:solidFill>
            <a:prstDash val="solid"/>
          </a:ln>
        </p:spPr>
        <p:txBody>
          <a:bodyPr/>
          <a:lstStyle/>
          <a:p>
            <a:endParaRPr/>
          </a:p>
        </p:txBody>
      </p:sp>
      <p:sp>
        <p:nvSpPr>
          <p:cNvPr id="10" name="Text 8"/>
          <p:cNvSpPr/>
          <p:nvPr/>
        </p:nvSpPr>
        <p:spPr>
          <a:xfrm>
            <a:off x="4663440" y="4389120"/>
            <a:ext cx="1645920" cy="365760"/>
          </a:xfrm>
          <a:prstGeom prst="rect">
            <a:avLst/>
          </a:prstGeom>
          <a:noFill/>
          <a:ln/>
        </p:spPr>
        <p:txBody>
          <a:bodyPr wrap="square" lIns="0" tIns="0" rIns="0" bIns="0" rtlCol="0" anchor="ctr"/>
          <a:lstStyle/>
          <a:p>
            <a:pPr marL="0" indent="0" algn="ctr">
              <a:buNone/>
            </a:pPr>
            <a:r>
              <a:rPr lang="en-US" sz="1100" dirty="0">
                <a:solidFill>
                  <a:srgbClr val="D4A84A"/>
                </a:solidFill>
                <a:latin typeface="Calibri" pitchFamily="34" charset="0"/>
                <a:ea typeface="Calibri" pitchFamily="34" charset="-122"/>
                <a:cs typeface="Calibri" pitchFamily="34" charset="-120"/>
              </a:rPr>
              <a:t>⚡ S.O.A.P.S Journal</a:t>
            </a:r>
            <a:endParaRPr lang="en-US" sz="1100" dirty="0"/>
          </a:p>
        </p:txBody>
      </p:sp>
      <p:sp>
        <p:nvSpPr>
          <p:cNvPr id="11" name="Rounded Rectangle 10"/>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55-min lesson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EFCF8"/>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C0C0C0"/>
                </a:solidFill>
                <a:latin typeface="Calibri" pitchFamily="34" charset="0"/>
                <a:ea typeface="Calibri" pitchFamily="34" charset="-122"/>
                <a:cs typeface="Calibri" pitchFamily="34" charset="-120"/>
              </a:rPr>
              <a:t>2 / 23</a:t>
            </a:r>
            <a:endParaRPr lang="en-US" sz="800" dirty="0"/>
          </a:p>
        </p:txBody>
      </p:sp>
      <p:sp>
        <p:nvSpPr>
          <p:cNvPr id="4" name="Text 2"/>
          <p:cNvSpPr/>
          <p:nvPr/>
        </p:nvSpPr>
        <p:spPr>
          <a:xfrm>
            <a:off x="457200" y="457200"/>
            <a:ext cx="8229600" cy="365760"/>
          </a:xfrm>
          <a:prstGeom prst="rect">
            <a:avLst/>
          </a:prstGeom>
          <a:noFill/>
          <a:ln/>
        </p:spPr>
        <p:txBody>
          <a:bodyPr wrap="square" rtlCol="0" anchor="ctr"/>
          <a:lstStyle/>
          <a:p>
            <a:pPr marL="0" indent="0" algn="ctr">
              <a:buNone/>
            </a:pPr>
            <a:r>
              <a:rPr lang="en-US" sz="1200" b="1" kern="0" spc="400" dirty="0">
                <a:solidFill>
                  <a:srgbClr val="B8882A"/>
                </a:solidFill>
                <a:latin typeface="Calibri" pitchFamily="34" charset="0"/>
                <a:ea typeface="Calibri" pitchFamily="34" charset="-122"/>
                <a:cs typeface="Calibri" pitchFamily="34" charset="-120"/>
              </a:rPr>
              <a:t>⚡ PUKAW · CALLBACK TO L1</a:t>
            </a:r>
            <a:endParaRPr lang="en-US" sz="1200" dirty="0"/>
          </a:p>
        </p:txBody>
      </p:sp>
      <p:sp>
        <p:nvSpPr>
          <p:cNvPr id="5" name="Text 3"/>
          <p:cNvSpPr/>
          <p:nvPr/>
        </p:nvSpPr>
        <p:spPr>
          <a:xfrm>
            <a:off x="457200" y="1188720"/>
            <a:ext cx="8229600" cy="457200"/>
          </a:xfrm>
          <a:prstGeom prst="rect">
            <a:avLst/>
          </a:prstGeom>
          <a:noFill/>
          <a:ln/>
        </p:spPr>
        <p:txBody>
          <a:bodyPr wrap="square" rtlCol="0" anchor="ctr"/>
          <a:lstStyle/>
          <a:p>
            <a:pPr marL="0" indent="0" algn="ctr">
              <a:buNone/>
            </a:pPr>
            <a:r>
              <a:rPr lang="en-US" sz="1600" i="1" dirty="0">
                <a:solidFill>
                  <a:srgbClr val="6A6660"/>
                </a:solidFill>
                <a:latin typeface="Calibri" pitchFamily="34" charset="0"/>
                <a:ea typeface="Calibri" pitchFamily="34" charset="-122"/>
                <a:cs typeface="Calibri" pitchFamily="34" charset="-120"/>
              </a:rPr>
              <a:t>Bago tayo mag-umpisa...</a:t>
            </a:r>
            <a:endParaRPr lang="en-US" sz="1600" dirty="0"/>
          </a:p>
        </p:txBody>
      </p:sp>
      <p:sp>
        <p:nvSpPr>
          <p:cNvPr id="6" name="Text 4"/>
          <p:cNvSpPr/>
          <p:nvPr/>
        </p:nvSpPr>
        <p:spPr>
          <a:xfrm>
            <a:off x="457200" y="1828800"/>
            <a:ext cx="8229600" cy="1645920"/>
          </a:xfrm>
          <a:prstGeom prst="rect">
            <a:avLst/>
          </a:prstGeom>
          <a:noFill/>
          <a:ln/>
        </p:spPr>
        <p:txBody>
          <a:bodyPr wrap="square" rtlCol="0" anchor="ctr"/>
          <a:lstStyle/>
          <a:p>
            <a:pPr marL="0" indent="0" algn="ctr">
              <a:lnSpc>
                <a:spcPct val="120000"/>
              </a:lnSpc>
              <a:buNone/>
            </a:pPr>
            <a:r>
              <a:rPr lang="en-US" sz="4400" b="1" dirty="0">
                <a:solidFill>
                  <a:srgbClr val="1B2A4A"/>
                </a:solidFill>
                <a:latin typeface="Georgia" pitchFamily="34" charset="0"/>
                <a:ea typeface="Georgia" pitchFamily="34" charset="-122"/>
                <a:cs typeface="Georgia" pitchFamily="34" charset="-120"/>
              </a:rPr>
              <a:t>Kumusta ang prayer pact natin</a:t>
            </a:r>
            <a:endParaRPr lang="en-US" sz="4400" dirty="0"/>
          </a:p>
          <a:p>
            <a:pPr marL="0" indent="0" algn="ctr">
              <a:lnSpc>
                <a:spcPct val="120000"/>
              </a:lnSpc>
              <a:buNone/>
            </a:pPr>
            <a:r>
              <a:rPr lang="en-US" sz="4400" b="1" dirty="0">
                <a:solidFill>
                  <a:srgbClr val="1B2A4A"/>
                </a:solidFill>
                <a:latin typeface="Georgia" pitchFamily="34" charset="0"/>
                <a:ea typeface="Georgia" pitchFamily="34" charset="-122"/>
                <a:cs typeface="Georgia" pitchFamily="34" charset="-120"/>
              </a:rPr>
              <a:t>from last week?</a:t>
            </a:r>
            <a:endParaRPr lang="en-US" sz="4400" dirty="0"/>
          </a:p>
        </p:txBody>
      </p:sp>
      <p:sp>
        <p:nvSpPr>
          <p:cNvPr id="7" name="Text 5"/>
          <p:cNvSpPr/>
          <p:nvPr/>
        </p:nvSpPr>
        <p:spPr>
          <a:xfrm>
            <a:off x="914400" y="3931920"/>
            <a:ext cx="7315200" cy="731520"/>
          </a:xfrm>
          <a:prstGeom prst="rect">
            <a:avLst/>
          </a:prstGeom>
          <a:noFill/>
          <a:ln/>
        </p:spPr>
        <p:txBody>
          <a:bodyPr wrap="square" rtlCol="0" anchor="ctr"/>
          <a:lstStyle/>
          <a:p>
            <a:pPr marL="0" indent="0" algn="ctr">
              <a:buNone/>
            </a:pPr>
            <a:r>
              <a:rPr lang="en-US" sz="1400" i="1" dirty="0">
                <a:solidFill>
                  <a:srgbClr val="6A6660"/>
                </a:solidFill>
                <a:latin typeface="Calibri" pitchFamily="34" charset="0"/>
                <a:ea typeface="Calibri" pitchFamily="34" charset="-122"/>
                <a:cs typeface="Calibri" pitchFamily="34" charset="-120"/>
              </a:rPr>
              <a:t>Sino ang nag-ACTS prayer kahit isang beses ngayong linggo? Itaas ang kamay.</a:t>
            </a:r>
            <a:endParaRPr lang="en-US" sz="1400" dirty="0"/>
          </a:p>
        </p:txBody>
      </p:sp>
      <p:sp>
        <p:nvSpPr>
          <p:cNvPr id="8" name="Rounded Rectangle 7"/>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2 min · ⌛2:00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C34"/>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808080"/>
                </a:solidFill>
                <a:latin typeface="Calibri" pitchFamily="34" charset="0"/>
                <a:ea typeface="Calibri" pitchFamily="34" charset="-122"/>
                <a:cs typeface="Calibri" pitchFamily="34" charset="-120"/>
              </a:rPr>
              <a:t>3 / 23</a:t>
            </a:r>
            <a:endParaRPr lang="en-US" sz="800" dirty="0"/>
          </a:p>
        </p:txBody>
      </p:sp>
      <p:sp>
        <p:nvSpPr>
          <p:cNvPr id="4" name="Text 2"/>
          <p:cNvSpPr/>
          <p:nvPr/>
        </p:nvSpPr>
        <p:spPr>
          <a:xfrm>
            <a:off x="457200" y="457200"/>
            <a:ext cx="8229600" cy="365760"/>
          </a:xfrm>
          <a:prstGeom prst="rect">
            <a:avLst/>
          </a:prstGeom>
          <a:noFill/>
          <a:ln/>
        </p:spPr>
        <p:txBody>
          <a:bodyPr wrap="square" rtlCol="0" anchor="ctr"/>
          <a:lstStyle/>
          <a:p>
            <a:pPr marL="0" indent="0" algn="ctr">
              <a:buNone/>
            </a:pPr>
            <a:r>
              <a:rPr lang="en-US" sz="1200" b="1" kern="0" spc="400" dirty="0">
                <a:solidFill>
                  <a:srgbClr val="D4A84A"/>
                </a:solidFill>
                <a:latin typeface="Calibri" pitchFamily="34" charset="0"/>
                <a:ea typeface="Calibri" pitchFamily="34" charset="-122"/>
                <a:cs typeface="Calibri" pitchFamily="34" charset="-120"/>
              </a:rPr>
              <a:t>⚡ PUKAW · THE LOVE LETTER</a:t>
            </a:r>
            <a:endParaRPr lang="en-US" sz="1200" dirty="0"/>
          </a:p>
        </p:txBody>
      </p:sp>
      <p:sp>
        <p:nvSpPr>
          <p:cNvPr id="5" name="Shape 3">
            <a:hlinkClick r:id="rId3"/>
          </p:cNvPr>
          <p:cNvSpPr/>
          <p:nvPr/>
        </p:nvSpPr>
        <p:spPr>
          <a:xfrm>
            <a:off x="914400" y="1188720"/>
            <a:ext cx="7315200" cy="3474720"/>
          </a:xfrm>
          <a:prstGeom prst="rect">
            <a:avLst/>
          </a:prstGeom>
          <a:solidFill>
            <a:srgbClr val="000000"/>
          </a:solidFill>
          <a:ln w="50800">
            <a:solidFill>
              <a:srgbClr val="B8882A"/>
            </a:solidFill>
            <a:prstDash val="solid"/>
          </a:ln>
        </p:spPr>
        <p:txBody>
          <a:bodyPr/>
          <a:lstStyle/>
          <a:p>
            <a:endParaRPr/>
          </a:p>
        </p:txBody>
      </p:sp>
      <p:sp>
        <p:nvSpPr>
          <p:cNvPr id="6" name="Text 4"/>
          <p:cNvSpPr/>
          <p:nvPr/>
        </p:nvSpPr>
        <p:spPr>
          <a:xfrm>
            <a:off x="914400" y="1188720"/>
            <a:ext cx="7315200" cy="3474720"/>
          </a:xfrm>
          <a:prstGeom prst="rect">
            <a:avLst/>
          </a:prstGeom>
          <a:noFill/>
          <a:ln/>
        </p:spPr>
        <p:txBody>
          <a:bodyPr wrap="square" rtlCol="0" anchor="ctr"/>
          <a:lstStyle/>
          <a:p>
            <a:pPr marL="0" indent="0" algn="ctr">
              <a:buNone/>
            </a:pPr>
            <a:r>
              <a:rPr lang="en-US" sz="3600" b="1" dirty="0">
                <a:solidFill>
                  <a:srgbClr val="D4A84A"/>
                </a:solidFill>
                <a:latin typeface="Calibri" pitchFamily="34" charset="0"/>
                <a:ea typeface="Calibri" pitchFamily="34" charset="-122"/>
                <a:cs typeface="Calibri" pitchFamily="34" charset="-120"/>
              </a:rPr>
              <a:t>▶  Play Video</a:t>
            </a:r>
            <a:endParaRPr lang="en-US" sz="3600" dirty="0"/>
          </a:p>
        </p:txBody>
      </p:sp>
      <p:sp>
        <p:nvSpPr>
          <p:cNvPr id="7" name="Text 5"/>
          <p:cNvSpPr/>
          <p:nvPr/>
        </p:nvSpPr>
        <p:spPr>
          <a:xfrm>
            <a:off x="457200" y="4709160"/>
            <a:ext cx="8229600" cy="274320"/>
          </a:xfrm>
          <a:prstGeom prst="rect">
            <a:avLst/>
          </a:prstGeom>
          <a:noFill/>
          <a:ln/>
        </p:spPr>
        <p:txBody>
          <a:bodyPr wrap="square" rtlCol="0" anchor="ctr"/>
          <a:lstStyle/>
          <a:p>
            <a:pPr marL="0" indent="0" algn="ctr">
              <a:buNone/>
            </a:pPr>
            <a:r>
              <a:rPr lang="en-US" sz="1000" i="1" dirty="0">
                <a:solidFill>
                  <a:srgbClr val="808080"/>
                </a:solidFill>
                <a:latin typeface="Calibri" pitchFamily="34" charset="0"/>
                <a:ea typeface="Calibri" pitchFamily="34" charset="-122"/>
                <a:cs typeface="Calibri" pitchFamily="34" charset="-120"/>
              </a:rPr>
              <a:t>YouTube: PHIY54Mvdxw</a:t>
            </a:r>
            <a:endParaRPr lang="en-US" sz="1000" dirty="0"/>
          </a:p>
        </p:txBody>
      </p:sp>
      <p:sp>
        <p:nvSpPr>
          <p:cNvPr id="8" name="Rounded Rectangle 7"/>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1 min · ⌛3:00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EFCF8"/>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C0C0C0"/>
                </a:solidFill>
                <a:latin typeface="Calibri" pitchFamily="34" charset="0"/>
                <a:ea typeface="Calibri" pitchFamily="34" charset="-122"/>
                <a:cs typeface="Calibri" pitchFamily="34" charset="-120"/>
              </a:rPr>
              <a:t>4 / 23</a:t>
            </a:r>
            <a:endParaRPr lang="en-US" sz="800" dirty="0"/>
          </a:p>
        </p:txBody>
      </p:sp>
      <p:sp>
        <p:nvSpPr>
          <p:cNvPr id="4" name="Text 2"/>
          <p:cNvSpPr/>
          <p:nvPr/>
        </p:nvSpPr>
        <p:spPr>
          <a:xfrm>
            <a:off x="457200" y="457200"/>
            <a:ext cx="8229600" cy="274320"/>
          </a:xfrm>
          <a:prstGeom prst="rect">
            <a:avLst/>
          </a:prstGeom>
          <a:noFill/>
          <a:ln/>
        </p:spPr>
        <p:txBody>
          <a:bodyPr wrap="square" rtlCol="0" anchor="ctr"/>
          <a:lstStyle/>
          <a:p>
            <a:pPr marL="0" indent="0" algn="ctr">
              <a:buNone/>
            </a:pPr>
            <a:r>
              <a:rPr lang="en-US" sz="1200" b="1" kern="0" spc="400" dirty="0">
                <a:solidFill>
                  <a:srgbClr val="B8882A"/>
                </a:solidFill>
                <a:latin typeface="Calibri" pitchFamily="34" charset="0"/>
                <a:ea typeface="Calibri" pitchFamily="34" charset="-122"/>
                <a:cs typeface="Calibri" pitchFamily="34" charset="-120"/>
              </a:rPr>
              <a:t>⚡ PUKAW · PINAKANAKAKAKILIG</a:t>
            </a:r>
            <a:endParaRPr lang="en-US" sz="1200" dirty="0"/>
          </a:p>
        </p:txBody>
      </p:sp>
      <p:sp>
        <p:nvSpPr>
          <p:cNvPr id="5" name="Text 3"/>
          <p:cNvSpPr/>
          <p:nvPr/>
        </p:nvSpPr>
        <p:spPr>
          <a:xfrm>
            <a:off x="457200" y="822960"/>
            <a:ext cx="8229600" cy="365760"/>
          </a:xfrm>
          <a:prstGeom prst="rect">
            <a:avLst/>
          </a:prstGeom>
          <a:noFill/>
          <a:ln/>
        </p:spPr>
        <p:txBody>
          <a:bodyPr wrap="square" rtlCol="0" anchor="ctr"/>
          <a:lstStyle/>
          <a:p>
            <a:pPr marL="0" indent="0" algn="ctr">
              <a:buNone/>
            </a:pPr>
            <a:r>
              <a:rPr lang="en-US" sz="1400" i="1" dirty="0">
                <a:solidFill>
                  <a:srgbClr val="6A6660"/>
                </a:solidFill>
                <a:latin typeface="Calibri" pitchFamily="34" charset="0"/>
                <a:ea typeface="Calibri" pitchFamily="34" charset="-122"/>
                <a:cs typeface="Calibri" pitchFamily="34" charset="-120"/>
              </a:rPr>
              <a:t>Ang Pinakamatandang Newlyweds</a:t>
            </a:r>
            <a:endParaRPr lang="en-US" sz="1400" dirty="0"/>
          </a:p>
        </p:txBody>
      </p:sp>
      <p:sp>
        <p:nvSpPr>
          <p:cNvPr id="6" name="Text 4"/>
          <p:cNvSpPr/>
          <p:nvPr/>
        </p:nvSpPr>
        <p:spPr>
          <a:xfrm>
            <a:off x="457200" y="1188720"/>
            <a:ext cx="8229600" cy="731520"/>
          </a:xfrm>
          <a:prstGeom prst="rect">
            <a:avLst/>
          </a:prstGeom>
          <a:noFill/>
          <a:ln/>
        </p:spPr>
        <p:txBody>
          <a:bodyPr wrap="square" rtlCol="0" anchor="ctr"/>
          <a:lstStyle/>
          <a:p>
            <a:pPr marL="0" indent="0" algn="ctr">
              <a:buNone/>
            </a:pPr>
            <a:r>
              <a:rPr lang="en-US" sz="4000" b="1" dirty="0">
                <a:solidFill>
                  <a:srgbClr val="1B2A4A"/>
                </a:solidFill>
                <a:latin typeface="Georgia" pitchFamily="34" charset="0"/>
                <a:ea typeface="Georgia" pitchFamily="34" charset="-122"/>
                <a:cs typeface="Georgia" pitchFamily="34" charset="-120"/>
              </a:rPr>
              <a:t>Forrest &amp; Rose</a:t>
            </a:r>
            <a:endParaRPr lang="en-US" sz="4000" dirty="0"/>
          </a:p>
        </p:txBody>
      </p:sp>
      <p:sp>
        <p:nvSpPr>
          <p:cNvPr id="7" name="Text 5"/>
          <p:cNvSpPr/>
          <p:nvPr/>
        </p:nvSpPr>
        <p:spPr>
          <a:xfrm>
            <a:off x="1371600" y="2011680"/>
            <a:ext cx="6400800" cy="2011680"/>
          </a:xfrm>
          <a:prstGeom prst="rect">
            <a:avLst/>
          </a:prstGeom>
          <a:noFill/>
          <a:ln/>
        </p:spPr>
        <p:txBody>
          <a:bodyPr wrap="square" rtlCol="0" anchor="t"/>
          <a:lstStyle/>
          <a:p>
            <a:pPr marL="0" indent="0" algn="ctr">
              <a:lnSpc>
                <a:spcPct val="150000"/>
              </a:lnSpc>
              <a:buNone/>
            </a:pPr>
            <a:r>
              <a:rPr lang="en-US" sz="1300" dirty="0">
                <a:solidFill>
                  <a:srgbClr val="4A4640"/>
                </a:solidFill>
                <a:latin typeface="Calibri" pitchFamily="34" charset="0"/>
                <a:ea typeface="Calibri" pitchFamily="34" charset="-122"/>
                <a:cs typeface="Calibri" pitchFamily="34" charset="-120"/>
              </a:rPr>
              <a:t>1983 — 72-anyos si </a:t>
            </a:r>
            <a:r>
              <a:rPr lang="en-US" sz="1300" b="1" dirty="0">
                <a:solidFill>
                  <a:srgbClr val="1B2A4A"/>
                </a:solidFill>
                <a:latin typeface="Calibri" pitchFamily="34" charset="0"/>
                <a:ea typeface="Calibri" pitchFamily="34" charset="-122"/>
                <a:cs typeface="Calibri" pitchFamily="34" charset="-120"/>
              </a:rPr>
              <a:t>Forrest Lunsway</a:t>
            </a:r>
            <a:r>
              <a:rPr lang="en-US" sz="1300" dirty="0">
                <a:solidFill>
                  <a:srgbClr val="4A4640"/>
                </a:solidFill>
                <a:latin typeface="Calibri" pitchFamily="34" charset="0"/>
                <a:ea typeface="Calibri" pitchFamily="34" charset="-122"/>
                <a:cs typeface="Calibri" pitchFamily="34" charset="-120"/>
              </a:rPr>
              <a:t>, na-love-struck kay 62-anyos na Rose. </a:t>
            </a:r>
            <a:r>
              <a:rPr lang="en-US" sz="1300" b="1" dirty="0">
                <a:solidFill>
                  <a:srgbClr val="1B2A4A"/>
                </a:solidFill>
                <a:latin typeface="Calibri" pitchFamily="34" charset="0"/>
                <a:ea typeface="Calibri" pitchFamily="34" charset="-122"/>
                <a:cs typeface="Calibri" pitchFamily="34" charset="-120"/>
              </a:rPr>
              <a:t>Na-basted.</a:t>
            </a:r>
            <a:endParaRPr lang="en-US" sz="1300" dirty="0"/>
          </a:p>
          <a:p>
            <a:pPr marL="0" indent="0" algn="ctr">
              <a:lnSpc>
                <a:spcPct val="150000"/>
              </a:lnSpc>
              <a:buNone/>
            </a:pPr>
            <a:r>
              <a:rPr lang="en-US" sz="1300" dirty="0">
                <a:solidFill>
                  <a:srgbClr val="000000"/>
                </a:solidFill>
                <a:latin typeface="Calibri" pitchFamily="34" charset="0"/>
                <a:ea typeface="Calibri" pitchFamily="34" charset="-122"/>
                <a:cs typeface="Calibri" pitchFamily="34" charset="-120"/>
              </a:rPr>
              <a:t> </a:t>
            </a:r>
            <a:endParaRPr lang="en-US" sz="1300" dirty="0"/>
          </a:p>
          <a:p>
            <a:pPr marL="0" indent="0" algn="ctr">
              <a:lnSpc>
                <a:spcPct val="150000"/>
              </a:lnSpc>
              <a:buNone/>
            </a:pPr>
            <a:r>
              <a:rPr lang="en-US" sz="1300" dirty="0">
                <a:solidFill>
                  <a:srgbClr val="4A4640"/>
                </a:solidFill>
                <a:latin typeface="Calibri" pitchFamily="34" charset="0"/>
                <a:ea typeface="Calibri" pitchFamily="34" charset="-122"/>
                <a:cs typeface="Calibri" pitchFamily="34" charset="-120"/>
              </a:rPr>
              <a:t>20 taong niligawan. 40-mile drives. Sa wakas, naging "sila." </a:t>
            </a:r>
            <a:endParaRPr lang="en-US" sz="1300" dirty="0"/>
          </a:p>
          <a:p>
            <a:pPr marL="0" indent="0" algn="ctr">
              <a:lnSpc>
                <a:spcPct val="150000"/>
              </a:lnSpc>
              <a:buNone/>
            </a:pPr>
            <a:r>
              <a:rPr lang="en-US" sz="1300" dirty="0">
                <a:solidFill>
                  <a:srgbClr val="000000"/>
                </a:solidFill>
                <a:latin typeface="Calibri" pitchFamily="34" charset="0"/>
                <a:ea typeface="Calibri" pitchFamily="34" charset="-122"/>
                <a:cs typeface="Calibri" pitchFamily="34" charset="-120"/>
              </a:rPr>
              <a:t> </a:t>
            </a:r>
            <a:endParaRPr lang="en-US" sz="1300" dirty="0"/>
          </a:p>
          <a:p>
            <a:pPr marL="0" indent="0" algn="ctr">
              <a:lnSpc>
                <a:spcPct val="150000"/>
              </a:lnSpc>
              <a:buNone/>
            </a:pPr>
            <a:r>
              <a:rPr lang="en-US" sz="1300" dirty="0">
                <a:solidFill>
                  <a:srgbClr val="4A4640"/>
                </a:solidFill>
                <a:latin typeface="Calibri" pitchFamily="34" charset="0"/>
                <a:ea typeface="Calibri" pitchFamily="34" charset="-122"/>
                <a:cs typeface="Calibri" pitchFamily="34" charset="-120"/>
              </a:rPr>
              <a:t>2003 — nag-propose. Biniro siya ni Rose: </a:t>
            </a:r>
            <a:r>
              <a:rPr lang="en-US" sz="1300" i="1" dirty="0">
                <a:solidFill>
                  <a:srgbClr val="4A4640"/>
                </a:solidFill>
                <a:latin typeface="Calibri" pitchFamily="34" charset="0"/>
                <a:ea typeface="Calibri" pitchFamily="34" charset="-122"/>
                <a:cs typeface="Calibri" pitchFamily="34" charset="-120"/>
              </a:rPr>
              <a:t>"Magpapakasal lang ako kapag umabot ako sa 100."</a:t>
            </a:r>
            <a:r>
              <a:rPr lang="en-US" sz="1300" dirty="0">
                <a:solidFill>
                  <a:srgbClr val="4A4640"/>
                </a:solidFill>
                <a:latin typeface="Calibri" pitchFamily="34" charset="0"/>
                <a:ea typeface="Calibri" pitchFamily="34" charset="-122"/>
                <a:cs typeface="Calibri" pitchFamily="34" charset="-120"/>
              </a:rPr>
              <a:t> Sineryoso. </a:t>
            </a:r>
            <a:r>
              <a:rPr lang="en-US" sz="1300" b="1" dirty="0">
                <a:solidFill>
                  <a:srgbClr val="1B2A4A"/>
                </a:solidFill>
                <a:latin typeface="Calibri" pitchFamily="34" charset="0"/>
                <a:ea typeface="Calibri" pitchFamily="34" charset="-122"/>
                <a:cs typeface="Calibri" pitchFamily="34" charset="-120"/>
              </a:rPr>
              <a:t>Pinakasalan niya sa 100th birthday niya.</a:t>
            </a:r>
            <a:endParaRPr lang="en-US" sz="1300" dirty="0"/>
          </a:p>
        </p:txBody>
      </p:sp>
      <p:sp>
        <p:nvSpPr>
          <p:cNvPr id="8" name="Text 6"/>
          <p:cNvSpPr/>
          <p:nvPr/>
        </p:nvSpPr>
        <p:spPr>
          <a:xfrm>
            <a:off x="457200" y="4160520"/>
            <a:ext cx="8229600" cy="548640"/>
          </a:xfrm>
          <a:prstGeom prst="rect">
            <a:avLst/>
          </a:prstGeom>
          <a:noFill/>
          <a:ln/>
        </p:spPr>
        <p:txBody>
          <a:bodyPr wrap="square" rtlCol="0" anchor="ctr"/>
          <a:lstStyle/>
          <a:p>
            <a:pPr marL="0" indent="0" algn="ctr">
              <a:buNone/>
            </a:pPr>
            <a:r>
              <a:rPr lang="en-US" sz="2000" i="1" dirty="0">
                <a:solidFill>
                  <a:srgbClr val="B8882A"/>
                </a:solidFill>
                <a:latin typeface="Georgia" pitchFamily="34" charset="0"/>
                <a:ea typeface="Georgia" pitchFamily="34" charset="-122"/>
                <a:cs typeface="Georgia" pitchFamily="34" charset="-120"/>
              </a:rPr>
              <a:t>Grabeng effort. Grabeng pagtatapat. Grabeng pagmamahal.</a:t>
            </a:r>
            <a:endParaRPr lang="en-US" sz="2000" dirty="0"/>
          </a:p>
        </p:txBody>
      </p:sp>
      <p:sp>
        <p:nvSpPr>
          <p:cNvPr id="9" name="Rounded Rectangle 8"/>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2 min · ⌛5:00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F1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37160"/>
            <a:ext cx="5486400" cy="228600"/>
          </a:xfrm>
          <a:prstGeom prst="rect">
            <a:avLst/>
          </a:prstGeom>
          <a:noFill/>
        </p:spPr>
        <p:txBody>
          <a:bodyPr wrap="none" tIns="0" bIns="0">
            <a:spAutoFit/>
          </a:bodyPr>
          <a:lstStyle/>
          <a:p>
            <a:r>
              <a:rPr sz="900" b="1" i="0">
                <a:solidFill>
                  <a:srgbClr val="808080"/>
                </a:solidFill>
                <a:latin typeface="Calibri"/>
              </a:rPr>
              <a:t>MULTIPLY · DISCIPLE-MAKING PIPELINE</a:t>
            </a:r>
          </a:p>
        </p:txBody>
      </p:sp>
      <p:sp>
        <p:nvSpPr>
          <p:cNvPr id="4" name="TextBox 3"/>
          <p:cNvSpPr txBox="1"/>
          <p:nvPr/>
        </p:nvSpPr>
        <p:spPr>
          <a:xfrm>
            <a:off x="7772400" y="4846320"/>
            <a:ext cx="1188720" cy="228600"/>
          </a:xfrm>
          <a:prstGeom prst="rect">
            <a:avLst/>
          </a:prstGeom>
          <a:noFill/>
        </p:spPr>
        <p:txBody>
          <a:bodyPr wrap="none" tIns="0" rIns="0" bIns="0">
            <a:spAutoFit/>
          </a:bodyPr>
          <a:lstStyle/>
          <a:p>
            <a:pPr algn="r"/>
            <a:r>
              <a:rPr sz="900" b="0" i="0">
                <a:solidFill>
                  <a:srgbClr val="808080"/>
                </a:solidFill>
                <a:latin typeface="Calibri"/>
              </a:rPr>
              <a:t>5 / 23</a:t>
            </a:r>
          </a:p>
        </p:txBody>
      </p:sp>
      <p:sp>
        <p:nvSpPr>
          <p:cNvPr id="5" name="TextBox 4"/>
          <p:cNvSpPr txBox="1"/>
          <p:nvPr/>
        </p:nvSpPr>
        <p:spPr>
          <a:xfrm>
            <a:off x="457200" y="457200"/>
            <a:ext cx="8229600" cy="365760"/>
          </a:xfrm>
          <a:prstGeom prst="rect">
            <a:avLst/>
          </a:prstGeom>
          <a:noFill/>
        </p:spPr>
        <p:txBody>
          <a:bodyPr wrap="none">
            <a:spAutoFit/>
          </a:bodyPr>
          <a:lstStyle/>
          <a:p>
            <a:pPr algn="ctr"/>
            <a:r>
              <a:rPr sz="1500" b="1" i="0">
                <a:solidFill>
                  <a:srgbClr val="D4A84A"/>
                </a:solidFill>
                <a:latin typeface="Calibri"/>
              </a:rPr>
              <a:t>⚡ PUKAW · TANONG</a:t>
            </a:r>
          </a:p>
        </p:txBody>
      </p:sp>
      <p:sp>
        <p:nvSpPr>
          <p:cNvPr id="6" name="Rounded Rectangle 5"/>
          <p:cNvSpPr/>
          <p:nvPr/>
        </p:nvSpPr>
        <p:spPr>
          <a:xfrm>
            <a:off x="2788920" y="1024128"/>
            <a:ext cx="3566160" cy="329184"/>
          </a:xfrm>
          <a:prstGeom prst="roundRect">
            <a:avLst/>
          </a:prstGeom>
          <a:solidFill>
            <a:srgbClr val="D4A84A"/>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i="0">
                <a:solidFill>
                  <a:srgbClr val="141628"/>
                </a:solidFill>
                <a:latin typeface="Calibri"/>
              </a:rPr>
              <a:t>📋 Participant Guide Question</a:t>
            </a:r>
          </a:p>
        </p:txBody>
      </p:sp>
      <p:sp>
        <p:nvSpPr>
          <p:cNvPr id="7" name="TextBox 6"/>
          <p:cNvSpPr txBox="1"/>
          <p:nvPr/>
        </p:nvSpPr>
        <p:spPr>
          <a:xfrm>
            <a:off x="731520" y="1783080"/>
            <a:ext cx="7680960" cy="2194560"/>
          </a:xfrm>
          <a:prstGeom prst="rect">
            <a:avLst/>
          </a:prstGeom>
          <a:noFill/>
        </p:spPr>
        <p:txBody>
          <a:bodyPr wrap="square" anchor="ctr">
            <a:spAutoFit/>
          </a:bodyPr>
          <a:lstStyle/>
          <a:p>
            <a:pPr algn="ctr"/>
            <a:r>
              <a:rPr sz="3000" b="1" i="0">
                <a:solidFill>
                  <a:srgbClr val="FEFCF8"/>
                </a:solidFill>
                <a:latin typeface="Calibri"/>
              </a:rPr>
              <a:t>Ano ang pinakanakakakilig na gesture of love na narinig, nabalitaan, o naranasan mo?</a:t>
            </a:r>
          </a:p>
        </p:txBody>
      </p:sp>
      <p:sp>
        <p:nvSpPr>
          <p:cNvPr id="8" name="TextBox 7"/>
          <p:cNvSpPr txBox="1"/>
          <p:nvPr/>
        </p:nvSpPr>
        <p:spPr>
          <a:xfrm>
            <a:off x="731520" y="4160520"/>
            <a:ext cx="7680960" cy="548640"/>
          </a:xfrm>
          <a:prstGeom prst="rect">
            <a:avLst/>
          </a:prstGeom>
          <a:noFill/>
        </p:spPr>
        <p:txBody>
          <a:bodyPr wrap="square">
            <a:spAutoFit/>
          </a:bodyPr>
          <a:lstStyle/>
          <a:p>
            <a:pPr algn="ctr"/>
            <a:r>
              <a:rPr sz="1450" b="0" i="1">
                <a:solidFill>
                  <a:srgbClr val="D4A84A"/>
                </a:solidFill>
                <a:latin typeface="Calibri"/>
              </a:rPr>
              <a:t>Sa katabi mo — 90 segundo bawat isa.</a:t>
            </a:r>
          </a:p>
        </p:txBody>
      </p:sp>
      <p:sp>
        <p:nvSpPr>
          <p:cNvPr id="9" name="Rounded Rectangle 8"/>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2 min · ⌛7:00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F1C34"/>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808080"/>
                </a:solidFill>
                <a:latin typeface="Calibri" pitchFamily="34" charset="0"/>
                <a:ea typeface="Calibri" pitchFamily="34" charset="-122"/>
                <a:cs typeface="Calibri" pitchFamily="34" charset="-120"/>
              </a:rPr>
              <a:t>6 / 23</a:t>
            </a:r>
            <a:endParaRPr lang="en-US" sz="800" dirty="0"/>
          </a:p>
        </p:txBody>
      </p:sp>
      <p:sp>
        <p:nvSpPr>
          <p:cNvPr id="4" name="Text 2"/>
          <p:cNvSpPr/>
          <p:nvPr/>
        </p:nvSpPr>
        <p:spPr>
          <a:xfrm>
            <a:off x="457200" y="457200"/>
            <a:ext cx="8229600" cy="365760"/>
          </a:xfrm>
          <a:prstGeom prst="rect">
            <a:avLst/>
          </a:prstGeom>
          <a:noFill/>
          <a:ln/>
        </p:spPr>
        <p:txBody>
          <a:bodyPr wrap="square" rtlCol="0" anchor="ctr"/>
          <a:lstStyle/>
          <a:p>
            <a:pPr marL="0" indent="0" algn="ctr">
              <a:buNone/>
            </a:pPr>
            <a:r>
              <a:rPr lang="en-US" sz="1200" b="1" kern="0" spc="400" dirty="0">
                <a:solidFill>
                  <a:srgbClr val="D4A84A"/>
                </a:solidFill>
                <a:latin typeface="Calibri" pitchFamily="34" charset="0"/>
                <a:ea typeface="Calibri" pitchFamily="34" charset="-122"/>
                <a:cs typeface="Calibri" pitchFamily="34" charset="-120"/>
              </a:rPr>
              <a:t>⚡ PUKAW · ANG DIOS?</a:t>
            </a:r>
            <a:endParaRPr lang="en-US" sz="1200" dirty="0"/>
          </a:p>
        </p:txBody>
      </p:sp>
      <p:sp>
        <p:nvSpPr>
          <p:cNvPr id="5" name="Text 3"/>
          <p:cNvSpPr/>
          <p:nvPr/>
        </p:nvSpPr>
        <p:spPr>
          <a:xfrm>
            <a:off x="457200" y="1463040"/>
            <a:ext cx="8229600" cy="914400"/>
          </a:xfrm>
          <a:prstGeom prst="rect">
            <a:avLst/>
          </a:prstGeom>
          <a:noFill/>
          <a:ln/>
        </p:spPr>
        <p:txBody>
          <a:bodyPr wrap="square" rtlCol="0" anchor="ctr"/>
          <a:lstStyle/>
          <a:p>
            <a:pPr marL="0" indent="0" algn="ctr">
              <a:buNone/>
            </a:pPr>
            <a:r>
              <a:rPr lang="en-US" sz="6400" b="1" dirty="0">
                <a:solidFill>
                  <a:srgbClr val="D4A84A"/>
                </a:solidFill>
                <a:latin typeface="Georgia" pitchFamily="34" charset="0"/>
                <a:ea typeface="Georgia" pitchFamily="34" charset="-122"/>
                <a:cs typeface="Georgia" pitchFamily="34" charset="-120"/>
              </a:rPr>
              <a:t>1,500 taon.</a:t>
            </a:r>
            <a:endParaRPr lang="en-US" sz="6400" dirty="0"/>
          </a:p>
        </p:txBody>
      </p:sp>
      <p:sp>
        <p:nvSpPr>
          <p:cNvPr id="6" name="Text 4"/>
          <p:cNvSpPr/>
          <p:nvPr/>
        </p:nvSpPr>
        <p:spPr>
          <a:xfrm>
            <a:off x="457200" y="2468880"/>
            <a:ext cx="8229600" cy="548640"/>
          </a:xfrm>
          <a:prstGeom prst="rect">
            <a:avLst/>
          </a:prstGeom>
          <a:noFill/>
          <a:ln/>
        </p:spPr>
        <p:txBody>
          <a:bodyPr wrap="square" rtlCol="0" anchor="ctr"/>
          <a:lstStyle/>
          <a:p>
            <a:pPr marL="0" indent="0" algn="ctr">
              <a:buNone/>
            </a:pPr>
            <a:r>
              <a:rPr lang="en-US" sz="3200" i="1" dirty="0">
                <a:solidFill>
                  <a:srgbClr val="FFFFFF"/>
                </a:solidFill>
                <a:latin typeface="Georgia" pitchFamily="34" charset="0"/>
                <a:ea typeface="Georgia" pitchFamily="34" charset="-122"/>
                <a:cs typeface="Georgia" pitchFamily="34" charset="-120"/>
              </a:rPr>
              <a:t>40 writers. 66 books.</a:t>
            </a:r>
            <a:endParaRPr lang="en-US" sz="3200" dirty="0"/>
          </a:p>
        </p:txBody>
      </p:sp>
      <p:sp>
        <p:nvSpPr>
          <p:cNvPr id="7" name="Text 5"/>
          <p:cNvSpPr/>
          <p:nvPr/>
        </p:nvSpPr>
        <p:spPr>
          <a:xfrm>
            <a:off x="457200" y="3108960"/>
            <a:ext cx="8229600" cy="548640"/>
          </a:xfrm>
          <a:prstGeom prst="rect">
            <a:avLst/>
          </a:prstGeom>
          <a:noFill/>
          <a:ln/>
        </p:spPr>
        <p:txBody>
          <a:bodyPr wrap="square" rtlCol="0" anchor="ctr"/>
          <a:lstStyle/>
          <a:p>
            <a:pPr marL="0" indent="0" algn="ctr">
              <a:buNone/>
            </a:pPr>
            <a:r>
              <a:rPr lang="en-US" sz="2400" i="1" dirty="0">
                <a:solidFill>
                  <a:srgbClr val="B0B0B0"/>
                </a:solidFill>
                <a:latin typeface="Georgia" pitchFamily="34" charset="0"/>
                <a:ea typeface="Georgia" pitchFamily="34" charset="-122"/>
                <a:cs typeface="Georgia" pitchFamily="34" charset="-120"/>
              </a:rPr>
              <a:t>Para maipakita sa'yo ang puso Niya.</a:t>
            </a:r>
            <a:endParaRPr lang="en-US" sz="2400" dirty="0"/>
          </a:p>
        </p:txBody>
      </p:sp>
      <p:sp>
        <p:nvSpPr>
          <p:cNvPr id="8" name="Text 6"/>
          <p:cNvSpPr/>
          <p:nvPr/>
        </p:nvSpPr>
        <p:spPr>
          <a:xfrm>
            <a:off x="457200" y="4206240"/>
            <a:ext cx="8229600" cy="365760"/>
          </a:xfrm>
          <a:prstGeom prst="rect">
            <a:avLst/>
          </a:prstGeom>
          <a:noFill/>
          <a:ln/>
        </p:spPr>
        <p:txBody>
          <a:bodyPr wrap="square" rtlCol="0" anchor="ctr"/>
          <a:lstStyle/>
          <a:p>
            <a:pPr marL="0" indent="0" algn="ctr">
              <a:buNone/>
            </a:pPr>
            <a:r>
              <a:rPr lang="en-US" sz="1200" b="1" kern="0" spc="400" dirty="0">
                <a:solidFill>
                  <a:srgbClr val="D4A84A"/>
                </a:solidFill>
                <a:latin typeface="Calibri" pitchFamily="34" charset="0"/>
                <a:ea typeface="Calibri" pitchFamily="34" charset="-122"/>
                <a:cs typeface="Calibri" pitchFamily="34" charset="-120"/>
              </a:rPr>
              <a:t>GRABENG PAGMAMAHAL · GRABENG PAGTATAPAT</a:t>
            </a:r>
            <a:endParaRPr lang="en-US" sz="1200" dirty="0"/>
          </a:p>
        </p:txBody>
      </p:sp>
      <p:sp>
        <p:nvSpPr>
          <p:cNvPr id="9" name="Rounded Rectangle 8"/>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1 min · ⌛8:00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EFCF8"/>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C0C0C0"/>
                </a:solidFill>
                <a:latin typeface="Calibri" pitchFamily="34" charset="0"/>
                <a:ea typeface="Calibri" pitchFamily="34" charset="-122"/>
                <a:cs typeface="Calibri" pitchFamily="34" charset="-120"/>
              </a:rPr>
              <a:t>7 / 23</a:t>
            </a:r>
            <a:endParaRPr lang="en-US" sz="800" dirty="0"/>
          </a:p>
        </p:txBody>
      </p:sp>
      <p:sp>
        <p:nvSpPr>
          <p:cNvPr id="4" name="Text 2"/>
          <p:cNvSpPr/>
          <p:nvPr/>
        </p:nvSpPr>
        <p:spPr>
          <a:xfrm>
            <a:off x="457200" y="457200"/>
            <a:ext cx="8229600" cy="365760"/>
          </a:xfrm>
          <a:prstGeom prst="rect">
            <a:avLst/>
          </a:prstGeom>
          <a:noFill/>
          <a:ln/>
        </p:spPr>
        <p:txBody>
          <a:bodyPr wrap="square" rtlCol="0" anchor="ctr"/>
          <a:lstStyle/>
          <a:p>
            <a:pPr marL="0" indent="0" algn="ctr">
              <a:buNone/>
            </a:pPr>
            <a:r>
              <a:rPr lang="en-US" sz="1200" b="1" kern="0" spc="400" dirty="0">
                <a:solidFill>
                  <a:srgbClr val="B8882A"/>
                </a:solidFill>
                <a:latin typeface="Calibri" pitchFamily="34" charset="0"/>
                <a:ea typeface="Calibri" pitchFamily="34" charset="-122"/>
                <a:cs typeface="Calibri" pitchFamily="34" charset="-120"/>
              </a:rPr>
              <a:t>📖 TUKLAS · BIG IDEA</a:t>
            </a:r>
            <a:endParaRPr lang="en-US" sz="1200" dirty="0"/>
          </a:p>
        </p:txBody>
      </p:sp>
      <p:sp>
        <p:nvSpPr>
          <p:cNvPr id="5" name="Text 3"/>
          <p:cNvSpPr/>
          <p:nvPr/>
        </p:nvSpPr>
        <p:spPr>
          <a:xfrm>
            <a:off x="457200" y="1188720"/>
            <a:ext cx="8229600" cy="365760"/>
          </a:xfrm>
          <a:prstGeom prst="rect">
            <a:avLst/>
          </a:prstGeom>
          <a:noFill/>
          <a:ln/>
        </p:spPr>
        <p:txBody>
          <a:bodyPr wrap="square" rtlCol="0" anchor="ctr"/>
          <a:lstStyle/>
          <a:p>
            <a:pPr marL="0" indent="0" algn="ctr">
              <a:buNone/>
            </a:pPr>
            <a:r>
              <a:rPr lang="en-US" sz="1200" b="1" kern="0" spc="300" dirty="0">
                <a:solidFill>
                  <a:srgbClr val="B8882A"/>
                </a:solidFill>
                <a:latin typeface="Calibri" pitchFamily="34" charset="0"/>
                <a:ea typeface="Calibri" pitchFamily="34" charset="-122"/>
                <a:cs typeface="Calibri" pitchFamily="34" charset="-120"/>
              </a:rPr>
              <a:t>PANGUNAHING KATOTOHANAN</a:t>
            </a:r>
            <a:endParaRPr lang="en-US" sz="1200" dirty="0"/>
          </a:p>
        </p:txBody>
      </p:sp>
      <p:sp>
        <p:nvSpPr>
          <p:cNvPr id="6" name="Text 4"/>
          <p:cNvSpPr/>
          <p:nvPr/>
        </p:nvSpPr>
        <p:spPr>
          <a:xfrm>
            <a:off x="457200" y="1828800"/>
            <a:ext cx="8229600" cy="2560320"/>
          </a:xfrm>
          <a:prstGeom prst="rect">
            <a:avLst/>
          </a:prstGeom>
          <a:noFill/>
          <a:ln/>
        </p:spPr>
        <p:txBody>
          <a:bodyPr wrap="square" rtlCol="0" anchor="ctr"/>
          <a:lstStyle/>
          <a:p>
            <a:pPr marL="0" indent="0" algn="ctr">
              <a:lnSpc>
                <a:spcPct val="130000"/>
              </a:lnSpc>
              <a:buNone/>
            </a:pPr>
            <a:r>
              <a:rPr lang="en-US" sz="3600" b="1" dirty="0">
                <a:solidFill>
                  <a:srgbClr val="1B2A4A"/>
                </a:solidFill>
                <a:latin typeface="Georgia" pitchFamily="34" charset="0"/>
                <a:ea typeface="Georgia" pitchFamily="34" charset="-122"/>
                <a:cs typeface="Georgia" pitchFamily="34" charset="-120"/>
              </a:rPr>
              <a:t>"Imposibleng </a:t>
            </a:r>
            <a:r>
              <a:rPr lang="en-US" sz="3600" b="1" i="1" dirty="0">
                <a:solidFill>
                  <a:srgbClr val="B8882A"/>
                </a:solidFill>
                <a:latin typeface="Georgia" pitchFamily="34" charset="0"/>
                <a:ea typeface="Georgia" pitchFamily="34" charset="-122"/>
                <a:cs typeface="Georgia" pitchFamily="34" charset="-120"/>
              </a:rPr>
              <a:t>lumalim</a:t>
            </a:r>
            <a:r>
              <a:rPr lang="en-US" sz="3600" b="1" dirty="0">
                <a:solidFill>
                  <a:srgbClr val="1B2A4A"/>
                </a:solidFill>
                <a:latin typeface="Georgia" pitchFamily="34" charset="0"/>
                <a:ea typeface="Georgia" pitchFamily="34" charset="-122"/>
                <a:cs typeface="Georgia" pitchFamily="34" charset="-120"/>
              </a:rPr>
              <a:t> ang pagmamahal sa Dios kung hindi </a:t>
            </a:r>
            <a:r>
              <a:rPr lang="en-US" sz="3600" b="1" i="1" dirty="0">
                <a:solidFill>
                  <a:srgbClr val="B8882A"/>
                </a:solidFill>
                <a:latin typeface="Georgia" pitchFamily="34" charset="0"/>
                <a:ea typeface="Georgia" pitchFamily="34" charset="-122"/>
                <a:cs typeface="Georgia" pitchFamily="34" charset="-120"/>
              </a:rPr>
              <a:t>lumalim</a:t>
            </a:r>
            <a:r>
              <a:rPr lang="en-US" sz="3600" b="1" dirty="0">
                <a:solidFill>
                  <a:srgbClr val="1B2A4A"/>
                </a:solidFill>
                <a:latin typeface="Georgia" pitchFamily="34" charset="0"/>
                <a:ea typeface="Georgia" pitchFamily="34" charset="-122"/>
                <a:cs typeface="Georgia" pitchFamily="34" charset="-120"/>
              </a:rPr>
              <a:t> ang pagmamahal sa Kaniyang Salita."</a:t>
            </a:r>
            <a:endParaRPr lang="en-US" sz="3600" dirty="0"/>
          </a:p>
        </p:txBody>
      </p:sp>
      <p:sp>
        <p:nvSpPr>
          <p:cNvPr id="7" name="Rounded Rectangle 6"/>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2 min · ⌛10:00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0F1C34"/>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808080"/>
                </a:solidFill>
                <a:latin typeface="Calibri" pitchFamily="34" charset="0"/>
                <a:ea typeface="Calibri" pitchFamily="34" charset="-122"/>
                <a:cs typeface="Calibri" pitchFamily="34" charset="-120"/>
              </a:rPr>
              <a:t>8 / 23</a:t>
            </a:r>
            <a:endParaRPr lang="en-US" sz="800" dirty="0"/>
          </a:p>
        </p:txBody>
      </p:sp>
      <p:sp>
        <p:nvSpPr>
          <p:cNvPr id="4" name="Text 2"/>
          <p:cNvSpPr/>
          <p:nvPr/>
        </p:nvSpPr>
        <p:spPr>
          <a:xfrm>
            <a:off x="457200" y="365760"/>
            <a:ext cx="8229600" cy="274320"/>
          </a:xfrm>
          <a:prstGeom prst="rect">
            <a:avLst/>
          </a:prstGeom>
          <a:noFill/>
          <a:ln/>
        </p:spPr>
        <p:txBody>
          <a:bodyPr wrap="square" rtlCol="0" anchor="ctr"/>
          <a:lstStyle/>
          <a:p>
            <a:pPr marL="0" indent="0" algn="ctr">
              <a:buNone/>
            </a:pPr>
            <a:r>
              <a:rPr lang="en-US" sz="1100" b="1" kern="0" spc="400" dirty="0">
                <a:solidFill>
                  <a:srgbClr val="D4A84A"/>
                </a:solidFill>
                <a:latin typeface="Calibri" pitchFamily="34" charset="0"/>
                <a:ea typeface="Calibri" pitchFamily="34" charset="-122"/>
                <a:cs typeface="Calibri" pitchFamily="34" charset="-120"/>
              </a:rPr>
              <a:t>📖 TUKLAS · ANCHOR SCRIPTURE</a:t>
            </a:r>
            <a:endParaRPr lang="en-US" sz="1100" dirty="0"/>
          </a:p>
        </p:txBody>
      </p:sp>
      <p:sp>
        <p:nvSpPr>
          <p:cNvPr id="5" name="Text 3"/>
          <p:cNvSpPr/>
          <p:nvPr/>
        </p:nvSpPr>
        <p:spPr>
          <a:xfrm>
            <a:off x="457200" y="777240"/>
            <a:ext cx="8229600" cy="274320"/>
          </a:xfrm>
          <a:prstGeom prst="rect">
            <a:avLst/>
          </a:prstGeom>
          <a:noFill/>
          <a:ln/>
        </p:spPr>
        <p:txBody>
          <a:bodyPr wrap="square" rtlCol="0" anchor="ctr"/>
          <a:lstStyle/>
          <a:p>
            <a:pPr marL="0" indent="0" algn="ctr">
              <a:buNone/>
            </a:pPr>
            <a:r>
              <a:rPr lang="en-US" sz="1100" b="1" kern="0" spc="400" dirty="0">
                <a:solidFill>
                  <a:srgbClr val="D4A84A"/>
                </a:solidFill>
                <a:latin typeface="Calibri" pitchFamily="34" charset="0"/>
                <a:ea typeface="Calibri" pitchFamily="34" charset="-122"/>
                <a:cs typeface="Calibri" pitchFamily="34" charset="-120"/>
              </a:rPr>
              <a:t>MEMORY VERSE</a:t>
            </a:r>
            <a:endParaRPr lang="en-US" sz="1100" dirty="0"/>
          </a:p>
        </p:txBody>
      </p:sp>
      <p:sp>
        <p:nvSpPr>
          <p:cNvPr id="6" name="Text 4"/>
          <p:cNvSpPr/>
          <p:nvPr/>
        </p:nvSpPr>
        <p:spPr>
          <a:xfrm>
            <a:off x="457200" y="1097280"/>
            <a:ext cx="8229600" cy="457200"/>
          </a:xfrm>
          <a:prstGeom prst="rect">
            <a:avLst/>
          </a:prstGeom>
          <a:noFill/>
          <a:ln/>
        </p:spPr>
        <p:txBody>
          <a:bodyPr wrap="square" rtlCol="0" anchor="ctr"/>
          <a:lstStyle/>
          <a:p>
            <a:pPr marL="0" indent="0" algn="ctr">
              <a:buNone/>
            </a:pPr>
            <a:r>
              <a:rPr lang="en-US" sz="2200" b="1" dirty="0">
                <a:solidFill>
                  <a:srgbClr val="F5D97A"/>
                </a:solidFill>
                <a:latin typeface="Georgia" pitchFamily="34" charset="0"/>
                <a:ea typeface="Georgia" pitchFamily="34" charset="-122"/>
                <a:cs typeface="Georgia" pitchFamily="34" charset="-120"/>
              </a:rPr>
              <a:t>Awit 1:2-3</a:t>
            </a:r>
            <a:endParaRPr lang="en-US" sz="2200" dirty="0"/>
          </a:p>
        </p:txBody>
      </p:sp>
      <p:sp>
        <p:nvSpPr>
          <p:cNvPr id="7" name="Text 5"/>
          <p:cNvSpPr/>
          <p:nvPr/>
        </p:nvSpPr>
        <p:spPr>
          <a:xfrm>
            <a:off x="731520" y="1828800"/>
            <a:ext cx="7680960" cy="2743200"/>
          </a:xfrm>
          <a:prstGeom prst="rect">
            <a:avLst/>
          </a:prstGeom>
          <a:noFill/>
          <a:ln/>
        </p:spPr>
        <p:txBody>
          <a:bodyPr wrap="square" rtlCol="0" anchor="ctr"/>
          <a:lstStyle/>
          <a:p>
            <a:pPr marL="0" indent="0" algn="ctr">
              <a:lnSpc>
                <a:spcPct val="140000"/>
              </a:lnSpc>
              <a:buNone/>
            </a:pPr>
            <a:r>
              <a:rPr lang="en-US" sz="2000" i="1" dirty="0">
                <a:solidFill>
                  <a:srgbClr val="FFFFFF"/>
                </a:solidFill>
                <a:latin typeface="Georgia" pitchFamily="34" charset="0"/>
                <a:ea typeface="Georgia" pitchFamily="34" charset="-122"/>
                <a:cs typeface="Georgia" pitchFamily="34" charset="-120"/>
              </a:rPr>
              <a:t>"...kasiyahan niyang sumunod sa kautusan ni Yahweh. </a:t>
            </a:r>
            <a:r>
              <a:rPr lang="en-US" sz="2000" b="1" i="1" dirty="0">
                <a:solidFill>
                  <a:srgbClr val="F5D97A"/>
                </a:solidFill>
                <a:latin typeface="Georgia" pitchFamily="34" charset="0"/>
                <a:ea typeface="Georgia" pitchFamily="34" charset="-122"/>
                <a:cs typeface="Georgia" pitchFamily="34" charset="-120"/>
              </a:rPr>
              <a:t>Binubulay-bulay niya ito sa araw at gabi.</a:t>
            </a:r>
            <a:r>
              <a:rPr lang="en-US" sz="2000" i="1" dirty="0">
                <a:solidFill>
                  <a:srgbClr val="FFFFFF"/>
                </a:solidFill>
                <a:latin typeface="Georgia" pitchFamily="34" charset="0"/>
                <a:ea typeface="Georgia" pitchFamily="34" charset="-122"/>
                <a:cs typeface="Georgia" pitchFamily="34" charset="-120"/>
              </a:rPr>
              <a:t> Katulad niya'y punongkahoy sa tabi ng isang batisan, laging sariwa ang dahon at namumunga sa takdang panahon."</a:t>
            </a:r>
            <a:endParaRPr lang="en-US" sz="2000" dirty="0"/>
          </a:p>
        </p:txBody>
      </p:sp>
      <p:sp>
        <p:nvSpPr>
          <p:cNvPr id="8" name="Rounded Rectangle 7"/>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3 min · ⌛13:00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EFCF8"/>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C0C0C0"/>
                </a:solidFill>
                <a:latin typeface="Calibri" pitchFamily="34" charset="0"/>
                <a:ea typeface="Calibri" pitchFamily="34" charset="-122"/>
                <a:cs typeface="Calibri" pitchFamily="34" charset="-120"/>
              </a:rPr>
              <a:t>9 / 23</a:t>
            </a:r>
            <a:endParaRPr lang="en-US" sz="800" dirty="0"/>
          </a:p>
        </p:txBody>
      </p:sp>
      <p:sp>
        <p:nvSpPr>
          <p:cNvPr id="4" name="Text 2"/>
          <p:cNvSpPr/>
          <p:nvPr/>
        </p:nvSpPr>
        <p:spPr>
          <a:xfrm>
            <a:off x="457200" y="457200"/>
            <a:ext cx="8229600" cy="274320"/>
          </a:xfrm>
          <a:prstGeom prst="rect">
            <a:avLst/>
          </a:prstGeom>
          <a:noFill/>
          <a:ln/>
        </p:spPr>
        <p:txBody>
          <a:bodyPr wrap="square" rtlCol="0" anchor="ctr"/>
          <a:lstStyle/>
          <a:p>
            <a:pPr marL="0" indent="0" algn="ctr">
              <a:buNone/>
            </a:pPr>
            <a:r>
              <a:rPr lang="en-US" sz="1200" b="1" kern="0" spc="400" dirty="0">
                <a:solidFill>
                  <a:srgbClr val="B8882A"/>
                </a:solidFill>
                <a:latin typeface="Calibri" pitchFamily="34" charset="0"/>
                <a:ea typeface="Calibri" pitchFamily="34" charset="-122"/>
                <a:cs typeface="Calibri" pitchFamily="34" charset="-120"/>
              </a:rPr>
              <a:t>📖 TUKLAS · DEFINE MEDITATION</a:t>
            </a:r>
            <a:endParaRPr lang="en-US" sz="1200" dirty="0"/>
          </a:p>
        </p:txBody>
      </p:sp>
      <p:sp>
        <p:nvSpPr>
          <p:cNvPr id="5" name="Text 3"/>
          <p:cNvSpPr/>
          <p:nvPr/>
        </p:nvSpPr>
        <p:spPr>
          <a:xfrm>
            <a:off x="457200" y="914400"/>
            <a:ext cx="8229600" cy="731520"/>
          </a:xfrm>
          <a:prstGeom prst="rect">
            <a:avLst/>
          </a:prstGeom>
          <a:noFill/>
          <a:ln/>
        </p:spPr>
        <p:txBody>
          <a:bodyPr wrap="square" rtlCol="0" anchor="ctr"/>
          <a:lstStyle/>
          <a:p>
            <a:pPr marL="0" indent="0" algn="ctr">
              <a:buNone/>
            </a:pPr>
            <a:r>
              <a:rPr lang="en-US" sz="3600" b="1" dirty="0">
                <a:solidFill>
                  <a:srgbClr val="1B2A4A"/>
                </a:solidFill>
                <a:latin typeface="Georgia" pitchFamily="34" charset="0"/>
                <a:ea typeface="Georgia" pitchFamily="34" charset="-122"/>
                <a:cs typeface="Georgia" pitchFamily="34" charset="-120"/>
              </a:rPr>
              <a:t>Meditation = </a:t>
            </a:r>
            <a:r>
              <a:rPr lang="en-US" sz="3600" b="1" i="1" dirty="0">
                <a:solidFill>
                  <a:srgbClr val="B8882A"/>
                </a:solidFill>
                <a:latin typeface="Georgia" pitchFamily="34" charset="0"/>
                <a:ea typeface="Georgia" pitchFamily="34" charset="-122"/>
                <a:cs typeface="Georgia" pitchFamily="34" charset="-120"/>
              </a:rPr>
              <a:t>Rumination</a:t>
            </a:r>
            <a:endParaRPr lang="en-US" sz="3600" dirty="0"/>
          </a:p>
        </p:txBody>
      </p:sp>
      <p:sp>
        <p:nvSpPr>
          <p:cNvPr id="6" name="Text 4"/>
          <p:cNvSpPr/>
          <p:nvPr/>
        </p:nvSpPr>
        <p:spPr>
          <a:xfrm>
            <a:off x="914400" y="1920240"/>
            <a:ext cx="7315200" cy="1005840"/>
          </a:xfrm>
          <a:prstGeom prst="rect">
            <a:avLst/>
          </a:prstGeom>
          <a:noFill/>
          <a:ln/>
        </p:spPr>
        <p:txBody>
          <a:bodyPr wrap="square" rtlCol="0" anchor="t"/>
          <a:lstStyle/>
          <a:p>
            <a:pPr marL="0" indent="0" algn="ctr">
              <a:lnSpc>
                <a:spcPct val="150000"/>
              </a:lnSpc>
              <a:buNone/>
            </a:pPr>
            <a:r>
              <a:rPr lang="en-US" sz="1600" dirty="0">
                <a:solidFill>
                  <a:srgbClr val="4A4640"/>
                </a:solidFill>
                <a:latin typeface="Calibri" pitchFamily="34" charset="0"/>
                <a:ea typeface="Calibri" pitchFamily="34" charset="-122"/>
                <a:cs typeface="Calibri" pitchFamily="34" charset="-120"/>
              </a:rPr>
              <a:t>Kagaya ng baka — </a:t>
            </a:r>
            <a:r>
              <a:rPr lang="en-US" sz="1600" b="1" dirty="0">
                <a:solidFill>
                  <a:srgbClr val="1B2A4A"/>
                </a:solidFill>
                <a:latin typeface="Calibri" pitchFamily="34" charset="0"/>
                <a:ea typeface="Calibri" pitchFamily="34" charset="-122"/>
                <a:cs typeface="Calibri" pitchFamily="34" charset="-120"/>
              </a:rPr>
              <a:t>kumain, ngumuya, lulunukin, isusuka ulit, ngunguya muli</a:t>
            </a:r>
            <a:r>
              <a:rPr lang="en-US" sz="1600" dirty="0">
                <a:solidFill>
                  <a:srgbClr val="4A4640"/>
                </a:solidFill>
                <a:latin typeface="Calibri" pitchFamily="34" charset="0"/>
                <a:ea typeface="Calibri" pitchFamily="34" charset="-122"/>
                <a:cs typeface="Calibri" pitchFamily="34" charset="-120"/>
              </a:rPr>
              <a:t> — paulit-ulit hanggang ma-absorb.</a:t>
            </a:r>
            <a:endParaRPr lang="en-US" sz="1600" dirty="0"/>
          </a:p>
        </p:txBody>
      </p:sp>
      <p:sp>
        <p:nvSpPr>
          <p:cNvPr id="7" name="Text 5"/>
          <p:cNvSpPr/>
          <p:nvPr/>
        </p:nvSpPr>
        <p:spPr>
          <a:xfrm>
            <a:off x="914400" y="3017520"/>
            <a:ext cx="7315200" cy="822960"/>
          </a:xfrm>
          <a:prstGeom prst="rect">
            <a:avLst/>
          </a:prstGeom>
          <a:noFill/>
          <a:ln/>
        </p:spPr>
        <p:txBody>
          <a:bodyPr wrap="square" rtlCol="0" anchor="t"/>
          <a:lstStyle/>
          <a:p>
            <a:pPr marL="0" indent="0" algn="ctr">
              <a:lnSpc>
                <a:spcPct val="150000"/>
              </a:lnSpc>
              <a:buNone/>
            </a:pPr>
            <a:r>
              <a:rPr lang="en-US" sz="1500" dirty="0">
                <a:solidFill>
                  <a:srgbClr val="4A4640"/>
                </a:solidFill>
                <a:latin typeface="Calibri" pitchFamily="34" charset="0"/>
                <a:ea typeface="Calibri" pitchFamily="34" charset="-122"/>
                <a:cs typeface="Calibri" pitchFamily="34" charset="-120"/>
              </a:rPr>
              <a:t>Hebrew meaning ng meditation: </a:t>
            </a:r>
            <a:r>
              <a:rPr lang="en-US" sz="1500" b="1" i="1" dirty="0">
                <a:solidFill>
                  <a:srgbClr val="1B2A4A"/>
                </a:solidFill>
                <a:latin typeface="Calibri" pitchFamily="34" charset="0"/>
                <a:ea typeface="Calibri" pitchFamily="34" charset="-122"/>
                <a:cs typeface="Calibri" pitchFamily="34" charset="-120"/>
              </a:rPr>
              <a:t>"mamutawi lagi sa labi"</a:t>
            </a:r>
            <a:r>
              <a:rPr lang="en-US" sz="1500" dirty="0">
                <a:solidFill>
                  <a:srgbClr val="4A4640"/>
                </a:solidFill>
                <a:latin typeface="Calibri" pitchFamily="34" charset="0"/>
                <a:ea typeface="Calibri" pitchFamily="34" charset="-122"/>
                <a:cs typeface="Calibri" pitchFamily="34" charset="-120"/>
              </a:rPr>
              <a:t> — walang ibang bukambibig kundi ang Salita.</a:t>
            </a:r>
            <a:endParaRPr lang="en-US" sz="1500" dirty="0"/>
          </a:p>
        </p:txBody>
      </p:sp>
      <p:sp>
        <p:nvSpPr>
          <p:cNvPr id="8" name="Shape 6"/>
          <p:cNvSpPr/>
          <p:nvPr/>
        </p:nvSpPr>
        <p:spPr>
          <a:xfrm>
            <a:off x="2743200" y="4023360"/>
            <a:ext cx="3657600" cy="0"/>
          </a:xfrm>
          <a:prstGeom prst="line">
            <a:avLst/>
          </a:prstGeom>
          <a:noFill/>
          <a:ln w="12700">
            <a:solidFill>
              <a:srgbClr val="B8882A"/>
            </a:solidFill>
            <a:prstDash val="solid"/>
          </a:ln>
        </p:spPr>
        <p:txBody>
          <a:bodyPr/>
          <a:lstStyle/>
          <a:p>
            <a:endParaRPr/>
          </a:p>
        </p:txBody>
      </p:sp>
      <p:sp>
        <p:nvSpPr>
          <p:cNvPr id="9" name="Text 7"/>
          <p:cNvSpPr/>
          <p:nvPr/>
        </p:nvSpPr>
        <p:spPr>
          <a:xfrm>
            <a:off x="457200" y="4160520"/>
            <a:ext cx="8229600" cy="640080"/>
          </a:xfrm>
          <a:prstGeom prst="rect">
            <a:avLst/>
          </a:prstGeom>
          <a:noFill/>
          <a:ln/>
        </p:spPr>
        <p:txBody>
          <a:bodyPr wrap="square" rtlCol="0" anchor="t"/>
          <a:lstStyle/>
          <a:p>
            <a:pPr marL="0" indent="0" algn="ctr">
              <a:buNone/>
            </a:pPr>
            <a:r>
              <a:rPr lang="en-US" sz="1300" dirty="0">
                <a:solidFill>
                  <a:srgbClr val="6A6660"/>
                </a:solidFill>
                <a:latin typeface="Calibri" pitchFamily="34" charset="0"/>
                <a:ea typeface="Calibri" pitchFamily="34" charset="-122"/>
                <a:cs typeface="Calibri" pitchFamily="34" charset="-120"/>
              </a:rPr>
              <a:t>Hindu meditation = </a:t>
            </a:r>
            <a:r>
              <a:rPr lang="en-US" sz="1300" i="1" dirty="0">
                <a:solidFill>
                  <a:srgbClr val="6A6660"/>
                </a:solidFill>
                <a:latin typeface="Calibri" pitchFamily="34" charset="0"/>
                <a:ea typeface="Calibri" pitchFamily="34" charset="-122"/>
                <a:cs typeface="Calibri" pitchFamily="34" charset="-120"/>
              </a:rPr>
              <a:t>empty the mind. </a:t>
            </a:r>
            <a:r>
              <a:rPr lang="en-US" sz="1300" dirty="0">
                <a:solidFill>
                  <a:srgbClr val="6A6660"/>
                </a:solidFill>
                <a:latin typeface="Calibri" pitchFamily="34" charset="0"/>
                <a:ea typeface="Calibri" pitchFamily="34" charset="-122"/>
                <a:cs typeface="Calibri" pitchFamily="34" charset="-120"/>
              </a:rPr>
              <a:t>Biblical meditation = </a:t>
            </a:r>
            <a:r>
              <a:rPr lang="en-US" sz="1300" b="1" dirty="0">
                <a:solidFill>
                  <a:srgbClr val="B8882A"/>
                </a:solidFill>
                <a:latin typeface="Calibri" pitchFamily="34" charset="0"/>
                <a:ea typeface="Calibri" pitchFamily="34" charset="-122"/>
                <a:cs typeface="Calibri" pitchFamily="34" charset="-120"/>
              </a:rPr>
              <a:t>fill it </a:t>
            </a:r>
            <a:r>
              <a:rPr lang="en-US" sz="1300" dirty="0">
                <a:solidFill>
                  <a:srgbClr val="6A6660"/>
                </a:solidFill>
                <a:latin typeface="Calibri" pitchFamily="34" charset="0"/>
                <a:ea typeface="Calibri" pitchFamily="34" charset="-122"/>
                <a:cs typeface="Calibri" pitchFamily="34" charset="-120"/>
              </a:rPr>
              <a:t>with God's thoughts.</a:t>
            </a:r>
            <a:endParaRPr lang="en-US" sz="1300" dirty="0"/>
          </a:p>
        </p:txBody>
      </p:sp>
      <p:sp>
        <p:nvSpPr>
          <p:cNvPr id="10" name="Rounded Rectangle 9"/>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3 min · ⌛16:00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EFCF8"/>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C0C0C0"/>
                </a:solidFill>
                <a:latin typeface="Calibri" pitchFamily="34" charset="0"/>
                <a:ea typeface="Calibri" pitchFamily="34" charset="-122"/>
                <a:cs typeface="Calibri" pitchFamily="34" charset="-120"/>
              </a:rPr>
              <a:t>10 / 23</a:t>
            </a:r>
            <a:endParaRPr lang="en-US" sz="800" dirty="0"/>
          </a:p>
        </p:txBody>
      </p:sp>
      <p:sp>
        <p:nvSpPr>
          <p:cNvPr id="4" name="Text 2"/>
          <p:cNvSpPr/>
          <p:nvPr/>
        </p:nvSpPr>
        <p:spPr>
          <a:xfrm>
            <a:off x="457200" y="365760"/>
            <a:ext cx="8229600" cy="274320"/>
          </a:xfrm>
          <a:prstGeom prst="rect">
            <a:avLst/>
          </a:prstGeom>
          <a:noFill/>
          <a:ln/>
        </p:spPr>
        <p:txBody>
          <a:bodyPr wrap="square" rtlCol="0" anchor="ctr"/>
          <a:lstStyle/>
          <a:p>
            <a:pPr marL="0" indent="0" algn="ctr">
              <a:buNone/>
            </a:pPr>
            <a:r>
              <a:rPr lang="en-US" sz="1100" b="1" kern="0" spc="400" dirty="0">
                <a:solidFill>
                  <a:srgbClr val="B8882A"/>
                </a:solidFill>
                <a:latin typeface="Calibri" pitchFamily="34" charset="0"/>
                <a:ea typeface="Calibri" pitchFamily="34" charset="-122"/>
                <a:cs typeface="Calibri" pitchFamily="34" charset="-120"/>
              </a:rPr>
              <a:t>📖 TUKLAS · 5 ROLES NG BIBLE</a:t>
            </a:r>
            <a:endParaRPr lang="en-US" sz="1100" dirty="0"/>
          </a:p>
        </p:txBody>
      </p:sp>
      <p:sp>
        <p:nvSpPr>
          <p:cNvPr id="5" name="Text 3"/>
          <p:cNvSpPr/>
          <p:nvPr/>
        </p:nvSpPr>
        <p:spPr>
          <a:xfrm>
            <a:off x="457200" y="777240"/>
            <a:ext cx="8229600" cy="548640"/>
          </a:xfrm>
          <a:prstGeom prst="rect">
            <a:avLst/>
          </a:prstGeom>
          <a:noFill/>
          <a:ln/>
        </p:spPr>
        <p:txBody>
          <a:bodyPr wrap="square" rtlCol="0" anchor="ctr"/>
          <a:lstStyle/>
          <a:p>
            <a:pPr marL="0" indent="0" algn="ctr">
              <a:buNone/>
            </a:pPr>
            <a:r>
              <a:rPr lang="en-US" sz="2400" b="1" dirty="0">
                <a:solidFill>
                  <a:srgbClr val="1B2A4A"/>
                </a:solidFill>
                <a:latin typeface="Georgia" pitchFamily="34" charset="0"/>
                <a:ea typeface="Georgia" pitchFamily="34" charset="-122"/>
                <a:cs typeface="Georgia" pitchFamily="34" charset="-120"/>
              </a:rPr>
              <a:t>Bakit Mahalaga ang Salita sa Buhay Mo?</a:t>
            </a:r>
            <a:endParaRPr lang="en-US" sz="2400" dirty="0"/>
          </a:p>
        </p:txBody>
      </p:sp>
      <p:sp>
        <p:nvSpPr>
          <p:cNvPr id="6" name="Shape 4"/>
          <p:cNvSpPr/>
          <p:nvPr/>
        </p:nvSpPr>
        <p:spPr>
          <a:xfrm>
            <a:off x="356616" y="1554480"/>
            <a:ext cx="1554480" cy="2377440"/>
          </a:xfrm>
          <a:prstGeom prst="roundRect">
            <a:avLst>
              <a:gd name="adj" fmla="val 5882"/>
            </a:avLst>
          </a:prstGeom>
          <a:solidFill>
            <a:srgbClr val="FFFFFF"/>
          </a:solidFill>
          <a:ln w="25400">
            <a:solidFill>
              <a:srgbClr val="B8882A"/>
            </a:solidFill>
            <a:prstDash val="solid"/>
          </a:ln>
        </p:spPr>
        <p:txBody>
          <a:bodyPr/>
          <a:lstStyle/>
          <a:p>
            <a:endParaRPr/>
          </a:p>
        </p:txBody>
      </p:sp>
      <p:sp>
        <p:nvSpPr>
          <p:cNvPr id="7" name="Text 5"/>
          <p:cNvSpPr/>
          <p:nvPr/>
        </p:nvSpPr>
        <p:spPr>
          <a:xfrm>
            <a:off x="356616" y="1691640"/>
            <a:ext cx="1554480" cy="640080"/>
          </a:xfrm>
          <a:prstGeom prst="rect">
            <a:avLst/>
          </a:prstGeom>
          <a:noFill/>
          <a:ln/>
        </p:spPr>
        <p:txBody>
          <a:bodyPr wrap="square" lIns="0" tIns="0" rIns="0" bIns="0" rtlCol="0" anchor="t"/>
          <a:lstStyle/>
          <a:p>
            <a:pPr marL="0" indent="0" algn="ctr">
              <a:buNone/>
            </a:pPr>
            <a:r>
              <a:rPr lang="en-US" sz="3200" b="1" dirty="0">
                <a:solidFill>
                  <a:srgbClr val="B8882A"/>
                </a:solidFill>
                <a:latin typeface="Georgia" pitchFamily="34" charset="0"/>
                <a:ea typeface="Georgia" pitchFamily="34" charset="-122"/>
                <a:cs typeface="Georgia" pitchFamily="34" charset="-120"/>
              </a:rPr>
              <a:t>1</a:t>
            </a:r>
            <a:endParaRPr lang="en-US" sz="3200" dirty="0"/>
          </a:p>
        </p:txBody>
      </p:sp>
      <p:sp>
        <p:nvSpPr>
          <p:cNvPr id="8" name="Text 6"/>
          <p:cNvSpPr/>
          <p:nvPr/>
        </p:nvSpPr>
        <p:spPr>
          <a:xfrm>
            <a:off x="402336" y="2377440"/>
            <a:ext cx="1463040" cy="411480"/>
          </a:xfrm>
          <a:prstGeom prst="rect">
            <a:avLst/>
          </a:prstGeom>
          <a:noFill/>
          <a:ln/>
        </p:spPr>
        <p:txBody>
          <a:bodyPr wrap="square" lIns="0" tIns="0" rIns="0" bIns="0" rtlCol="0" anchor="ctr"/>
          <a:lstStyle/>
          <a:p>
            <a:pPr marL="0" indent="0" algn="ctr">
              <a:buNone/>
            </a:pPr>
            <a:r>
              <a:rPr lang="en-US" sz="1300" b="1" dirty="0">
                <a:solidFill>
                  <a:srgbClr val="1B2A4A"/>
                </a:solidFill>
                <a:latin typeface="Calibri" pitchFamily="34" charset="0"/>
                <a:ea typeface="Calibri" pitchFamily="34" charset="-122"/>
                <a:cs typeface="Calibri" pitchFamily="34" charset="-120"/>
              </a:rPr>
              <a:t>Katotohanan</a:t>
            </a:r>
            <a:endParaRPr lang="en-US" sz="1300" dirty="0"/>
          </a:p>
        </p:txBody>
      </p:sp>
      <p:sp>
        <p:nvSpPr>
          <p:cNvPr id="9" name="Text 7"/>
          <p:cNvSpPr/>
          <p:nvPr/>
        </p:nvSpPr>
        <p:spPr>
          <a:xfrm>
            <a:off x="402336" y="2788920"/>
            <a:ext cx="1463040" cy="274320"/>
          </a:xfrm>
          <a:prstGeom prst="rect">
            <a:avLst/>
          </a:prstGeom>
          <a:noFill/>
          <a:ln/>
        </p:spPr>
        <p:txBody>
          <a:bodyPr wrap="square" lIns="0" tIns="0" rIns="0" bIns="0" rtlCol="0" anchor="ctr"/>
          <a:lstStyle/>
          <a:p>
            <a:pPr marL="0" indent="0" algn="ctr">
              <a:buNone/>
            </a:pPr>
            <a:r>
              <a:rPr lang="en-US" sz="900" b="1" kern="0" spc="100" dirty="0">
                <a:solidFill>
                  <a:srgbClr val="B8882A"/>
                </a:solidFill>
                <a:latin typeface="Calibri" pitchFamily="34" charset="0"/>
                <a:ea typeface="Calibri" pitchFamily="34" charset="-122"/>
                <a:cs typeface="Calibri" pitchFamily="34" charset="-120"/>
              </a:rPr>
              <a:t>John 17:3</a:t>
            </a:r>
            <a:endParaRPr lang="en-US" sz="900" dirty="0"/>
          </a:p>
        </p:txBody>
      </p:sp>
      <p:sp>
        <p:nvSpPr>
          <p:cNvPr id="10" name="Text 8"/>
          <p:cNvSpPr/>
          <p:nvPr/>
        </p:nvSpPr>
        <p:spPr>
          <a:xfrm>
            <a:off x="402336" y="3108960"/>
            <a:ext cx="1463040" cy="777240"/>
          </a:xfrm>
          <a:prstGeom prst="rect">
            <a:avLst/>
          </a:prstGeom>
          <a:noFill/>
          <a:ln/>
        </p:spPr>
        <p:txBody>
          <a:bodyPr wrap="square" lIns="0" tIns="0" rIns="0" bIns="0" rtlCol="0" anchor="t"/>
          <a:lstStyle/>
          <a:p>
            <a:pPr marL="0" indent="0" algn="ctr">
              <a:buNone/>
            </a:pPr>
            <a:r>
              <a:rPr lang="en-US" sz="1000" i="1" dirty="0">
                <a:solidFill>
                  <a:srgbClr val="4A4640"/>
                </a:solidFill>
                <a:latin typeface="Calibri" pitchFamily="34" charset="0"/>
                <a:ea typeface="Calibri" pitchFamily="34" charset="-122"/>
                <a:cs typeface="Calibri" pitchFamily="34" charset="-120"/>
              </a:rPr>
              <a:t>Panlaban sa kasinungalingan</a:t>
            </a:r>
            <a:endParaRPr lang="en-US" sz="1000" dirty="0"/>
          </a:p>
        </p:txBody>
      </p:sp>
      <p:sp>
        <p:nvSpPr>
          <p:cNvPr id="11" name="Shape 9"/>
          <p:cNvSpPr/>
          <p:nvPr/>
        </p:nvSpPr>
        <p:spPr>
          <a:xfrm>
            <a:off x="2075688" y="1554480"/>
            <a:ext cx="1554480" cy="2377440"/>
          </a:xfrm>
          <a:prstGeom prst="roundRect">
            <a:avLst>
              <a:gd name="adj" fmla="val 5882"/>
            </a:avLst>
          </a:prstGeom>
          <a:solidFill>
            <a:srgbClr val="FFFFFF"/>
          </a:solidFill>
          <a:ln w="25400">
            <a:solidFill>
              <a:srgbClr val="B8882A"/>
            </a:solidFill>
            <a:prstDash val="solid"/>
          </a:ln>
        </p:spPr>
        <p:txBody>
          <a:bodyPr/>
          <a:lstStyle/>
          <a:p>
            <a:endParaRPr/>
          </a:p>
        </p:txBody>
      </p:sp>
      <p:sp>
        <p:nvSpPr>
          <p:cNvPr id="12" name="Text 10"/>
          <p:cNvSpPr/>
          <p:nvPr/>
        </p:nvSpPr>
        <p:spPr>
          <a:xfrm>
            <a:off x="2075688" y="1691640"/>
            <a:ext cx="1554480" cy="640080"/>
          </a:xfrm>
          <a:prstGeom prst="rect">
            <a:avLst/>
          </a:prstGeom>
          <a:noFill/>
          <a:ln/>
        </p:spPr>
        <p:txBody>
          <a:bodyPr wrap="square" lIns="0" tIns="0" rIns="0" bIns="0" rtlCol="0" anchor="t"/>
          <a:lstStyle/>
          <a:p>
            <a:pPr marL="0" indent="0" algn="ctr">
              <a:buNone/>
            </a:pPr>
            <a:r>
              <a:rPr lang="en-US" sz="3200" b="1" dirty="0">
                <a:solidFill>
                  <a:srgbClr val="B8882A"/>
                </a:solidFill>
                <a:latin typeface="Georgia" pitchFamily="34" charset="0"/>
                <a:ea typeface="Georgia" pitchFamily="34" charset="-122"/>
                <a:cs typeface="Georgia" pitchFamily="34" charset="-120"/>
              </a:rPr>
              <a:t>2</a:t>
            </a:r>
            <a:endParaRPr lang="en-US" sz="3200" dirty="0"/>
          </a:p>
        </p:txBody>
      </p:sp>
      <p:sp>
        <p:nvSpPr>
          <p:cNvPr id="13" name="Text 11"/>
          <p:cNvSpPr/>
          <p:nvPr/>
        </p:nvSpPr>
        <p:spPr>
          <a:xfrm>
            <a:off x="2121408" y="2377440"/>
            <a:ext cx="1463040" cy="411480"/>
          </a:xfrm>
          <a:prstGeom prst="rect">
            <a:avLst/>
          </a:prstGeom>
          <a:noFill/>
          <a:ln/>
        </p:spPr>
        <p:txBody>
          <a:bodyPr wrap="square" lIns="0" tIns="0" rIns="0" bIns="0" rtlCol="0" anchor="ctr"/>
          <a:lstStyle/>
          <a:p>
            <a:pPr marL="0" indent="0" algn="ctr">
              <a:buNone/>
            </a:pPr>
            <a:r>
              <a:rPr lang="en-US" sz="1300" b="1" dirty="0">
                <a:solidFill>
                  <a:srgbClr val="1B2A4A"/>
                </a:solidFill>
                <a:latin typeface="Calibri" pitchFamily="34" charset="0"/>
                <a:ea typeface="Calibri" pitchFamily="34" charset="-122"/>
                <a:cs typeface="Calibri" pitchFamily="34" charset="-120"/>
              </a:rPr>
              <a:t>Spiritual Food</a:t>
            </a:r>
            <a:endParaRPr lang="en-US" sz="1300" dirty="0"/>
          </a:p>
        </p:txBody>
      </p:sp>
      <p:sp>
        <p:nvSpPr>
          <p:cNvPr id="14" name="Text 12"/>
          <p:cNvSpPr/>
          <p:nvPr/>
        </p:nvSpPr>
        <p:spPr>
          <a:xfrm>
            <a:off x="2121408" y="2788920"/>
            <a:ext cx="1463040" cy="274320"/>
          </a:xfrm>
          <a:prstGeom prst="rect">
            <a:avLst/>
          </a:prstGeom>
          <a:noFill/>
          <a:ln/>
        </p:spPr>
        <p:txBody>
          <a:bodyPr wrap="square" lIns="0" tIns="0" rIns="0" bIns="0" rtlCol="0" anchor="ctr"/>
          <a:lstStyle/>
          <a:p>
            <a:pPr marL="0" indent="0" algn="ctr">
              <a:buNone/>
            </a:pPr>
            <a:r>
              <a:rPr lang="en-US" sz="900" b="1" kern="0" spc="100" dirty="0">
                <a:solidFill>
                  <a:srgbClr val="B8882A"/>
                </a:solidFill>
                <a:latin typeface="Calibri" pitchFamily="34" charset="0"/>
                <a:ea typeface="Calibri" pitchFamily="34" charset="-122"/>
                <a:cs typeface="Calibri" pitchFamily="34" charset="-120"/>
              </a:rPr>
              <a:t>Matt. 4:4</a:t>
            </a:r>
            <a:endParaRPr lang="en-US" sz="900" dirty="0"/>
          </a:p>
        </p:txBody>
      </p:sp>
      <p:sp>
        <p:nvSpPr>
          <p:cNvPr id="15" name="Text 13"/>
          <p:cNvSpPr/>
          <p:nvPr/>
        </p:nvSpPr>
        <p:spPr>
          <a:xfrm>
            <a:off x="2121408" y="3108960"/>
            <a:ext cx="1463040" cy="777240"/>
          </a:xfrm>
          <a:prstGeom prst="rect">
            <a:avLst/>
          </a:prstGeom>
          <a:noFill/>
          <a:ln/>
        </p:spPr>
        <p:txBody>
          <a:bodyPr wrap="square" lIns="0" tIns="0" rIns="0" bIns="0" rtlCol="0" anchor="t"/>
          <a:lstStyle/>
          <a:p>
            <a:pPr marL="0" indent="0" algn="ctr">
              <a:buNone/>
            </a:pPr>
            <a:r>
              <a:rPr lang="en-US" sz="1000" i="1" dirty="0">
                <a:solidFill>
                  <a:srgbClr val="4A4640"/>
                </a:solidFill>
                <a:latin typeface="Calibri" pitchFamily="34" charset="0"/>
                <a:ea typeface="Calibri" pitchFamily="34" charset="-122"/>
                <a:cs typeface="Calibri" pitchFamily="34" charset="-120"/>
              </a:rPr>
              <a:t>Tinapay pang-araw-araw</a:t>
            </a:r>
            <a:endParaRPr lang="en-US" sz="1000" dirty="0"/>
          </a:p>
        </p:txBody>
      </p:sp>
      <p:sp>
        <p:nvSpPr>
          <p:cNvPr id="16" name="Shape 14"/>
          <p:cNvSpPr/>
          <p:nvPr/>
        </p:nvSpPr>
        <p:spPr>
          <a:xfrm>
            <a:off x="3794760" y="1554480"/>
            <a:ext cx="1554480" cy="2377440"/>
          </a:xfrm>
          <a:prstGeom prst="roundRect">
            <a:avLst>
              <a:gd name="adj" fmla="val 5882"/>
            </a:avLst>
          </a:prstGeom>
          <a:solidFill>
            <a:srgbClr val="FFFFFF"/>
          </a:solidFill>
          <a:ln w="25400">
            <a:solidFill>
              <a:srgbClr val="B8882A"/>
            </a:solidFill>
            <a:prstDash val="solid"/>
          </a:ln>
        </p:spPr>
        <p:txBody>
          <a:bodyPr/>
          <a:lstStyle/>
          <a:p>
            <a:endParaRPr/>
          </a:p>
        </p:txBody>
      </p:sp>
      <p:sp>
        <p:nvSpPr>
          <p:cNvPr id="17" name="Text 15"/>
          <p:cNvSpPr/>
          <p:nvPr/>
        </p:nvSpPr>
        <p:spPr>
          <a:xfrm>
            <a:off x="3794760" y="1691640"/>
            <a:ext cx="1554480" cy="640080"/>
          </a:xfrm>
          <a:prstGeom prst="rect">
            <a:avLst/>
          </a:prstGeom>
          <a:noFill/>
          <a:ln/>
        </p:spPr>
        <p:txBody>
          <a:bodyPr wrap="square" lIns="0" tIns="0" rIns="0" bIns="0" rtlCol="0" anchor="t"/>
          <a:lstStyle/>
          <a:p>
            <a:pPr marL="0" indent="0" algn="ctr">
              <a:buNone/>
            </a:pPr>
            <a:r>
              <a:rPr lang="en-US" sz="3200" b="1" dirty="0">
                <a:solidFill>
                  <a:srgbClr val="B8882A"/>
                </a:solidFill>
                <a:latin typeface="Georgia" pitchFamily="34" charset="0"/>
                <a:ea typeface="Georgia" pitchFamily="34" charset="-122"/>
                <a:cs typeface="Georgia" pitchFamily="34" charset="-120"/>
              </a:rPr>
              <a:t>3</a:t>
            </a:r>
            <a:endParaRPr lang="en-US" sz="3200" dirty="0"/>
          </a:p>
        </p:txBody>
      </p:sp>
      <p:sp>
        <p:nvSpPr>
          <p:cNvPr id="18" name="Text 16"/>
          <p:cNvSpPr/>
          <p:nvPr/>
        </p:nvSpPr>
        <p:spPr>
          <a:xfrm>
            <a:off x="3840480" y="2377440"/>
            <a:ext cx="1463040" cy="411480"/>
          </a:xfrm>
          <a:prstGeom prst="rect">
            <a:avLst/>
          </a:prstGeom>
          <a:noFill/>
          <a:ln/>
        </p:spPr>
        <p:txBody>
          <a:bodyPr wrap="square" lIns="0" tIns="0" rIns="0" bIns="0" rtlCol="0" anchor="ctr"/>
          <a:lstStyle/>
          <a:p>
            <a:pPr marL="0" indent="0" algn="ctr">
              <a:buNone/>
            </a:pPr>
            <a:r>
              <a:rPr lang="en-US" sz="1300" b="1" dirty="0">
                <a:solidFill>
                  <a:srgbClr val="1B2A4A"/>
                </a:solidFill>
                <a:latin typeface="Calibri" pitchFamily="34" charset="0"/>
                <a:ea typeface="Calibri" pitchFamily="34" charset="-122"/>
                <a:cs typeface="Calibri" pitchFamily="34" charset="-120"/>
              </a:rPr>
              <a:t>Sandata</a:t>
            </a:r>
            <a:endParaRPr lang="en-US" sz="1300" dirty="0"/>
          </a:p>
        </p:txBody>
      </p:sp>
      <p:sp>
        <p:nvSpPr>
          <p:cNvPr id="19" name="Text 17"/>
          <p:cNvSpPr/>
          <p:nvPr/>
        </p:nvSpPr>
        <p:spPr>
          <a:xfrm>
            <a:off x="3840480" y="2788920"/>
            <a:ext cx="1463040" cy="274320"/>
          </a:xfrm>
          <a:prstGeom prst="rect">
            <a:avLst/>
          </a:prstGeom>
          <a:noFill/>
          <a:ln/>
        </p:spPr>
        <p:txBody>
          <a:bodyPr wrap="square" lIns="0" tIns="0" rIns="0" bIns="0" rtlCol="0" anchor="ctr"/>
          <a:lstStyle/>
          <a:p>
            <a:pPr marL="0" indent="0" algn="ctr">
              <a:buNone/>
            </a:pPr>
            <a:r>
              <a:rPr lang="en-US" sz="900" b="1" kern="0" spc="100" dirty="0">
                <a:solidFill>
                  <a:srgbClr val="B8882A"/>
                </a:solidFill>
                <a:latin typeface="Calibri" pitchFamily="34" charset="0"/>
                <a:ea typeface="Calibri" pitchFamily="34" charset="-122"/>
                <a:cs typeface="Calibri" pitchFamily="34" charset="-120"/>
              </a:rPr>
              <a:t>Heb. 4:12</a:t>
            </a:r>
            <a:endParaRPr lang="en-US" sz="900" dirty="0"/>
          </a:p>
        </p:txBody>
      </p:sp>
      <p:sp>
        <p:nvSpPr>
          <p:cNvPr id="20" name="Text 18"/>
          <p:cNvSpPr/>
          <p:nvPr/>
        </p:nvSpPr>
        <p:spPr>
          <a:xfrm>
            <a:off x="3840480" y="3108960"/>
            <a:ext cx="1463040" cy="777240"/>
          </a:xfrm>
          <a:prstGeom prst="rect">
            <a:avLst/>
          </a:prstGeom>
          <a:noFill/>
          <a:ln/>
        </p:spPr>
        <p:txBody>
          <a:bodyPr wrap="square" lIns="0" tIns="0" rIns="0" bIns="0" rtlCol="0" anchor="t"/>
          <a:lstStyle/>
          <a:p>
            <a:pPr marL="0" indent="0" algn="ctr">
              <a:buNone/>
            </a:pPr>
            <a:r>
              <a:rPr lang="en-US" sz="1000" i="1" dirty="0">
                <a:solidFill>
                  <a:srgbClr val="4A4640"/>
                </a:solidFill>
                <a:latin typeface="Calibri" pitchFamily="34" charset="0"/>
                <a:ea typeface="Calibri" pitchFamily="34" charset="-122"/>
                <a:cs typeface="Calibri" pitchFamily="34" charset="-120"/>
              </a:rPr>
              <a:t>Sword laban sa diablo</a:t>
            </a:r>
            <a:endParaRPr lang="en-US" sz="1000" dirty="0"/>
          </a:p>
        </p:txBody>
      </p:sp>
      <p:sp>
        <p:nvSpPr>
          <p:cNvPr id="21" name="Shape 19"/>
          <p:cNvSpPr/>
          <p:nvPr/>
        </p:nvSpPr>
        <p:spPr>
          <a:xfrm>
            <a:off x="5513832" y="1554480"/>
            <a:ext cx="1554480" cy="2377440"/>
          </a:xfrm>
          <a:prstGeom prst="roundRect">
            <a:avLst>
              <a:gd name="adj" fmla="val 5882"/>
            </a:avLst>
          </a:prstGeom>
          <a:solidFill>
            <a:srgbClr val="FFFFFF"/>
          </a:solidFill>
          <a:ln w="25400">
            <a:solidFill>
              <a:srgbClr val="B8882A"/>
            </a:solidFill>
            <a:prstDash val="solid"/>
          </a:ln>
        </p:spPr>
        <p:txBody>
          <a:bodyPr/>
          <a:lstStyle/>
          <a:p>
            <a:endParaRPr/>
          </a:p>
        </p:txBody>
      </p:sp>
      <p:sp>
        <p:nvSpPr>
          <p:cNvPr id="22" name="Text 20"/>
          <p:cNvSpPr/>
          <p:nvPr/>
        </p:nvSpPr>
        <p:spPr>
          <a:xfrm>
            <a:off x="5513832" y="1691640"/>
            <a:ext cx="1554480" cy="640080"/>
          </a:xfrm>
          <a:prstGeom prst="rect">
            <a:avLst/>
          </a:prstGeom>
          <a:noFill/>
          <a:ln/>
        </p:spPr>
        <p:txBody>
          <a:bodyPr wrap="square" lIns="0" tIns="0" rIns="0" bIns="0" rtlCol="0" anchor="t"/>
          <a:lstStyle/>
          <a:p>
            <a:pPr marL="0" indent="0" algn="ctr">
              <a:buNone/>
            </a:pPr>
            <a:r>
              <a:rPr lang="en-US" sz="3200" b="1" dirty="0">
                <a:solidFill>
                  <a:srgbClr val="B8882A"/>
                </a:solidFill>
                <a:latin typeface="Georgia" pitchFamily="34" charset="0"/>
                <a:ea typeface="Georgia" pitchFamily="34" charset="-122"/>
                <a:cs typeface="Georgia" pitchFamily="34" charset="-120"/>
              </a:rPr>
              <a:t>4</a:t>
            </a:r>
            <a:endParaRPr lang="en-US" sz="3200" dirty="0"/>
          </a:p>
        </p:txBody>
      </p:sp>
      <p:sp>
        <p:nvSpPr>
          <p:cNvPr id="23" name="Text 21"/>
          <p:cNvSpPr/>
          <p:nvPr/>
        </p:nvSpPr>
        <p:spPr>
          <a:xfrm>
            <a:off x="5559552" y="2377440"/>
            <a:ext cx="1463040" cy="411480"/>
          </a:xfrm>
          <a:prstGeom prst="rect">
            <a:avLst/>
          </a:prstGeom>
          <a:noFill/>
          <a:ln/>
        </p:spPr>
        <p:txBody>
          <a:bodyPr wrap="square" lIns="0" tIns="0" rIns="0" bIns="0" rtlCol="0" anchor="ctr"/>
          <a:lstStyle/>
          <a:p>
            <a:pPr marL="0" indent="0" algn="ctr">
              <a:buNone/>
            </a:pPr>
            <a:r>
              <a:rPr lang="en-US" sz="1300" b="1" dirty="0">
                <a:solidFill>
                  <a:srgbClr val="1B2A4A"/>
                </a:solidFill>
                <a:latin typeface="Calibri" pitchFamily="34" charset="0"/>
                <a:ea typeface="Calibri" pitchFamily="34" charset="-122"/>
                <a:cs typeface="Calibri" pitchFamily="34" charset="-120"/>
              </a:rPr>
              <a:t>Salamin</a:t>
            </a:r>
            <a:endParaRPr lang="en-US" sz="1300" dirty="0"/>
          </a:p>
        </p:txBody>
      </p:sp>
      <p:sp>
        <p:nvSpPr>
          <p:cNvPr id="24" name="Text 22"/>
          <p:cNvSpPr/>
          <p:nvPr/>
        </p:nvSpPr>
        <p:spPr>
          <a:xfrm>
            <a:off x="5559552" y="2788920"/>
            <a:ext cx="1463040" cy="274320"/>
          </a:xfrm>
          <a:prstGeom prst="rect">
            <a:avLst/>
          </a:prstGeom>
          <a:noFill/>
          <a:ln/>
        </p:spPr>
        <p:txBody>
          <a:bodyPr wrap="square" lIns="0" tIns="0" rIns="0" bIns="0" rtlCol="0" anchor="ctr"/>
          <a:lstStyle/>
          <a:p>
            <a:pPr marL="0" indent="0" algn="ctr">
              <a:buNone/>
            </a:pPr>
            <a:r>
              <a:rPr lang="en-US" sz="900" b="1" kern="0" spc="100" dirty="0">
                <a:solidFill>
                  <a:srgbClr val="B8882A"/>
                </a:solidFill>
                <a:latin typeface="Calibri" pitchFamily="34" charset="0"/>
                <a:ea typeface="Calibri" pitchFamily="34" charset="-122"/>
                <a:cs typeface="Calibri" pitchFamily="34" charset="-120"/>
              </a:rPr>
              <a:t>James 1:22-23</a:t>
            </a:r>
            <a:endParaRPr lang="en-US" sz="900" dirty="0"/>
          </a:p>
        </p:txBody>
      </p:sp>
      <p:sp>
        <p:nvSpPr>
          <p:cNvPr id="25" name="Text 23"/>
          <p:cNvSpPr/>
          <p:nvPr/>
        </p:nvSpPr>
        <p:spPr>
          <a:xfrm>
            <a:off x="5559552" y="3108960"/>
            <a:ext cx="1463040" cy="777240"/>
          </a:xfrm>
          <a:prstGeom prst="rect">
            <a:avLst/>
          </a:prstGeom>
          <a:noFill/>
          <a:ln/>
        </p:spPr>
        <p:txBody>
          <a:bodyPr wrap="square" lIns="0" tIns="0" rIns="0" bIns="0" rtlCol="0" anchor="t"/>
          <a:lstStyle/>
          <a:p>
            <a:pPr marL="0" indent="0" algn="ctr">
              <a:buNone/>
            </a:pPr>
            <a:r>
              <a:rPr lang="en-US" sz="1000" i="1" dirty="0">
                <a:solidFill>
                  <a:srgbClr val="4A4640"/>
                </a:solidFill>
                <a:latin typeface="Calibri" pitchFamily="34" charset="0"/>
                <a:ea typeface="Calibri" pitchFamily="34" charset="-122"/>
                <a:cs typeface="Calibri" pitchFamily="34" charset="-120"/>
              </a:rPr>
              <a:t>Ire-reveal ang dapat baguhin</a:t>
            </a:r>
            <a:endParaRPr lang="en-US" sz="1000" dirty="0"/>
          </a:p>
        </p:txBody>
      </p:sp>
      <p:sp>
        <p:nvSpPr>
          <p:cNvPr id="26" name="Shape 24"/>
          <p:cNvSpPr/>
          <p:nvPr/>
        </p:nvSpPr>
        <p:spPr>
          <a:xfrm>
            <a:off x="7232904" y="1554480"/>
            <a:ext cx="1554480" cy="2377440"/>
          </a:xfrm>
          <a:prstGeom prst="roundRect">
            <a:avLst>
              <a:gd name="adj" fmla="val 5882"/>
            </a:avLst>
          </a:prstGeom>
          <a:solidFill>
            <a:srgbClr val="FFFFFF"/>
          </a:solidFill>
          <a:ln w="25400">
            <a:solidFill>
              <a:srgbClr val="B8882A"/>
            </a:solidFill>
            <a:prstDash val="solid"/>
          </a:ln>
        </p:spPr>
        <p:txBody>
          <a:bodyPr/>
          <a:lstStyle/>
          <a:p>
            <a:endParaRPr/>
          </a:p>
        </p:txBody>
      </p:sp>
      <p:sp>
        <p:nvSpPr>
          <p:cNvPr id="27" name="Text 25"/>
          <p:cNvSpPr/>
          <p:nvPr/>
        </p:nvSpPr>
        <p:spPr>
          <a:xfrm>
            <a:off x="7232904" y="1691640"/>
            <a:ext cx="1554480" cy="640080"/>
          </a:xfrm>
          <a:prstGeom prst="rect">
            <a:avLst/>
          </a:prstGeom>
          <a:noFill/>
          <a:ln/>
        </p:spPr>
        <p:txBody>
          <a:bodyPr wrap="square" lIns="0" tIns="0" rIns="0" bIns="0" rtlCol="0" anchor="t"/>
          <a:lstStyle/>
          <a:p>
            <a:pPr marL="0" indent="0" algn="ctr">
              <a:buNone/>
            </a:pPr>
            <a:r>
              <a:rPr lang="en-US" sz="3200" b="1" dirty="0">
                <a:solidFill>
                  <a:srgbClr val="B8882A"/>
                </a:solidFill>
                <a:latin typeface="Georgia" pitchFamily="34" charset="0"/>
                <a:ea typeface="Georgia" pitchFamily="34" charset="-122"/>
                <a:cs typeface="Georgia" pitchFamily="34" charset="-120"/>
              </a:rPr>
              <a:t>5</a:t>
            </a:r>
            <a:endParaRPr lang="en-US" sz="3200" dirty="0"/>
          </a:p>
        </p:txBody>
      </p:sp>
      <p:sp>
        <p:nvSpPr>
          <p:cNvPr id="28" name="Text 26"/>
          <p:cNvSpPr/>
          <p:nvPr/>
        </p:nvSpPr>
        <p:spPr>
          <a:xfrm>
            <a:off x="7278624" y="2377440"/>
            <a:ext cx="1463040" cy="411480"/>
          </a:xfrm>
          <a:prstGeom prst="rect">
            <a:avLst/>
          </a:prstGeom>
          <a:noFill/>
          <a:ln/>
        </p:spPr>
        <p:txBody>
          <a:bodyPr wrap="square" lIns="0" tIns="0" rIns="0" bIns="0" rtlCol="0" anchor="ctr"/>
          <a:lstStyle/>
          <a:p>
            <a:pPr marL="0" indent="0" algn="ctr">
              <a:buNone/>
            </a:pPr>
            <a:r>
              <a:rPr lang="en-US" sz="1300" b="1" dirty="0">
                <a:solidFill>
                  <a:srgbClr val="1B2A4A"/>
                </a:solidFill>
                <a:latin typeface="Calibri" pitchFamily="34" charset="0"/>
                <a:ea typeface="Calibri" pitchFamily="34" charset="-122"/>
                <a:cs typeface="Calibri" pitchFamily="34" charset="-120"/>
              </a:rPr>
              <a:t>Tanglaw</a:t>
            </a:r>
            <a:endParaRPr lang="en-US" sz="1300" dirty="0"/>
          </a:p>
        </p:txBody>
      </p:sp>
      <p:sp>
        <p:nvSpPr>
          <p:cNvPr id="29" name="Text 27"/>
          <p:cNvSpPr/>
          <p:nvPr/>
        </p:nvSpPr>
        <p:spPr>
          <a:xfrm>
            <a:off x="7278624" y="2788920"/>
            <a:ext cx="1463040" cy="274320"/>
          </a:xfrm>
          <a:prstGeom prst="rect">
            <a:avLst/>
          </a:prstGeom>
          <a:noFill/>
          <a:ln/>
        </p:spPr>
        <p:txBody>
          <a:bodyPr wrap="square" lIns="0" tIns="0" rIns="0" bIns="0" rtlCol="0" anchor="ctr"/>
          <a:lstStyle/>
          <a:p>
            <a:pPr marL="0" indent="0" algn="ctr">
              <a:buNone/>
            </a:pPr>
            <a:r>
              <a:rPr lang="en-US" sz="900" b="1" kern="0" spc="100" dirty="0">
                <a:solidFill>
                  <a:srgbClr val="B8882A"/>
                </a:solidFill>
                <a:latin typeface="Calibri" pitchFamily="34" charset="0"/>
                <a:ea typeface="Calibri" pitchFamily="34" charset="-122"/>
                <a:cs typeface="Calibri" pitchFamily="34" charset="-120"/>
              </a:rPr>
              <a:t>Awit 119:105</a:t>
            </a:r>
            <a:endParaRPr lang="en-US" sz="900" dirty="0"/>
          </a:p>
        </p:txBody>
      </p:sp>
      <p:sp>
        <p:nvSpPr>
          <p:cNvPr id="30" name="Text 28"/>
          <p:cNvSpPr/>
          <p:nvPr/>
        </p:nvSpPr>
        <p:spPr>
          <a:xfrm>
            <a:off x="7278624" y="3108960"/>
            <a:ext cx="1463040" cy="777240"/>
          </a:xfrm>
          <a:prstGeom prst="rect">
            <a:avLst/>
          </a:prstGeom>
          <a:noFill/>
          <a:ln/>
        </p:spPr>
        <p:txBody>
          <a:bodyPr wrap="square" lIns="0" tIns="0" rIns="0" bIns="0" rtlCol="0" anchor="t"/>
          <a:lstStyle/>
          <a:p>
            <a:pPr marL="0" indent="0" algn="ctr">
              <a:buNone/>
            </a:pPr>
            <a:r>
              <a:rPr lang="en-US" sz="1000" i="1" dirty="0">
                <a:solidFill>
                  <a:srgbClr val="4A4640"/>
                </a:solidFill>
                <a:latin typeface="Calibri" pitchFamily="34" charset="0"/>
                <a:ea typeface="Calibri" pitchFamily="34" charset="-122"/>
                <a:cs typeface="Calibri" pitchFamily="34" charset="-120"/>
              </a:rPr>
              <a:t>Direksyon sa kadiliman</a:t>
            </a:r>
            <a:endParaRPr lang="en-US" sz="1000" dirty="0"/>
          </a:p>
        </p:txBody>
      </p:sp>
      <p:sp>
        <p:nvSpPr>
          <p:cNvPr id="31" name="Text 29"/>
          <p:cNvSpPr/>
          <p:nvPr/>
        </p:nvSpPr>
        <p:spPr>
          <a:xfrm>
            <a:off x="457200" y="4206240"/>
            <a:ext cx="8229600" cy="457200"/>
          </a:xfrm>
          <a:prstGeom prst="rect">
            <a:avLst/>
          </a:prstGeom>
          <a:noFill/>
          <a:ln/>
        </p:spPr>
        <p:txBody>
          <a:bodyPr wrap="square" rtlCol="0" anchor="ctr"/>
          <a:lstStyle/>
          <a:p>
            <a:pPr marL="0" indent="0" algn="ctr">
              <a:buNone/>
            </a:pPr>
            <a:r>
              <a:rPr lang="en-US" sz="1600" i="1" dirty="0">
                <a:solidFill>
                  <a:srgbClr val="6A6660"/>
                </a:solidFill>
                <a:latin typeface="Georgia" pitchFamily="34" charset="0"/>
                <a:ea typeface="Georgia" pitchFamily="34" charset="-122"/>
                <a:cs typeface="Georgia" pitchFamily="34" charset="-120"/>
              </a:rPr>
              <a:t>Sa 5 roles, ano ang pinakakailangan mo ngayon?</a:t>
            </a:r>
            <a:endParaRPr lang="en-US" sz="1600" dirty="0"/>
          </a:p>
        </p:txBody>
      </p:sp>
      <p:sp>
        <p:nvSpPr>
          <p:cNvPr id="32" name="Rounded Rectangle 31"/>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4 min · ⌛20:00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F1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37160"/>
            <a:ext cx="5486400" cy="228600"/>
          </a:xfrm>
          <a:prstGeom prst="rect">
            <a:avLst/>
          </a:prstGeom>
          <a:noFill/>
        </p:spPr>
        <p:txBody>
          <a:bodyPr wrap="none" tIns="0" bIns="0">
            <a:spAutoFit/>
          </a:bodyPr>
          <a:lstStyle/>
          <a:p>
            <a:r>
              <a:rPr sz="900" b="1" i="0">
                <a:solidFill>
                  <a:srgbClr val="808080"/>
                </a:solidFill>
                <a:latin typeface="Calibri"/>
              </a:rPr>
              <a:t>MULTIPLY · DISCIPLE-MAKING PIPELINE</a:t>
            </a:r>
          </a:p>
        </p:txBody>
      </p:sp>
      <p:sp>
        <p:nvSpPr>
          <p:cNvPr id="4" name="TextBox 3"/>
          <p:cNvSpPr txBox="1"/>
          <p:nvPr/>
        </p:nvSpPr>
        <p:spPr>
          <a:xfrm>
            <a:off x="7772400" y="4846320"/>
            <a:ext cx="1188720" cy="228600"/>
          </a:xfrm>
          <a:prstGeom prst="rect">
            <a:avLst/>
          </a:prstGeom>
          <a:noFill/>
        </p:spPr>
        <p:txBody>
          <a:bodyPr wrap="none" tIns="0" rIns="0" bIns="0">
            <a:spAutoFit/>
          </a:bodyPr>
          <a:lstStyle/>
          <a:p>
            <a:pPr algn="r"/>
            <a:r>
              <a:rPr sz="900" b="0" i="0">
                <a:solidFill>
                  <a:srgbClr val="808080"/>
                </a:solidFill>
                <a:latin typeface="Calibri"/>
              </a:rPr>
              <a:t>11 / 23</a:t>
            </a:r>
          </a:p>
        </p:txBody>
      </p:sp>
      <p:sp>
        <p:nvSpPr>
          <p:cNvPr id="5" name="TextBox 4"/>
          <p:cNvSpPr txBox="1"/>
          <p:nvPr/>
        </p:nvSpPr>
        <p:spPr>
          <a:xfrm>
            <a:off x="457200" y="457200"/>
            <a:ext cx="8229600" cy="365760"/>
          </a:xfrm>
          <a:prstGeom prst="rect">
            <a:avLst/>
          </a:prstGeom>
          <a:noFill/>
        </p:spPr>
        <p:txBody>
          <a:bodyPr wrap="none">
            <a:spAutoFit/>
          </a:bodyPr>
          <a:lstStyle/>
          <a:p>
            <a:pPr algn="ctr"/>
            <a:r>
              <a:rPr sz="1500" b="1" i="0">
                <a:solidFill>
                  <a:srgbClr val="D4A84A"/>
                </a:solidFill>
                <a:latin typeface="Calibri"/>
              </a:rPr>
              <a:t>📖 TUKLAS · TANONG</a:t>
            </a:r>
          </a:p>
        </p:txBody>
      </p:sp>
      <p:sp>
        <p:nvSpPr>
          <p:cNvPr id="6" name="Rounded Rectangle 5"/>
          <p:cNvSpPr/>
          <p:nvPr/>
        </p:nvSpPr>
        <p:spPr>
          <a:xfrm>
            <a:off x="2788920" y="1024128"/>
            <a:ext cx="3566160" cy="329184"/>
          </a:xfrm>
          <a:prstGeom prst="roundRect">
            <a:avLst/>
          </a:prstGeom>
          <a:solidFill>
            <a:srgbClr val="D4A84A"/>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i="0">
                <a:solidFill>
                  <a:srgbClr val="141628"/>
                </a:solidFill>
                <a:latin typeface="Calibri"/>
              </a:rPr>
              <a:t>📋 Participant Guide Question</a:t>
            </a:r>
          </a:p>
        </p:txBody>
      </p:sp>
      <p:sp>
        <p:nvSpPr>
          <p:cNvPr id="7" name="TextBox 6"/>
          <p:cNvSpPr txBox="1"/>
          <p:nvPr/>
        </p:nvSpPr>
        <p:spPr>
          <a:xfrm>
            <a:off x="731520" y="1783080"/>
            <a:ext cx="7680960" cy="2194560"/>
          </a:xfrm>
          <a:prstGeom prst="rect">
            <a:avLst/>
          </a:prstGeom>
          <a:noFill/>
        </p:spPr>
        <p:txBody>
          <a:bodyPr wrap="square" anchor="ctr">
            <a:spAutoFit/>
          </a:bodyPr>
          <a:lstStyle/>
          <a:p>
            <a:pPr algn="ctr"/>
            <a:r>
              <a:rPr sz="3000" b="1" i="0">
                <a:solidFill>
                  <a:srgbClr val="FEFCF8"/>
                </a:solidFill>
                <a:latin typeface="Calibri"/>
              </a:rPr>
              <a:t>Sa 5 roles ng Bible, ano ang pinakakailangan mo ngayon? Bakit?</a:t>
            </a:r>
          </a:p>
        </p:txBody>
      </p:sp>
      <p:sp>
        <p:nvSpPr>
          <p:cNvPr id="8" name="TextBox 7"/>
          <p:cNvSpPr txBox="1"/>
          <p:nvPr/>
        </p:nvSpPr>
        <p:spPr>
          <a:xfrm>
            <a:off x="731520" y="4160520"/>
            <a:ext cx="7680960" cy="548640"/>
          </a:xfrm>
          <a:prstGeom prst="rect">
            <a:avLst/>
          </a:prstGeom>
          <a:noFill/>
        </p:spPr>
        <p:txBody>
          <a:bodyPr wrap="square">
            <a:spAutoFit/>
          </a:bodyPr>
          <a:lstStyle/>
          <a:p>
            <a:pPr algn="ctr"/>
            <a:r>
              <a:rPr sz="1450" b="0" i="1">
                <a:solidFill>
                  <a:srgbClr val="D4A84A"/>
                </a:solidFill>
                <a:latin typeface="Calibri"/>
              </a:rPr>
              <a:t>Tahimik na sagot — isulat sa Participant Guide.</a:t>
            </a:r>
          </a:p>
        </p:txBody>
      </p:sp>
      <p:sp>
        <p:nvSpPr>
          <p:cNvPr id="9" name="Rounded Rectangle 8"/>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3 min · ⌛23:00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0F1C34"/>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808080"/>
                </a:solidFill>
                <a:latin typeface="Calibri" pitchFamily="34" charset="0"/>
                <a:ea typeface="Calibri" pitchFamily="34" charset="-122"/>
                <a:cs typeface="Calibri" pitchFamily="34" charset="-120"/>
              </a:rPr>
              <a:t>12 / 23</a:t>
            </a:r>
            <a:endParaRPr lang="en-US" sz="800" dirty="0"/>
          </a:p>
        </p:txBody>
      </p:sp>
      <p:sp>
        <p:nvSpPr>
          <p:cNvPr id="4" name="Text 2"/>
          <p:cNvSpPr/>
          <p:nvPr/>
        </p:nvSpPr>
        <p:spPr>
          <a:xfrm>
            <a:off x="457200" y="457200"/>
            <a:ext cx="8229600" cy="365760"/>
          </a:xfrm>
          <a:prstGeom prst="rect">
            <a:avLst/>
          </a:prstGeom>
          <a:noFill/>
          <a:ln/>
        </p:spPr>
        <p:txBody>
          <a:bodyPr wrap="square" rtlCol="0" anchor="ctr"/>
          <a:lstStyle/>
          <a:p>
            <a:pPr marL="0" indent="0" algn="ctr">
              <a:buNone/>
            </a:pPr>
            <a:r>
              <a:rPr lang="en-US" sz="1200" b="1" kern="0" spc="400" dirty="0">
                <a:solidFill>
                  <a:srgbClr val="D4A84A"/>
                </a:solidFill>
                <a:latin typeface="Calibri" pitchFamily="34" charset="0"/>
                <a:ea typeface="Calibri" pitchFamily="34" charset="-122"/>
                <a:cs typeface="Calibri" pitchFamily="34" charset="-120"/>
              </a:rPr>
              <a:t>💡 TALAKAY · MATEO 13</a:t>
            </a:r>
            <a:endParaRPr lang="en-US" sz="1200" dirty="0"/>
          </a:p>
        </p:txBody>
      </p:sp>
      <p:sp>
        <p:nvSpPr>
          <p:cNvPr id="5" name="Text 3"/>
          <p:cNvSpPr/>
          <p:nvPr/>
        </p:nvSpPr>
        <p:spPr>
          <a:xfrm>
            <a:off x="457200" y="914400"/>
            <a:ext cx="8229600" cy="2194560"/>
          </a:xfrm>
          <a:prstGeom prst="rect">
            <a:avLst/>
          </a:prstGeom>
          <a:noFill/>
          <a:ln/>
        </p:spPr>
        <p:txBody>
          <a:bodyPr wrap="square" rtlCol="0" anchor="ctr"/>
          <a:lstStyle/>
          <a:p>
            <a:pPr marL="0" indent="0" algn="ctr">
              <a:buNone/>
            </a:pPr>
            <a:r>
              <a:rPr lang="en-US" sz="20000" b="1" dirty="0">
                <a:solidFill>
                  <a:srgbClr val="D4A84A"/>
                </a:solidFill>
                <a:latin typeface="Georgia" pitchFamily="34" charset="0"/>
                <a:ea typeface="Georgia" pitchFamily="34" charset="-122"/>
                <a:cs typeface="Georgia" pitchFamily="34" charset="-120"/>
              </a:rPr>
              <a:t>4</a:t>
            </a:r>
            <a:endParaRPr lang="en-US" sz="20000" dirty="0"/>
          </a:p>
        </p:txBody>
      </p:sp>
      <p:sp>
        <p:nvSpPr>
          <p:cNvPr id="6" name="Text 4"/>
          <p:cNvSpPr/>
          <p:nvPr/>
        </p:nvSpPr>
        <p:spPr>
          <a:xfrm>
            <a:off x="457200" y="3108960"/>
            <a:ext cx="8229600" cy="365760"/>
          </a:xfrm>
          <a:prstGeom prst="rect">
            <a:avLst/>
          </a:prstGeom>
          <a:noFill/>
          <a:ln/>
        </p:spPr>
        <p:txBody>
          <a:bodyPr wrap="square" rtlCol="0" anchor="ctr"/>
          <a:lstStyle/>
          <a:p>
            <a:pPr marL="0" indent="0" algn="ctr">
              <a:buNone/>
            </a:pPr>
            <a:r>
              <a:rPr lang="en-US" sz="1400" b="1" kern="0" spc="500" dirty="0">
                <a:solidFill>
                  <a:srgbClr val="B0B0B0"/>
                </a:solidFill>
                <a:latin typeface="Calibri" pitchFamily="34" charset="0"/>
                <a:ea typeface="Calibri" pitchFamily="34" charset="-122"/>
                <a:cs typeface="Calibri" pitchFamily="34" charset="-120"/>
              </a:rPr>
              <a:t>KLASE NG LUPA</a:t>
            </a:r>
            <a:endParaRPr lang="en-US" sz="1400" dirty="0"/>
          </a:p>
        </p:txBody>
      </p:sp>
      <p:sp>
        <p:nvSpPr>
          <p:cNvPr id="7" name="Text 5"/>
          <p:cNvSpPr/>
          <p:nvPr/>
        </p:nvSpPr>
        <p:spPr>
          <a:xfrm>
            <a:off x="457200" y="3657600"/>
            <a:ext cx="8229600" cy="914400"/>
          </a:xfrm>
          <a:prstGeom prst="rect">
            <a:avLst/>
          </a:prstGeom>
          <a:noFill/>
          <a:ln/>
        </p:spPr>
        <p:txBody>
          <a:bodyPr wrap="square" rtlCol="0" anchor="t"/>
          <a:lstStyle/>
          <a:p>
            <a:pPr marL="0" indent="0" algn="ctr">
              <a:lnSpc>
                <a:spcPct val="130000"/>
              </a:lnSpc>
              <a:buNone/>
            </a:pPr>
            <a:r>
              <a:rPr lang="en-US" sz="2200" i="1" dirty="0">
                <a:solidFill>
                  <a:srgbClr val="FFFFFF"/>
                </a:solidFill>
                <a:latin typeface="Georgia" pitchFamily="34" charset="0"/>
                <a:ea typeface="Georgia" pitchFamily="34" charset="-122"/>
                <a:cs typeface="Georgia" pitchFamily="34" charset="-120"/>
              </a:rPr>
              <a:t>Pare-parehong binhi.
Iba-ibang lupa. </a:t>
            </a:r>
            <a:r>
              <a:rPr lang="en-US" sz="2200" i="1" dirty="0">
                <a:solidFill>
                  <a:srgbClr val="D4A84A"/>
                </a:solidFill>
                <a:latin typeface="Georgia" pitchFamily="34" charset="0"/>
                <a:ea typeface="Georgia" pitchFamily="34" charset="-122"/>
                <a:cs typeface="Georgia" pitchFamily="34" charset="-120"/>
              </a:rPr>
              <a:t>Iba-ibang bunga.</a:t>
            </a:r>
            <a:endParaRPr lang="en-US" sz="2200" dirty="0"/>
          </a:p>
        </p:txBody>
      </p:sp>
      <p:sp>
        <p:nvSpPr>
          <p:cNvPr id="8" name="Rounded Rectangle 7"/>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1 min · ⌛24:00</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EFCF8"/>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C0C0C0"/>
                </a:solidFill>
                <a:latin typeface="Calibri" pitchFamily="34" charset="0"/>
                <a:ea typeface="Calibri" pitchFamily="34" charset="-122"/>
                <a:cs typeface="Calibri" pitchFamily="34" charset="-120"/>
              </a:rPr>
              <a:t>13 / 23</a:t>
            </a:r>
            <a:endParaRPr lang="en-US" sz="800" dirty="0"/>
          </a:p>
        </p:txBody>
      </p:sp>
      <p:sp>
        <p:nvSpPr>
          <p:cNvPr id="4" name="Text 2"/>
          <p:cNvSpPr/>
          <p:nvPr/>
        </p:nvSpPr>
        <p:spPr>
          <a:xfrm>
            <a:off x="457200" y="365760"/>
            <a:ext cx="8229600" cy="274320"/>
          </a:xfrm>
          <a:prstGeom prst="rect">
            <a:avLst/>
          </a:prstGeom>
          <a:noFill/>
          <a:ln/>
        </p:spPr>
        <p:txBody>
          <a:bodyPr wrap="square" rtlCol="0" anchor="ctr"/>
          <a:lstStyle/>
          <a:p>
            <a:pPr marL="0" indent="0" algn="ctr">
              <a:buNone/>
            </a:pPr>
            <a:r>
              <a:rPr lang="en-US" sz="1100" b="1" kern="0" spc="400" dirty="0">
                <a:solidFill>
                  <a:srgbClr val="B8882A"/>
                </a:solidFill>
                <a:latin typeface="Calibri" pitchFamily="34" charset="0"/>
                <a:ea typeface="Calibri" pitchFamily="34" charset="-122"/>
                <a:cs typeface="Calibri" pitchFamily="34" charset="-120"/>
              </a:rPr>
              <a:t>💡 TALAKAY · 4 SOILS</a:t>
            </a:r>
            <a:endParaRPr lang="en-US" sz="1100" dirty="0"/>
          </a:p>
        </p:txBody>
      </p:sp>
      <p:sp>
        <p:nvSpPr>
          <p:cNvPr id="5" name="Text 3"/>
          <p:cNvSpPr/>
          <p:nvPr/>
        </p:nvSpPr>
        <p:spPr>
          <a:xfrm>
            <a:off x="457200" y="731520"/>
            <a:ext cx="8229600" cy="457200"/>
          </a:xfrm>
          <a:prstGeom prst="rect">
            <a:avLst/>
          </a:prstGeom>
          <a:noFill/>
          <a:ln/>
        </p:spPr>
        <p:txBody>
          <a:bodyPr wrap="square" rtlCol="0" anchor="ctr"/>
          <a:lstStyle/>
          <a:p>
            <a:pPr marL="0" indent="0" algn="ctr">
              <a:buNone/>
            </a:pPr>
            <a:r>
              <a:rPr lang="en-US" sz="2400" b="1" dirty="0">
                <a:solidFill>
                  <a:srgbClr val="1B2A4A"/>
                </a:solidFill>
                <a:latin typeface="Georgia" pitchFamily="34" charset="0"/>
                <a:ea typeface="Georgia" pitchFamily="34" charset="-122"/>
                <a:cs typeface="Georgia" pitchFamily="34" charset="-120"/>
              </a:rPr>
              <a:t>Anong klaseng lupa ang puso mo?</a:t>
            </a:r>
            <a:endParaRPr lang="en-US" sz="2400" dirty="0"/>
          </a:p>
        </p:txBody>
      </p:sp>
      <p:sp>
        <p:nvSpPr>
          <p:cNvPr id="6" name="Shape 4"/>
          <p:cNvSpPr/>
          <p:nvPr/>
        </p:nvSpPr>
        <p:spPr>
          <a:xfrm>
            <a:off x="777240" y="1371600"/>
            <a:ext cx="3657600" cy="1554480"/>
          </a:xfrm>
          <a:prstGeom prst="roundRect">
            <a:avLst>
              <a:gd name="adj" fmla="val 5882"/>
            </a:avLst>
          </a:prstGeom>
          <a:solidFill>
            <a:srgbClr val="FFFFFF"/>
          </a:solidFill>
          <a:ln w="25400">
            <a:solidFill>
              <a:srgbClr val="B8882A"/>
            </a:solidFill>
            <a:prstDash val="solid"/>
          </a:ln>
        </p:spPr>
        <p:txBody>
          <a:bodyPr/>
          <a:lstStyle/>
          <a:p>
            <a:endParaRPr/>
          </a:p>
        </p:txBody>
      </p:sp>
      <p:sp>
        <p:nvSpPr>
          <p:cNvPr id="7" name="Text 5"/>
          <p:cNvSpPr/>
          <p:nvPr/>
        </p:nvSpPr>
        <p:spPr>
          <a:xfrm>
            <a:off x="914400" y="1508760"/>
            <a:ext cx="640080" cy="640080"/>
          </a:xfrm>
          <a:prstGeom prst="rect">
            <a:avLst/>
          </a:prstGeom>
          <a:noFill/>
          <a:ln/>
        </p:spPr>
        <p:txBody>
          <a:bodyPr wrap="square" lIns="0" tIns="0" rIns="0" bIns="0" rtlCol="0" anchor="ctr"/>
          <a:lstStyle/>
          <a:p>
            <a:pPr marL="0" indent="0" algn="ctr">
              <a:buNone/>
            </a:pPr>
            <a:r>
              <a:rPr lang="en-US" sz="2800" dirty="0">
                <a:solidFill>
                  <a:srgbClr val="000000"/>
                </a:solidFill>
              </a:rPr>
              <a:t>🛣️</a:t>
            </a:r>
            <a:endParaRPr lang="en-US" sz="2800" dirty="0"/>
          </a:p>
        </p:txBody>
      </p:sp>
      <p:sp>
        <p:nvSpPr>
          <p:cNvPr id="8" name="Text 6"/>
          <p:cNvSpPr/>
          <p:nvPr/>
        </p:nvSpPr>
        <p:spPr>
          <a:xfrm>
            <a:off x="1600200" y="1508760"/>
            <a:ext cx="2743200" cy="457200"/>
          </a:xfrm>
          <a:prstGeom prst="rect">
            <a:avLst/>
          </a:prstGeom>
          <a:noFill/>
          <a:ln/>
        </p:spPr>
        <p:txBody>
          <a:bodyPr wrap="square" lIns="0" tIns="0" rIns="0" bIns="0" rtlCol="0" anchor="ctr"/>
          <a:lstStyle/>
          <a:p>
            <a:pPr marL="0" indent="0" algn="l">
              <a:buNone/>
            </a:pPr>
            <a:r>
              <a:rPr lang="en-US" sz="1800" b="1" dirty="0">
                <a:solidFill>
                  <a:srgbClr val="1B2A4A"/>
                </a:solidFill>
                <a:latin typeface="Georgia" pitchFamily="34" charset="0"/>
                <a:ea typeface="Georgia" pitchFamily="34" charset="-122"/>
                <a:cs typeface="Georgia" pitchFamily="34" charset="-120"/>
              </a:rPr>
              <a:t>Tabing-Kalsada</a:t>
            </a:r>
            <a:endParaRPr lang="en-US" sz="1800" dirty="0"/>
          </a:p>
        </p:txBody>
      </p:sp>
      <p:sp>
        <p:nvSpPr>
          <p:cNvPr id="9" name="Text 7"/>
          <p:cNvSpPr/>
          <p:nvPr/>
        </p:nvSpPr>
        <p:spPr>
          <a:xfrm>
            <a:off x="1600200" y="1874520"/>
            <a:ext cx="2743200" cy="274320"/>
          </a:xfrm>
          <a:prstGeom prst="rect">
            <a:avLst/>
          </a:prstGeom>
          <a:noFill/>
          <a:ln/>
        </p:spPr>
        <p:txBody>
          <a:bodyPr wrap="square" lIns="0" tIns="0" rIns="0" bIns="0" rtlCol="0" anchor="ctr"/>
          <a:lstStyle/>
          <a:p>
            <a:pPr marL="0" indent="0" algn="l">
              <a:buNone/>
            </a:pPr>
            <a:r>
              <a:rPr lang="en-US" sz="900" b="1" kern="0" spc="100" dirty="0">
                <a:solidFill>
                  <a:srgbClr val="B8882A"/>
                </a:solidFill>
                <a:latin typeface="Calibri" pitchFamily="34" charset="0"/>
                <a:ea typeface="Calibri" pitchFamily="34" charset="-122"/>
                <a:cs typeface="Calibri" pitchFamily="34" charset="-120"/>
              </a:rPr>
              <a:t>v. 4, 19</a:t>
            </a:r>
            <a:endParaRPr lang="en-US" sz="900" dirty="0"/>
          </a:p>
        </p:txBody>
      </p:sp>
      <p:sp>
        <p:nvSpPr>
          <p:cNvPr id="10" name="Text 8"/>
          <p:cNvSpPr/>
          <p:nvPr/>
        </p:nvSpPr>
        <p:spPr>
          <a:xfrm>
            <a:off x="914400" y="2240280"/>
            <a:ext cx="3383280" cy="594360"/>
          </a:xfrm>
          <a:prstGeom prst="rect">
            <a:avLst/>
          </a:prstGeom>
          <a:noFill/>
          <a:ln/>
        </p:spPr>
        <p:txBody>
          <a:bodyPr wrap="square" lIns="0" tIns="0" rIns="0" bIns="0" rtlCol="0" anchor="t"/>
          <a:lstStyle/>
          <a:p>
            <a:pPr marL="0" indent="0" algn="l">
              <a:buNone/>
            </a:pPr>
            <a:r>
              <a:rPr lang="en-US" sz="1100" dirty="0">
                <a:solidFill>
                  <a:srgbClr val="4A4640"/>
                </a:solidFill>
                <a:latin typeface="Calibri" pitchFamily="34" charset="0"/>
                <a:ea typeface="Calibri" pitchFamily="34" charset="-122"/>
                <a:cs typeface="Calibri" pitchFamily="34" charset="-120"/>
              </a:rPr>
              <a:t>Hindi nakatago ang Salita; agad naagaw ng diablo.</a:t>
            </a:r>
            <a:endParaRPr lang="en-US" sz="1100" dirty="0"/>
          </a:p>
        </p:txBody>
      </p:sp>
      <p:sp>
        <p:nvSpPr>
          <p:cNvPr id="11" name="Shape 9"/>
          <p:cNvSpPr/>
          <p:nvPr/>
        </p:nvSpPr>
        <p:spPr>
          <a:xfrm>
            <a:off x="4709160" y="1371600"/>
            <a:ext cx="3657600" cy="1554480"/>
          </a:xfrm>
          <a:prstGeom prst="roundRect">
            <a:avLst>
              <a:gd name="adj" fmla="val 5882"/>
            </a:avLst>
          </a:prstGeom>
          <a:solidFill>
            <a:srgbClr val="FFFFFF"/>
          </a:solidFill>
          <a:ln w="25400">
            <a:solidFill>
              <a:srgbClr val="B8882A"/>
            </a:solidFill>
            <a:prstDash val="solid"/>
          </a:ln>
        </p:spPr>
        <p:txBody>
          <a:bodyPr/>
          <a:lstStyle/>
          <a:p>
            <a:endParaRPr/>
          </a:p>
        </p:txBody>
      </p:sp>
      <p:sp>
        <p:nvSpPr>
          <p:cNvPr id="12" name="Text 10"/>
          <p:cNvSpPr/>
          <p:nvPr/>
        </p:nvSpPr>
        <p:spPr>
          <a:xfrm>
            <a:off x="4846320" y="1508760"/>
            <a:ext cx="640080" cy="640080"/>
          </a:xfrm>
          <a:prstGeom prst="rect">
            <a:avLst/>
          </a:prstGeom>
          <a:noFill/>
          <a:ln/>
        </p:spPr>
        <p:txBody>
          <a:bodyPr wrap="square" lIns="0" tIns="0" rIns="0" bIns="0" rtlCol="0" anchor="ctr"/>
          <a:lstStyle/>
          <a:p>
            <a:pPr marL="0" indent="0" algn="ctr">
              <a:buNone/>
            </a:pPr>
            <a:r>
              <a:rPr lang="en-US" sz="2800" dirty="0">
                <a:solidFill>
                  <a:srgbClr val="000000"/>
                </a:solidFill>
              </a:rPr>
              <a:t>🪨</a:t>
            </a:r>
            <a:endParaRPr lang="en-US" sz="2800" dirty="0"/>
          </a:p>
        </p:txBody>
      </p:sp>
      <p:sp>
        <p:nvSpPr>
          <p:cNvPr id="13" name="Text 11"/>
          <p:cNvSpPr/>
          <p:nvPr/>
        </p:nvSpPr>
        <p:spPr>
          <a:xfrm>
            <a:off x="5532120" y="1508760"/>
            <a:ext cx="2743200" cy="457200"/>
          </a:xfrm>
          <a:prstGeom prst="rect">
            <a:avLst/>
          </a:prstGeom>
          <a:noFill/>
          <a:ln/>
        </p:spPr>
        <p:txBody>
          <a:bodyPr wrap="square" lIns="0" tIns="0" rIns="0" bIns="0" rtlCol="0" anchor="ctr"/>
          <a:lstStyle/>
          <a:p>
            <a:pPr marL="0" indent="0" algn="l">
              <a:buNone/>
            </a:pPr>
            <a:r>
              <a:rPr lang="en-US" sz="1800" b="1" dirty="0">
                <a:solidFill>
                  <a:srgbClr val="1B2A4A"/>
                </a:solidFill>
                <a:latin typeface="Georgia" pitchFamily="34" charset="0"/>
                <a:ea typeface="Georgia" pitchFamily="34" charset="-122"/>
                <a:cs typeface="Georgia" pitchFamily="34" charset="-120"/>
              </a:rPr>
              <a:t>Mabato</a:t>
            </a:r>
            <a:endParaRPr lang="en-US" sz="1800" dirty="0"/>
          </a:p>
        </p:txBody>
      </p:sp>
      <p:sp>
        <p:nvSpPr>
          <p:cNvPr id="14" name="Text 12"/>
          <p:cNvSpPr/>
          <p:nvPr/>
        </p:nvSpPr>
        <p:spPr>
          <a:xfrm>
            <a:off x="5532120" y="1874520"/>
            <a:ext cx="2743200" cy="274320"/>
          </a:xfrm>
          <a:prstGeom prst="rect">
            <a:avLst/>
          </a:prstGeom>
          <a:noFill/>
          <a:ln/>
        </p:spPr>
        <p:txBody>
          <a:bodyPr wrap="square" lIns="0" tIns="0" rIns="0" bIns="0" rtlCol="0" anchor="ctr"/>
          <a:lstStyle/>
          <a:p>
            <a:pPr marL="0" indent="0" algn="l">
              <a:buNone/>
            </a:pPr>
            <a:r>
              <a:rPr lang="en-US" sz="900" b="1" kern="0" spc="100" dirty="0">
                <a:solidFill>
                  <a:srgbClr val="B8882A"/>
                </a:solidFill>
                <a:latin typeface="Calibri" pitchFamily="34" charset="0"/>
                <a:ea typeface="Calibri" pitchFamily="34" charset="-122"/>
                <a:cs typeface="Calibri" pitchFamily="34" charset="-120"/>
              </a:rPr>
              <a:t>v. 5-6, 20-21</a:t>
            </a:r>
            <a:endParaRPr lang="en-US" sz="900" dirty="0"/>
          </a:p>
        </p:txBody>
      </p:sp>
      <p:sp>
        <p:nvSpPr>
          <p:cNvPr id="15" name="Text 13"/>
          <p:cNvSpPr/>
          <p:nvPr/>
        </p:nvSpPr>
        <p:spPr>
          <a:xfrm>
            <a:off x="4846320" y="2240280"/>
            <a:ext cx="3383280" cy="594360"/>
          </a:xfrm>
          <a:prstGeom prst="rect">
            <a:avLst/>
          </a:prstGeom>
          <a:noFill/>
          <a:ln/>
        </p:spPr>
        <p:txBody>
          <a:bodyPr wrap="square" lIns="0" tIns="0" rIns="0" bIns="0" rtlCol="0" anchor="t"/>
          <a:lstStyle/>
          <a:p>
            <a:pPr marL="0" indent="0" algn="l">
              <a:buNone/>
            </a:pPr>
            <a:r>
              <a:rPr lang="en-US" sz="1100" dirty="0">
                <a:solidFill>
                  <a:srgbClr val="4A4640"/>
                </a:solidFill>
                <a:latin typeface="Calibri" pitchFamily="34" charset="0"/>
                <a:ea typeface="Calibri" pitchFamily="34" charset="-122"/>
                <a:cs typeface="Calibri" pitchFamily="34" charset="-120"/>
              </a:rPr>
              <a:t>Masayang tumanggap. Mababaw ang ugat. Tumalikod sa hirap.</a:t>
            </a:r>
            <a:endParaRPr lang="en-US" sz="1100" dirty="0"/>
          </a:p>
        </p:txBody>
      </p:sp>
      <p:sp>
        <p:nvSpPr>
          <p:cNvPr id="16" name="Shape 14"/>
          <p:cNvSpPr/>
          <p:nvPr/>
        </p:nvSpPr>
        <p:spPr>
          <a:xfrm>
            <a:off x="777240" y="3200400"/>
            <a:ext cx="3657600" cy="1554480"/>
          </a:xfrm>
          <a:prstGeom prst="roundRect">
            <a:avLst>
              <a:gd name="adj" fmla="val 5882"/>
            </a:avLst>
          </a:prstGeom>
          <a:solidFill>
            <a:srgbClr val="FFFFFF"/>
          </a:solidFill>
          <a:ln w="25400">
            <a:solidFill>
              <a:srgbClr val="B8882A"/>
            </a:solidFill>
            <a:prstDash val="solid"/>
          </a:ln>
        </p:spPr>
        <p:txBody>
          <a:bodyPr/>
          <a:lstStyle/>
          <a:p>
            <a:endParaRPr/>
          </a:p>
        </p:txBody>
      </p:sp>
      <p:sp>
        <p:nvSpPr>
          <p:cNvPr id="17" name="Text 15"/>
          <p:cNvSpPr/>
          <p:nvPr/>
        </p:nvSpPr>
        <p:spPr>
          <a:xfrm>
            <a:off x="914400" y="3337560"/>
            <a:ext cx="640080" cy="640080"/>
          </a:xfrm>
          <a:prstGeom prst="rect">
            <a:avLst/>
          </a:prstGeom>
          <a:noFill/>
          <a:ln/>
        </p:spPr>
        <p:txBody>
          <a:bodyPr wrap="square" lIns="0" tIns="0" rIns="0" bIns="0" rtlCol="0" anchor="ctr"/>
          <a:lstStyle/>
          <a:p>
            <a:pPr marL="0" indent="0" algn="ctr">
              <a:buNone/>
            </a:pPr>
            <a:r>
              <a:rPr lang="en-US" sz="2800" dirty="0">
                <a:solidFill>
                  <a:srgbClr val="000000"/>
                </a:solidFill>
              </a:rPr>
              <a:t>🌿</a:t>
            </a:r>
            <a:endParaRPr lang="en-US" sz="2800" dirty="0"/>
          </a:p>
        </p:txBody>
      </p:sp>
      <p:sp>
        <p:nvSpPr>
          <p:cNvPr id="18" name="Text 16"/>
          <p:cNvSpPr/>
          <p:nvPr/>
        </p:nvSpPr>
        <p:spPr>
          <a:xfrm>
            <a:off x="1600200" y="3337560"/>
            <a:ext cx="2743200" cy="457200"/>
          </a:xfrm>
          <a:prstGeom prst="rect">
            <a:avLst/>
          </a:prstGeom>
          <a:noFill/>
          <a:ln/>
        </p:spPr>
        <p:txBody>
          <a:bodyPr wrap="square" lIns="0" tIns="0" rIns="0" bIns="0" rtlCol="0" anchor="ctr"/>
          <a:lstStyle/>
          <a:p>
            <a:pPr marL="0" indent="0" algn="l">
              <a:buNone/>
            </a:pPr>
            <a:r>
              <a:rPr lang="en-US" sz="1800" b="1" dirty="0">
                <a:solidFill>
                  <a:srgbClr val="1B2A4A"/>
                </a:solidFill>
                <a:latin typeface="Georgia" pitchFamily="34" charset="0"/>
                <a:ea typeface="Georgia" pitchFamily="34" charset="-122"/>
                <a:cs typeface="Georgia" pitchFamily="34" charset="-120"/>
              </a:rPr>
              <a:t>Matinik</a:t>
            </a:r>
            <a:endParaRPr lang="en-US" sz="1800" dirty="0"/>
          </a:p>
        </p:txBody>
      </p:sp>
      <p:sp>
        <p:nvSpPr>
          <p:cNvPr id="19" name="Text 17"/>
          <p:cNvSpPr/>
          <p:nvPr/>
        </p:nvSpPr>
        <p:spPr>
          <a:xfrm>
            <a:off x="1600200" y="3703320"/>
            <a:ext cx="2743200" cy="274320"/>
          </a:xfrm>
          <a:prstGeom prst="rect">
            <a:avLst/>
          </a:prstGeom>
          <a:noFill/>
          <a:ln/>
        </p:spPr>
        <p:txBody>
          <a:bodyPr wrap="square" lIns="0" tIns="0" rIns="0" bIns="0" rtlCol="0" anchor="ctr"/>
          <a:lstStyle/>
          <a:p>
            <a:pPr marL="0" indent="0" algn="l">
              <a:buNone/>
            </a:pPr>
            <a:r>
              <a:rPr lang="en-US" sz="900" b="1" kern="0" spc="100" dirty="0">
                <a:solidFill>
                  <a:srgbClr val="B8882A"/>
                </a:solidFill>
                <a:latin typeface="Calibri" pitchFamily="34" charset="0"/>
                <a:ea typeface="Calibri" pitchFamily="34" charset="-122"/>
                <a:cs typeface="Calibri" pitchFamily="34" charset="-120"/>
              </a:rPr>
              <a:t>v. 7, 22</a:t>
            </a:r>
            <a:endParaRPr lang="en-US" sz="900" dirty="0"/>
          </a:p>
        </p:txBody>
      </p:sp>
      <p:sp>
        <p:nvSpPr>
          <p:cNvPr id="20" name="Text 18"/>
          <p:cNvSpPr/>
          <p:nvPr/>
        </p:nvSpPr>
        <p:spPr>
          <a:xfrm>
            <a:off x="914400" y="4069080"/>
            <a:ext cx="3383280" cy="594360"/>
          </a:xfrm>
          <a:prstGeom prst="rect">
            <a:avLst/>
          </a:prstGeom>
          <a:noFill/>
          <a:ln/>
        </p:spPr>
        <p:txBody>
          <a:bodyPr wrap="square" lIns="0" tIns="0" rIns="0" bIns="0" rtlCol="0" anchor="t"/>
          <a:lstStyle/>
          <a:p>
            <a:pPr marL="0" indent="0" algn="l">
              <a:buNone/>
            </a:pPr>
            <a:r>
              <a:rPr lang="en-US" sz="1100" dirty="0">
                <a:solidFill>
                  <a:srgbClr val="4A4640"/>
                </a:solidFill>
                <a:latin typeface="Calibri" pitchFamily="34" charset="0"/>
                <a:ea typeface="Calibri" pitchFamily="34" charset="-122"/>
                <a:cs typeface="Calibri" pitchFamily="34" charset="-120"/>
              </a:rPr>
              <a:t>Hati ang atensyon dahil sa kamunduhan.</a:t>
            </a:r>
            <a:endParaRPr lang="en-US" sz="1100" dirty="0"/>
          </a:p>
        </p:txBody>
      </p:sp>
      <p:sp>
        <p:nvSpPr>
          <p:cNvPr id="21" name="Shape 19"/>
          <p:cNvSpPr/>
          <p:nvPr/>
        </p:nvSpPr>
        <p:spPr>
          <a:xfrm>
            <a:off x="4709160" y="3200400"/>
            <a:ext cx="3657600" cy="1554480"/>
          </a:xfrm>
          <a:prstGeom prst="roundRect">
            <a:avLst>
              <a:gd name="adj" fmla="val 5882"/>
            </a:avLst>
          </a:prstGeom>
          <a:solidFill>
            <a:srgbClr val="FFFFFF"/>
          </a:solidFill>
          <a:ln w="25400">
            <a:solidFill>
              <a:srgbClr val="B8882A"/>
            </a:solidFill>
            <a:prstDash val="solid"/>
          </a:ln>
        </p:spPr>
        <p:txBody>
          <a:bodyPr/>
          <a:lstStyle/>
          <a:p>
            <a:endParaRPr/>
          </a:p>
        </p:txBody>
      </p:sp>
      <p:sp>
        <p:nvSpPr>
          <p:cNvPr id="22" name="Text 20"/>
          <p:cNvSpPr/>
          <p:nvPr/>
        </p:nvSpPr>
        <p:spPr>
          <a:xfrm>
            <a:off x="4846320" y="3337560"/>
            <a:ext cx="640080" cy="640080"/>
          </a:xfrm>
          <a:prstGeom prst="rect">
            <a:avLst/>
          </a:prstGeom>
          <a:noFill/>
          <a:ln/>
        </p:spPr>
        <p:txBody>
          <a:bodyPr wrap="square" lIns="0" tIns="0" rIns="0" bIns="0" rtlCol="0" anchor="ctr"/>
          <a:lstStyle/>
          <a:p>
            <a:pPr marL="0" indent="0" algn="ctr">
              <a:buNone/>
            </a:pPr>
            <a:r>
              <a:rPr lang="en-US" sz="2800" dirty="0">
                <a:solidFill>
                  <a:srgbClr val="000000"/>
                </a:solidFill>
              </a:rPr>
              <a:t>🌳</a:t>
            </a:r>
            <a:endParaRPr lang="en-US" sz="2800" dirty="0"/>
          </a:p>
        </p:txBody>
      </p:sp>
      <p:sp>
        <p:nvSpPr>
          <p:cNvPr id="23" name="Text 21"/>
          <p:cNvSpPr/>
          <p:nvPr/>
        </p:nvSpPr>
        <p:spPr>
          <a:xfrm>
            <a:off x="5532120" y="3337560"/>
            <a:ext cx="2743200" cy="457200"/>
          </a:xfrm>
          <a:prstGeom prst="rect">
            <a:avLst/>
          </a:prstGeom>
          <a:noFill/>
          <a:ln/>
        </p:spPr>
        <p:txBody>
          <a:bodyPr wrap="square" lIns="0" tIns="0" rIns="0" bIns="0" rtlCol="0" anchor="ctr"/>
          <a:lstStyle/>
          <a:p>
            <a:pPr marL="0" indent="0" algn="l">
              <a:buNone/>
            </a:pPr>
            <a:r>
              <a:rPr lang="en-US" sz="1800" b="1" dirty="0">
                <a:solidFill>
                  <a:srgbClr val="1B2A4A"/>
                </a:solidFill>
                <a:latin typeface="Georgia" pitchFamily="34" charset="0"/>
                <a:ea typeface="Georgia" pitchFamily="34" charset="-122"/>
                <a:cs typeface="Georgia" pitchFamily="34" charset="-120"/>
              </a:rPr>
              <a:t>Mataba</a:t>
            </a:r>
            <a:endParaRPr lang="en-US" sz="1800" dirty="0"/>
          </a:p>
        </p:txBody>
      </p:sp>
      <p:sp>
        <p:nvSpPr>
          <p:cNvPr id="24" name="Text 22"/>
          <p:cNvSpPr/>
          <p:nvPr/>
        </p:nvSpPr>
        <p:spPr>
          <a:xfrm>
            <a:off x="5532120" y="3703320"/>
            <a:ext cx="2743200" cy="274320"/>
          </a:xfrm>
          <a:prstGeom prst="rect">
            <a:avLst/>
          </a:prstGeom>
          <a:noFill/>
          <a:ln/>
        </p:spPr>
        <p:txBody>
          <a:bodyPr wrap="square" lIns="0" tIns="0" rIns="0" bIns="0" rtlCol="0" anchor="ctr"/>
          <a:lstStyle/>
          <a:p>
            <a:pPr marL="0" indent="0" algn="l">
              <a:buNone/>
            </a:pPr>
            <a:r>
              <a:rPr lang="en-US" sz="900" b="1" kern="0" spc="100" dirty="0">
                <a:solidFill>
                  <a:srgbClr val="B8882A"/>
                </a:solidFill>
                <a:latin typeface="Calibri" pitchFamily="34" charset="0"/>
                <a:ea typeface="Calibri" pitchFamily="34" charset="-122"/>
                <a:cs typeface="Calibri" pitchFamily="34" charset="-120"/>
              </a:rPr>
              <a:t>v. 8, 23</a:t>
            </a:r>
            <a:endParaRPr lang="en-US" sz="900" dirty="0"/>
          </a:p>
        </p:txBody>
      </p:sp>
      <p:sp>
        <p:nvSpPr>
          <p:cNvPr id="25" name="Text 23"/>
          <p:cNvSpPr/>
          <p:nvPr/>
        </p:nvSpPr>
        <p:spPr>
          <a:xfrm>
            <a:off x="4846320" y="4069080"/>
            <a:ext cx="3383280" cy="594360"/>
          </a:xfrm>
          <a:prstGeom prst="rect">
            <a:avLst/>
          </a:prstGeom>
          <a:noFill/>
          <a:ln/>
        </p:spPr>
        <p:txBody>
          <a:bodyPr wrap="square" lIns="0" tIns="0" rIns="0" bIns="0" rtlCol="0" anchor="t"/>
          <a:lstStyle/>
          <a:p>
            <a:pPr marL="0" indent="0" algn="l">
              <a:buNone/>
            </a:pPr>
            <a:r>
              <a:rPr lang="en-US" sz="1100" dirty="0">
                <a:solidFill>
                  <a:srgbClr val="4A4640"/>
                </a:solidFill>
                <a:latin typeface="Calibri" pitchFamily="34" charset="0"/>
                <a:ea typeface="Calibri" pitchFamily="34" charset="-122"/>
                <a:cs typeface="Calibri" pitchFamily="34" charset="-120"/>
              </a:rPr>
              <a:t>Tumanggap. Tumugon. Tumalima. Sumagana.</a:t>
            </a:r>
            <a:endParaRPr lang="en-US" sz="1100" dirty="0"/>
          </a:p>
        </p:txBody>
      </p:sp>
      <p:sp>
        <p:nvSpPr>
          <p:cNvPr id="26" name="Rounded Rectangle 25"/>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2 min · ⌛26:00</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F1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37160"/>
            <a:ext cx="5486400" cy="228600"/>
          </a:xfrm>
          <a:prstGeom prst="rect">
            <a:avLst/>
          </a:prstGeom>
          <a:noFill/>
        </p:spPr>
        <p:txBody>
          <a:bodyPr wrap="none" tIns="0" bIns="0">
            <a:spAutoFit/>
          </a:bodyPr>
          <a:lstStyle/>
          <a:p>
            <a:r>
              <a:rPr sz="900" b="1" i="0">
                <a:solidFill>
                  <a:srgbClr val="808080"/>
                </a:solidFill>
                <a:latin typeface="Calibri"/>
              </a:rPr>
              <a:t>MULTIPLY · DISCIPLE-MAKING PIPELINE</a:t>
            </a:r>
          </a:p>
        </p:txBody>
      </p:sp>
      <p:sp>
        <p:nvSpPr>
          <p:cNvPr id="4" name="TextBox 3"/>
          <p:cNvSpPr txBox="1"/>
          <p:nvPr/>
        </p:nvSpPr>
        <p:spPr>
          <a:xfrm>
            <a:off x="7772400" y="4846320"/>
            <a:ext cx="1188720" cy="228600"/>
          </a:xfrm>
          <a:prstGeom prst="rect">
            <a:avLst/>
          </a:prstGeom>
          <a:noFill/>
        </p:spPr>
        <p:txBody>
          <a:bodyPr wrap="none" tIns="0" rIns="0" bIns="0">
            <a:spAutoFit/>
          </a:bodyPr>
          <a:lstStyle/>
          <a:p>
            <a:pPr algn="r"/>
            <a:r>
              <a:rPr sz="900" b="0" i="0">
                <a:solidFill>
                  <a:srgbClr val="808080"/>
                </a:solidFill>
                <a:latin typeface="Calibri"/>
              </a:rPr>
              <a:t>14 / 23</a:t>
            </a:r>
          </a:p>
        </p:txBody>
      </p:sp>
      <p:sp>
        <p:nvSpPr>
          <p:cNvPr id="5" name="TextBox 4"/>
          <p:cNvSpPr txBox="1"/>
          <p:nvPr/>
        </p:nvSpPr>
        <p:spPr>
          <a:xfrm>
            <a:off x="457200" y="457200"/>
            <a:ext cx="8229600" cy="365760"/>
          </a:xfrm>
          <a:prstGeom prst="rect">
            <a:avLst/>
          </a:prstGeom>
          <a:noFill/>
        </p:spPr>
        <p:txBody>
          <a:bodyPr wrap="none">
            <a:spAutoFit/>
          </a:bodyPr>
          <a:lstStyle/>
          <a:p>
            <a:pPr algn="ctr"/>
            <a:r>
              <a:rPr sz="1500" b="1" i="0">
                <a:solidFill>
                  <a:srgbClr val="D4A84A"/>
                </a:solidFill>
                <a:latin typeface="Calibri"/>
              </a:rPr>
              <a:t>💡 TALAKAY · TANONG</a:t>
            </a:r>
          </a:p>
        </p:txBody>
      </p:sp>
      <p:sp>
        <p:nvSpPr>
          <p:cNvPr id="6" name="Rounded Rectangle 5"/>
          <p:cNvSpPr/>
          <p:nvPr/>
        </p:nvSpPr>
        <p:spPr>
          <a:xfrm>
            <a:off x="2788920" y="1024128"/>
            <a:ext cx="3566160" cy="329184"/>
          </a:xfrm>
          <a:prstGeom prst="roundRect">
            <a:avLst/>
          </a:prstGeom>
          <a:solidFill>
            <a:srgbClr val="D4A84A"/>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i="0">
                <a:solidFill>
                  <a:srgbClr val="141628"/>
                </a:solidFill>
                <a:latin typeface="Calibri"/>
              </a:rPr>
              <a:t>📋 Participant Guide Question</a:t>
            </a:r>
          </a:p>
        </p:txBody>
      </p:sp>
      <p:sp>
        <p:nvSpPr>
          <p:cNvPr id="7" name="TextBox 6"/>
          <p:cNvSpPr txBox="1"/>
          <p:nvPr/>
        </p:nvSpPr>
        <p:spPr>
          <a:xfrm>
            <a:off x="731520" y="1783080"/>
            <a:ext cx="7680960" cy="2194560"/>
          </a:xfrm>
          <a:prstGeom prst="rect">
            <a:avLst/>
          </a:prstGeom>
          <a:noFill/>
        </p:spPr>
        <p:txBody>
          <a:bodyPr wrap="square" anchor="ctr">
            <a:spAutoFit/>
          </a:bodyPr>
          <a:lstStyle/>
          <a:p>
            <a:pPr algn="ctr"/>
            <a:r>
              <a:rPr sz="3000" b="1" i="0">
                <a:solidFill>
                  <a:srgbClr val="FEFCF8"/>
                </a:solidFill>
                <a:latin typeface="Calibri"/>
              </a:rPr>
              <a:t>Anong klaseng lupa ang puso mo ngayon? Bakit mo napili iyon?</a:t>
            </a:r>
          </a:p>
        </p:txBody>
      </p:sp>
      <p:sp>
        <p:nvSpPr>
          <p:cNvPr id="8" name="TextBox 7"/>
          <p:cNvSpPr txBox="1"/>
          <p:nvPr/>
        </p:nvSpPr>
        <p:spPr>
          <a:xfrm>
            <a:off x="731520" y="4160520"/>
            <a:ext cx="7680960" cy="548640"/>
          </a:xfrm>
          <a:prstGeom prst="rect">
            <a:avLst/>
          </a:prstGeom>
          <a:noFill/>
        </p:spPr>
        <p:txBody>
          <a:bodyPr wrap="square">
            <a:spAutoFit/>
          </a:bodyPr>
          <a:lstStyle/>
          <a:p>
            <a:pPr algn="ctr"/>
            <a:r>
              <a:rPr sz="1450" b="0" i="1">
                <a:solidFill>
                  <a:srgbClr val="D4A84A"/>
                </a:solidFill>
                <a:latin typeface="Calibri"/>
              </a:rPr>
              <a:t>Sa tables — pag-usapan.</a:t>
            </a:r>
          </a:p>
        </p:txBody>
      </p:sp>
      <p:sp>
        <p:nvSpPr>
          <p:cNvPr id="9" name="Rounded Rectangle 8"/>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2 min · ⌛28:00</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F1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37160"/>
            <a:ext cx="5486400" cy="228600"/>
          </a:xfrm>
          <a:prstGeom prst="rect">
            <a:avLst/>
          </a:prstGeom>
          <a:noFill/>
        </p:spPr>
        <p:txBody>
          <a:bodyPr wrap="none" tIns="0" bIns="0">
            <a:spAutoFit/>
          </a:bodyPr>
          <a:lstStyle/>
          <a:p>
            <a:r>
              <a:rPr sz="900" b="1" i="0">
                <a:solidFill>
                  <a:srgbClr val="808080"/>
                </a:solidFill>
                <a:latin typeface="Calibri"/>
              </a:rPr>
              <a:t>MULTIPLY · DISCIPLE-MAKING PIPELINE</a:t>
            </a:r>
          </a:p>
        </p:txBody>
      </p:sp>
      <p:sp>
        <p:nvSpPr>
          <p:cNvPr id="4" name="TextBox 3"/>
          <p:cNvSpPr txBox="1"/>
          <p:nvPr/>
        </p:nvSpPr>
        <p:spPr>
          <a:xfrm>
            <a:off x="7772400" y="4846320"/>
            <a:ext cx="1188720" cy="228600"/>
          </a:xfrm>
          <a:prstGeom prst="rect">
            <a:avLst/>
          </a:prstGeom>
          <a:noFill/>
        </p:spPr>
        <p:txBody>
          <a:bodyPr wrap="none" tIns="0" rIns="0" bIns="0">
            <a:spAutoFit/>
          </a:bodyPr>
          <a:lstStyle/>
          <a:p>
            <a:pPr algn="r"/>
            <a:r>
              <a:rPr sz="900" b="0" i="0">
                <a:solidFill>
                  <a:srgbClr val="808080"/>
                </a:solidFill>
                <a:latin typeface="Calibri"/>
              </a:rPr>
              <a:t>15 / 23</a:t>
            </a:r>
          </a:p>
        </p:txBody>
      </p:sp>
      <p:sp>
        <p:nvSpPr>
          <p:cNvPr id="5" name="TextBox 4"/>
          <p:cNvSpPr txBox="1"/>
          <p:nvPr/>
        </p:nvSpPr>
        <p:spPr>
          <a:xfrm>
            <a:off x="457200" y="457200"/>
            <a:ext cx="8229600" cy="365760"/>
          </a:xfrm>
          <a:prstGeom prst="rect">
            <a:avLst/>
          </a:prstGeom>
          <a:noFill/>
        </p:spPr>
        <p:txBody>
          <a:bodyPr wrap="none">
            <a:spAutoFit/>
          </a:bodyPr>
          <a:lstStyle/>
          <a:p>
            <a:pPr algn="ctr"/>
            <a:r>
              <a:rPr sz="1500" b="1" i="0">
                <a:solidFill>
                  <a:srgbClr val="D4A84A"/>
                </a:solidFill>
                <a:latin typeface="Calibri"/>
              </a:rPr>
              <a:t>💡 TALAKAY · TANONG</a:t>
            </a:r>
          </a:p>
        </p:txBody>
      </p:sp>
      <p:sp>
        <p:nvSpPr>
          <p:cNvPr id="6" name="Rounded Rectangle 5"/>
          <p:cNvSpPr/>
          <p:nvPr/>
        </p:nvSpPr>
        <p:spPr>
          <a:xfrm>
            <a:off x="2788920" y="1024128"/>
            <a:ext cx="3566160" cy="329184"/>
          </a:xfrm>
          <a:prstGeom prst="roundRect">
            <a:avLst/>
          </a:prstGeom>
          <a:solidFill>
            <a:srgbClr val="D4A84A"/>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i="0">
                <a:solidFill>
                  <a:srgbClr val="141628"/>
                </a:solidFill>
                <a:latin typeface="Calibri"/>
              </a:rPr>
              <a:t>📋 Participant Guide Question</a:t>
            </a:r>
          </a:p>
        </p:txBody>
      </p:sp>
      <p:sp>
        <p:nvSpPr>
          <p:cNvPr id="7" name="TextBox 6"/>
          <p:cNvSpPr txBox="1"/>
          <p:nvPr/>
        </p:nvSpPr>
        <p:spPr>
          <a:xfrm>
            <a:off x="731520" y="1783080"/>
            <a:ext cx="7680960" cy="2194560"/>
          </a:xfrm>
          <a:prstGeom prst="rect">
            <a:avLst/>
          </a:prstGeom>
          <a:noFill/>
        </p:spPr>
        <p:txBody>
          <a:bodyPr wrap="square" anchor="ctr">
            <a:spAutoFit/>
          </a:bodyPr>
          <a:lstStyle/>
          <a:p>
            <a:pPr algn="ctr"/>
            <a:r>
              <a:rPr sz="3000" b="1" i="0">
                <a:solidFill>
                  <a:srgbClr val="FEFCF8"/>
                </a:solidFill>
                <a:latin typeface="Calibri"/>
              </a:rPr>
              <a:t>Ano ang pangunahing dahilan kung minsan hindi ka nakakapag-devotion?</a:t>
            </a:r>
          </a:p>
        </p:txBody>
      </p:sp>
      <p:sp>
        <p:nvSpPr>
          <p:cNvPr id="8" name="TextBox 7"/>
          <p:cNvSpPr txBox="1"/>
          <p:nvPr/>
        </p:nvSpPr>
        <p:spPr>
          <a:xfrm>
            <a:off x="731520" y="4160520"/>
            <a:ext cx="7680960" cy="548640"/>
          </a:xfrm>
          <a:prstGeom prst="rect">
            <a:avLst/>
          </a:prstGeom>
          <a:noFill/>
        </p:spPr>
        <p:txBody>
          <a:bodyPr wrap="square">
            <a:spAutoFit/>
          </a:bodyPr>
          <a:lstStyle/>
          <a:p>
            <a:pPr algn="ctr"/>
            <a:r>
              <a:rPr sz="1450" b="0" i="1">
                <a:solidFill>
                  <a:srgbClr val="D4A84A"/>
                </a:solidFill>
                <a:latin typeface="Calibri"/>
              </a:rPr>
              <a:t>Sa tables — pag-usapan.</a:t>
            </a:r>
          </a:p>
        </p:txBody>
      </p:sp>
      <p:sp>
        <p:nvSpPr>
          <p:cNvPr id="9" name="Rounded Rectangle 8"/>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2 min · ⌛30:00</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0F1C34"/>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808080"/>
                </a:solidFill>
                <a:latin typeface="Calibri" pitchFamily="34" charset="0"/>
                <a:ea typeface="Calibri" pitchFamily="34" charset="-122"/>
                <a:cs typeface="Calibri" pitchFamily="34" charset="-120"/>
              </a:rPr>
              <a:t>16 / 23</a:t>
            </a:r>
            <a:endParaRPr lang="en-US" sz="800" dirty="0"/>
          </a:p>
        </p:txBody>
      </p:sp>
      <p:sp>
        <p:nvSpPr>
          <p:cNvPr id="4" name="Text 2"/>
          <p:cNvSpPr/>
          <p:nvPr/>
        </p:nvSpPr>
        <p:spPr>
          <a:xfrm>
            <a:off x="457200" y="457200"/>
            <a:ext cx="8229600" cy="365760"/>
          </a:xfrm>
          <a:prstGeom prst="rect">
            <a:avLst/>
          </a:prstGeom>
          <a:noFill/>
          <a:ln/>
        </p:spPr>
        <p:txBody>
          <a:bodyPr wrap="square" rtlCol="0" anchor="ctr"/>
          <a:lstStyle/>
          <a:p>
            <a:pPr marL="0" indent="0" algn="ctr">
              <a:buNone/>
            </a:pPr>
            <a:r>
              <a:rPr lang="en-US" sz="1200" b="1" kern="0" spc="400" dirty="0">
                <a:solidFill>
                  <a:srgbClr val="D4A84A"/>
                </a:solidFill>
                <a:latin typeface="Calibri" pitchFamily="34" charset="0"/>
                <a:ea typeface="Calibri" pitchFamily="34" charset="-122"/>
                <a:cs typeface="Calibri" pitchFamily="34" charset="-120"/>
              </a:rPr>
              <a:t>💡 TALAKAY · THE SHARP QUESTION</a:t>
            </a:r>
            <a:endParaRPr lang="en-US" sz="1200" dirty="0"/>
          </a:p>
        </p:txBody>
      </p:sp>
      <p:sp>
        <p:nvSpPr>
          <p:cNvPr id="5" name="Text 3"/>
          <p:cNvSpPr/>
          <p:nvPr/>
        </p:nvSpPr>
        <p:spPr>
          <a:xfrm>
            <a:off x="457200" y="1371600"/>
            <a:ext cx="8229600" cy="2286000"/>
          </a:xfrm>
          <a:prstGeom prst="rect">
            <a:avLst/>
          </a:prstGeom>
          <a:noFill/>
          <a:ln/>
        </p:spPr>
        <p:txBody>
          <a:bodyPr wrap="square" rtlCol="0" anchor="ctr"/>
          <a:lstStyle/>
          <a:p>
            <a:pPr marL="0" indent="0" algn="ctr">
              <a:lnSpc>
                <a:spcPct val="130000"/>
              </a:lnSpc>
              <a:buNone/>
            </a:pPr>
            <a:r>
              <a:rPr lang="en-US" sz="3200" i="1" dirty="0">
                <a:solidFill>
                  <a:srgbClr val="FFFFFF"/>
                </a:solidFill>
                <a:latin typeface="Georgia" pitchFamily="34" charset="0"/>
                <a:ea typeface="Georgia" pitchFamily="34" charset="-122"/>
                <a:cs typeface="Georgia" pitchFamily="34" charset="-120"/>
              </a:rPr>
              <a:t>"Whatever keeps me from my Bible is my enemy, however </a:t>
            </a:r>
            <a:r>
              <a:rPr lang="en-US" sz="3200" i="1" dirty="0">
                <a:solidFill>
                  <a:srgbClr val="D4A84A"/>
                </a:solidFill>
                <a:latin typeface="Georgia" pitchFamily="34" charset="0"/>
                <a:ea typeface="Georgia" pitchFamily="34" charset="-122"/>
                <a:cs typeface="Georgia" pitchFamily="34" charset="-120"/>
              </a:rPr>
              <a:t>harmless</a:t>
            </a:r>
            <a:r>
              <a:rPr lang="en-US" sz="3200" i="1" dirty="0">
                <a:solidFill>
                  <a:srgbClr val="FFFFFF"/>
                </a:solidFill>
                <a:latin typeface="Georgia" pitchFamily="34" charset="0"/>
                <a:ea typeface="Georgia" pitchFamily="34" charset="-122"/>
                <a:cs typeface="Georgia" pitchFamily="34" charset="-120"/>
              </a:rPr>
              <a:t> it may appear to me."</a:t>
            </a:r>
            <a:endParaRPr lang="en-US" sz="3200" dirty="0"/>
          </a:p>
        </p:txBody>
      </p:sp>
      <p:sp>
        <p:nvSpPr>
          <p:cNvPr id="6" name="Text 4"/>
          <p:cNvSpPr/>
          <p:nvPr/>
        </p:nvSpPr>
        <p:spPr>
          <a:xfrm>
            <a:off x="457200" y="3840480"/>
            <a:ext cx="8229600" cy="365760"/>
          </a:xfrm>
          <a:prstGeom prst="rect">
            <a:avLst/>
          </a:prstGeom>
          <a:noFill/>
          <a:ln/>
        </p:spPr>
        <p:txBody>
          <a:bodyPr wrap="square" rtlCol="0" anchor="ctr"/>
          <a:lstStyle/>
          <a:p>
            <a:pPr marL="0" indent="0" algn="ctr">
              <a:buNone/>
            </a:pPr>
            <a:r>
              <a:rPr lang="en-US" sz="1400" b="1" kern="0" spc="500" dirty="0">
                <a:solidFill>
                  <a:srgbClr val="D4A84A"/>
                </a:solidFill>
                <a:latin typeface="Calibri" pitchFamily="34" charset="0"/>
                <a:ea typeface="Calibri" pitchFamily="34" charset="-122"/>
                <a:cs typeface="Calibri" pitchFamily="34" charset="-120"/>
              </a:rPr>
              <a:t>— A.W. TOZER</a:t>
            </a:r>
            <a:endParaRPr lang="en-US" sz="1400" dirty="0"/>
          </a:p>
        </p:txBody>
      </p:sp>
      <p:sp>
        <p:nvSpPr>
          <p:cNvPr id="7" name="Text 5"/>
          <p:cNvSpPr/>
          <p:nvPr/>
        </p:nvSpPr>
        <p:spPr>
          <a:xfrm>
            <a:off x="457200" y="4434840"/>
            <a:ext cx="8229600" cy="365760"/>
          </a:xfrm>
          <a:prstGeom prst="rect">
            <a:avLst/>
          </a:prstGeom>
          <a:noFill/>
          <a:ln/>
        </p:spPr>
        <p:txBody>
          <a:bodyPr wrap="square" rtlCol="0" anchor="ctr"/>
          <a:lstStyle/>
          <a:p>
            <a:pPr marL="0" indent="0" algn="ctr">
              <a:buNone/>
            </a:pPr>
            <a:r>
              <a:rPr lang="en-US" sz="1400" i="1" dirty="0">
                <a:solidFill>
                  <a:srgbClr val="A0A0A0"/>
                </a:solidFill>
                <a:latin typeface="Georgia" pitchFamily="34" charset="0"/>
                <a:ea typeface="Georgia" pitchFamily="34" charset="-122"/>
                <a:cs typeface="Georgia" pitchFamily="34" charset="-120"/>
              </a:rPr>
              <a:t>Sang-ayon ka ba? Bakit o bakit hindi?</a:t>
            </a:r>
            <a:endParaRPr lang="en-US" sz="1400" dirty="0"/>
          </a:p>
        </p:txBody>
      </p:sp>
      <p:sp>
        <p:nvSpPr>
          <p:cNvPr id="8" name="Rounded Rectangle 7"/>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2 min · ⌛32:00</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F1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37160"/>
            <a:ext cx="5486400" cy="228600"/>
          </a:xfrm>
          <a:prstGeom prst="rect">
            <a:avLst/>
          </a:prstGeom>
          <a:noFill/>
        </p:spPr>
        <p:txBody>
          <a:bodyPr wrap="none" tIns="0" bIns="0">
            <a:spAutoFit/>
          </a:bodyPr>
          <a:lstStyle/>
          <a:p>
            <a:r>
              <a:rPr sz="900" b="1" i="0">
                <a:solidFill>
                  <a:srgbClr val="808080"/>
                </a:solidFill>
                <a:latin typeface="Calibri"/>
              </a:rPr>
              <a:t>MULTIPLY · DISCIPLE-MAKING PIPELINE</a:t>
            </a:r>
          </a:p>
        </p:txBody>
      </p:sp>
      <p:sp>
        <p:nvSpPr>
          <p:cNvPr id="4" name="TextBox 3"/>
          <p:cNvSpPr txBox="1"/>
          <p:nvPr/>
        </p:nvSpPr>
        <p:spPr>
          <a:xfrm>
            <a:off x="7772400" y="4846320"/>
            <a:ext cx="1188720" cy="228600"/>
          </a:xfrm>
          <a:prstGeom prst="rect">
            <a:avLst/>
          </a:prstGeom>
          <a:noFill/>
        </p:spPr>
        <p:txBody>
          <a:bodyPr wrap="none" tIns="0" rIns="0" bIns="0">
            <a:spAutoFit/>
          </a:bodyPr>
          <a:lstStyle/>
          <a:p>
            <a:pPr algn="r"/>
            <a:r>
              <a:rPr sz="900" b="0" i="0">
                <a:solidFill>
                  <a:srgbClr val="808080"/>
                </a:solidFill>
                <a:latin typeface="Calibri"/>
              </a:rPr>
              <a:t>17 / 23</a:t>
            </a:r>
          </a:p>
        </p:txBody>
      </p:sp>
      <p:sp>
        <p:nvSpPr>
          <p:cNvPr id="5" name="TextBox 4"/>
          <p:cNvSpPr txBox="1"/>
          <p:nvPr/>
        </p:nvSpPr>
        <p:spPr>
          <a:xfrm>
            <a:off x="457200" y="457200"/>
            <a:ext cx="8229600" cy="365760"/>
          </a:xfrm>
          <a:prstGeom prst="rect">
            <a:avLst/>
          </a:prstGeom>
          <a:noFill/>
        </p:spPr>
        <p:txBody>
          <a:bodyPr wrap="none">
            <a:spAutoFit/>
          </a:bodyPr>
          <a:lstStyle/>
          <a:p>
            <a:pPr algn="ctr"/>
            <a:r>
              <a:rPr sz="1500" b="1" i="0">
                <a:solidFill>
                  <a:srgbClr val="D4A84A"/>
                </a:solidFill>
                <a:latin typeface="Calibri"/>
              </a:rPr>
              <a:t>💡 TALAKAY · TANONG</a:t>
            </a:r>
          </a:p>
        </p:txBody>
      </p:sp>
      <p:sp>
        <p:nvSpPr>
          <p:cNvPr id="6" name="Rounded Rectangle 5"/>
          <p:cNvSpPr/>
          <p:nvPr/>
        </p:nvSpPr>
        <p:spPr>
          <a:xfrm>
            <a:off x="2788920" y="1024128"/>
            <a:ext cx="3566160" cy="329184"/>
          </a:xfrm>
          <a:prstGeom prst="roundRect">
            <a:avLst/>
          </a:prstGeom>
          <a:solidFill>
            <a:srgbClr val="D4A84A"/>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i="0">
                <a:solidFill>
                  <a:srgbClr val="141628"/>
                </a:solidFill>
                <a:latin typeface="Calibri"/>
              </a:rPr>
              <a:t>📋 Participant Guide Question</a:t>
            </a:r>
          </a:p>
        </p:txBody>
      </p:sp>
      <p:sp>
        <p:nvSpPr>
          <p:cNvPr id="7" name="TextBox 6"/>
          <p:cNvSpPr txBox="1"/>
          <p:nvPr/>
        </p:nvSpPr>
        <p:spPr>
          <a:xfrm>
            <a:off x="731520" y="1783080"/>
            <a:ext cx="7680960" cy="2194560"/>
          </a:xfrm>
          <a:prstGeom prst="rect">
            <a:avLst/>
          </a:prstGeom>
          <a:noFill/>
        </p:spPr>
        <p:txBody>
          <a:bodyPr wrap="square" anchor="ctr">
            <a:spAutoFit/>
          </a:bodyPr>
          <a:lstStyle/>
          <a:p>
            <a:pPr algn="ctr"/>
            <a:r>
              <a:rPr sz="3000" b="1" i="0">
                <a:solidFill>
                  <a:srgbClr val="FEFCF8"/>
                </a:solidFill>
                <a:latin typeface="Calibri"/>
              </a:rPr>
              <a:t>Sang-ayon ka ba kay Tozer? Bakit o bakit hindi?</a:t>
            </a:r>
          </a:p>
        </p:txBody>
      </p:sp>
      <p:sp>
        <p:nvSpPr>
          <p:cNvPr id="8" name="TextBox 7"/>
          <p:cNvSpPr txBox="1"/>
          <p:nvPr/>
        </p:nvSpPr>
        <p:spPr>
          <a:xfrm>
            <a:off x="731520" y="4160520"/>
            <a:ext cx="7680960" cy="548640"/>
          </a:xfrm>
          <a:prstGeom prst="rect">
            <a:avLst/>
          </a:prstGeom>
          <a:noFill/>
        </p:spPr>
        <p:txBody>
          <a:bodyPr wrap="square">
            <a:spAutoFit/>
          </a:bodyPr>
          <a:lstStyle/>
          <a:p>
            <a:pPr algn="ctr"/>
            <a:r>
              <a:rPr sz="1450" b="0" i="1">
                <a:solidFill>
                  <a:srgbClr val="D4A84A"/>
                </a:solidFill>
                <a:latin typeface="Calibri"/>
              </a:rPr>
              <a:t>Sa tables — tapos 1–2 boluntaryong share.</a:t>
            </a:r>
          </a:p>
        </p:txBody>
      </p:sp>
      <p:sp>
        <p:nvSpPr>
          <p:cNvPr id="9" name="Rounded Rectangle 8"/>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2 min · ⌛34:00</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FEFCF8"/>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C0C0C0"/>
                </a:solidFill>
                <a:latin typeface="Calibri" pitchFamily="34" charset="0"/>
                <a:ea typeface="Calibri" pitchFamily="34" charset="-122"/>
                <a:cs typeface="Calibri" pitchFamily="34" charset="-120"/>
              </a:rPr>
              <a:t>18 / 23</a:t>
            </a:r>
            <a:endParaRPr lang="en-US" sz="800" dirty="0"/>
          </a:p>
        </p:txBody>
      </p:sp>
      <p:sp>
        <p:nvSpPr>
          <p:cNvPr id="4" name="Text 2"/>
          <p:cNvSpPr/>
          <p:nvPr/>
        </p:nvSpPr>
        <p:spPr>
          <a:xfrm>
            <a:off x="457200" y="457200"/>
            <a:ext cx="8229600" cy="274320"/>
          </a:xfrm>
          <a:prstGeom prst="rect">
            <a:avLst/>
          </a:prstGeom>
          <a:noFill/>
          <a:ln/>
        </p:spPr>
        <p:txBody>
          <a:bodyPr wrap="square" rtlCol="0" anchor="ctr"/>
          <a:lstStyle/>
          <a:p>
            <a:pPr marL="0" indent="0" algn="ctr">
              <a:buNone/>
            </a:pPr>
            <a:r>
              <a:rPr lang="en-US" sz="1200" b="1" kern="0" spc="400" dirty="0">
                <a:solidFill>
                  <a:srgbClr val="B8882A"/>
                </a:solidFill>
                <a:latin typeface="Calibri" pitchFamily="34" charset="0"/>
                <a:ea typeface="Calibri" pitchFamily="34" charset="-122"/>
                <a:cs typeface="Calibri" pitchFamily="34" charset="-120"/>
              </a:rPr>
              <a:t>💡 TALAKAY · DEVOTION-OPENER</a:t>
            </a:r>
            <a:endParaRPr lang="en-US" sz="1200" dirty="0"/>
          </a:p>
        </p:txBody>
      </p:sp>
      <p:sp>
        <p:nvSpPr>
          <p:cNvPr id="5" name="Text 3"/>
          <p:cNvSpPr/>
          <p:nvPr/>
        </p:nvSpPr>
        <p:spPr>
          <a:xfrm>
            <a:off x="457200" y="914400"/>
            <a:ext cx="8229600" cy="365760"/>
          </a:xfrm>
          <a:prstGeom prst="rect">
            <a:avLst/>
          </a:prstGeom>
          <a:noFill/>
          <a:ln/>
        </p:spPr>
        <p:txBody>
          <a:bodyPr wrap="square" rtlCol="0" anchor="ctr"/>
          <a:lstStyle/>
          <a:p>
            <a:pPr marL="0" indent="0" algn="ctr">
              <a:buNone/>
            </a:pPr>
            <a:r>
              <a:rPr lang="en-US" sz="1200" b="1" kern="0" spc="400" dirty="0">
                <a:solidFill>
                  <a:srgbClr val="B8882A"/>
                </a:solidFill>
                <a:latin typeface="Calibri" pitchFamily="34" charset="0"/>
                <a:ea typeface="Calibri" pitchFamily="34" charset="-122"/>
                <a:cs typeface="Calibri" pitchFamily="34" charset="-120"/>
              </a:rPr>
              <a:t>BAGO MAG-DEVOTION</a:t>
            </a:r>
            <a:endParaRPr lang="en-US" sz="1200" dirty="0"/>
          </a:p>
        </p:txBody>
      </p:sp>
      <p:sp>
        <p:nvSpPr>
          <p:cNvPr id="6" name="Text 4"/>
          <p:cNvSpPr/>
          <p:nvPr/>
        </p:nvSpPr>
        <p:spPr>
          <a:xfrm>
            <a:off x="457200" y="1325880"/>
            <a:ext cx="8229600" cy="365760"/>
          </a:xfrm>
          <a:prstGeom prst="rect">
            <a:avLst/>
          </a:prstGeom>
          <a:noFill/>
          <a:ln/>
        </p:spPr>
        <p:txBody>
          <a:bodyPr wrap="square" rtlCol="0" anchor="ctr"/>
          <a:lstStyle/>
          <a:p>
            <a:pPr marL="0" indent="0" algn="ctr">
              <a:buNone/>
            </a:pPr>
            <a:r>
              <a:rPr lang="en-US" sz="1800" b="1" dirty="0">
                <a:solidFill>
                  <a:srgbClr val="B8882A"/>
                </a:solidFill>
                <a:latin typeface="Georgia" pitchFamily="34" charset="0"/>
                <a:ea typeface="Georgia" pitchFamily="34" charset="-122"/>
                <a:cs typeface="Georgia" pitchFamily="34" charset="-120"/>
              </a:rPr>
              <a:t>1 Samuel 3:10</a:t>
            </a:r>
            <a:endParaRPr lang="en-US" sz="1800" dirty="0"/>
          </a:p>
        </p:txBody>
      </p:sp>
      <p:sp>
        <p:nvSpPr>
          <p:cNvPr id="7" name="Text 5"/>
          <p:cNvSpPr/>
          <p:nvPr/>
        </p:nvSpPr>
        <p:spPr>
          <a:xfrm>
            <a:off x="457200" y="1920240"/>
            <a:ext cx="8229600" cy="1828800"/>
          </a:xfrm>
          <a:prstGeom prst="rect">
            <a:avLst/>
          </a:prstGeom>
          <a:noFill/>
          <a:ln/>
        </p:spPr>
        <p:txBody>
          <a:bodyPr wrap="square" rtlCol="0" anchor="ctr"/>
          <a:lstStyle/>
          <a:p>
            <a:pPr marL="0" indent="0" algn="ctr">
              <a:lnSpc>
                <a:spcPct val="130000"/>
              </a:lnSpc>
              <a:buNone/>
            </a:pPr>
            <a:r>
              <a:rPr lang="en-US" sz="4000" i="1" dirty="0">
                <a:solidFill>
                  <a:srgbClr val="1B2A4A"/>
                </a:solidFill>
                <a:latin typeface="Georgia" pitchFamily="34" charset="0"/>
                <a:ea typeface="Georgia" pitchFamily="34" charset="-122"/>
                <a:cs typeface="Georgia" pitchFamily="34" charset="-120"/>
              </a:rPr>
              <a:t>"Mangusap po kayo,</a:t>
            </a:r>
            <a:endParaRPr lang="en-US" sz="4000" dirty="0"/>
          </a:p>
          <a:p>
            <a:pPr marL="0" indent="0" algn="ctr">
              <a:lnSpc>
                <a:spcPct val="130000"/>
              </a:lnSpc>
              <a:buNone/>
            </a:pPr>
            <a:r>
              <a:rPr lang="en-US" sz="4000" i="1" dirty="0">
                <a:solidFill>
                  <a:srgbClr val="1B2A4A"/>
                </a:solidFill>
                <a:latin typeface="Georgia" pitchFamily="34" charset="0"/>
                <a:ea typeface="Georgia" pitchFamily="34" charset="-122"/>
                <a:cs typeface="Georgia" pitchFamily="34" charset="-120"/>
              </a:rPr>
              <a:t>nakikinig ang inyong lingkod."</a:t>
            </a:r>
            <a:endParaRPr lang="en-US" sz="4000" dirty="0"/>
          </a:p>
        </p:txBody>
      </p:sp>
      <p:sp>
        <p:nvSpPr>
          <p:cNvPr id="8" name="Text 6"/>
          <p:cNvSpPr/>
          <p:nvPr/>
        </p:nvSpPr>
        <p:spPr>
          <a:xfrm>
            <a:off x="1371600" y="4114800"/>
            <a:ext cx="6400800" cy="640080"/>
          </a:xfrm>
          <a:prstGeom prst="rect">
            <a:avLst/>
          </a:prstGeom>
          <a:noFill/>
          <a:ln/>
        </p:spPr>
        <p:txBody>
          <a:bodyPr wrap="square" rtlCol="0" anchor="ctr"/>
          <a:lstStyle/>
          <a:p>
            <a:pPr marL="0" indent="0" algn="ctr">
              <a:buNone/>
            </a:pPr>
            <a:r>
              <a:rPr lang="en-US" sz="1300" i="1" dirty="0">
                <a:solidFill>
                  <a:srgbClr val="6A6660"/>
                </a:solidFill>
                <a:latin typeface="Calibri" pitchFamily="34" charset="0"/>
                <a:ea typeface="Calibri" pitchFamily="34" charset="-122"/>
                <a:cs typeface="Calibri" pitchFamily="34" charset="-120"/>
              </a:rPr>
              <a:t>Iisang linya. Iyan ang humihingi sa Espiritu na buksan ang isip mo bago mo buksan ang libro.</a:t>
            </a:r>
            <a:endParaRPr lang="en-US" sz="1300" dirty="0"/>
          </a:p>
        </p:txBody>
      </p:sp>
      <p:sp>
        <p:nvSpPr>
          <p:cNvPr id="9" name="Rounded Rectangle 8"/>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1 min · ⌛35:00</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0F1C34"/>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808080"/>
                </a:solidFill>
                <a:latin typeface="Calibri" pitchFamily="34" charset="0"/>
                <a:ea typeface="Calibri" pitchFamily="34" charset="-122"/>
                <a:cs typeface="Calibri" pitchFamily="34" charset="-120"/>
              </a:rPr>
              <a:t>19 / 23</a:t>
            </a:r>
            <a:endParaRPr lang="en-US" sz="800" dirty="0"/>
          </a:p>
        </p:txBody>
      </p:sp>
      <p:sp>
        <p:nvSpPr>
          <p:cNvPr id="4" name="Text 2"/>
          <p:cNvSpPr/>
          <p:nvPr/>
        </p:nvSpPr>
        <p:spPr>
          <a:xfrm>
            <a:off x="457200" y="365760"/>
            <a:ext cx="8229600" cy="274320"/>
          </a:xfrm>
          <a:prstGeom prst="rect">
            <a:avLst/>
          </a:prstGeom>
          <a:noFill/>
          <a:ln/>
        </p:spPr>
        <p:txBody>
          <a:bodyPr wrap="square" rtlCol="0" anchor="ctr"/>
          <a:lstStyle/>
          <a:p>
            <a:pPr marL="0" indent="0" algn="ctr">
              <a:buNone/>
            </a:pPr>
            <a:r>
              <a:rPr lang="en-US" sz="1100" b="1" kern="0" spc="400" dirty="0">
                <a:solidFill>
                  <a:srgbClr val="D4A84A"/>
                </a:solidFill>
                <a:latin typeface="Calibri" pitchFamily="34" charset="0"/>
                <a:ea typeface="Calibri" pitchFamily="34" charset="-122"/>
                <a:cs typeface="Calibri" pitchFamily="34" charset="-120"/>
              </a:rPr>
              <a:t>🙌 GAWIN · THE PRACTICE</a:t>
            </a:r>
            <a:endParaRPr lang="en-US" sz="1100" dirty="0"/>
          </a:p>
        </p:txBody>
      </p:sp>
      <p:sp>
        <p:nvSpPr>
          <p:cNvPr id="5" name="Text 3"/>
          <p:cNvSpPr/>
          <p:nvPr/>
        </p:nvSpPr>
        <p:spPr>
          <a:xfrm>
            <a:off x="457200" y="777240"/>
            <a:ext cx="8229600" cy="502920"/>
          </a:xfrm>
          <a:prstGeom prst="rect">
            <a:avLst/>
          </a:prstGeom>
          <a:noFill/>
          <a:ln/>
        </p:spPr>
        <p:txBody>
          <a:bodyPr wrap="square" rtlCol="0" anchor="ctr"/>
          <a:lstStyle/>
          <a:p>
            <a:pPr marL="0" indent="0" algn="ctr">
              <a:buNone/>
            </a:pPr>
            <a:r>
              <a:rPr lang="en-US" sz="3000" b="1" dirty="0">
                <a:solidFill>
                  <a:srgbClr val="FFFFFF"/>
                </a:solidFill>
                <a:latin typeface="Georgia" pitchFamily="34" charset="0"/>
                <a:ea typeface="Georgia" pitchFamily="34" charset="-122"/>
                <a:cs typeface="Georgia" pitchFamily="34" charset="-120"/>
              </a:rPr>
              <a:t>The S.O.A.P.S Method</a:t>
            </a:r>
            <a:endParaRPr lang="en-US" sz="3000" dirty="0"/>
          </a:p>
        </p:txBody>
      </p:sp>
      <p:sp>
        <p:nvSpPr>
          <p:cNvPr id="6" name="Text 4"/>
          <p:cNvSpPr/>
          <p:nvPr/>
        </p:nvSpPr>
        <p:spPr>
          <a:xfrm>
            <a:off x="457200" y="1325880"/>
            <a:ext cx="8229600" cy="365760"/>
          </a:xfrm>
          <a:prstGeom prst="rect">
            <a:avLst/>
          </a:prstGeom>
          <a:noFill/>
          <a:ln/>
        </p:spPr>
        <p:txBody>
          <a:bodyPr wrap="square" rtlCol="0" anchor="ctr"/>
          <a:lstStyle/>
          <a:p>
            <a:pPr marL="0" indent="0" algn="ctr">
              <a:buNone/>
            </a:pPr>
            <a:r>
              <a:rPr lang="en-US" sz="1200" i="1" dirty="0">
                <a:solidFill>
                  <a:srgbClr val="808080"/>
                </a:solidFill>
                <a:latin typeface="Georgia" pitchFamily="34" charset="0"/>
                <a:ea typeface="Georgia" pitchFamily="34" charset="-122"/>
                <a:cs typeface="Georgia" pitchFamily="34" charset="-120"/>
              </a:rPr>
              <a:t>Para hindi ka maging Prince of Grenada — information without transformation</a:t>
            </a:r>
            <a:endParaRPr lang="en-US" sz="1200" dirty="0"/>
          </a:p>
        </p:txBody>
      </p:sp>
      <p:sp>
        <p:nvSpPr>
          <p:cNvPr id="7" name="Shape 5"/>
          <p:cNvSpPr/>
          <p:nvPr/>
        </p:nvSpPr>
        <p:spPr>
          <a:xfrm>
            <a:off x="411480" y="1874520"/>
            <a:ext cx="1554480" cy="2743200"/>
          </a:xfrm>
          <a:prstGeom prst="roundRect">
            <a:avLst>
              <a:gd name="adj" fmla="val 4706"/>
            </a:avLst>
          </a:prstGeom>
          <a:solidFill>
            <a:srgbClr val="2A3D6B"/>
          </a:solidFill>
          <a:ln w="12700">
            <a:solidFill>
              <a:srgbClr val="B8882A"/>
            </a:solidFill>
            <a:prstDash val="solid"/>
          </a:ln>
        </p:spPr>
        <p:txBody>
          <a:bodyPr/>
          <a:lstStyle/>
          <a:p>
            <a:endParaRPr/>
          </a:p>
        </p:txBody>
      </p:sp>
      <p:sp>
        <p:nvSpPr>
          <p:cNvPr id="8" name="Shape 6"/>
          <p:cNvSpPr/>
          <p:nvPr/>
        </p:nvSpPr>
        <p:spPr>
          <a:xfrm>
            <a:off x="411480" y="1874520"/>
            <a:ext cx="1554480" cy="73152"/>
          </a:xfrm>
          <a:prstGeom prst="rect">
            <a:avLst/>
          </a:prstGeom>
          <a:solidFill>
            <a:srgbClr val="B8882A"/>
          </a:solidFill>
          <a:ln w="12700">
            <a:solidFill>
              <a:srgbClr val="B8882A"/>
            </a:solidFill>
            <a:prstDash val="solid"/>
          </a:ln>
        </p:spPr>
        <p:txBody>
          <a:bodyPr/>
          <a:lstStyle/>
          <a:p>
            <a:endParaRPr/>
          </a:p>
        </p:txBody>
      </p:sp>
      <p:sp>
        <p:nvSpPr>
          <p:cNvPr id="9" name="Text 7"/>
          <p:cNvSpPr/>
          <p:nvPr/>
        </p:nvSpPr>
        <p:spPr>
          <a:xfrm>
            <a:off x="411480" y="2011680"/>
            <a:ext cx="1554480" cy="914400"/>
          </a:xfrm>
          <a:prstGeom prst="rect">
            <a:avLst/>
          </a:prstGeom>
          <a:noFill/>
          <a:ln/>
        </p:spPr>
        <p:txBody>
          <a:bodyPr wrap="square" lIns="0" tIns="0" rIns="0" bIns="0" rtlCol="0" anchor="ctr"/>
          <a:lstStyle/>
          <a:p>
            <a:pPr marL="0" indent="0" algn="ctr">
              <a:buNone/>
            </a:pPr>
            <a:r>
              <a:rPr lang="en-US" sz="5600" b="1" dirty="0">
                <a:solidFill>
                  <a:srgbClr val="D4A84A"/>
                </a:solidFill>
                <a:latin typeface="Georgia" pitchFamily="34" charset="0"/>
                <a:ea typeface="Georgia" pitchFamily="34" charset="-122"/>
                <a:cs typeface="Georgia" pitchFamily="34" charset="-120"/>
              </a:rPr>
              <a:t>S</a:t>
            </a:r>
            <a:endParaRPr lang="en-US" sz="5600" dirty="0"/>
          </a:p>
        </p:txBody>
      </p:sp>
      <p:sp>
        <p:nvSpPr>
          <p:cNvPr id="10" name="Text 8"/>
          <p:cNvSpPr/>
          <p:nvPr/>
        </p:nvSpPr>
        <p:spPr>
          <a:xfrm>
            <a:off x="457200" y="2971800"/>
            <a:ext cx="146304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Scripture</a:t>
            </a:r>
            <a:endParaRPr lang="en-US" sz="1300" dirty="0"/>
          </a:p>
        </p:txBody>
      </p:sp>
      <p:sp>
        <p:nvSpPr>
          <p:cNvPr id="11" name="Text 9"/>
          <p:cNvSpPr/>
          <p:nvPr/>
        </p:nvSpPr>
        <p:spPr>
          <a:xfrm>
            <a:off x="502920" y="3383280"/>
            <a:ext cx="1371600" cy="1188720"/>
          </a:xfrm>
          <a:prstGeom prst="rect">
            <a:avLst/>
          </a:prstGeom>
          <a:noFill/>
          <a:ln/>
        </p:spPr>
        <p:txBody>
          <a:bodyPr wrap="square" lIns="0" tIns="0" rIns="0" bIns="0" rtlCol="0" anchor="t"/>
          <a:lstStyle/>
          <a:p>
            <a:pPr marL="0" indent="0" algn="ctr">
              <a:buNone/>
            </a:pPr>
            <a:r>
              <a:rPr lang="en-US" sz="1000" i="1" dirty="0">
                <a:solidFill>
                  <a:srgbClr val="A0A0A0"/>
                </a:solidFill>
                <a:latin typeface="Calibri" pitchFamily="34" charset="0"/>
                <a:ea typeface="Calibri" pitchFamily="34" charset="-122"/>
                <a:cs typeface="Calibri" pitchFamily="34" charset="-120"/>
              </a:rPr>
              <a:t>Isulat ang verse na pumukaw sa puso</a:t>
            </a:r>
            <a:endParaRPr lang="en-US" sz="1000" dirty="0"/>
          </a:p>
        </p:txBody>
      </p:sp>
      <p:sp>
        <p:nvSpPr>
          <p:cNvPr id="12" name="Shape 10"/>
          <p:cNvSpPr/>
          <p:nvPr/>
        </p:nvSpPr>
        <p:spPr>
          <a:xfrm>
            <a:off x="2103120" y="1874520"/>
            <a:ext cx="1554480" cy="2743200"/>
          </a:xfrm>
          <a:prstGeom prst="roundRect">
            <a:avLst>
              <a:gd name="adj" fmla="val 4706"/>
            </a:avLst>
          </a:prstGeom>
          <a:solidFill>
            <a:srgbClr val="2A3D6B"/>
          </a:solidFill>
          <a:ln w="12700">
            <a:solidFill>
              <a:srgbClr val="B8882A"/>
            </a:solidFill>
            <a:prstDash val="solid"/>
          </a:ln>
        </p:spPr>
        <p:txBody>
          <a:bodyPr/>
          <a:lstStyle/>
          <a:p>
            <a:endParaRPr/>
          </a:p>
        </p:txBody>
      </p:sp>
      <p:sp>
        <p:nvSpPr>
          <p:cNvPr id="13" name="Shape 11"/>
          <p:cNvSpPr/>
          <p:nvPr/>
        </p:nvSpPr>
        <p:spPr>
          <a:xfrm>
            <a:off x="2103120" y="1874520"/>
            <a:ext cx="1554480" cy="73152"/>
          </a:xfrm>
          <a:prstGeom prst="rect">
            <a:avLst/>
          </a:prstGeom>
          <a:solidFill>
            <a:srgbClr val="B8882A"/>
          </a:solidFill>
          <a:ln w="12700">
            <a:solidFill>
              <a:srgbClr val="B8882A"/>
            </a:solidFill>
            <a:prstDash val="solid"/>
          </a:ln>
        </p:spPr>
        <p:txBody>
          <a:bodyPr/>
          <a:lstStyle/>
          <a:p>
            <a:endParaRPr/>
          </a:p>
        </p:txBody>
      </p:sp>
      <p:sp>
        <p:nvSpPr>
          <p:cNvPr id="14" name="Text 12"/>
          <p:cNvSpPr/>
          <p:nvPr/>
        </p:nvSpPr>
        <p:spPr>
          <a:xfrm>
            <a:off x="2103120" y="2011680"/>
            <a:ext cx="1554480" cy="914400"/>
          </a:xfrm>
          <a:prstGeom prst="rect">
            <a:avLst/>
          </a:prstGeom>
          <a:noFill/>
          <a:ln/>
        </p:spPr>
        <p:txBody>
          <a:bodyPr wrap="square" lIns="0" tIns="0" rIns="0" bIns="0" rtlCol="0" anchor="ctr"/>
          <a:lstStyle/>
          <a:p>
            <a:pPr marL="0" indent="0" algn="ctr">
              <a:buNone/>
            </a:pPr>
            <a:r>
              <a:rPr lang="en-US" sz="5600" b="1" dirty="0">
                <a:solidFill>
                  <a:srgbClr val="D4A84A"/>
                </a:solidFill>
                <a:latin typeface="Georgia" pitchFamily="34" charset="0"/>
                <a:ea typeface="Georgia" pitchFamily="34" charset="-122"/>
                <a:cs typeface="Georgia" pitchFamily="34" charset="-120"/>
              </a:rPr>
              <a:t>O</a:t>
            </a:r>
            <a:endParaRPr lang="en-US" sz="5600" dirty="0"/>
          </a:p>
        </p:txBody>
      </p:sp>
      <p:sp>
        <p:nvSpPr>
          <p:cNvPr id="15" name="Text 13"/>
          <p:cNvSpPr/>
          <p:nvPr/>
        </p:nvSpPr>
        <p:spPr>
          <a:xfrm>
            <a:off x="2148840" y="2971800"/>
            <a:ext cx="146304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Observation</a:t>
            </a:r>
            <a:endParaRPr lang="en-US" sz="1300" dirty="0"/>
          </a:p>
        </p:txBody>
      </p:sp>
      <p:sp>
        <p:nvSpPr>
          <p:cNvPr id="16" name="Text 14"/>
          <p:cNvSpPr/>
          <p:nvPr/>
        </p:nvSpPr>
        <p:spPr>
          <a:xfrm>
            <a:off x="2194560" y="3383280"/>
            <a:ext cx="1371600" cy="1188720"/>
          </a:xfrm>
          <a:prstGeom prst="rect">
            <a:avLst/>
          </a:prstGeom>
          <a:noFill/>
          <a:ln/>
        </p:spPr>
        <p:txBody>
          <a:bodyPr wrap="square" lIns="0" tIns="0" rIns="0" bIns="0" rtlCol="0" anchor="t"/>
          <a:lstStyle/>
          <a:p>
            <a:pPr marL="0" indent="0" algn="ctr">
              <a:buNone/>
            </a:pPr>
            <a:r>
              <a:rPr lang="en-US" sz="1000" i="1" dirty="0">
                <a:solidFill>
                  <a:srgbClr val="A0A0A0"/>
                </a:solidFill>
                <a:latin typeface="Calibri" pitchFamily="34" charset="0"/>
                <a:ea typeface="Calibri" pitchFamily="34" charset="-122"/>
                <a:cs typeface="Calibri" pitchFamily="34" charset="-120"/>
              </a:rPr>
              <a:t>Sino? Kanino? Saan? Bakit?</a:t>
            </a:r>
            <a:endParaRPr lang="en-US" sz="1000" dirty="0"/>
          </a:p>
        </p:txBody>
      </p:sp>
      <p:sp>
        <p:nvSpPr>
          <p:cNvPr id="17" name="Shape 15"/>
          <p:cNvSpPr/>
          <p:nvPr/>
        </p:nvSpPr>
        <p:spPr>
          <a:xfrm>
            <a:off x="3794760" y="1874520"/>
            <a:ext cx="1554480" cy="2743200"/>
          </a:xfrm>
          <a:prstGeom prst="roundRect">
            <a:avLst>
              <a:gd name="adj" fmla="val 4706"/>
            </a:avLst>
          </a:prstGeom>
          <a:solidFill>
            <a:srgbClr val="2A3D6B"/>
          </a:solidFill>
          <a:ln w="12700">
            <a:solidFill>
              <a:srgbClr val="B8882A"/>
            </a:solidFill>
            <a:prstDash val="solid"/>
          </a:ln>
        </p:spPr>
        <p:txBody>
          <a:bodyPr/>
          <a:lstStyle/>
          <a:p>
            <a:endParaRPr/>
          </a:p>
        </p:txBody>
      </p:sp>
      <p:sp>
        <p:nvSpPr>
          <p:cNvPr id="18" name="Shape 16"/>
          <p:cNvSpPr/>
          <p:nvPr/>
        </p:nvSpPr>
        <p:spPr>
          <a:xfrm>
            <a:off x="3794760" y="1874520"/>
            <a:ext cx="1554480" cy="73152"/>
          </a:xfrm>
          <a:prstGeom prst="rect">
            <a:avLst/>
          </a:prstGeom>
          <a:solidFill>
            <a:srgbClr val="B8882A"/>
          </a:solidFill>
          <a:ln w="12700">
            <a:solidFill>
              <a:srgbClr val="B8882A"/>
            </a:solidFill>
            <a:prstDash val="solid"/>
          </a:ln>
        </p:spPr>
        <p:txBody>
          <a:bodyPr/>
          <a:lstStyle/>
          <a:p>
            <a:endParaRPr/>
          </a:p>
        </p:txBody>
      </p:sp>
      <p:sp>
        <p:nvSpPr>
          <p:cNvPr id="19" name="Text 17"/>
          <p:cNvSpPr/>
          <p:nvPr/>
        </p:nvSpPr>
        <p:spPr>
          <a:xfrm>
            <a:off x="3794760" y="2011680"/>
            <a:ext cx="1554480" cy="914400"/>
          </a:xfrm>
          <a:prstGeom prst="rect">
            <a:avLst/>
          </a:prstGeom>
          <a:noFill/>
          <a:ln/>
        </p:spPr>
        <p:txBody>
          <a:bodyPr wrap="square" lIns="0" tIns="0" rIns="0" bIns="0" rtlCol="0" anchor="ctr"/>
          <a:lstStyle/>
          <a:p>
            <a:pPr marL="0" indent="0" algn="ctr">
              <a:buNone/>
            </a:pPr>
            <a:r>
              <a:rPr lang="en-US" sz="5600" b="1" dirty="0">
                <a:solidFill>
                  <a:srgbClr val="D4A84A"/>
                </a:solidFill>
                <a:latin typeface="Georgia" pitchFamily="34" charset="0"/>
                <a:ea typeface="Georgia" pitchFamily="34" charset="-122"/>
                <a:cs typeface="Georgia" pitchFamily="34" charset="-120"/>
              </a:rPr>
              <a:t>A</a:t>
            </a:r>
            <a:endParaRPr lang="en-US" sz="5600" dirty="0"/>
          </a:p>
        </p:txBody>
      </p:sp>
      <p:sp>
        <p:nvSpPr>
          <p:cNvPr id="20" name="Text 18"/>
          <p:cNvSpPr/>
          <p:nvPr/>
        </p:nvSpPr>
        <p:spPr>
          <a:xfrm>
            <a:off x="3840480" y="2971800"/>
            <a:ext cx="146304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Application</a:t>
            </a:r>
            <a:endParaRPr lang="en-US" sz="1300" dirty="0"/>
          </a:p>
        </p:txBody>
      </p:sp>
      <p:sp>
        <p:nvSpPr>
          <p:cNvPr id="21" name="Text 19"/>
          <p:cNvSpPr/>
          <p:nvPr/>
        </p:nvSpPr>
        <p:spPr>
          <a:xfrm>
            <a:off x="3886200" y="3383280"/>
            <a:ext cx="1371600" cy="1188720"/>
          </a:xfrm>
          <a:prstGeom prst="rect">
            <a:avLst/>
          </a:prstGeom>
          <a:noFill/>
          <a:ln/>
        </p:spPr>
        <p:txBody>
          <a:bodyPr wrap="square" lIns="0" tIns="0" rIns="0" bIns="0" rtlCol="0" anchor="t"/>
          <a:lstStyle/>
          <a:p>
            <a:pPr marL="0" indent="0" algn="ctr">
              <a:buNone/>
            </a:pPr>
            <a:r>
              <a:rPr lang="en-US" sz="1000" i="1" dirty="0">
                <a:solidFill>
                  <a:srgbClr val="A0A0A0"/>
                </a:solidFill>
                <a:latin typeface="Calibri" pitchFamily="34" charset="0"/>
                <a:ea typeface="Calibri" pitchFamily="34" charset="-122"/>
                <a:cs typeface="Calibri" pitchFamily="34" charset="-120"/>
              </a:rPr>
              <a:t>Paano mo ito i-aapply ngayong linggo?</a:t>
            </a:r>
            <a:endParaRPr lang="en-US" sz="1000" dirty="0"/>
          </a:p>
        </p:txBody>
      </p:sp>
      <p:sp>
        <p:nvSpPr>
          <p:cNvPr id="22" name="Shape 20"/>
          <p:cNvSpPr/>
          <p:nvPr/>
        </p:nvSpPr>
        <p:spPr>
          <a:xfrm>
            <a:off x="5486400" y="1874520"/>
            <a:ext cx="1554480" cy="2743200"/>
          </a:xfrm>
          <a:prstGeom prst="roundRect">
            <a:avLst>
              <a:gd name="adj" fmla="val 4706"/>
            </a:avLst>
          </a:prstGeom>
          <a:solidFill>
            <a:srgbClr val="2A3D6B"/>
          </a:solidFill>
          <a:ln w="12700">
            <a:solidFill>
              <a:srgbClr val="B8882A"/>
            </a:solidFill>
            <a:prstDash val="solid"/>
          </a:ln>
        </p:spPr>
        <p:txBody>
          <a:bodyPr/>
          <a:lstStyle/>
          <a:p>
            <a:endParaRPr/>
          </a:p>
        </p:txBody>
      </p:sp>
      <p:sp>
        <p:nvSpPr>
          <p:cNvPr id="23" name="Shape 21"/>
          <p:cNvSpPr/>
          <p:nvPr/>
        </p:nvSpPr>
        <p:spPr>
          <a:xfrm>
            <a:off x="5486400" y="1874520"/>
            <a:ext cx="1554480" cy="73152"/>
          </a:xfrm>
          <a:prstGeom prst="rect">
            <a:avLst/>
          </a:prstGeom>
          <a:solidFill>
            <a:srgbClr val="B8882A"/>
          </a:solidFill>
          <a:ln w="12700">
            <a:solidFill>
              <a:srgbClr val="B8882A"/>
            </a:solidFill>
            <a:prstDash val="solid"/>
          </a:ln>
        </p:spPr>
        <p:txBody>
          <a:bodyPr/>
          <a:lstStyle/>
          <a:p>
            <a:endParaRPr/>
          </a:p>
        </p:txBody>
      </p:sp>
      <p:sp>
        <p:nvSpPr>
          <p:cNvPr id="24" name="Text 22"/>
          <p:cNvSpPr/>
          <p:nvPr/>
        </p:nvSpPr>
        <p:spPr>
          <a:xfrm>
            <a:off x="5486400" y="2011680"/>
            <a:ext cx="1554480" cy="914400"/>
          </a:xfrm>
          <a:prstGeom prst="rect">
            <a:avLst/>
          </a:prstGeom>
          <a:noFill/>
          <a:ln/>
        </p:spPr>
        <p:txBody>
          <a:bodyPr wrap="square" lIns="0" tIns="0" rIns="0" bIns="0" rtlCol="0" anchor="ctr"/>
          <a:lstStyle/>
          <a:p>
            <a:pPr marL="0" indent="0" algn="ctr">
              <a:buNone/>
            </a:pPr>
            <a:r>
              <a:rPr lang="en-US" sz="5600" b="1" dirty="0">
                <a:solidFill>
                  <a:srgbClr val="D4A84A"/>
                </a:solidFill>
                <a:latin typeface="Georgia" pitchFamily="34" charset="0"/>
                <a:ea typeface="Georgia" pitchFamily="34" charset="-122"/>
                <a:cs typeface="Georgia" pitchFamily="34" charset="-120"/>
              </a:rPr>
              <a:t>P</a:t>
            </a:r>
            <a:endParaRPr lang="en-US" sz="5600" dirty="0"/>
          </a:p>
        </p:txBody>
      </p:sp>
      <p:sp>
        <p:nvSpPr>
          <p:cNvPr id="25" name="Text 23"/>
          <p:cNvSpPr/>
          <p:nvPr/>
        </p:nvSpPr>
        <p:spPr>
          <a:xfrm>
            <a:off x="5532120" y="2971800"/>
            <a:ext cx="146304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Prayer</a:t>
            </a:r>
            <a:endParaRPr lang="en-US" sz="1300" dirty="0"/>
          </a:p>
        </p:txBody>
      </p:sp>
      <p:sp>
        <p:nvSpPr>
          <p:cNvPr id="26" name="Text 24"/>
          <p:cNvSpPr/>
          <p:nvPr/>
        </p:nvSpPr>
        <p:spPr>
          <a:xfrm>
            <a:off x="5577840" y="3383280"/>
            <a:ext cx="1371600" cy="1188720"/>
          </a:xfrm>
          <a:prstGeom prst="rect">
            <a:avLst/>
          </a:prstGeom>
          <a:noFill/>
          <a:ln/>
        </p:spPr>
        <p:txBody>
          <a:bodyPr wrap="square" lIns="0" tIns="0" rIns="0" bIns="0" rtlCol="0" anchor="t"/>
          <a:lstStyle/>
          <a:p>
            <a:pPr marL="0" indent="0" algn="ctr">
              <a:buNone/>
            </a:pPr>
            <a:r>
              <a:rPr lang="en-US" sz="1000" i="1" dirty="0">
                <a:solidFill>
                  <a:srgbClr val="A0A0A0"/>
                </a:solidFill>
                <a:latin typeface="Calibri" pitchFamily="34" charset="0"/>
                <a:ea typeface="Calibri" pitchFamily="34" charset="-122"/>
                <a:cs typeface="Calibri" pitchFamily="34" charset="-120"/>
              </a:rPr>
              <a:t>Maikling panalangin bilang tugon</a:t>
            </a:r>
            <a:endParaRPr lang="en-US" sz="1000" dirty="0"/>
          </a:p>
        </p:txBody>
      </p:sp>
      <p:sp>
        <p:nvSpPr>
          <p:cNvPr id="27" name="Shape 25"/>
          <p:cNvSpPr/>
          <p:nvPr/>
        </p:nvSpPr>
        <p:spPr>
          <a:xfrm>
            <a:off x="7178040" y="1874520"/>
            <a:ext cx="1554480" cy="2743200"/>
          </a:xfrm>
          <a:prstGeom prst="roundRect">
            <a:avLst>
              <a:gd name="adj" fmla="val 4706"/>
            </a:avLst>
          </a:prstGeom>
          <a:solidFill>
            <a:srgbClr val="B8882A"/>
          </a:solidFill>
          <a:ln w="12700">
            <a:solidFill>
              <a:srgbClr val="B8882A"/>
            </a:solidFill>
            <a:prstDash val="solid"/>
          </a:ln>
        </p:spPr>
        <p:txBody>
          <a:bodyPr/>
          <a:lstStyle/>
          <a:p>
            <a:endParaRPr/>
          </a:p>
        </p:txBody>
      </p:sp>
      <p:sp>
        <p:nvSpPr>
          <p:cNvPr id="28" name="Text 26"/>
          <p:cNvSpPr/>
          <p:nvPr/>
        </p:nvSpPr>
        <p:spPr>
          <a:xfrm>
            <a:off x="7178040" y="2011680"/>
            <a:ext cx="1554480" cy="914400"/>
          </a:xfrm>
          <a:prstGeom prst="rect">
            <a:avLst/>
          </a:prstGeom>
          <a:noFill/>
          <a:ln/>
        </p:spPr>
        <p:txBody>
          <a:bodyPr wrap="square" lIns="0" tIns="0" rIns="0" bIns="0" rtlCol="0" anchor="ctr"/>
          <a:lstStyle/>
          <a:p>
            <a:pPr marL="0" indent="0" algn="ctr">
              <a:buNone/>
            </a:pPr>
            <a:r>
              <a:rPr lang="en-US" sz="5600" b="1" dirty="0">
                <a:solidFill>
                  <a:srgbClr val="FFFFFF"/>
                </a:solidFill>
                <a:latin typeface="Georgia" pitchFamily="34" charset="0"/>
                <a:ea typeface="Georgia" pitchFamily="34" charset="-122"/>
                <a:cs typeface="Georgia" pitchFamily="34" charset="-120"/>
              </a:rPr>
              <a:t>S</a:t>
            </a:r>
            <a:endParaRPr lang="en-US" sz="5600" dirty="0"/>
          </a:p>
        </p:txBody>
      </p:sp>
      <p:sp>
        <p:nvSpPr>
          <p:cNvPr id="29" name="Text 27"/>
          <p:cNvSpPr/>
          <p:nvPr/>
        </p:nvSpPr>
        <p:spPr>
          <a:xfrm>
            <a:off x="7223760" y="2971800"/>
            <a:ext cx="146304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Sharing</a:t>
            </a:r>
            <a:endParaRPr lang="en-US" sz="1300" dirty="0"/>
          </a:p>
        </p:txBody>
      </p:sp>
      <p:sp>
        <p:nvSpPr>
          <p:cNvPr id="30" name="Text 28"/>
          <p:cNvSpPr/>
          <p:nvPr/>
        </p:nvSpPr>
        <p:spPr>
          <a:xfrm>
            <a:off x="7269480" y="3383280"/>
            <a:ext cx="1371600" cy="1188720"/>
          </a:xfrm>
          <a:prstGeom prst="rect">
            <a:avLst/>
          </a:prstGeom>
          <a:noFill/>
          <a:ln/>
        </p:spPr>
        <p:txBody>
          <a:bodyPr wrap="square" lIns="0" tIns="0" rIns="0" bIns="0" rtlCol="0" anchor="t"/>
          <a:lstStyle/>
          <a:p>
            <a:pPr marL="0" indent="0" algn="ctr">
              <a:buNone/>
            </a:pPr>
            <a:r>
              <a:rPr lang="en-US" sz="1000" i="1" dirty="0">
                <a:solidFill>
                  <a:srgbClr val="E0E0E0"/>
                </a:solidFill>
                <a:latin typeface="Calibri" pitchFamily="34" charset="0"/>
                <a:ea typeface="Calibri" pitchFamily="34" charset="-122"/>
                <a:cs typeface="Calibri" pitchFamily="34" charset="-120"/>
              </a:rPr>
              <a:t>Kanino mo ito sasabihin? EOLO!</a:t>
            </a:r>
            <a:endParaRPr lang="en-US" sz="1000" dirty="0"/>
          </a:p>
        </p:txBody>
      </p:sp>
      <p:sp>
        <p:nvSpPr>
          <p:cNvPr id="31" name="Rounded Rectangle 30"/>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4 min · ⌛39:00</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bg>
      <p:bgPr>
        <a:solidFill>
          <a:srgbClr val="FEFCF8"/>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C0C0C0"/>
                </a:solidFill>
                <a:latin typeface="Calibri" pitchFamily="34" charset="0"/>
                <a:ea typeface="Calibri" pitchFamily="34" charset="-122"/>
                <a:cs typeface="Calibri" pitchFamily="34" charset="-120"/>
              </a:rPr>
              <a:t>20 / 23</a:t>
            </a:r>
            <a:endParaRPr lang="en-US" sz="800" dirty="0"/>
          </a:p>
        </p:txBody>
      </p:sp>
      <p:sp>
        <p:nvSpPr>
          <p:cNvPr id="4" name="Text 2"/>
          <p:cNvSpPr/>
          <p:nvPr/>
        </p:nvSpPr>
        <p:spPr>
          <a:xfrm>
            <a:off x="457200" y="457200"/>
            <a:ext cx="8229600" cy="274320"/>
          </a:xfrm>
          <a:prstGeom prst="rect">
            <a:avLst/>
          </a:prstGeom>
          <a:noFill/>
          <a:ln/>
        </p:spPr>
        <p:txBody>
          <a:bodyPr wrap="square" rtlCol="0" anchor="ctr"/>
          <a:lstStyle/>
          <a:p>
            <a:pPr marL="0" indent="0" algn="ctr">
              <a:buNone/>
            </a:pPr>
            <a:r>
              <a:rPr lang="en-US" sz="1200" b="1" kern="0" spc="400" dirty="0">
                <a:solidFill>
                  <a:srgbClr val="B8882A"/>
                </a:solidFill>
                <a:latin typeface="Calibri" pitchFamily="34" charset="0"/>
                <a:ea typeface="Calibri" pitchFamily="34" charset="-122"/>
                <a:cs typeface="Calibri" pitchFamily="34" charset="-120"/>
              </a:rPr>
              <a:t>🙌 GAWIN · SUBUKAN NGAYON</a:t>
            </a:r>
            <a:endParaRPr lang="en-US" sz="1200" dirty="0"/>
          </a:p>
        </p:txBody>
      </p:sp>
      <p:sp>
        <p:nvSpPr>
          <p:cNvPr id="5" name="Text 3"/>
          <p:cNvSpPr/>
          <p:nvPr/>
        </p:nvSpPr>
        <p:spPr>
          <a:xfrm>
            <a:off x="457200" y="868680"/>
            <a:ext cx="8229600" cy="365760"/>
          </a:xfrm>
          <a:prstGeom prst="rect">
            <a:avLst/>
          </a:prstGeom>
          <a:noFill/>
          <a:ln/>
        </p:spPr>
        <p:txBody>
          <a:bodyPr wrap="square" rtlCol="0" anchor="ctr"/>
          <a:lstStyle/>
          <a:p>
            <a:pPr marL="0" indent="0" algn="ctr">
              <a:buNone/>
            </a:pPr>
            <a:r>
              <a:rPr lang="en-US" sz="1200" b="1" kern="0" spc="400" dirty="0">
                <a:solidFill>
                  <a:srgbClr val="B8882A"/>
                </a:solidFill>
                <a:latin typeface="Calibri" pitchFamily="34" charset="0"/>
                <a:ea typeface="Calibri" pitchFamily="34" charset="-122"/>
                <a:cs typeface="Calibri" pitchFamily="34" charset="-120"/>
              </a:rPr>
              <a:t>IN-GROUP PRACTICE</a:t>
            </a:r>
            <a:endParaRPr lang="en-US" sz="1200" dirty="0"/>
          </a:p>
        </p:txBody>
      </p:sp>
      <p:sp>
        <p:nvSpPr>
          <p:cNvPr id="6" name="Text 4"/>
          <p:cNvSpPr/>
          <p:nvPr/>
        </p:nvSpPr>
        <p:spPr>
          <a:xfrm>
            <a:off x="457200" y="1280160"/>
            <a:ext cx="8229600" cy="457200"/>
          </a:xfrm>
          <a:prstGeom prst="rect">
            <a:avLst/>
          </a:prstGeom>
          <a:noFill/>
          <a:ln/>
        </p:spPr>
        <p:txBody>
          <a:bodyPr wrap="square" rtlCol="0" anchor="ctr"/>
          <a:lstStyle/>
          <a:p>
            <a:pPr marL="0" indent="0" algn="ctr">
              <a:buNone/>
            </a:pPr>
            <a:r>
              <a:rPr lang="en-US" sz="2200" b="1" dirty="0">
                <a:solidFill>
                  <a:srgbClr val="B8882A"/>
                </a:solidFill>
                <a:latin typeface="Georgia" pitchFamily="34" charset="0"/>
                <a:ea typeface="Georgia" pitchFamily="34" charset="-122"/>
                <a:cs typeface="Georgia" pitchFamily="34" charset="-120"/>
              </a:rPr>
              <a:t>Filipos 4:6-7</a:t>
            </a:r>
            <a:endParaRPr lang="en-US" sz="2200" dirty="0"/>
          </a:p>
        </p:txBody>
      </p:sp>
      <p:sp>
        <p:nvSpPr>
          <p:cNvPr id="7" name="Text 5"/>
          <p:cNvSpPr/>
          <p:nvPr/>
        </p:nvSpPr>
        <p:spPr>
          <a:xfrm>
            <a:off x="731520" y="1828800"/>
            <a:ext cx="7680960" cy="2286000"/>
          </a:xfrm>
          <a:prstGeom prst="rect">
            <a:avLst/>
          </a:prstGeom>
          <a:noFill/>
          <a:ln/>
        </p:spPr>
        <p:txBody>
          <a:bodyPr wrap="square" rtlCol="0" anchor="t"/>
          <a:lstStyle/>
          <a:p>
            <a:pPr marL="0" indent="0" algn="ctr">
              <a:lnSpc>
                <a:spcPct val="150000"/>
              </a:lnSpc>
              <a:buNone/>
            </a:pPr>
            <a:r>
              <a:rPr lang="en-US" sz="1500" i="1" dirty="0">
                <a:solidFill>
                  <a:srgbClr val="1B2A4A"/>
                </a:solidFill>
                <a:latin typeface="Georgia" pitchFamily="34" charset="0"/>
                <a:ea typeface="Georgia" pitchFamily="34" charset="-122"/>
                <a:cs typeface="Georgia" pitchFamily="34" charset="-120"/>
              </a:rPr>
              <a:t>"Huwag kayong mabalisa tungkol sa anumang bagay. Sa halip, sa lahat ng pagkakataon ay manalangin kayo, at hingin sa Diyos ang inyong mga kailangan, nang may pagpapasalamat. At ang kapayapaan ng Diyos na hindi kayang maunawaan ng tao ang siyang mag-iingat sa inyong puso at isipan dahil sa inyong pakikipag-isa kay Cristo Jesus."</a:t>
            </a:r>
            <a:endParaRPr lang="en-US" sz="1500" dirty="0"/>
          </a:p>
        </p:txBody>
      </p:sp>
      <p:sp>
        <p:nvSpPr>
          <p:cNvPr id="8" name="Text 6"/>
          <p:cNvSpPr/>
          <p:nvPr/>
        </p:nvSpPr>
        <p:spPr>
          <a:xfrm>
            <a:off x="457200" y="4297680"/>
            <a:ext cx="8229600" cy="365760"/>
          </a:xfrm>
          <a:prstGeom prst="rect">
            <a:avLst/>
          </a:prstGeom>
          <a:noFill/>
          <a:ln/>
        </p:spPr>
        <p:txBody>
          <a:bodyPr wrap="square" rtlCol="0" anchor="ctr"/>
          <a:lstStyle/>
          <a:p>
            <a:pPr marL="0" indent="0" algn="ctr">
              <a:buNone/>
            </a:pPr>
            <a:r>
              <a:rPr lang="en-US" sz="1400" i="1" dirty="0">
                <a:solidFill>
                  <a:srgbClr val="6A6660"/>
                </a:solidFill>
                <a:latin typeface="Calibri" pitchFamily="34" charset="0"/>
                <a:ea typeface="Calibri" pitchFamily="34" charset="-122"/>
                <a:cs typeface="Calibri" pitchFamily="34" charset="-120"/>
              </a:rPr>
              <a:t>Punuin ang lahat ng 5 boxes sa Participant Guide niyo.</a:t>
            </a:r>
            <a:endParaRPr lang="en-US" sz="1400" dirty="0"/>
          </a:p>
        </p:txBody>
      </p:sp>
      <p:sp>
        <p:nvSpPr>
          <p:cNvPr id="9" name="Rounded Rectangle 8"/>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8 min · ⌛47:00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bg>
      <p:bgPr>
        <a:solidFill>
          <a:srgbClr val="FEFCF8"/>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C0C0C0"/>
                </a:solidFill>
                <a:latin typeface="Calibri" pitchFamily="34" charset="0"/>
                <a:ea typeface="Calibri" pitchFamily="34" charset="-122"/>
                <a:cs typeface="Calibri" pitchFamily="34" charset="-120"/>
              </a:rPr>
              <a:t>21 / 23</a:t>
            </a:r>
            <a:endParaRPr lang="en-US" sz="800" dirty="0"/>
          </a:p>
        </p:txBody>
      </p:sp>
      <p:sp>
        <p:nvSpPr>
          <p:cNvPr id="4" name="Text 2"/>
          <p:cNvSpPr/>
          <p:nvPr/>
        </p:nvSpPr>
        <p:spPr>
          <a:xfrm>
            <a:off x="457200" y="457200"/>
            <a:ext cx="8229600" cy="274320"/>
          </a:xfrm>
          <a:prstGeom prst="rect">
            <a:avLst/>
          </a:prstGeom>
          <a:noFill/>
          <a:ln/>
        </p:spPr>
        <p:txBody>
          <a:bodyPr wrap="square" rtlCol="0" anchor="ctr"/>
          <a:lstStyle/>
          <a:p>
            <a:pPr marL="0" indent="0" algn="ctr">
              <a:buNone/>
            </a:pPr>
            <a:r>
              <a:rPr lang="en-US" sz="1200" b="1" kern="0" spc="400" dirty="0">
                <a:solidFill>
                  <a:srgbClr val="B8882A"/>
                </a:solidFill>
                <a:latin typeface="Calibri" pitchFamily="34" charset="0"/>
                <a:ea typeface="Calibri" pitchFamily="34" charset="-122"/>
                <a:cs typeface="Calibri" pitchFamily="34" charset="-120"/>
              </a:rPr>
              <a:t>🏠 DALHIN · CHALLENGE</a:t>
            </a:r>
            <a:endParaRPr lang="en-US" sz="1200" dirty="0"/>
          </a:p>
        </p:txBody>
      </p:sp>
      <p:sp>
        <p:nvSpPr>
          <p:cNvPr id="5" name="Text 3"/>
          <p:cNvSpPr/>
          <p:nvPr/>
        </p:nvSpPr>
        <p:spPr>
          <a:xfrm>
            <a:off x="457200" y="868680"/>
            <a:ext cx="8229600" cy="365760"/>
          </a:xfrm>
          <a:prstGeom prst="rect">
            <a:avLst/>
          </a:prstGeom>
          <a:noFill/>
          <a:ln/>
        </p:spPr>
        <p:txBody>
          <a:bodyPr wrap="square" rtlCol="0" anchor="ctr"/>
          <a:lstStyle/>
          <a:p>
            <a:pPr marL="0" indent="0" algn="ctr">
              <a:buNone/>
            </a:pPr>
            <a:r>
              <a:rPr lang="en-US" sz="1200" b="1" kern="0" spc="500" dirty="0">
                <a:solidFill>
                  <a:srgbClr val="B8882A"/>
                </a:solidFill>
                <a:latin typeface="Calibri" pitchFamily="34" charset="0"/>
                <a:ea typeface="Calibri" pitchFamily="34" charset="-122"/>
                <a:cs typeface="Calibri" pitchFamily="34" charset="-120"/>
              </a:rPr>
              <a:t>MULA SA SUSUNOD NA ARAW</a:t>
            </a:r>
            <a:endParaRPr lang="en-US" sz="1200" dirty="0"/>
          </a:p>
        </p:txBody>
      </p:sp>
      <p:sp>
        <p:nvSpPr>
          <p:cNvPr id="6" name="Text 4"/>
          <p:cNvSpPr/>
          <p:nvPr/>
        </p:nvSpPr>
        <p:spPr>
          <a:xfrm>
            <a:off x="457200" y="1371600"/>
            <a:ext cx="8229600" cy="1828800"/>
          </a:xfrm>
          <a:prstGeom prst="rect">
            <a:avLst/>
          </a:prstGeom>
          <a:noFill/>
          <a:ln/>
        </p:spPr>
        <p:txBody>
          <a:bodyPr wrap="square" rtlCol="0" anchor="ctr"/>
          <a:lstStyle/>
          <a:p>
            <a:pPr marL="0" indent="0" algn="ctr">
              <a:lnSpc>
                <a:spcPct val="100000"/>
              </a:lnSpc>
              <a:buNone/>
            </a:pPr>
            <a:r>
              <a:rPr lang="en-US" sz="6400" b="1" dirty="0">
                <a:solidFill>
                  <a:srgbClr val="1B2A4A"/>
                </a:solidFill>
                <a:latin typeface="Georgia" pitchFamily="34" charset="0"/>
                <a:ea typeface="Georgia" pitchFamily="34" charset="-122"/>
                <a:cs typeface="Georgia" pitchFamily="34" charset="-120"/>
              </a:rPr>
              <a:t>30-Day</a:t>
            </a:r>
            <a:endParaRPr lang="en-US" sz="6400" dirty="0"/>
          </a:p>
          <a:p>
            <a:pPr marL="0" indent="0" algn="ctr">
              <a:lnSpc>
                <a:spcPct val="100000"/>
              </a:lnSpc>
              <a:buNone/>
            </a:pPr>
            <a:r>
              <a:rPr lang="en-US" sz="6400" b="1" dirty="0">
                <a:solidFill>
                  <a:srgbClr val="1B2A4A"/>
                </a:solidFill>
                <a:latin typeface="Georgia" pitchFamily="34" charset="0"/>
                <a:ea typeface="Georgia" pitchFamily="34" charset="-122"/>
                <a:cs typeface="Georgia" pitchFamily="34" charset="-120"/>
              </a:rPr>
              <a:t>S.O.A.P.S</a:t>
            </a:r>
            <a:endParaRPr lang="en-US" sz="6400" dirty="0"/>
          </a:p>
        </p:txBody>
      </p:sp>
      <p:sp>
        <p:nvSpPr>
          <p:cNvPr id="7" name="Text 5"/>
          <p:cNvSpPr/>
          <p:nvPr/>
        </p:nvSpPr>
        <p:spPr>
          <a:xfrm>
            <a:off x="914400" y="3383280"/>
            <a:ext cx="7315200" cy="1371600"/>
          </a:xfrm>
          <a:prstGeom prst="rect">
            <a:avLst/>
          </a:prstGeom>
          <a:noFill/>
          <a:ln/>
        </p:spPr>
        <p:txBody>
          <a:bodyPr wrap="square" rtlCol="0" anchor="t"/>
          <a:lstStyle/>
          <a:p>
            <a:pPr marL="0" indent="0" algn="ctr">
              <a:lnSpc>
                <a:spcPct val="140000"/>
              </a:lnSpc>
              <a:buNone/>
            </a:pPr>
            <a:r>
              <a:rPr lang="en-US" sz="1300" dirty="0">
                <a:solidFill>
                  <a:srgbClr val="4A4640"/>
                </a:solidFill>
                <a:latin typeface="Calibri" pitchFamily="34" charset="0"/>
                <a:ea typeface="Calibri" pitchFamily="34" charset="-122"/>
                <a:cs typeface="Calibri" pitchFamily="34" charset="-120"/>
              </a:rPr>
              <a:t>Pumili ng isang Bible book. Recommend ko: </a:t>
            </a:r>
            <a:r>
              <a:rPr lang="en-US" sz="1300" b="1" dirty="0">
                <a:solidFill>
                  <a:srgbClr val="1B2A4A"/>
                </a:solidFill>
                <a:latin typeface="Calibri" pitchFamily="34" charset="0"/>
                <a:ea typeface="Calibri" pitchFamily="34" charset="-122"/>
                <a:cs typeface="Calibri" pitchFamily="34" charset="-120"/>
              </a:rPr>
              <a:t>John (21 chapters)</a:t>
            </a:r>
            <a:r>
              <a:rPr lang="en-US" sz="1300" dirty="0">
                <a:solidFill>
                  <a:srgbClr val="4A4640"/>
                </a:solidFill>
                <a:latin typeface="Calibri" pitchFamily="34" charset="0"/>
                <a:ea typeface="Calibri" pitchFamily="34" charset="-122"/>
                <a:cs typeface="Calibri" pitchFamily="34" charset="-120"/>
              </a:rPr>
              <a:t>. </a:t>
            </a:r>
            <a:endParaRPr lang="en-US" sz="1300" dirty="0"/>
          </a:p>
          <a:p>
            <a:pPr marL="0" indent="0" algn="ctr">
              <a:lnSpc>
                <a:spcPct val="140000"/>
              </a:lnSpc>
              <a:buNone/>
            </a:pPr>
            <a:r>
              <a:rPr lang="en-US" sz="1300" dirty="0">
                <a:solidFill>
                  <a:srgbClr val="000000"/>
                </a:solidFill>
                <a:latin typeface="Calibri" pitchFamily="34" charset="0"/>
                <a:ea typeface="Calibri" pitchFamily="34" charset="-122"/>
                <a:cs typeface="Calibri" pitchFamily="34" charset="-120"/>
              </a:rPr>
              <a:t> </a:t>
            </a:r>
            <a:endParaRPr lang="en-US" sz="1300" dirty="0"/>
          </a:p>
          <a:p>
            <a:pPr marL="0" indent="0" algn="ctr">
              <a:lnSpc>
                <a:spcPct val="140000"/>
              </a:lnSpc>
              <a:buNone/>
            </a:pPr>
            <a:r>
              <a:rPr lang="en-US" sz="1300" b="1" dirty="0">
                <a:solidFill>
                  <a:srgbClr val="1B2A4A"/>
                </a:solidFill>
                <a:latin typeface="Calibri" pitchFamily="34" charset="0"/>
                <a:ea typeface="Calibri" pitchFamily="34" charset="-122"/>
                <a:cs typeface="Calibri" pitchFamily="34" charset="-120"/>
              </a:rPr>
              <a:t>Isang chapter kada araw. 30 days.</a:t>
            </a:r>
            <a:endParaRPr lang="en-US" sz="1300" dirty="0"/>
          </a:p>
          <a:p>
            <a:pPr marL="0" indent="0" algn="ctr">
              <a:lnSpc>
                <a:spcPct val="140000"/>
              </a:lnSpc>
              <a:buNone/>
            </a:pPr>
            <a:r>
              <a:rPr lang="en-US" sz="1300" dirty="0">
                <a:solidFill>
                  <a:srgbClr val="000000"/>
                </a:solidFill>
                <a:latin typeface="Calibri" pitchFamily="34" charset="0"/>
                <a:ea typeface="Calibri" pitchFamily="34" charset="-122"/>
                <a:cs typeface="Calibri" pitchFamily="34" charset="-120"/>
              </a:rPr>
              <a:t> </a:t>
            </a:r>
            <a:endParaRPr lang="en-US" sz="1300" dirty="0"/>
          </a:p>
          <a:p>
            <a:pPr marL="0" indent="0" algn="ctr">
              <a:lnSpc>
                <a:spcPct val="140000"/>
              </a:lnSpc>
              <a:buNone/>
            </a:pPr>
            <a:r>
              <a:rPr lang="en-US" sz="1300" dirty="0">
                <a:solidFill>
                  <a:srgbClr val="4A4640"/>
                </a:solidFill>
                <a:latin typeface="Calibri" pitchFamily="34" charset="0"/>
                <a:ea typeface="Calibri" pitchFamily="34" charset="-122"/>
                <a:cs typeface="Calibri" pitchFamily="34" charset="-120"/>
              </a:rPr>
              <a:t>Bawat araw, ang Sharing line mo ay isang EOLO name.</a:t>
            </a:r>
            <a:endParaRPr lang="en-US" sz="1300" dirty="0"/>
          </a:p>
        </p:txBody>
      </p:sp>
      <p:sp>
        <p:nvSpPr>
          <p:cNvPr id="8" name="Rounded Rectangle 7"/>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4 min · ⌛51:00</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bg>
      <p:bgPr>
        <a:solidFill>
          <a:srgbClr val="0F1C34"/>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808080"/>
                </a:solidFill>
                <a:latin typeface="Calibri" pitchFamily="34" charset="0"/>
                <a:ea typeface="Calibri" pitchFamily="34" charset="-122"/>
                <a:cs typeface="Calibri" pitchFamily="34" charset="-120"/>
              </a:rPr>
              <a:t>22 / 23</a:t>
            </a:r>
            <a:endParaRPr lang="en-US" sz="800" dirty="0"/>
          </a:p>
        </p:txBody>
      </p:sp>
      <p:sp>
        <p:nvSpPr>
          <p:cNvPr id="4" name="Text 2"/>
          <p:cNvSpPr/>
          <p:nvPr/>
        </p:nvSpPr>
        <p:spPr>
          <a:xfrm>
            <a:off x="457200" y="457200"/>
            <a:ext cx="8229600" cy="365760"/>
          </a:xfrm>
          <a:prstGeom prst="rect">
            <a:avLst/>
          </a:prstGeom>
          <a:noFill/>
          <a:ln/>
        </p:spPr>
        <p:txBody>
          <a:bodyPr wrap="square" rtlCol="0" anchor="ctr"/>
          <a:lstStyle/>
          <a:p>
            <a:pPr marL="0" indent="0" algn="ctr">
              <a:buNone/>
            </a:pPr>
            <a:r>
              <a:rPr lang="en-US" sz="1200" b="1" kern="0" spc="400" dirty="0">
                <a:solidFill>
                  <a:srgbClr val="D4A84A"/>
                </a:solidFill>
                <a:latin typeface="Calibri" pitchFamily="34" charset="0"/>
                <a:ea typeface="Calibri" pitchFamily="34" charset="-122"/>
                <a:cs typeface="Calibri" pitchFamily="34" charset="-120"/>
              </a:rPr>
              <a:t>🏠 DALHIN · MEMORY VERSE</a:t>
            </a:r>
            <a:endParaRPr lang="en-US" sz="1200" dirty="0"/>
          </a:p>
        </p:txBody>
      </p:sp>
      <p:sp>
        <p:nvSpPr>
          <p:cNvPr id="5" name="Text 3"/>
          <p:cNvSpPr/>
          <p:nvPr/>
        </p:nvSpPr>
        <p:spPr>
          <a:xfrm>
            <a:off x="457200" y="1005840"/>
            <a:ext cx="8229600" cy="365760"/>
          </a:xfrm>
          <a:prstGeom prst="rect">
            <a:avLst/>
          </a:prstGeom>
          <a:noFill/>
          <a:ln/>
        </p:spPr>
        <p:txBody>
          <a:bodyPr wrap="square" rtlCol="0" anchor="ctr"/>
          <a:lstStyle/>
          <a:p>
            <a:pPr marL="0" indent="0" algn="ctr">
              <a:buNone/>
            </a:pPr>
            <a:r>
              <a:rPr lang="en-US" sz="1200" b="1" kern="0" spc="400" dirty="0">
                <a:solidFill>
                  <a:srgbClr val="D4A84A"/>
                </a:solidFill>
                <a:latin typeface="Calibri" pitchFamily="34" charset="0"/>
                <a:ea typeface="Calibri" pitchFamily="34" charset="-122"/>
                <a:cs typeface="Calibri" pitchFamily="34" charset="-120"/>
              </a:rPr>
              <a:t>SA LOOB NG 2 LINGGO</a:t>
            </a:r>
            <a:endParaRPr lang="en-US" sz="1200" dirty="0"/>
          </a:p>
        </p:txBody>
      </p:sp>
      <p:sp>
        <p:nvSpPr>
          <p:cNvPr id="6" name="Text 4"/>
          <p:cNvSpPr/>
          <p:nvPr/>
        </p:nvSpPr>
        <p:spPr>
          <a:xfrm>
            <a:off x="457200" y="1417320"/>
            <a:ext cx="8229600" cy="548640"/>
          </a:xfrm>
          <a:prstGeom prst="rect">
            <a:avLst/>
          </a:prstGeom>
          <a:noFill/>
          <a:ln/>
        </p:spPr>
        <p:txBody>
          <a:bodyPr wrap="square" rtlCol="0" anchor="ctr"/>
          <a:lstStyle/>
          <a:p>
            <a:pPr marL="0" indent="0" algn="ctr">
              <a:buNone/>
            </a:pPr>
            <a:r>
              <a:rPr lang="en-US" sz="2800" b="1" dirty="0">
                <a:solidFill>
                  <a:srgbClr val="F5D97A"/>
                </a:solidFill>
                <a:latin typeface="Georgia" pitchFamily="34" charset="0"/>
                <a:ea typeface="Georgia" pitchFamily="34" charset="-122"/>
                <a:cs typeface="Georgia" pitchFamily="34" charset="-120"/>
              </a:rPr>
              <a:t>Awit 1:2</a:t>
            </a:r>
            <a:endParaRPr lang="en-US" sz="2800" dirty="0"/>
          </a:p>
        </p:txBody>
      </p:sp>
      <p:sp>
        <p:nvSpPr>
          <p:cNvPr id="7" name="Text 5"/>
          <p:cNvSpPr/>
          <p:nvPr/>
        </p:nvSpPr>
        <p:spPr>
          <a:xfrm>
            <a:off x="731520" y="2286000"/>
            <a:ext cx="7680960" cy="2103120"/>
          </a:xfrm>
          <a:prstGeom prst="rect">
            <a:avLst/>
          </a:prstGeom>
          <a:noFill/>
          <a:ln/>
        </p:spPr>
        <p:txBody>
          <a:bodyPr wrap="square" rtlCol="0" anchor="ctr"/>
          <a:lstStyle/>
          <a:p>
            <a:pPr marL="0" indent="0" algn="ctr">
              <a:lnSpc>
                <a:spcPct val="150000"/>
              </a:lnSpc>
              <a:buNone/>
            </a:pPr>
            <a:r>
              <a:rPr lang="en-US" sz="2400" i="1" dirty="0">
                <a:solidFill>
                  <a:srgbClr val="FFFFFF"/>
                </a:solidFill>
                <a:latin typeface="Georgia" pitchFamily="34" charset="0"/>
                <a:ea typeface="Georgia" pitchFamily="34" charset="-122"/>
                <a:cs typeface="Georgia" pitchFamily="34" charset="-120"/>
              </a:rPr>
              <a:t>"...kasiyahan niyang sumunod sa kautusan ni Yahweh. </a:t>
            </a:r>
            <a:r>
              <a:rPr lang="en-US" sz="2400" b="1" i="1" dirty="0">
                <a:solidFill>
                  <a:srgbClr val="F5D97A"/>
                </a:solidFill>
                <a:latin typeface="Georgia" pitchFamily="34" charset="0"/>
                <a:ea typeface="Georgia" pitchFamily="34" charset="-122"/>
                <a:cs typeface="Georgia" pitchFamily="34" charset="-120"/>
              </a:rPr>
              <a:t>Binubulay-bulay niya ito sa araw at gabi.</a:t>
            </a:r>
            <a:r>
              <a:rPr lang="en-US" sz="2400" i="1" dirty="0">
                <a:solidFill>
                  <a:srgbClr val="FFFFFF"/>
                </a:solidFill>
                <a:latin typeface="Georgia" pitchFamily="34" charset="0"/>
                <a:ea typeface="Georgia" pitchFamily="34" charset="-122"/>
                <a:cs typeface="Georgia" pitchFamily="34" charset="-120"/>
              </a:rPr>
              <a:t>"</a:t>
            </a:r>
            <a:endParaRPr lang="en-US" sz="2400" dirty="0"/>
          </a:p>
        </p:txBody>
      </p:sp>
      <p:sp>
        <p:nvSpPr>
          <p:cNvPr id="8" name="Rounded Rectangle 7"/>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2 min · ⌛53:00</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bg>
      <p:bgPr>
        <a:solidFill>
          <a:srgbClr val="0F1C34"/>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808080"/>
                </a:solidFill>
                <a:latin typeface="Calibri" pitchFamily="34" charset="0"/>
                <a:ea typeface="Calibri" pitchFamily="34" charset="-122"/>
                <a:cs typeface="Calibri" pitchFamily="34" charset="-120"/>
              </a:rPr>
              <a:t>23 / 23</a:t>
            </a:r>
            <a:endParaRPr lang="en-US" sz="800" dirty="0"/>
          </a:p>
        </p:txBody>
      </p:sp>
      <p:sp>
        <p:nvSpPr>
          <p:cNvPr id="4" name="Text 2"/>
          <p:cNvSpPr/>
          <p:nvPr/>
        </p:nvSpPr>
        <p:spPr>
          <a:xfrm>
            <a:off x="457200" y="365760"/>
            <a:ext cx="8229600" cy="365760"/>
          </a:xfrm>
          <a:prstGeom prst="rect">
            <a:avLst/>
          </a:prstGeom>
          <a:noFill/>
          <a:ln/>
        </p:spPr>
        <p:txBody>
          <a:bodyPr wrap="square" rtlCol="0" anchor="ctr"/>
          <a:lstStyle/>
          <a:p>
            <a:pPr marL="0" indent="0" algn="ctr">
              <a:buNone/>
            </a:pPr>
            <a:r>
              <a:rPr lang="en-US" sz="1200" b="1" kern="0" spc="400" dirty="0">
                <a:solidFill>
                  <a:srgbClr val="D4A84A"/>
                </a:solidFill>
                <a:latin typeface="Calibri" pitchFamily="34" charset="0"/>
                <a:ea typeface="Calibri" pitchFamily="34" charset="-122"/>
                <a:cs typeface="Calibri" pitchFamily="34" charset="-120"/>
              </a:rPr>
              <a:t>🎵 WORD OF GOD SPEAK</a:t>
            </a:r>
            <a:endParaRPr lang="en-US" sz="1200" dirty="0"/>
          </a:p>
        </p:txBody>
      </p:sp>
      <p:sp>
        <p:nvSpPr>
          <p:cNvPr id="5" name="Shape 3">
            <a:hlinkClick r:id="rId3"/>
          </p:cNvPr>
          <p:cNvSpPr/>
          <p:nvPr/>
        </p:nvSpPr>
        <p:spPr>
          <a:xfrm>
            <a:off x="1371600" y="914400"/>
            <a:ext cx="6400800" cy="2468880"/>
          </a:xfrm>
          <a:prstGeom prst="rect">
            <a:avLst/>
          </a:prstGeom>
          <a:solidFill>
            <a:srgbClr val="000000"/>
          </a:solidFill>
          <a:ln w="38100">
            <a:solidFill>
              <a:srgbClr val="B8882A"/>
            </a:solidFill>
            <a:prstDash val="solid"/>
          </a:ln>
        </p:spPr>
        <p:txBody>
          <a:bodyPr/>
          <a:lstStyle/>
          <a:p>
            <a:endParaRPr/>
          </a:p>
        </p:txBody>
      </p:sp>
      <p:sp>
        <p:nvSpPr>
          <p:cNvPr id="6" name="Text 4"/>
          <p:cNvSpPr/>
          <p:nvPr/>
        </p:nvSpPr>
        <p:spPr>
          <a:xfrm>
            <a:off x="1371600" y="914400"/>
            <a:ext cx="6400800" cy="2468880"/>
          </a:xfrm>
          <a:prstGeom prst="rect">
            <a:avLst/>
          </a:prstGeom>
          <a:noFill/>
          <a:ln/>
        </p:spPr>
        <p:txBody>
          <a:bodyPr wrap="square" rtlCol="0" anchor="ctr"/>
          <a:lstStyle/>
          <a:p>
            <a:pPr marL="0" indent="0" algn="ctr">
              <a:buNone/>
            </a:pPr>
            <a:r>
              <a:rPr lang="en-US" sz="2800" b="1" dirty="0">
                <a:solidFill>
                  <a:srgbClr val="D4A84A"/>
                </a:solidFill>
                <a:latin typeface="Calibri" pitchFamily="34" charset="0"/>
                <a:ea typeface="Calibri" pitchFamily="34" charset="-122"/>
                <a:cs typeface="Calibri" pitchFamily="34" charset="-120"/>
              </a:rPr>
              <a:t>▶  Play Closing Song</a:t>
            </a:r>
            <a:endParaRPr lang="en-US" sz="2800" dirty="0"/>
          </a:p>
        </p:txBody>
      </p:sp>
      <p:sp>
        <p:nvSpPr>
          <p:cNvPr id="7" name="Text 5"/>
          <p:cNvSpPr/>
          <p:nvPr/>
        </p:nvSpPr>
        <p:spPr>
          <a:xfrm>
            <a:off x="457200" y="3474720"/>
            <a:ext cx="8229600" cy="274320"/>
          </a:xfrm>
          <a:prstGeom prst="rect">
            <a:avLst/>
          </a:prstGeom>
          <a:noFill/>
          <a:ln/>
        </p:spPr>
        <p:txBody>
          <a:bodyPr wrap="square" rtlCol="0" anchor="ctr"/>
          <a:lstStyle/>
          <a:p>
            <a:pPr marL="0" indent="0" algn="ctr">
              <a:buNone/>
            </a:pPr>
            <a:r>
              <a:rPr lang="en-US" sz="1000" i="1" dirty="0">
                <a:solidFill>
                  <a:srgbClr val="606060"/>
                </a:solidFill>
                <a:latin typeface="Calibri" pitchFamily="34" charset="0"/>
                <a:ea typeface="Calibri" pitchFamily="34" charset="-122"/>
                <a:cs typeface="Calibri" pitchFamily="34" charset="-120"/>
              </a:rPr>
              <a:t>YouTube: BYu8ZyETnKo · Mercy Me</a:t>
            </a:r>
            <a:endParaRPr lang="en-US" sz="1000" dirty="0"/>
          </a:p>
        </p:txBody>
      </p:sp>
      <p:sp>
        <p:nvSpPr>
          <p:cNvPr id="8" name="Text 6"/>
          <p:cNvSpPr/>
          <p:nvPr/>
        </p:nvSpPr>
        <p:spPr>
          <a:xfrm>
            <a:off x="457200" y="3931920"/>
            <a:ext cx="8229600" cy="457200"/>
          </a:xfrm>
          <a:prstGeom prst="rect">
            <a:avLst/>
          </a:prstGeom>
          <a:noFill/>
          <a:ln/>
        </p:spPr>
        <p:txBody>
          <a:bodyPr wrap="square" rtlCol="0" anchor="ctr"/>
          <a:lstStyle/>
          <a:p>
            <a:pPr marL="0" indent="0" algn="ctr">
              <a:buNone/>
            </a:pPr>
            <a:r>
              <a:rPr lang="en-US" sz="1800" i="1" dirty="0">
                <a:solidFill>
                  <a:srgbClr val="B0B0B0"/>
                </a:solidFill>
                <a:latin typeface="Georgia" pitchFamily="34" charset="0"/>
                <a:ea typeface="Georgia" pitchFamily="34" charset="-122"/>
                <a:cs typeface="Georgia" pitchFamily="34" charset="-120"/>
              </a:rPr>
              <a:t>"Mangusap po kayo, nakikinig ang inyong lingkod."</a:t>
            </a:r>
            <a:endParaRPr lang="en-US" sz="1800" dirty="0"/>
          </a:p>
        </p:txBody>
      </p:sp>
      <p:sp>
        <p:nvSpPr>
          <p:cNvPr id="9" name="Text 7"/>
          <p:cNvSpPr/>
          <p:nvPr/>
        </p:nvSpPr>
        <p:spPr>
          <a:xfrm>
            <a:off x="457200" y="4434840"/>
            <a:ext cx="8229600" cy="274320"/>
          </a:xfrm>
          <a:prstGeom prst="rect">
            <a:avLst/>
          </a:prstGeom>
          <a:noFill/>
          <a:ln/>
        </p:spPr>
        <p:txBody>
          <a:bodyPr wrap="square" rtlCol="0" anchor="ctr"/>
          <a:lstStyle/>
          <a:p>
            <a:pPr marL="0" indent="0" algn="ctr">
              <a:buNone/>
            </a:pPr>
            <a:r>
              <a:rPr lang="en-US" sz="1100" b="1" kern="0" spc="500" dirty="0">
                <a:solidFill>
                  <a:srgbClr val="D4A84A"/>
                </a:solidFill>
                <a:latin typeface="Calibri" pitchFamily="34" charset="0"/>
                <a:ea typeface="Calibri" pitchFamily="34" charset="-122"/>
                <a:cs typeface="Calibri" pitchFamily="34" charset="-120"/>
              </a:rPr>
              <a:t>1 SAMUEL 3:10</a:t>
            </a:r>
            <a:endParaRPr lang="en-US" sz="1100" dirty="0"/>
          </a:p>
        </p:txBody>
      </p:sp>
      <p:sp>
        <p:nvSpPr>
          <p:cNvPr id="10" name="Rounded Rectangle 9"/>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2 min · ⌛55:00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218</TotalTime>
  <Words>3061</Words>
  <Application>Microsoft Office PowerPoint</Application>
  <PresentationFormat>On-screen Show (16:9)</PresentationFormat>
  <Paragraphs>306</Paragraphs>
  <Slides>23</Slides>
  <Notes>23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MULTIPLY · Disciple-Making Pipeline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MULTIPLY · BTLI 1 · L2 · Bible Meditation</dc:title>
  <dc:subject>Bible Meditation · S.O.A.P.S Journal Practice</dc:subject>
  <dc:creator>MULTIPLY · Disciple-Making Pipeline</dc:creator>
  <cp:lastModifiedBy>af30421@365mso.com</cp:lastModifiedBy>
  <cp:revision>16</cp:revision>
  <dcterms:created xsi:type="dcterms:W3CDTF">2026-05-15T05:50:45Z</dcterms:created>
  <dcterms:modified xsi:type="dcterms:W3CDTF">2026-07-05T00:06:56Z</dcterms:modified>
</cp:coreProperties>
</file>